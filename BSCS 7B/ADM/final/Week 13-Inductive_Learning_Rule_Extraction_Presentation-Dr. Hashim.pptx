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0" r:id="rId13"/>
    <p:sldId id="281" r:id="rId14"/>
    <p:sldId id="266" r:id="rId15"/>
    <p:sldId id="267" r:id="rId16"/>
    <p:sldId id="282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Inductive Learning Algorithm for Rule Extraction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Inductive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Inductive learning is a supervised learning approach.</a:t>
            </a:r>
          </a:p>
          <a:p>
            <a:r>
              <a:rPr dirty="0"/>
              <a:t>It learns general rules</a:t>
            </a:r>
            <a:r>
              <a:rPr lang="en-US" dirty="0"/>
              <a:t> or patterns</a:t>
            </a:r>
            <a:r>
              <a:rPr dirty="0"/>
              <a:t> from specific examples</a:t>
            </a:r>
            <a:r>
              <a:rPr lang="en-US" dirty="0"/>
              <a:t> (training data)</a:t>
            </a:r>
            <a:r>
              <a:rPr dirty="0"/>
              <a:t>.</a:t>
            </a:r>
          </a:p>
          <a:p>
            <a:r>
              <a:rPr dirty="0"/>
              <a:t>Used widely in artificial intelligence and machine learning.</a:t>
            </a:r>
          </a:p>
          <a:p>
            <a:r>
              <a:rPr dirty="0"/>
              <a:t>Goal: </a:t>
            </a:r>
            <a:r>
              <a:rPr lang="en-US" dirty="0"/>
              <a:t>Creates</a:t>
            </a:r>
            <a:r>
              <a:rPr dirty="0"/>
              <a:t> IF–THEN rules from training data</a:t>
            </a:r>
            <a:r>
              <a:rPr lang="en-US" dirty="0"/>
              <a:t> to classify or predict new data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F02E-477D-5201-8608-7830D2EAB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770C-6308-E98C-D07A-456BC0EB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Inductive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0D95F-1586-D81E-92B1-77D85E756799}"/>
              </a:ext>
            </a:extLst>
          </p:cNvPr>
          <p:cNvSpPr txBox="1"/>
          <p:nvPr/>
        </p:nvSpPr>
        <p:spPr>
          <a:xfrm>
            <a:off x="2286000" y="1447809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Training Data</a:t>
            </a:r>
          </a:p>
          <a:p>
            <a:pPr algn="ctr"/>
            <a:r>
              <a:rPr lang="en-US" sz="3200" dirty="0"/>
              <a:t>↓</a:t>
            </a:r>
          </a:p>
          <a:p>
            <a:pPr algn="ctr"/>
            <a:r>
              <a:rPr lang="en-US" sz="3200" dirty="0"/>
              <a:t>Pattern Analysis</a:t>
            </a:r>
          </a:p>
          <a:p>
            <a:pPr algn="ctr"/>
            <a:r>
              <a:rPr lang="en-US" sz="3200" dirty="0"/>
              <a:t>↓</a:t>
            </a:r>
          </a:p>
          <a:p>
            <a:pPr algn="ctr"/>
            <a:r>
              <a:rPr lang="en-US" sz="3200" dirty="0"/>
              <a:t>Rule Generation</a:t>
            </a:r>
          </a:p>
          <a:p>
            <a:pPr algn="ctr"/>
            <a:r>
              <a:rPr lang="en-US" sz="3200" dirty="0"/>
              <a:t>↓</a:t>
            </a:r>
          </a:p>
          <a:p>
            <a:pPr algn="ctr"/>
            <a:r>
              <a:rPr lang="en-US" sz="3200" dirty="0"/>
              <a:t>Extracted IF–THEN Rules</a:t>
            </a:r>
          </a:p>
          <a:p>
            <a:pPr algn="ctr"/>
            <a:r>
              <a:rPr lang="en-US" sz="3200" dirty="0"/>
              <a:t>↓</a:t>
            </a:r>
          </a:p>
          <a:p>
            <a:pPr algn="ctr"/>
            <a:r>
              <a:rPr lang="en-US" sz="3200" dirty="0"/>
              <a:t>Prediction /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519555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of Rule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3044634"/>
          </a:xfrm>
        </p:spPr>
        <p:txBody>
          <a:bodyPr>
            <a:normAutofit/>
          </a:bodyPr>
          <a:lstStyle/>
          <a:p>
            <a:r>
              <a:rPr sz="2400" dirty="0"/>
              <a:t>Rule extraction converts data patterns into understandable rules.</a:t>
            </a:r>
            <a:endParaRPr lang="en-US" sz="2400" dirty="0"/>
          </a:p>
          <a:p>
            <a:r>
              <a:rPr lang="en-US" sz="2400" dirty="0"/>
              <a:t>Find similarities and patterns.</a:t>
            </a:r>
            <a:endParaRPr sz="2400" dirty="0"/>
          </a:p>
          <a:p>
            <a:r>
              <a:rPr sz="2400" dirty="0"/>
              <a:t>Rules are generally represented as IF condition THEN conclusion.</a:t>
            </a:r>
          </a:p>
          <a:p>
            <a:r>
              <a:rPr sz="2400" dirty="0"/>
              <a:t>Helps in decision making</a:t>
            </a:r>
            <a:r>
              <a:rPr lang="en-US" sz="2400" dirty="0"/>
              <a:t>, prediction</a:t>
            </a:r>
            <a:r>
              <a:rPr sz="2400" dirty="0"/>
              <a:t> and classification.</a:t>
            </a:r>
          </a:p>
          <a:p>
            <a:r>
              <a:rPr sz="2400" dirty="0"/>
              <a:t>Makes machine learning interpretable.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ED458-CC30-7B46-34A8-429348325BB5}"/>
              </a:ext>
            </a:extLst>
          </p:cNvPr>
          <p:cNvSpPr txBox="1"/>
          <p:nvPr/>
        </p:nvSpPr>
        <p:spPr>
          <a:xfrm>
            <a:off x="2286000" y="4625128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IF Temperature = Hot</a:t>
            </a:r>
          </a:p>
          <a:p>
            <a:r>
              <a:rPr lang="en-US" sz="2800" dirty="0">
                <a:solidFill>
                  <a:srgbClr val="0070C0"/>
                </a:solidFill>
              </a:rPr>
              <a:t>AND Humidity = High</a:t>
            </a:r>
          </a:p>
          <a:p>
            <a:r>
              <a:rPr lang="en-US" sz="2800" dirty="0">
                <a:solidFill>
                  <a:srgbClr val="0070C0"/>
                </a:solidFill>
              </a:rPr>
              <a:t>THEN Play = 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3077"/>
          </a:xfrm>
        </p:spPr>
        <p:txBody>
          <a:bodyPr>
            <a:normAutofit fontScale="90000"/>
          </a:bodyPr>
          <a:lstStyle/>
          <a:p>
            <a:r>
              <a:rPr dirty="0"/>
              <a:t>Basic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txBody>
          <a:bodyPr>
            <a:normAutofit lnSpcReduction="10000"/>
          </a:bodyPr>
          <a:lstStyle/>
          <a:p>
            <a:r>
              <a:rPr sz="2400" u="sng" dirty="0"/>
              <a:t>Training Examples: </a:t>
            </a:r>
            <a:r>
              <a:rPr sz="2400" dirty="0"/>
              <a:t>Input samples with </a:t>
            </a:r>
            <a:r>
              <a:rPr lang="en-US" sz="2400" dirty="0"/>
              <a:t>known </a:t>
            </a:r>
            <a:r>
              <a:rPr sz="2400" dirty="0"/>
              <a:t>labels</a:t>
            </a:r>
            <a:r>
              <a:rPr lang="en-US" sz="2400" dirty="0"/>
              <a:t> (outputs)</a:t>
            </a:r>
            <a:r>
              <a:rPr sz="2400" dirty="0"/>
              <a:t>.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sz="2400" u="sng" dirty="0"/>
              <a:t>Attributes/Features: </a:t>
            </a:r>
            <a:r>
              <a:rPr sz="2400" dirty="0"/>
              <a:t>Properties</a:t>
            </a:r>
            <a:r>
              <a:rPr lang="en-US" sz="2400" dirty="0"/>
              <a:t> or characteristics</a:t>
            </a:r>
            <a:r>
              <a:rPr sz="2400" dirty="0"/>
              <a:t> of data</a:t>
            </a:r>
            <a:r>
              <a:rPr lang="en-US" sz="2400" dirty="0"/>
              <a:t> used for learning</a:t>
            </a:r>
            <a:r>
              <a:rPr sz="2400" dirty="0"/>
              <a:t>.</a:t>
            </a:r>
            <a:r>
              <a:rPr lang="en-US" sz="2400" dirty="0"/>
              <a:t> E.g. Height, Temperature, Color, Age</a:t>
            </a:r>
          </a:p>
          <a:p>
            <a:endParaRPr lang="en-US" sz="2400" dirty="0"/>
          </a:p>
          <a:p>
            <a:endParaRPr sz="2400" dirty="0"/>
          </a:p>
          <a:p>
            <a:r>
              <a:rPr sz="2400" u="sng" dirty="0"/>
              <a:t>Hypothesis:</a:t>
            </a:r>
            <a:r>
              <a:rPr sz="2400" dirty="0"/>
              <a:t> Candidate rule</a:t>
            </a:r>
            <a:r>
              <a:rPr lang="en-US" sz="2400" dirty="0"/>
              <a:t> created by learning algorithm</a:t>
            </a:r>
            <a:r>
              <a:rPr sz="2400" dirty="0"/>
              <a:t>.</a:t>
            </a:r>
            <a:r>
              <a:rPr lang="en-US" sz="2400" dirty="0"/>
              <a:t> Its usually IF-THEN rule.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70C0"/>
                </a:solidFill>
              </a:rPr>
              <a:t>IF Temperature = Hot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70C0"/>
                </a:solidFill>
              </a:rPr>
              <a:t>THEN Play = No</a:t>
            </a:r>
          </a:p>
          <a:p>
            <a:r>
              <a:rPr sz="2400" u="sng" dirty="0"/>
              <a:t>Generalization:</a:t>
            </a:r>
            <a:r>
              <a:rPr sz="2400" dirty="0"/>
              <a:t> Expanding rules to cover more examples.</a:t>
            </a:r>
            <a:endParaRPr lang="en-US" sz="2400" dirty="0"/>
          </a:p>
          <a:p>
            <a:endParaRPr lang="en-US" sz="24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070C0"/>
                </a:solidFill>
              </a:rPr>
              <a:t>IF Weather = Sunny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70C0"/>
                </a:solidFill>
              </a:rPr>
              <a:t>THEN Play = No</a:t>
            </a:r>
            <a:endParaRPr sz="1800" dirty="0">
              <a:solidFill>
                <a:srgbClr val="0070C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6478E4-61CC-2352-6896-61AA7F625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591203"/>
              </p:ext>
            </p:extLst>
          </p:nvPr>
        </p:nvGraphicFramePr>
        <p:xfrm>
          <a:off x="2814635" y="1313973"/>
          <a:ext cx="3848102" cy="10972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24051">
                  <a:extLst>
                    <a:ext uri="{9D8B030D-6E8A-4147-A177-3AD203B41FA5}">
                      <a16:colId xmlns:a16="http://schemas.microsoft.com/office/drawing/2014/main" val="331010465"/>
                    </a:ext>
                  </a:extLst>
                </a:gridCol>
                <a:gridCol w="1924051">
                  <a:extLst>
                    <a:ext uri="{9D8B030D-6E8A-4147-A177-3AD203B41FA5}">
                      <a16:colId xmlns:a16="http://schemas.microsoft.com/office/drawing/2014/main" val="334204612"/>
                    </a:ext>
                  </a:extLst>
                </a:gridCol>
              </a:tblGrid>
              <a:tr h="2668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035666"/>
                  </a:ext>
                </a:extLst>
              </a:tr>
              <a:tr h="2668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219584"/>
                  </a:ext>
                </a:extLst>
              </a:tr>
              <a:tr h="2668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6171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85C365-EC22-4632-F7F9-0FB49366E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333086"/>
              </p:ext>
            </p:extLst>
          </p:nvPr>
        </p:nvGraphicFramePr>
        <p:xfrm>
          <a:off x="1142998" y="3208734"/>
          <a:ext cx="7191375" cy="7315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71164911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79271906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3723027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013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6877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Working Principle of Inductive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Observe training data.</a:t>
            </a:r>
          </a:p>
          <a:p>
            <a:r>
              <a:rPr dirty="0"/>
              <a:t>Identify similarities among examples.</a:t>
            </a:r>
          </a:p>
          <a:p>
            <a:r>
              <a:rPr dirty="0"/>
              <a:t>Generate hypotheses/rules.</a:t>
            </a:r>
          </a:p>
          <a:p>
            <a:r>
              <a:rPr dirty="0"/>
              <a:t>Generalize rules while avoiding incorrect classifications.</a:t>
            </a:r>
          </a:p>
          <a:p>
            <a:r>
              <a:rPr dirty="0"/>
              <a:t>Evaluate rules on unseen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General Inductive Learning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Initialize empty rule set.</a:t>
            </a:r>
          </a:p>
          <a:p>
            <a:r>
              <a:rPr dirty="0"/>
              <a:t>2. Select a training example.</a:t>
            </a:r>
          </a:p>
          <a:p>
            <a:r>
              <a:rPr dirty="0"/>
              <a:t>3. Create the most specific rule.</a:t>
            </a:r>
          </a:p>
          <a:p>
            <a:r>
              <a:rPr dirty="0"/>
              <a:t>4. Generalize the rule for positive examples.</a:t>
            </a:r>
          </a:p>
          <a:p>
            <a:r>
              <a:rPr dirty="0"/>
              <a:t>5. Exclude negative examples.</a:t>
            </a:r>
          </a:p>
          <a:p>
            <a:r>
              <a:rPr dirty="0"/>
              <a:t>6. Add finalized rule to rule set.</a:t>
            </a:r>
          </a:p>
          <a:p>
            <a:r>
              <a:rPr dirty="0"/>
              <a:t>7. Repeat until all examples are covered.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of Inductive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training dataset.</a:t>
            </a:r>
          </a:p>
          <a:p>
            <a:r>
              <a:t>Preprocess data.</a:t>
            </a:r>
          </a:p>
          <a:p>
            <a:r>
              <a:t>Generate hypotheses.</a:t>
            </a:r>
          </a:p>
          <a:p>
            <a:r>
              <a:t>Test and refine rules.</a:t>
            </a:r>
          </a:p>
          <a:p>
            <a:r>
              <a:t>Produce final rule 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Dataset – Play Tennis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Weather | Temperature | Play Tennis</a:t>
            </a:r>
          </a:p>
          <a:p>
            <a:r>
              <a:t>Sunny | Hot | No</a:t>
            </a:r>
          </a:p>
          <a:p>
            <a:r>
              <a:t>Sunny | Mild | No</a:t>
            </a:r>
          </a:p>
          <a:p>
            <a:r>
              <a:t>Overcast | Cool | Yes</a:t>
            </a:r>
          </a:p>
          <a:p>
            <a:r>
              <a:t>Rainy | Mild | Yes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Extraction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Weather = Sunny THEN Play Tennis = No</a:t>
            </a:r>
          </a:p>
          <a:p>
            <a:r>
              <a:t>IF Weather = Overcast THEN Play Tennis = Yes</a:t>
            </a:r>
          </a:p>
          <a:p>
            <a:r>
              <a:t>IF Weather = Rainy AND Temperature = Mild THEN Play Tennis = Yes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Specific-to-General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Starts with highly specific hypotheses.</a:t>
            </a:r>
          </a:p>
          <a:p>
            <a:r>
              <a:rPr dirty="0"/>
              <a:t>Gradually generalizes rules.</a:t>
            </a:r>
          </a:p>
          <a:p>
            <a:r>
              <a:rPr dirty="0"/>
              <a:t>Covers more positive examples.</a:t>
            </a:r>
          </a:p>
          <a:p>
            <a:r>
              <a:rPr dirty="0"/>
              <a:t>Avoids negative examples.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4EE916-3C2E-3C1B-B49C-932440F203BE}"/>
              </a:ext>
            </a:extLst>
          </p:cNvPr>
          <p:cNvSpPr txBox="1"/>
          <p:nvPr/>
        </p:nvSpPr>
        <p:spPr>
          <a:xfrm>
            <a:off x="2407920" y="4101637"/>
            <a:ext cx="4797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It is also called </a:t>
            </a:r>
            <a:r>
              <a:rPr lang="en-US" sz="2400" b="1" dirty="0"/>
              <a:t>bottom-up learning</a:t>
            </a:r>
            <a:r>
              <a:rPr lang="en-US" sz="2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81241-DE2F-30B2-16D0-4DA644C55616}"/>
              </a:ext>
            </a:extLst>
          </p:cNvPr>
          <p:cNvSpPr txBox="1"/>
          <p:nvPr/>
        </p:nvSpPr>
        <p:spPr>
          <a:xfrm>
            <a:off x="1103376" y="4644370"/>
            <a:ext cx="47975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0070C0"/>
                </a:solidFill>
              </a:rPr>
              <a:t>The algorithm: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Begins with a strict rule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Checks positive examples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Removes unnecessary conditions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Creates a more general rule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59AF9-9611-5215-85B3-4EB7811D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BA61-CCD7-D5E6-FE32-F11BE076F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4910"/>
            <a:ext cx="8229600" cy="1143000"/>
          </a:xfrm>
        </p:spPr>
        <p:txBody>
          <a:bodyPr/>
          <a:lstStyle/>
          <a:p>
            <a:r>
              <a:t>Specific-to-General Search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BC6858-0BC3-A433-01B9-E34F4B4A1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467644"/>
              </p:ext>
            </p:extLst>
          </p:nvPr>
        </p:nvGraphicFramePr>
        <p:xfrm>
          <a:off x="664464" y="1635411"/>
          <a:ext cx="8229600" cy="1463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9067910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5603230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11346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782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14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Warm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872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1709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B2B6D9-78B6-B0C9-A647-99BB645BAF7D}"/>
              </a:ext>
            </a:extLst>
          </p:cNvPr>
          <p:cNvSpPr txBox="1"/>
          <p:nvPr/>
        </p:nvSpPr>
        <p:spPr>
          <a:xfrm>
            <a:off x="664464" y="1249577"/>
            <a:ext cx="185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Training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79222-766D-3160-FA6B-423D8BB67DD5}"/>
              </a:ext>
            </a:extLst>
          </p:cNvPr>
          <p:cNvSpPr txBox="1"/>
          <p:nvPr/>
        </p:nvSpPr>
        <p:spPr>
          <a:xfrm>
            <a:off x="664464" y="375955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Weather = Sunny</a:t>
            </a:r>
          </a:p>
          <a:p>
            <a:r>
              <a:rPr lang="en-US" dirty="0"/>
              <a:t>AND Temperature = Hot</a:t>
            </a:r>
          </a:p>
          <a:p>
            <a:r>
              <a:rPr lang="en-US" dirty="0"/>
              <a:t>THEN Play = 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5EC69-C4DF-B516-D178-A40E775F08C4}"/>
              </a:ext>
            </a:extLst>
          </p:cNvPr>
          <p:cNvSpPr txBox="1"/>
          <p:nvPr/>
        </p:nvSpPr>
        <p:spPr>
          <a:xfrm>
            <a:off x="664464" y="3341605"/>
            <a:ext cx="2761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 </a:t>
            </a:r>
            <a:r>
              <a:rPr lang="en-US" b="1" dirty="0"/>
              <a:t>Specific Hypothesis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3322E4-6A5F-0193-0979-D8103A8D10F0}"/>
              </a:ext>
            </a:extLst>
          </p:cNvPr>
          <p:cNvSpPr txBox="1"/>
          <p:nvPr/>
        </p:nvSpPr>
        <p:spPr>
          <a:xfrm>
            <a:off x="5236464" y="3384226"/>
            <a:ext cx="2919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2: </a:t>
            </a:r>
            <a:r>
              <a:rPr lang="en-US" b="1" dirty="0"/>
              <a:t>Generalize the Rule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338E4A-D02C-A918-C845-D4E2CFED337B}"/>
              </a:ext>
            </a:extLst>
          </p:cNvPr>
          <p:cNvSpPr txBox="1"/>
          <p:nvPr/>
        </p:nvSpPr>
        <p:spPr>
          <a:xfrm>
            <a:off x="5236464" y="3759550"/>
            <a:ext cx="301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Weather = Sunny</a:t>
            </a:r>
          </a:p>
          <a:p>
            <a:r>
              <a:rPr lang="en-US" dirty="0"/>
              <a:t>THEN Play = 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A890F9-49B1-4B08-5E4E-C9D6439C9F87}"/>
              </a:ext>
            </a:extLst>
          </p:cNvPr>
          <p:cNvSpPr txBox="1"/>
          <p:nvPr/>
        </p:nvSpPr>
        <p:spPr>
          <a:xfrm>
            <a:off x="749808" y="483675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3: </a:t>
            </a:r>
            <a:r>
              <a:rPr lang="en-US" b="1" dirty="0"/>
              <a:t>Avoid Negative Examples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07D93-4110-24A0-7F2B-8F53830673EA}"/>
              </a:ext>
            </a:extLst>
          </p:cNvPr>
          <p:cNvSpPr txBox="1"/>
          <p:nvPr/>
        </p:nvSpPr>
        <p:spPr>
          <a:xfrm>
            <a:off x="749808" y="5175296"/>
            <a:ext cx="556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rule should not classify rainy weather as “Yes”.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D38282-EA64-4C21-7998-470E4EC69A11}"/>
              </a:ext>
            </a:extLst>
          </p:cNvPr>
          <p:cNvSpPr txBox="1"/>
          <p:nvPr/>
        </p:nvSpPr>
        <p:spPr>
          <a:xfrm>
            <a:off x="822960" y="554462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Weather = Sunny</a:t>
            </a:r>
          </a:p>
          <a:p>
            <a:r>
              <a:rPr lang="en-US" dirty="0"/>
              <a:t>THEN Play = Yes</a:t>
            </a:r>
          </a:p>
        </p:txBody>
      </p:sp>
    </p:spTree>
    <p:extLst>
      <p:ext uri="{BB962C8B-B14F-4D97-AF65-F5344CB8AC3E}">
        <p14:creationId xmlns:p14="http://schemas.microsoft.com/office/powerpoint/2010/main" val="2163115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B1B86-C4AF-28E3-E6B1-8E570477A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A57F-5569-44DE-4BCB-66DBB814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4910"/>
            <a:ext cx="8229600" cy="1143000"/>
          </a:xfrm>
        </p:spPr>
        <p:txBody>
          <a:bodyPr/>
          <a:lstStyle/>
          <a:p>
            <a:r>
              <a:t>Specific-to-General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93170-BBF4-DB44-FB2A-223BFA9A8A0E}"/>
              </a:ext>
            </a:extLst>
          </p:cNvPr>
          <p:cNvSpPr txBox="1"/>
          <p:nvPr/>
        </p:nvSpPr>
        <p:spPr>
          <a:xfrm>
            <a:off x="2115312" y="1481019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Very Specific Rule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Check Positive Examples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Generalize Conditions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Avoid Negative Examples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Final General Rule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20ED6-9C70-7B10-8399-CD6ABB48DC55}"/>
              </a:ext>
            </a:extLst>
          </p:cNvPr>
          <p:cNvSpPr txBox="1"/>
          <p:nvPr/>
        </p:nvSpPr>
        <p:spPr>
          <a:xfrm>
            <a:off x="286512" y="4176652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understand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Produces meaningful rules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for classification problems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2E80DD-8DE5-68C3-6AD0-2D61FA0EED72}"/>
              </a:ext>
            </a:extLst>
          </p:cNvPr>
          <p:cNvSpPr txBox="1"/>
          <p:nvPr/>
        </p:nvSpPr>
        <p:spPr>
          <a:xfrm>
            <a:off x="286512" y="562161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become slow with large datasets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May over-generalize if not controlled</a:t>
            </a:r>
          </a:p>
        </p:txBody>
      </p:sp>
    </p:spTree>
    <p:extLst>
      <p:ext uri="{BB962C8B-B14F-4D97-AF65-F5344CB8AC3E}">
        <p14:creationId xmlns:p14="http://schemas.microsoft.com/office/powerpoint/2010/main" val="4194089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General-to-Specific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2879"/>
            <a:ext cx="8229600" cy="2675826"/>
          </a:xfrm>
        </p:spPr>
        <p:txBody>
          <a:bodyPr>
            <a:normAutofit/>
          </a:bodyPr>
          <a:lstStyle/>
          <a:p>
            <a:r>
              <a:rPr sz="2800" dirty="0"/>
              <a:t>Starts with general hypotheses.</a:t>
            </a:r>
          </a:p>
          <a:p>
            <a:r>
              <a:rPr sz="2800" dirty="0"/>
              <a:t>Specializes rules using constraints</a:t>
            </a:r>
            <a:r>
              <a:rPr lang="en-US" sz="2800" dirty="0"/>
              <a:t> (conditions)</a:t>
            </a:r>
            <a:r>
              <a:rPr sz="2800" dirty="0"/>
              <a:t>.</a:t>
            </a:r>
          </a:p>
          <a:p>
            <a:r>
              <a:rPr sz="2800" dirty="0"/>
              <a:t>Removes incorrect classifications.</a:t>
            </a:r>
            <a:endParaRPr lang="en-US" sz="2800" dirty="0"/>
          </a:p>
          <a:p>
            <a:r>
              <a:rPr lang="en-US" sz="2800" dirty="0"/>
              <a:t>Produces more accurate rules.</a:t>
            </a:r>
            <a:endParaRPr sz="2800" dirty="0"/>
          </a:p>
          <a:p>
            <a:r>
              <a:rPr sz="2800" dirty="0"/>
              <a:t>Common in decision tree learning.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E81B3-04A5-44A7-4313-22B46401AF30}"/>
              </a:ext>
            </a:extLst>
          </p:cNvPr>
          <p:cNvSpPr txBox="1"/>
          <p:nvPr/>
        </p:nvSpPr>
        <p:spPr>
          <a:xfrm>
            <a:off x="2115312" y="409672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It is also called </a:t>
            </a:r>
            <a:r>
              <a:rPr lang="en-US" sz="2400" b="1" dirty="0"/>
              <a:t>top-down learning</a:t>
            </a:r>
            <a:r>
              <a:rPr lang="en-US" sz="2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83D32-C485-D797-D258-A04C24171933}"/>
              </a:ext>
            </a:extLst>
          </p:cNvPr>
          <p:cNvSpPr txBox="1"/>
          <p:nvPr/>
        </p:nvSpPr>
        <p:spPr>
          <a:xfrm>
            <a:off x="457200" y="4679994"/>
            <a:ext cx="6431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0070C0"/>
                </a:solidFill>
              </a:rPr>
              <a:t>The algorithm: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Begins with a broad rule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Tests the rule on training data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Adds restrictions when mistakes occur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Creates a more specific and accurate rule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Decision Tree Based Rule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552688" cy="1545335"/>
          </a:xfrm>
        </p:spPr>
        <p:txBody>
          <a:bodyPr>
            <a:normAutofit/>
          </a:bodyPr>
          <a:lstStyle/>
          <a:p>
            <a:r>
              <a:rPr sz="2800" dirty="0"/>
              <a:t>Decision trees can generate classification rules.</a:t>
            </a:r>
          </a:p>
          <a:p>
            <a:r>
              <a:rPr sz="2800" dirty="0"/>
              <a:t>Each path from root to leaf forms</a:t>
            </a:r>
            <a:r>
              <a:rPr lang="en-US" sz="2800" dirty="0"/>
              <a:t> one IF–THEN </a:t>
            </a:r>
            <a:r>
              <a:rPr sz="2800" dirty="0"/>
              <a:t> rule.</a:t>
            </a:r>
          </a:p>
          <a:p>
            <a:r>
              <a:rPr sz="2800" dirty="0"/>
              <a:t>Popular algorithms: ID3, C4.5, CART.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7FDBBF-3ABD-1AE3-9134-0DF8AF12B3F7}"/>
              </a:ext>
            </a:extLst>
          </p:cNvPr>
          <p:cNvSpPr txBox="1"/>
          <p:nvPr/>
        </p:nvSpPr>
        <p:spPr>
          <a:xfrm>
            <a:off x="640080" y="4205924"/>
            <a:ext cx="68458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70C0"/>
                </a:solidFill>
              </a:rPr>
              <a:t>Basic Idea</a:t>
            </a:r>
          </a:p>
          <a:p>
            <a:pPr>
              <a:buNone/>
            </a:pPr>
            <a:r>
              <a:rPr lang="en-US" sz="2400" dirty="0">
                <a:solidFill>
                  <a:srgbClr val="0070C0"/>
                </a:solidFill>
              </a:rPr>
              <a:t>A decision tree: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Splits data using conditions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Makes decisions step by step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Ends with a final class/output </a:t>
            </a:r>
          </a:p>
          <a:p>
            <a:pPr>
              <a:buNone/>
            </a:pPr>
            <a:r>
              <a:rPr lang="en-US" sz="2400" dirty="0">
                <a:solidFill>
                  <a:srgbClr val="0070C0"/>
                </a:solidFill>
              </a:rPr>
              <a:t>These paths can easily be written as rules.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DC8B7-6809-A4F4-1E22-AEB645ADC8F9}"/>
              </a:ext>
            </a:extLst>
          </p:cNvPr>
          <p:cNvSpPr txBox="1"/>
          <p:nvPr/>
        </p:nvSpPr>
        <p:spPr>
          <a:xfrm>
            <a:off x="6376416" y="3328099"/>
            <a:ext cx="26334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Training Data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Build Decision Tree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Trace Root-to-Leaf Paths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Generate IF–THEN Rules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Classification / Prediction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3209-F6C2-FB81-23DC-60430EE3A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9ACA3-1665-245F-213C-96B295B8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Decision Tree Based Rule Extraction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90FB8-C925-4B6F-5CE0-68F8541836BA}"/>
              </a:ext>
            </a:extLst>
          </p:cNvPr>
          <p:cNvSpPr txBox="1"/>
          <p:nvPr/>
        </p:nvSpPr>
        <p:spPr>
          <a:xfrm>
            <a:off x="2026920" y="1291304"/>
            <a:ext cx="50901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 Weather</a:t>
            </a:r>
          </a:p>
          <a:p>
            <a:pPr algn="ctr"/>
            <a:r>
              <a:rPr lang="en-US" dirty="0"/>
              <a:t> /       \</a:t>
            </a:r>
          </a:p>
          <a:p>
            <a:pPr algn="ctr"/>
            <a:r>
              <a:rPr lang="en-US" dirty="0"/>
              <a:t>       Sunny      Rainy</a:t>
            </a:r>
          </a:p>
          <a:p>
            <a:pPr algn="ctr"/>
            <a:r>
              <a:rPr lang="en-US" dirty="0"/>
              <a:t> /             \</a:t>
            </a:r>
          </a:p>
          <a:p>
            <a:pPr algn="ctr"/>
            <a:r>
              <a:rPr lang="en-US" dirty="0"/>
              <a:t>    Play=Yes       Play=No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F485E-AD03-1FF0-F7B4-E7EA95EC5FD0}"/>
              </a:ext>
            </a:extLst>
          </p:cNvPr>
          <p:cNvSpPr txBox="1"/>
          <p:nvPr/>
        </p:nvSpPr>
        <p:spPr>
          <a:xfrm>
            <a:off x="262128" y="28780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root-to-leaf path becomes a rule.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5FF40-5ED0-4059-592D-63435704CF7B}"/>
              </a:ext>
            </a:extLst>
          </p:cNvPr>
          <p:cNvSpPr txBox="1"/>
          <p:nvPr/>
        </p:nvSpPr>
        <p:spPr>
          <a:xfrm>
            <a:off x="262128" y="3356800"/>
            <a:ext cx="1152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Rule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B74F1-183C-8EFF-E368-032C230BD5ED}"/>
              </a:ext>
            </a:extLst>
          </p:cNvPr>
          <p:cNvSpPr txBox="1"/>
          <p:nvPr/>
        </p:nvSpPr>
        <p:spPr>
          <a:xfrm>
            <a:off x="262128" y="372613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Weather = Sunny</a:t>
            </a:r>
          </a:p>
          <a:p>
            <a:r>
              <a:rPr lang="en-US" dirty="0"/>
              <a:t>THEN Play = 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43FF45-539A-6D7E-21DF-D66F38A25293}"/>
              </a:ext>
            </a:extLst>
          </p:cNvPr>
          <p:cNvSpPr txBox="1"/>
          <p:nvPr/>
        </p:nvSpPr>
        <p:spPr>
          <a:xfrm>
            <a:off x="5882640" y="3432048"/>
            <a:ext cx="969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Rule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B977B9-6BCA-2FDC-CEF8-59A6AC4F7337}"/>
              </a:ext>
            </a:extLst>
          </p:cNvPr>
          <p:cNvSpPr txBox="1"/>
          <p:nvPr/>
        </p:nvSpPr>
        <p:spPr>
          <a:xfrm>
            <a:off x="5882640" y="3728734"/>
            <a:ext cx="2444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Weather = Rainy</a:t>
            </a:r>
          </a:p>
          <a:p>
            <a:r>
              <a:rPr lang="en-US" dirty="0"/>
              <a:t>THEN Play = No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81F916-55F6-F03E-35C0-8504B3C168CC}"/>
              </a:ext>
            </a:extLst>
          </p:cNvPr>
          <p:cNvSpPr txBox="1"/>
          <p:nvPr/>
        </p:nvSpPr>
        <p:spPr>
          <a:xfrm>
            <a:off x="262128" y="513032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1: Build Decision Tree</a:t>
            </a:r>
          </a:p>
          <a:p>
            <a:pPr>
              <a:buNone/>
            </a:pPr>
            <a:r>
              <a:rPr lang="en-US" dirty="0"/>
              <a:t>The algorithm learns patterns from training data.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1081D6-F4E1-9176-1740-D8EBCA6C7CF3}"/>
              </a:ext>
            </a:extLst>
          </p:cNvPr>
          <p:cNvSpPr txBox="1"/>
          <p:nvPr/>
        </p:nvSpPr>
        <p:spPr>
          <a:xfrm>
            <a:off x="4840224" y="51304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 Follow Paths</a:t>
            </a:r>
          </a:p>
          <a:p>
            <a:pPr>
              <a:buNone/>
            </a:pPr>
            <a:r>
              <a:rPr lang="en-US" dirty="0"/>
              <a:t>Each branch is traced from root to leaf.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C2A371-A895-4A3C-BCBC-AFF2BC8CA752}"/>
              </a:ext>
            </a:extLst>
          </p:cNvPr>
          <p:cNvSpPr txBox="1"/>
          <p:nvPr/>
        </p:nvSpPr>
        <p:spPr>
          <a:xfrm>
            <a:off x="262128" y="6129561"/>
            <a:ext cx="4706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3: Convert Paths into Rules</a:t>
            </a:r>
          </a:p>
          <a:p>
            <a:pPr>
              <a:buNone/>
            </a:pPr>
            <a:r>
              <a:rPr lang="en-US" dirty="0"/>
              <a:t>Every path becomes an IF–THEN statement.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BD7A23-7EC3-EEE6-B2E0-A9B6813040A3}"/>
              </a:ext>
            </a:extLst>
          </p:cNvPr>
          <p:cNvSpPr txBox="1"/>
          <p:nvPr/>
        </p:nvSpPr>
        <p:spPr>
          <a:xfrm>
            <a:off x="4840224" y="6037228"/>
            <a:ext cx="4706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4: Use Rules for Prediction</a:t>
            </a:r>
          </a:p>
          <a:p>
            <a:pPr>
              <a:buNone/>
            </a:pPr>
            <a:r>
              <a:rPr lang="en-US" dirty="0"/>
              <a:t>New data is classified using extracted rules.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D714E7-3034-191B-1076-2873A69412A1}"/>
              </a:ext>
            </a:extLst>
          </p:cNvPr>
          <p:cNvSpPr txBox="1"/>
          <p:nvPr/>
        </p:nvSpPr>
        <p:spPr>
          <a:xfrm>
            <a:off x="262128" y="4557129"/>
            <a:ext cx="4773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Working Process</a:t>
            </a:r>
          </a:p>
        </p:txBody>
      </p:sp>
    </p:spTree>
    <p:extLst>
      <p:ext uri="{BB962C8B-B14F-4D97-AF65-F5344CB8AC3E}">
        <p14:creationId xmlns:p14="http://schemas.microsoft.com/office/powerpoint/2010/main" val="268448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ID3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8255"/>
            <a:ext cx="8564880" cy="2447544"/>
          </a:xfrm>
        </p:spPr>
        <p:txBody>
          <a:bodyPr>
            <a:normAutofit/>
          </a:bodyPr>
          <a:lstStyle/>
          <a:p>
            <a:r>
              <a:rPr sz="2400" dirty="0"/>
              <a:t>Uses entropy and information gain.</a:t>
            </a:r>
          </a:p>
          <a:p>
            <a:r>
              <a:rPr sz="2400" dirty="0"/>
              <a:t>Selects attribute with highest information gain.</a:t>
            </a:r>
          </a:p>
          <a:p>
            <a:r>
              <a:rPr sz="2400" dirty="0"/>
              <a:t>Builds decision tree recursively.</a:t>
            </a:r>
          </a:p>
          <a:p>
            <a:r>
              <a:rPr sz="2400" dirty="0"/>
              <a:t>Produces understandable rules.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4BACE-F718-D084-CACB-A7C74B08D53A}"/>
              </a:ext>
            </a:extLst>
          </p:cNvPr>
          <p:cNvSpPr txBox="1"/>
          <p:nvPr/>
        </p:nvSpPr>
        <p:spPr>
          <a:xfrm>
            <a:off x="457200" y="1338656"/>
            <a:ext cx="8442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ID3 (Iterative </a:t>
            </a:r>
            <a:r>
              <a:rPr lang="en-US" sz="2000" dirty="0" err="1"/>
              <a:t>Dichotomiser</a:t>
            </a:r>
            <a:r>
              <a:rPr lang="en-US" sz="2000" dirty="0"/>
              <a:t> 3) is a </a:t>
            </a:r>
            <a:r>
              <a:rPr lang="en-US" sz="2000" b="1" dirty="0"/>
              <a:t>decision tree learning algorithm</a:t>
            </a:r>
            <a:r>
              <a:rPr lang="en-US" sz="2000" dirty="0"/>
              <a:t> used for classification.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Entropy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Entropy measures impurity in data.</a:t>
            </a:r>
          </a:p>
          <a:p>
            <a:r>
              <a:t>Lower entropy means more pure data.</a:t>
            </a:r>
          </a:p>
          <a:p>
            <a:r>
              <a:t>Formula: Entropy(S) = -Σ pᵢ log₂(pᵢ)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3841"/>
            <a:ext cx="8229600" cy="2431987"/>
          </a:xfrm>
        </p:spPr>
        <p:txBody>
          <a:bodyPr/>
          <a:lstStyle/>
          <a:p>
            <a:r>
              <a:rPr dirty="0"/>
              <a:t>Measures reduction in entropy.</a:t>
            </a:r>
          </a:p>
          <a:p>
            <a:r>
              <a:rPr dirty="0"/>
              <a:t>Helps select best splitting attribute.</a:t>
            </a:r>
          </a:p>
          <a:p>
            <a:r>
              <a:rPr dirty="0"/>
              <a:t>Higher gain indicates better feature.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12E48-5480-4065-0E5C-9764C64410CA}"/>
              </a:ext>
            </a:extLst>
          </p:cNvPr>
          <p:cNvSpPr txBox="1"/>
          <p:nvPr/>
        </p:nvSpPr>
        <p:spPr>
          <a:xfrm>
            <a:off x="457200" y="1271176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Information Gain tells how much uncertainty is reduced after splitting data using an attribute.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Rule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Easy to interpret.</a:t>
            </a:r>
          </a:p>
          <a:p>
            <a:r>
              <a:rPr dirty="0"/>
              <a:t>Human-readable rules.</a:t>
            </a:r>
          </a:p>
          <a:p>
            <a:r>
              <a:rPr dirty="0"/>
              <a:t>Useful for expert systems.</a:t>
            </a:r>
          </a:p>
          <a:p>
            <a:r>
              <a:rPr dirty="0"/>
              <a:t>Improves explainability in AI.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Inductive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Sensitive to noisy data.</a:t>
            </a:r>
          </a:p>
          <a:p>
            <a:r>
              <a:rPr dirty="0"/>
              <a:t>Can overfit training data.</a:t>
            </a:r>
          </a:p>
          <a:p>
            <a:r>
              <a:rPr dirty="0"/>
              <a:t>Requires sufficient examples.</a:t>
            </a:r>
          </a:p>
          <a:p>
            <a:r>
              <a:rPr dirty="0"/>
              <a:t>Complex datasets may produce many rules.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Medical diagnosis</a:t>
            </a:r>
          </a:p>
          <a:p>
            <a:r>
              <a:t>Fraud detection</a:t>
            </a:r>
          </a:p>
          <a:p>
            <a:r>
              <a:t>Spam filtering</a:t>
            </a:r>
          </a:p>
          <a:p>
            <a:r>
              <a:t>Student performance prediction</a:t>
            </a:r>
          </a:p>
          <a:p>
            <a:r>
              <a:t>Recommendation systems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Inductive vs Deductive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Inductive: Specific → General</a:t>
            </a:r>
          </a:p>
          <a:p>
            <a:r>
              <a:t>Deductive: General → Specific</a:t>
            </a:r>
          </a:p>
          <a:p>
            <a:r>
              <a:t>Inductive uses examples.</a:t>
            </a:r>
          </a:p>
          <a:p>
            <a:r>
              <a:t>Deductive uses predefined logic/rules.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Rule Extraction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ID3</a:t>
            </a:r>
          </a:p>
          <a:p>
            <a:r>
              <a:t>C4.5</a:t>
            </a:r>
          </a:p>
          <a:p>
            <a:r>
              <a:t>RIPPER</a:t>
            </a:r>
          </a:p>
          <a:p>
            <a:r>
              <a:t>CN2</a:t>
            </a:r>
          </a:p>
          <a:p>
            <a:r>
              <a:t>AQ Algorithm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Students who study regularly pass exams.</a:t>
            </a:r>
          </a:p>
          <a:p>
            <a:r>
              <a:rPr dirty="0"/>
              <a:t>Ali studied regularly and passed.</a:t>
            </a:r>
          </a:p>
          <a:p>
            <a:r>
              <a:rPr dirty="0"/>
              <a:t>Sara studied regularly and passed.</a:t>
            </a:r>
          </a:p>
          <a:p>
            <a:r>
              <a:rPr dirty="0"/>
              <a:t>Extracted Rule: IF student studies regularly THEN student passes.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Inductive learning extracts meaningful rules from data.</a:t>
            </a:r>
          </a:p>
          <a:p>
            <a:r>
              <a:t>Provides understandable AI models.</a:t>
            </a:r>
          </a:p>
          <a:p>
            <a:r>
              <a:t>Widely used in machine learning and expert systems.</a:t>
            </a:r>
          </a:p>
          <a:p>
            <a:r>
              <a:t>Important for explainable artificial intelligence (XAI).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1095</Words>
  <Application>Microsoft Office PowerPoint</Application>
  <PresentationFormat>On-screen Show (4:3)</PresentationFormat>
  <Paragraphs>242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Office Theme</vt:lpstr>
      <vt:lpstr>Inductive Learning Algorithm for Rule Extraction</vt:lpstr>
      <vt:lpstr>Introduction to Inductive Learning</vt:lpstr>
      <vt:lpstr>Introduction to Inductive Learning</vt:lpstr>
      <vt:lpstr>Concept of Rule Extraction</vt:lpstr>
      <vt:lpstr>Basic Terminology</vt:lpstr>
      <vt:lpstr>Working Principle of Inductive Learning</vt:lpstr>
      <vt:lpstr>General Inductive Learning Algorithm</vt:lpstr>
      <vt:lpstr>Flow of Inductive Learning</vt:lpstr>
      <vt:lpstr>Example Dataset – Play Tennis</vt:lpstr>
      <vt:lpstr>Rule Extraction Example</vt:lpstr>
      <vt:lpstr>Specific-to-General Search</vt:lpstr>
      <vt:lpstr>Specific-to-General Search</vt:lpstr>
      <vt:lpstr>Specific-to-General Search</vt:lpstr>
      <vt:lpstr>General-to-Specific Search</vt:lpstr>
      <vt:lpstr>Decision Tree Based Rule Extraction</vt:lpstr>
      <vt:lpstr>Decision Tree Based Rule Extraction</vt:lpstr>
      <vt:lpstr>ID3 Algorithm</vt:lpstr>
      <vt:lpstr>Entropy Formula</vt:lpstr>
      <vt:lpstr>Information Gain</vt:lpstr>
      <vt:lpstr>Advantages of Rule Extraction</vt:lpstr>
      <vt:lpstr>Limitations of Inductive Learning</vt:lpstr>
      <vt:lpstr>Applications</vt:lpstr>
      <vt:lpstr>Inductive vs Deductive Learning</vt:lpstr>
      <vt:lpstr>Popular Rule Extraction Algorithms</vt:lpstr>
      <vt:lpstr>Real-Life Example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DAIYAN HASHIM</cp:lastModifiedBy>
  <cp:revision>6</cp:revision>
  <dcterms:created xsi:type="dcterms:W3CDTF">2013-01-27T09:14:16Z</dcterms:created>
  <dcterms:modified xsi:type="dcterms:W3CDTF">2026-05-20T11:09:05Z</dcterms:modified>
  <cp:category/>
</cp:coreProperties>
</file>