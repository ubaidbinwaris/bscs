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3" r:id="rId7"/>
    <p:sldId id="284" r:id="rId8"/>
    <p:sldId id="261" r:id="rId9"/>
    <p:sldId id="262" r:id="rId10"/>
    <p:sldId id="263" r:id="rId11"/>
    <p:sldId id="278" r:id="rId12"/>
    <p:sldId id="279" r:id="rId13"/>
    <p:sldId id="280" r:id="rId14"/>
    <p:sldId id="264" r:id="rId15"/>
    <p:sldId id="265" r:id="rId16"/>
    <p:sldId id="266" r:id="rId17"/>
    <p:sldId id="267" r:id="rId18"/>
    <p:sldId id="285" r:id="rId19"/>
    <p:sldId id="273" r:id="rId20"/>
    <p:sldId id="281" r:id="rId21"/>
    <p:sldId id="282" r:id="rId22"/>
    <p:sldId id="276" r:id="rId23"/>
    <p:sldId id="277" r:id="rId2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8" y="57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394" y="21209"/>
            <a:ext cx="8829674" cy="10340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1000" y="1143000"/>
            <a:ext cx="8381999" cy="761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7394" y="21209"/>
            <a:ext cx="8825705" cy="1032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0763" y="1367561"/>
            <a:ext cx="8482473" cy="3408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8568" y="6592823"/>
            <a:ext cx="1225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27" baseline="1984" dirty="0">
                <a:latin typeface="Tahoma"/>
                <a:cs typeface="Tahoma"/>
              </a:rPr>
              <a:t>1</a:t>
            </a:r>
            <a:r>
              <a:rPr sz="1200" spc="-25" dirty="0">
                <a:latin typeface="Tahoma"/>
                <a:cs typeface="Tahoma"/>
              </a:rPr>
              <a:t>1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426616" y="1464056"/>
            <a:ext cx="639127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800" spc="-10" dirty="0">
                <a:latin typeface="Arial"/>
                <a:cs typeface="Arial"/>
              </a:rPr>
              <a:t>Fundamentals</a:t>
            </a:r>
            <a:r>
              <a:rPr sz="4800" spc="-160" dirty="0">
                <a:latin typeface="Arial"/>
                <a:cs typeface="Arial"/>
              </a:rPr>
              <a:t> </a:t>
            </a:r>
            <a:r>
              <a:rPr sz="4800" dirty="0">
                <a:latin typeface="Arial"/>
                <a:cs typeface="Arial"/>
              </a:rPr>
              <a:t>of</a:t>
            </a:r>
            <a:r>
              <a:rPr sz="4800" spc="-160" dirty="0">
                <a:latin typeface="Arial"/>
                <a:cs typeface="Arial"/>
              </a:rPr>
              <a:t> </a:t>
            </a:r>
            <a:r>
              <a:rPr sz="4800" spc="-20" dirty="0">
                <a:latin typeface="Arial"/>
                <a:cs typeface="Arial"/>
              </a:rPr>
              <a:t>Data</a:t>
            </a:r>
            <a:endParaRPr sz="4800">
              <a:latin typeface="Arial"/>
              <a:cs typeface="Arial"/>
            </a:endParaRPr>
          </a:p>
          <a:p>
            <a:pPr marR="171450" algn="ctr">
              <a:lnSpc>
                <a:spcPct val="100000"/>
              </a:lnSpc>
            </a:pPr>
            <a:r>
              <a:rPr sz="4800" spc="-10" dirty="0">
                <a:latin typeface="Arial"/>
                <a:cs typeface="Arial"/>
              </a:rPr>
              <a:t>Mining</a:t>
            </a:r>
            <a:endParaRPr sz="4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66587" y="3666744"/>
            <a:ext cx="3953510" cy="21416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10820" algn="ctr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333399"/>
                </a:solidFill>
                <a:latin typeface="Arial"/>
                <a:cs typeface="Arial"/>
              </a:rPr>
              <a:t>—</a:t>
            </a:r>
            <a:r>
              <a:rPr sz="3200" b="1" spc="-45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333399"/>
                </a:solidFill>
                <a:latin typeface="Arial"/>
                <a:cs typeface="Arial"/>
              </a:rPr>
              <a:t>Week</a:t>
            </a:r>
            <a:r>
              <a:rPr sz="3200" b="1" spc="-4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lang="en-US" sz="3200" b="1" spc="-25" dirty="0">
                <a:solidFill>
                  <a:srgbClr val="333399"/>
                </a:solidFill>
                <a:latin typeface="Arial"/>
                <a:cs typeface="Arial"/>
              </a:rPr>
              <a:t>-</a:t>
            </a:r>
            <a:r>
              <a:rPr sz="2800" b="1" spc="-25" dirty="0">
                <a:solidFill>
                  <a:srgbClr val="333399"/>
                </a:solidFill>
                <a:latin typeface="Arial"/>
                <a:cs typeface="Arial"/>
              </a:rPr>
              <a:t>—</a:t>
            </a:r>
            <a:endParaRPr sz="2800" dirty="0">
              <a:latin typeface="Arial"/>
              <a:cs typeface="Arial"/>
            </a:endParaRPr>
          </a:p>
          <a:p>
            <a:pPr marR="212725" algn="ctr">
              <a:lnSpc>
                <a:spcPct val="100000"/>
              </a:lnSpc>
              <a:spcBef>
                <a:spcPts val="15"/>
              </a:spcBef>
            </a:pPr>
            <a:r>
              <a:rPr sz="2800" b="1" dirty="0">
                <a:solidFill>
                  <a:srgbClr val="333399"/>
                </a:solidFill>
                <a:latin typeface="Arial"/>
                <a:cs typeface="Arial"/>
              </a:rPr>
              <a:t>Spring</a:t>
            </a:r>
            <a:r>
              <a:rPr sz="2800" b="1" spc="-40" dirty="0">
                <a:solidFill>
                  <a:srgbClr val="333399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333399"/>
                </a:solidFill>
                <a:latin typeface="Arial"/>
                <a:cs typeface="Arial"/>
              </a:rPr>
              <a:t>202</a:t>
            </a:r>
            <a:r>
              <a:rPr lang="en-US" sz="2800" b="1" spc="-20" dirty="0">
                <a:solidFill>
                  <a:srgbClr val="333399"/>
                </a:solidFill>
                <a:latin typeface="Arial"/>
                <a:cs typeface="Arial"/>
              </a:rPr>
              <a:t>6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65"/>
              </a:spcBef>
            </a:pP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C00000"/>
                </a:solidFill>
                <a:latin typeface="Tahoma"/>
                <a:cs typeface="Tahoma"/>
              </a:rPr>
              <a:t>Dr.</a:t>
            </a:r>
            <a:r>
              <a:rPr sz="3200" b="1" spc="-5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lang="en-US" sz="3200" b="1" dirty="0">
                <a:solidFill>
                  <a:srgbClr val="C00000"/>
                </a:solidFill>
                <a:latin typeface="Tahoma"/>
                <a:cs typeface="Tahoma"/>
              </a:rPr>
              <a:t>Hashim Safdar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62380" y="6618223"/>
            <a:ext cx="109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Tahoma"/>
                <a:cs typeface="Tahoma"/>
              </a:rPr>
              <a:t>2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1982" rIns="0" bIns="0" rtlCol="0">
            <a:spAutoFit/>
          </a:bodyPr>
          <a:lstStyle/>
          <a:p>
            <a:pPr marL="36455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5076" y="1384808"/>
            <a:ext cx="6369685" cy="282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015" indent="-361315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58333"/>
              <a:buChar char="■"/>
              <a:tabLst>
                <a:tab pos="374015" algn="l"/>
              </a:tabLst>
            </a:pPr>
            <a:r>
              <a:rPr sz="2400" dirty="0">
                <a:latin typeface="Arial MT"/>
                <a:cs typeface="Arial MT"/>
              </a:rPr>
              <a:t>Bayes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Law</a:t>
            </a:r>
            <a:endParaRPr sz="2400">
              <a:latin typeface="Arial MT"/>
              <a:cs typeface="Arial MT"/>
            </a:endParaRPr>
          </a:p>
          <a:p>
            <a:pPr marL="774065" lvl="1" indent="-302895">
              <a:lnSpc>
                <a:spcPct val="100000"/>
              </a:lnSpc>
              <a:spcBef>
                <a:spcPts val="1920"/>
              </a:spcBef>
              <a:buClr>
                <a:srgbClr val="FF0000"/>
              </a:buClr>
              <a:buSzPct val="54166"/>
              <a:buChar char="■"/>
              <a:tabLst>
                <a:tab pos="774065" algn="l"/>
              </a:tabLst>
            </a:pPr>
            <a:r>
              <a:rPr sz="2400" dirty="0">
                <a:latin typeface="Arial MT"/>
                <a:cs typeface="Arial MT"/>
              </a:rPr>
              <a:t>Spam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Filter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Design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Individual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Word</a:t>
            </a:r>
            <a:endParaRPr sz="2400">
              <a:latin typeface="Arial MT"/>
              <a:cs typeface="Arial MT"/>
            </a:endParaRPr>
          </a:p>
          <a:p>
            <a:pPr marL="374015" indent="-361315">
              <a:lnSpc>
                <a:spcPct val="100000"/>
              </a:lnSpc>
              <a:spcBef>
                <a:spcPts val="1920"/>
              </a:spcBef>
              <a:buClr>
                <a:srgbClr val="3333CC"/>
              </a:buClr>
              <a:buSzPct val="58333"/>
              <a:buChar char="■"/>
              <a:tabLst>
                <a:tab pos="374015" algn="l"/>
              </a:tabLst>
            </a:pPr>
            <a:r>
              <a:rPr sz="2400" dirty="0">
                <a:latin typeface="Arial MT"/>
                <a:cs typeface="Arial MT"/>
              </a:rPr>
              <a:t>Naïve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Bayes</a:t>
            </a:r>
            <a:endParaRPr sz="2400">
              <a:latin typeface="Arial MT"/>
              <a:cs typeface="Arial MT"/>
            </a:endParaRPr>
          </a:p>
          <a:p>
            <a:pPr marL="774065" lvl="1" indent="-302895">
              <a:lnSpc>
                <a:spcPct val="100000"/>
              </a:lnSpc>
              <a:spcBef>
                <a:spcPts val="1920"/>
              </a:spcBef>
              <a:buClr>
                <a:srgbClr val="FF0000"/>
              </a:buClr>
              <a:buSzPct val="54166"/>
              <a:buChar char="■"/>
              <a:tabLst>
                <a:tab pos="774065" algn="l"/>
              </a:tabLst>
            </a:pPr>
            <a:r>
              <a:rPr sz="2400" dirty="0">
                <a:latin typeface="Arial MT"/>
                <a:cs typeface="Arial MT"/>
              </a:rPr>
              <a:t>Spam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Filter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Design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Multiple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Words</a:t>
            </a:r>
            <a:endParaRPr sz="2400">
              <a:latin typeface="Arial MT"/>
              <a:cs typeface="Arial MT"/>
            </a:endParaRPr>
          </a:p>
          <a:p>
            <a:pPr marL="374015" indent="-361315">
              <a:lnSpc>
                <a:spcPct val="100000"/>
              </a:lnSpc>
              <a:spcBef>
                <a:spcPts val="1920"/>
              </a:spcBef>
              <a:buClr>
                <a:srgbClr val="3333CC"/>
              </a:buClr>
              <a:buSzPct val="58333"/>
              <a:buChar char="■"/>
              <a:tabLst>
                <a:tab pos="374015" algn="l"/>
              </a:tabLst>
            </a:pPr>
            <a:r>
              <a:rPr sz="2400" spc="-10" dirty="0">
                <a:latin typeface="Arial MT"/>
                <a:cs typeface="Arial MT"/>
              </a:rPr>
              <a:t>Comparison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Naïve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Bayes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5" dirty="0">
                <a:latin typeface="Arial MT"/>
                <a:cs typeface="Arial MT"/>
              </a:rPr>
              <a:t>k-</a:t>
            </a:r>
            <a:r>
              <a:rPr sz="2400" spc="-25" dirty="0">
                <a:latin typeface="Arial MT"/>
                <a:cs typeface="Arial MT"/>
              </a:rPr>
              <a:t>NN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138" rIns="0" bIns="0" rtlCol="0">
            <a:spAutoFit/>
          </a:bodyPr>
          <a:lstStyle/>
          <a:p>
            <a:pPr marL="3181985">
              <a:lnSpc>
                <a:spcPct val="100000"/>
              </a:lnSpc>
              <a:spcBef>
                <a:spcPts val="100"/>
              </a:spcBef>
            </a:pPr>
            <a:r>
              <a:rPr dirty="0"/>
              <a:t>Bayes</a:t>
            </a:r>
            <a:r>
              <a:rPr spc="-30" dirty="0"/>
              <a:t> </a:t>
            </a:r>
            <a:r>
              <a:rPr spc="-25" dirty="0"/>
              <a:t>Law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2176" y="1263700"/>
            <a:ext cx="8552815" cy="46192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sz="2800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 MT"/>
                <a:cs typeface="Arial MT"/>
              </a:rPr>
              <a:t>Concept:</a:t>
            </a:r>
            <a:endParaRPr sz="2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800" dirty="0">
              <a:latin typeface="Arial MT"/>
              <a:cs typeface="Arial MT"/>
            </a:endParaRPr>
          </a:p>
          <a:p>
            <a:pPr marL="76200" indent="-76200">
              <a:lnSpc>
                <a:spcPct val="100000"/>
              </a:lnSpc>
              <a:buClr>
                <a:srgbClr val="3333CC"/>
              </a:buClr>
              <a:buSzPct val="39583"/>
              <a:buFont typeface="Lucida Sans Unicode"/>
              <a:buChar char="▪"/>
              <a:tabLst>
                <a:tab pos="76200" algn="l"/>
              </a:tabLst>
            </a:pPr>
            <a:r>
              <a:rPr sz="2400" dirty="0">
                <a:latin typeface="Arial MT"/>
                <a:cs typeface="Arial MT"/>
              </a:rPr>
              <a:t>Given</a:t>
            </a:r>
            <a:r>
              <a:rPr sz="2400" spc="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events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6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suppose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i="1" u="sng" dirty="0">
                <a:latin typeface="Arial"/>
                <a:cs typeface="Arial"/>
              </a:rPr>
              <a:t>y</a:t>
            </a:r>
            <a:r>
              <a:rPr sz="2400" i="1" u="sng" spc="65" dirty="0">
                <a:latin typeface="Arial"/>
                <a:cs typeface="Arial"/>
              </a:rPr>
              <a:t> </a:t>
            </a:r>
            <a:r>
              <a:rPr sz="2400" u="sng" dirty="0">
                <a:latin typeface="Arial MT"/>
                <a:cs typeface="Arial MT"/>
              </a:rPr>
              <a:t>refer</a:t>
            </a:r>
            <a:r>
              <a:rPr sz="2400" u="sng" spc="60" dirty="0">
                <a:latin typeface="Arial MT"/>
                <a:cs typeface="Arial MT"/>
              </a:rPr>
              <a:t> </a:t>
            </a:r>
            <a:r>
              <a:rPr sz="2400" u="sng" dirty="0">
                <a:latin typeface="Arial MT"/>
                <a:cs typeface="Arial MT"/>
              </a:rPr>
              <a:t>to</a:t>
            </a:r>
            <a:r>
              <a:rPr sz="2400" u="sng" spc="60" dirty="0">
                <a:latin typeface="Arial MT"/>
                <a:cs typeface="Arial MT"/>
              </a:rPr>
              <a:t> </a:t>
            </a:r>
            <a:r>
              <a:rPr sz="2400" u="sng" dirty="0">
                <a:latin typeface="Arial MT"/>
                <a:cs typeface="Arial MT"/>
              </a:rPr>
              <a:t>the</a:t>
            </a:r>
            <a:r>
              <a:rPr sz="2400" u="sng" spc="60" dirty="0">
                <a:latin typeface="Arial MT"/>
                <a:cs typeface="Arial MT"/>
              </a:rPr>
              <a:t> </a:t>
            </a:r>
            <a:r>
              <a:rPr sz="2400" u="sng" dirty="0">
                <a:latin typeface="Arial MT"/>
                <a:cs typeface="Arial MT"/>
              </a:rPr>
              <a:t>event</a:t>
            </a:r>
            <a:r>
              <a:rPr sz="2400" u="sng" spc="60" dirty="0">
                <a:latin typeface="Arial MT"/>
                <a:cs typeface="Arial MT"/>
              </a:rPr>
              <a:t> </a:t>
            </a:r>
            <a:r>
              <a:rPr sz="2400" u="sng" dirty="0">
                <a:latin typeface="Arial MT"/>
                <a:cs typeface="Arial MT"/>
              </a:rPr>
              <a:t>“sick”</a:t>
            </a:r>
            <a:r>
              <a:rPr sz="2400" dirty="0">
                <a:latin typeface="Arial MT"/>
                <a:cs typeface="Arial MT"/>
              </a:rPr>
              <a:t>;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</a:t>
            </a:r>
            <a:endParaRPr sz="2400" dirty="0">
              <a:latin typeface="Arial MT"/>
              <a:cs typeface="Arial MT"/>
            </a:endParaRPr>
          </a:p>
          <a:p>
            <a:pPr marL="76835">
              <a:lnSpc>
                <a:spcPct val="100000"/>
              </a:lnSpc>
            </a:pPr>
            <a:r>
              <a:rPr sz="2400" i="1" u="sng" dirty="0">
                <a:latin typeface="Arial"/>
                <a:cs typeface="Arial"/>
              </a:rPr>
              <a:t>x</a:t>
            </a:r>
            <a:r>
              <a:rPr sz="2400" i="1" u="sng" spc="-40" dirty="0">
                <a:latin typeface="Arial"/>
                <a:cs typeface="Arial"/>
              </a:rPr>
              <a:t> </a:t>
            </a:r>
            <a:r>
              <a:rPr sz="2400" u="sng" dirty="0">
                <a:latin typeface="Arial MT"/>
                <a:cs typeface="Arial MT"/>
              </a:rPr>
              <a:t>refer</a:t>
            </a:r>
            <a:r>
              <a:rPr sz="2400" u="sng" spc="-40" dirty="0">
                <a:latin typeface="Arial MT"/>
                <a:cs typeface="Arial MT"/>
              </a:rPr>
              <a:t> </a:t>
            </a:r>
            <a:r>
              <a:rPr sz="2400" u="sng" dirty="0">
                <a:latin typeface="Arial MT"/>
                <a:cs typeface="Arial MT"/>
              </a:rPr>
              <a:t>to</a:t>
            </a:r>
            <a:r>
              <a:rPr sz="2400" u="sng" spc="-40" dirty="0">
                <a:latin typeface="Arial MT"/>
                <a:cs typeface="Arial MT"/>
              </a:rPr>
              <a:t> </a:t>
            </a:r>
            <a:r>
              <a:rPr sz="2400" u="sng" dirty="0">
                <a:latin typeface="Arial MT"/>
                <a:cs typeface="Arial MT"/>
              </a:rPr>
              <a:t>the</a:t>
            </a:r>
            <a:r>
              <a:rPr sz="2400" u="sng" spc="-45" dirty="0">
                <a:latin typeface="Arial MT"/>
                <a:cs typeface="Arial MT"/>
              </a:rPr>
              <a:t> </a:t>
            </a:r>
            <a:r>
              <a:rPr sz="2400" u="sng" dirty="0">
                <a:latin typeface="Arial MT"/>
                <a:cs typeface="Arial MT"/>
              </a:rPr>
              <a:t>event</a:t>
            </a:r>
            <a:r>
              <a:rPr sz="2400" u="sng" spc="-40" dirty="0">
                <a:latin typeface="Arial MT"/>
                <a:cs typeface="Arial MT"/>
              </a:rPr>
              <a:t> </a:t>
            </a:r>
            <a:r>
              <a:rPr sz="2400" u="sng" dirty="0">
                <a:latin typeface="Arial MT"/>
                <a:cs typeface="Arial MT"/>
              </a:rPr>
              <a:t>“the</a:t>
            </a:r>
            <a:r>
              <a:rPr sz="2400" u="sng" spc="-40" dirty="0">
                <a:latin typeface="Arial MT"/>
                <a:cs typeface="Arial MT"/>
              </a:rPr>
              <a:t> </a:t>
            </a:r>
            <a:r>
              <a:rPr sz="2400" u="sng" dirty="0">
                <a:latin typeface="Arial MT"/>
                <a:cs typeface="Arial MT"/>
              </a:rPr>
              <a:t>test</a:t>
            </a:r>
            <a:r>
              <a:rPr sz="2400" u="sng" spc="-40" dirty="0">
                <a:latin typeface="Arial MT"/>
                <a:cs typeface="Arial MT"/>
              </a:rPr>
              <a:t> </a:t>
            </a:r>
            <a:r>
              <a:rPr sz="2400" u="sng" dirty="0">
                <a:latin typeface="Arial MT"/>
                <a:cs typeface="Arial MT"/>
              </a:rPr>
              <a:t>is</a:t>
            </a:r>
            <a:r>
              <a:rPr sz="2400" u="sng" spc="-45" dirty="0">
                <a:latin typeface="Arial MT"/>
                <a:cs typeface="Arial MT"/>
              </a:rPr>
              <a:t> </a:t>
            </a:r>
            <a:r>
              <a:rPr sz="2400" u="sng" dirty="0">
                <a:latin typeface="Arial MT"/>
                <a:cs typeface="Arial MT"/>
              </a:rPr>
              <a:t>positive,”</a:t>
            </a:r>
            <a:r>
              <a:rPr sz="2400" u="sng" spc="-40" dirty="0">
                <a:latin typeface="Arial MT"/>
                <a:cs typeface="Arial MT"/>
              </a:rPr>
              <a:t> </a:t>
            </a:r>
            <a:r>
              <a:rPr sz="2400" u="sng" dirty="0">
                <a:latin typeface="Arial MT"/>
                <a:cs typeface="Arial MT"/>
              </a:rPr>
              <a:t>or</a:t>
            </a:r>
            <a:r>
              <a:rPr sz="2400" u="sng" spc="-40" dirty="0">
                <a:latin typeface="Arial MT"/>
                <a:cs typeface="Arial MT"/>
              </a:rPr>
              <a:t> </a:t>
            </a:r>
            <a:r>
              <a:rPr sz="2400" u="sng" dirty="0">
                <a:latin typeface="Arial MT"/>
                <a:cs typeface="Arial MT"/>
              </a:rPr>
              <a:t>“+”.</a:t>
            </a:r>
            <a:r>
              <a:rPr sz="2400" u="sng" spc="-8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Then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 dirty="0">
              <a:latin typeface="Arial MT"/>
              <a:cs typeface="Arial MT"/>
            </a:endParaRPr>
          </a:p>
          <a:p>
            <a:pPr marR="121920" algn="ctr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P</a:t>
            </a:r>
            <a:r>
              <a:rPr sz="2400" i="1" spc="-6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(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|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x)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i="1" spc="-9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(x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|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 MT"/>
                <a:cs typeface="Arial MT"/>
              </a:rPr>
              <a:t>)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.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i="1" spc="-9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(y)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/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P</a:t>
            </a:r>
            <a:r>
              <a:rPr sz="2400" i="1" spc="-95" dirty="0">
                <a:latin typeface="Arial"/>
                <a:cs typeface="Arial"/>
              </a:rPr>
              <a:t> </a:t>
            </a:r>
            <a:r>
              <a:rPr sz="2400" spc="-25" dirty="0">
                <a:latin typeface="Arial MT"/>
                <a:cs typeface="Arial MT"/>
              </a:rPr>
              <a:t>(x)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 dirty="0">
              <a:latin typeface="Arial MT"/>
              <a:cs typeface="Arial MT"/>
            </a:endParaRPr>
          </a:p>
          <a:p>
            <a:pPr marL="75565" marR="24130" indent="-73025">
              <a:lnSpc>
                <a:spcPct val="100000"/>
              </a:lnSpc>
              <a:buClr>
                <a:srgbClr val="3333CC"/>
              </a:buClr>
              <a:buSzPct val="39583"/>
              <a:buFont typeface="Lucida Sans Unicode"/>
              <a:buChar char="▪"/>
              <a:tabLst>
                <a:tab pos="76835" algn="l"/>
              </a:tabLst>
            </a:pPr>
            <a:r>
              <a:rPr sz="2400" dirty="0">
                <a:latin typeface="Arial MT"/>
                <a:cs typeface="Arial MT"/>
              </a:rPr>
              <a:t>P(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i="1" spc="21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|</a:t>
            </a:r>
            <a:r>
              <a:rPr sz="2400" spc="2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x)</a:t>
            </a:r>
            <a:r>
              <a:rPr sz="2400" spc="2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210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Probability that patient is sick when the test is positive</a:t>
            </a:r>
            <a:r>
              <a:rPr sz="2400" dirty="0">
                <a:latin typeface="Arial MT"/>
                <a:cs typeface="Arial MT"/>
              </a:rPr>
              <a:t>.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(Posterior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Probability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y)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3333CC"/>
              </a:buClr>
              <a:buFont typeface="Lucida Sans Unicode"/>
              <a:buChar char="▪"/>
            </a:pPr>
            <a:endParaRPr sz="2400" dirty="0">
              <a:latin typeface="Arial MT"/>
              <a:cs typeface="Arial MT"/>
            </a:endParaRPr>
          </a:p>
          <a:p>
            <a:pPr marL="75565" marR="5080" indent="-73025">
              <a:lnSpc>
                <a:spcPct val="100000"/>
              </a:lnSpc>
              <a:buClr>
                <a:srgbClr val="3333CC"/>
              </a:buClr>
              <a:buSzPct val="39583"/>
              <a:buFont typeface="Lucida Sans Unicode"/>
              <a:buChar char="▪"/>
              <a:tabLst>
                <a:tab pos="76835" algn="l"/>
              </a:tabLst>
            </a:pPr>
            <a:r>
              <a:rPr sz="2400" dirty="0">
                <a:latin typeface="Arial MT"/>
                <a:cs typeface="Arial MT"/>
              </a:rPr>
              <a:t>P(y)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Probability that a person is sick before seeing the test result either +</a:t>
            </a:r>
            <a:r>
              <a:rPr lang="en-US" sz="2400" dirty="0" err="1">
                <a:latin typeface="Arial MT"/>
                <a:cs typeface="Arial MT"/>
              </a:rPr>
              <a:t>ve</a:t>
            </a:r>
            <a:r>
              <a:rPr lang="en-US" sz="2400" dirty="0">
                <a:latin typeface="Arial MT"/>
                <a:cs typeface="Arial MT"/>
              </a:rPr>
              <a:t> or -</a:t>
            </a:r>
            <a:r>
              <a:rPr lang="en-US" sz="2400" dirty="0" err="1">
                <a:latin typeface="Arial MT"/>
                <a:cs typeface="Arial MT"/>
              </a:rPr>
              <a:t>ve</a:t>
            </a:r>
            <a:r>
              <a:rPr lang="en-US" sz="24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(Prior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Probability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y)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6145" rIns="0" bIns="0" rtlCol="0">
            <a:spAutoFit/>
          </a:bodyPr>
          <a:lstStyle/>
          <a:p>
            <a:pPr marL="304673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Bayes</a:t>
            </a:r>
            <a:r>
              <a:rPr sz="4000" spc="-150" dirty="0"/>
              <a:t> </a:t>
            </a:r>
            <a:r>
              <a:rPr sz="4000" spc="-25" dirty="0"/>
              <a:t>Law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59151" y="1110671"/>
            <a:ext cx="8545195" cy="5024581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305"/>
              </a:spcBef>
            </a:pPr>
            <a:r>
              <a:rPr sz="2800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Concept:</a:t>
            </a:r>
            <a:endParaRPr sz="2800" dirty="0">
              <a:latin typeface="Tahoma"/>
              <a:cs typeface="Tahoma"/>
            </a:endParaRPr>
          </a:p>
          <a:p>
            <a:pPr marL="75565" marR="12065" indent="-73025">
              <a:lnSpc>
                <a:spcPct val="79700"/>
              </a:lnSpc>
              <a:spcBef>
                <a:spcPts val="1645"/>
              </a:spcBef>
              <a:buClr>
                <a:srgbClr val="3333CC"/>
              </a:buClr>
              <a:buSzPct val="39583"/>
              <a:buFont typeface="Lucida Sans Unicode"/>
              <a:buChar char="▪"/>
              <a:tabLst>
                <a:tab pos="76835" algn="l"/>
              </a:tabLst>
            </a:pPr>
            <a:r>
              <a:rPr sz="2400" dirty="0">
                <a:latin typeface="Tahoma"/>
                <a:cs typeface="Tahoma"/>
              </a:rPr>
              <a:t>P(x</a:t>
            </a:r>
            <a:r>
              <a:rPr sz="2400" spc="10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|</a:t>
            </a:r>
            <a:r>
              <a:rPr sz="2400" spc="110" dirty="0">
                <a:latin typeface="Tahoma"/>
                <a:cs typeface="Tahoma"/>
              </a:rPr>
              <a:t> </a:t>
            </a:r>
            <a:r>
              <a:rPr sz="2450" dirty="0">
                <a:latin typeface="Tahoma"/>
                <a:cs typeface="Tahoma"/>
              </a:rPr>
              <a:t>y</a:t>
            </a:r>
            <a:r>
              <a:rPr sz="2400" dirty="0">
                <a:latin typeface="Tahoma"/>
                <a:cs typeface="Tahoma"/>
              </a:rPr>
              <a:t>)</a:t>
            </a:r>
            <a:r>
              <a:rPr sz="2400" spc="10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:</a:t>
            </a:r>
            <a:r>
              <a:rPr sz="2400" spc="10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Probability that the test becomes positive when patient is actually sick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(Posterior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Probability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x)</a:t>
            </a:r>
            <a:endParaRPr sz="2400" dirty="0">
              <a:latin typeface="Tahoma"/>
              <a:cs typeface="Tahoma"/>
            </a:endParaRPr>
          </a:p>
          <a:p>
            <a:pPr marL="75565" marR="5080" indent="-73025">
              <a:lnSpc>
                <a:spcPts val="2300"/>
              </a:lnSpc>
              <a:spcBef>
                <a:spcPts val="2865"/>
              </a:spcBef>
              <a:buClr>
                <a:srgbClr val="3333CC"/>
              </a:buClr>
              <a:buSzPct val="39583"/>
              <a:buFont typeface="Lucida Sans Unicode"/>
              <a:buChar char="▪"/>
              <a:tabLst>
                <a:tab pos="76835" algn="l"/>
              </a:tabLst>
            </a:pPr>
            <a:r>
              <a:rPr sz="2400" dirty="0">
                <a:latin typeface="Tahoma"/>
                <a:cs typeface="Tahoma"/>
              </a:rPr>
              <a:t>P(x)</a:t>
            </a:r>
            <a:r>
              <a:rPr sz="2400" spc="-65" dirty="0">
                <a:latin typeface="Tahoma"/>
                <a:cs typeface="Tahoma"/>
              </a:rPr>
              <a:t>  </a:t>
            </a:r>
            <a:r>
              <a:rPr sz="2400" dirty="0">
                <a:latin typeface="Tahoma"/>
                <a:cs typeface="Tahoma"/>
              </a:rPr>
              <a:t>:</a:t>
            </a:r>
            <a:r>
              <a:rPr sz="2400" spc="-65" dirty="0">
                <a:latin typeface="Tahoma"/>
                <a:cs typeface="Tahoma"/>
              </a:rPr>
              <a:t>  </a:t>
            </a:r>
            <a:r>
              <a:rPr lang="en-US" sz="2400" dirty="0">
                <a:latin typeface="Tahoma"/>
                <a:cs typeface="Tahoma"/>
              </a:rPr>
              <a:t>Overall probability of getting a positive test result </a:t>
            </a:r>
            <a:r>
              <a:rPr sz="2400" dirty="0">
                <a:latin typeface="Tahoma"/>
                <a:cs typeface="Tahoma"/>
              </a:rPr>
              <a:t>(Prior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Probability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x)</a:t>
            </a:r>
            <a:endParaRPr lang="en-US" sz="2400" spc="-25" dirty="0">
              <a:latin typeface="Tahoma"/>
              <a:cs typeface="Tahoma"/>
            </a:endParaRPr>
          </a:p>
          <a:p>
            <a:pPr marL="75565" marR="5080" indent="-73025">
              <a:lnSpc>
                <a:spcPts val="2300"/>
              </a:lnSpc>
              <a:spcBef>
                <a:spcPts val="2865"/>
              </a:spcBef>
              <a:buClr>
                <a:srgbClr val="3333CC"/>
              </a:buClr>
              <a:buSzPct val="39583"/>
              <a:buFont typeface="Lucida Sans Unicode"/>
              <a:buChar char="▪"/>
              <a:tabLst>
                <a:tab pos="76835" algn="l"/>
              </a:tabLst>
            </a:pPr>
            <a:endParaRPr lang="en-US" sz="2400" spc="-25" dirty="0">
              <a:latin typeface="Tahoma"/>
              <a:cs typeface="Tahoma"/>
            </a:endParaRPr>
          </a:p>
          <a:p>
            <a:pPr marL="75565" marR="5080" indent="-73025">
              <a:lnSpc>
                <a:spcPts val="2300"/>
              </a:lnSpc>
              <a:spcBef>
                <a:spcPts val="2865"/>
              </a:spcBef>
              <a:buClr>
                <a:srgbClr val="3333CC"/>
              </a:buClr>
              <a:buSzPct val="39583"/>
              <a:buFont typeface="Lucida Sans Unicode"/>
              <a:buChar char="▪"/>
              <a:tabLst>
                <a:tab pos="76835" algn="l"/>
              </a:tabLst>
            </a:pPr>
            <a:endParaRPr sz="2400" dirty="0">
              <a:latin typeface="Tahoma"/>
              <a:cs typeface="Tahoma"/>
            </a:endParaRPr>
          </a:p>
          <a:p>
            <a:pPr marL="76200" indent="-73025">
              <a:lnSpc>
                <a:spcPct val="100000"/>
              </a:lnSpc>
              <a:spcBef>
                <a:spcPts val="2330"/>
              </a:spcBef>
              <a:buClr>
                <a:srgbClr val="3333CC"/>
              </a:buClr>
              <a:buSzPct val="39583"/>
              <a:buFont typeface="Lucida Sans Unicode"/>
              <a:buChar char="▪"/>
              <a:tabLst>
                <a:tab pos="76200" algn="l"/>
              </a:tabLst>
            </a:pPr>
            <a:r>
              <a:rPr sz="2400" dirty="0">
                <a:latin typeface="Tahoma"/>
                <a:cs typeface="Tahoma"/>
              </a:rPr>
              <a:t>Various</a:t>
            </a:r>
            <a:r>
              <a:rPr sz="2400" spc="-17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probabilities</a:t>
            </a:r>
            <a:r>
              <a:rPr sz="2400" spc="-17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are</a:t>
            </a:r>
            <a:endParaRPr sz="2400" dirty="0">
              <a:latin typeface="Tahoma"/>
              <a:cs typeface="Tahoma"/>
            </a:endParaRPr>
          </a:p>
          <a:p>
            <a:pPr marL="76200" indent="-73025">
              <a:lnSpc>
                <a:spcPct val="100000"/>
              </a:lnSpc>
              <a:spcBef>
                <a:spcPts val="2300"/>
              </a:spcBef>
              <a:buClr>
                <a:srgbClr val="3333CC"/>
              </a:buClr>
              <a:buSzPct val="39583"/>
              <a:buFont typeface="Lucida Sans Unicode"/>
              <a:buChar char="▪"/>
              <a:tabLst>
                <a:tab pos="76200" algn="l"/>
                <a:tab pos="1987550" algn="l"/>
                <a:tab pos="5903595" algn="l"/>
              </a:tabLst>
            </a:pPr>
            <a:r>
              <a:rPr sz="2400" dirty="0">
                <a:latin typeface="Tahoma"/>
                <a:cs typeface="Tahoma"/>
              </a:rPr>
              <a:t>Prior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Prob:</a:t>
            </a:r>
            <a:r>
              <a:rPr sz="2400" dirty="0">
                <a:latin typeface="Tahoma"/>
                <a:cs typeface="Tahoma"/>
              </a:rPr>
              <a:t>	P(sick)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0.01</a:t>
            </a:r>
            <a:r>
              <a:rPr sz="2400" dirty="0">
                <a:latin typeface="Tahoma"/>
                <a:cs typeface="Tahoma"/>
              </a:rPr>
              <a:t>	P(~sick)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0.99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CDD8C7-B0AB-A272-869D-D9D144432365}"/>
              </a:ext>
            </a:extLst>
          </p:cNvPr>
          <p:cNvSpPr txBox="1"/>
          <p:nvPr/>
        </p:nvSpPr>
        <p:spPr>
          <a:xfrm>
            <a:off x="365525" y="3810000"/>
            <a:ext cx="7467600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A sick person may test positive with 95% probability.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But a positive test does not always mean the person is definitely sick. </a:t>
            </a:r>
          </a:p>
          <a:p>
            <a:pPr>
              <a:buNone/>
            </a:pPr>
            <a:r>
              <a:rPr lang="en-US" dirty="0">
                <a:solidFill>
                  <a:srgbClr val="0070C0"/>
                </a:solidFill>
              </a:rPr>
              <a:t>That is why Bayes law is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06910" y="477647"/>
            <a:ext cx="24561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Bayes</a:t>
            </a:r>
            <a:r>
              <a:rPr spc="-30" dirty="0"/>
              <a:t> </a:t>
            </a:r>
            <a:r>
              <a:rPr spc="-25" dirty="0"/>
              <a:t>Law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3850" y="1051687"/>
            <a:ext cx="3723004" cy="217424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400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ahoma"/>
                <a:cs typeface="Tahoma"/>
              </a:rPr>
              <a:t>Example: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Tahoma"/>
                <a:cs typeface="Tahoma"/>
              </a:rPr>
              <a:t>Posterior</a:t>
            </a:r>
            <a:r>
              <a:rPr sz="2400" spc="-11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Prob:</a:t>
            </a:r>
            <a:endParaRPr sz="2400" dirty="0">
              <a:latin typeface="Tahoma"/>
              <a:cs typeface="Tahoma"/>
            </a:endParaRPr>
          </a:p>
          <a:p>
            <a:pPr marL="1248410">
              <a:lnSpc>
                <a:spcPct val="100000"/>
              </a:lnSpc>
              <a:spcBef>
                <a:spcPts val="1200"/>
              </a:spcBef>
            </a:pPr>
            <a:r>
              <a:rPr sz="2400" dirty="0">
                <a:latin typeface="Tahoma"/>
                <a:cs typeface="Tahoma"/>
              </a:rPr>
              <a:t>P(+|sick)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0.99</a:t>
            </a:r>
            <a:endParaRPr sz="2400" dirty="0">
              <a:latin typeface="Tahoma"/>
              <a:cs typeface="Tahoma"/>
            </a:endParaRPr>
          </a:p>
          <a:p>
            <a:pPr marL="1250315">
              <a:lnSpc>
                <a:spcPct val="100000"/>
              </a:lnSpc>
              <a:spcBef>
                <a:spcPts val="1800"/>
              </a:spcBef>
            </a:pPr>
            <a:r>
              <a:rPr sz="2400" dirty="0">
                <a:latin typeface="Tahoma"/>
                <a:cs typeface="Tahoma"/>
              </a:rPr>
              <a:t>P(+|~sick)</a:t>
            </a:r>
            <a:r>
              <a:rPr sz="2400" spc="-9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9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0.01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99431" y="2144903"/>
            <a:ext cx="255079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0845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P(-</a:t>
            </a:r>
            <a:r>
              <a:rPr sz="2400" dirty="0">
                <a:latin typeface="Tahoma"/>
                <a:cs typeface="Tahoma"/>
              </a:rPr>
              <a:t>|sick)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0.01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400" spc="-25" dirty="0">
                <a:latin typeface="Tahoma"/>
                <a:cs typeface="Tahoma"/>
              </a:rPr>
              <a:t>P(-</a:t>
            </a:r>
            <a:r>
              <a:rPr sz="2400" dirty="0">
                <a:latin typeface="Tahoma"/>
                <a:cs typeface="Tahoma"/>
              </a:rPr>
              <a:t>|~sick)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0.99</a:t>
            </a:r>
            <a:endParaRPr sz="2400" dirty="0">
              <a:latin typeface="Tahoma"/>
              <a:cs typeface="Tahom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BB64461-AB7C-1310-5578-5720ED7BAE85}"/>
                  </a:ext>
                </a:extLst>
              </p:cNvPr>
              <p:cNvSpPr txBox="1"/>
              <p:nvPr/>
            </p:nvSpPr>
            <p:spPr>
              <a:xfrm>
                <a:off x="457200" y="3429000"/>
                <a:ext cx="54864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1. Given Probabilities</a:t>
                </a:r>
              </a:p>
              <a:p>
                <a:pPr>
                  <a:buNone/>
                </a:pPr>
                <a:r>
                  <a:rPr lang="en-PK" b="1" dirty="0"/>
                  <a:t>🔹 </a:t>
                </a:r>
                <a:r>
                  <a:rPr lang="en-US" b="1" dirty="0"/>
                  <a:t>Priors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𝑠𝑖𝑐𝑘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01</m:t>
                    </m:r>
                  </m:oMath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𝑠𝑖𝑐𝑘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endParaRPr lang="ar-AE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BB64461-AB7C-1310-5578-5720ED7BA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429000"/>
                <a:ext cx="5486400" cy="1200329"/>
              </a:xfrm>
              <a:prstGeom prst="rect">
                <a:avLst/>
              </a:prstGeom>
              <a:blipFill>
                <a:blip r:embed="rId2"/>
                <a:stretch>
                  <a:fillRect l="-889" t="-3061" b="-5612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E6D152-E4A4-EE3F-608C-45D21FEA3C01}"/>
                  </a:ext>
                </a:extLst>
              </p:cNvPr>
              <p:cNvSpPr txBox="1"/>
              <p:nvPr/>
            </p:nvSpPr>
            <p:spPr>
              <a:xfrm>
                <a:off x="457200" y="4832402"/>
                <a:ext cx="4572000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PK" b="1" dirty="0"/>
                  <a:t>🔹 </a:t>
                </a:r>
                <a:r>
                  <a:rPr lang="en-US" b="1" dirty="0"/>
                  <a:t>Likelihoods (Test Accuracy)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+∣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𝑠𝑖𝑐𝑘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+∣∼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𝑠𝑖𝑐𝑘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01</m:t>
                    </m:r>
                  </m:oMath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−∣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𝑠𝑖𝑐𝑘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01</m:t>
                    </m:r>
                  </m:oMath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−∣∼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𝑠𝑖𝑐𝑘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99</m:t>
                    </m:r>
                  </m:oMath>
                </a14:m>
                <a:endParaRPr lang="ar-AE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E6D152-E4A4-EE3F-608C-45D21FEA3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832402"/>
                <a:ext cx="4572000" cy="1477328"/>
              </a:xfrm>
              <a:prstGeom prst="rect">
                <a:avLst/>
              </a:prstGeom>
              <a:blipFill>
                <a:blip r:embed="rId3"/>
                <a:stretch>
                  <a:fillRect l="-1067" t="-2479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39BF0-BD45-47BB-3A9C-17A88392F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9A86E4CD-6EAC-60EE-F9D9-74EEDB2CBE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06910" y="477647"/>
            <a:ext cx="24561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Bayes</a:t>
            </a:r>
            <a:r>
              <a:rPr spc="-30" dirty="0"/>
              <a:t> </a:t>
            </a:r>
            <a:r>
              <a:rPr spc="-25" dirty="0"/>
              <a:t>Law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AC4B56C-8DE4-35FD-DBE9-3AB71E64A41D}"/>
                  </a:ext>
                </a:extLst>
              </p:cNvPr>
              <p:cNvSpPr txBox="1"/>
              <p:nvPr/>
            </p:nvSpPr>
            <p:spPr>
              <a:xfrm>
                <a:off x="381000" y="1667338"/>
                <a:ext cx="8153400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2. Compute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</m:oMath>
                </a14:m>
                <a:r>
                  <a:rPr lang="en-US" b="1" dirty="0"/>
                  <a:t>- Probability of Positive Test</a:t>
                </a:r>
              </a:p>
              <a:p>
                <a:pPr>
                  <a:buNone/>
                </a:pPr>
                <a:endParaRPr lang="ar-AE" b="1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𝑠𝑖𝑐𝑘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𝑠𝑖𝑐𝑘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+∣∼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𝑠𝑖𝑐𝑘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𝑠𝑖𝑐𝑘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99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01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01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99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0099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0099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0198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AC4B56C-8DE4-35FD-DBE9-3AB71E64A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667338"/>
                <a:ext cx="8153400" cy="1477328"/>
              </a:xfrm>
              <a:prstGeom prst="rect">
                <a:avLst/>
              </a:prstGeom>
              <a:blipFill>
                <a:blip r:embed="rId2"/>
                <a:stretch>
                  <a:fillRect l="-673" t="-2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937031-3162-5EC5-B616-25649E5CD6D4}"/>
                  </a:ext>
                </a:extLst>
              </p:cNvPr>
              <p:cNvSpPr txBox="1"/>
              <p:nvPr/>
            </p:nvSpPr>
            <p:spPr>
              <a:xfrm>
                <a:off x="411480" y="3760317"/>
                <a:ext cx="8153400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3. Compute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</m:oMath>
                </a14:m>
                <a:r>
                  <a:rPr lang="en-US" b="1" dirty="0"/>
                  <a:t>- Probability of Negative Test</a:t>
                </a:r>
              </a:p>
              <a:p>
                <a:pPr>
                  <a:buNone/>
                </a:pPr>
                <a:endParaRPr lang="ar-AE" b="1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𝑠𝑖𝑐𝑘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𝑠𝑖𝑐𝑘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−∣∼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𝑠𝑖𝑐𝑘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𝑠𝑖𝑐𝑘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01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01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99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99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0001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9801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9802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937031-3162-5EC5-B616-25649E5CD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3760317"/>
                <a:ext cx="8153400" cy="1477328"/>
              </a:xfrm>
              <a:prstGeom prst="rect">
                <a:avLst/>
              </a:prstGeom>
              <a:blipFill>
                <a:blip r:embed="rId3"/>
                <a:stretch>
                  <a:fillRect l="-673" t="-2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C361044-5D5E-0C89-71CD-265371F7356D}"/>
                  </a:ext>
                </a:extLst>
              </p:cNvPr>
              <p:cNvSpPr txBox="1"/>
              <p:nvPr/>
            </p:nvSpPr>
            <p:spPr>
              <a:xfrm>
                <a:off x="381000" y="5819768"/>
                <a:ext cx="457200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4. Final Results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0198</m:t>
                    </m:r>
                  </m:oMath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9802</m:t>
                    </m:r>
                  </m:oMath>
                </a14:m>
                <a:endParaRPr lang="ar-AE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C361044-5D5E-0C89-71CD-265371F73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819768"/>
                <a:ext cx="4572000" cy="923330"/>
              </a:xfrm>
              <a:prstGeom prst="rect">
                <a:avLst/>
              </a:prstGeom>
              <a:blipFill>
                <a:blip r:embed="rId4"/>
                <a:stretch>
                  <a:fillRect l="-1200" t="-3974" b="-7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D37A266-F46F-2118-A97A-F598D6DDD3F2}"/>
              </a:ext>
            </a:extLst>
          </p:cNvPr>
          <p:cNvSpPr txBox="1"/>
          <p:nvPr/>
        </p:nvSpPr>
        <p:spPr>
          <a:xfrm>
            <a:off x="1880616" y="3159906"/>
            <a:ext cx="662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Meaning: only about </a:t>
            </a:r>
            <a:r>
              <a:rPr lang="en-US" b="1" dirty="0"/>
              <a:t>1.98% people test positive</a:t>
            </a:r>
            <a:r>
              <a:rPr lang="en-US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3D0524-F1F8-CEF2-9336-C5BB1767F5C9}"/>
              </a:ext>
            </a:extLst>
          </p:cNvPr>
          <p:cNvSpPr txBox="1"/>
          <p:nvPr/>
        </p:nvSpPr>
        <p:spPr>
          <a:xfrm>
            <a:off x="1880616" y="5240693"/>
            <a:ext cx="57888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Meaning: about </a:t>
            </a:r>
            <a:r>
              <a:rPr lang="en-US" b="1" dirty="0"/>
              <a:t>98% people test negative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0968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6CA35-4DE0-C962-AFDC-27B5C2277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EFAF7C69-2C6D-1522-E01D-D56A761E6B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06910" y="477647"/>
            <a:ext cx="24561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Bayes</a:t>
            </a:r>
            <a:r>
              <a:rPr spc="-30" dirty="0"/>
              <a:t> </a:t>
            </a:r>
            <a:r>
              <a:rPr spc="-25" dirty="0"/>
              <a:t>Law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73E05-21A0-D088-949B-225992826134}"/>
              </a:ext>
            </a:extLst>
          </p:cNvPr>
          <p:cNvSpPr txBox="1"/>
          <p:nvPr/>
        </p:nvSpPr>
        <p:spPr>
          <a:xfrm>
            <a:off x="838200" y="1447800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Out of all people: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Only </a:t>
            </a:r>
            <a:r>
              <a:rPr lang="en-US" sz="2400" b="1" dirty="0"/>
              <a:t>1.98% test positive</a:t>
            </a:r>
            <a:r>
              <a:rPr lang="en-US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About </a:t>
            </a:r>
            <a:r>
              <a:rPr lang="en-US" sz="2400" b="1" dirty="0"/>
              <a:t>98% test negative</a:t>
            </a:r>
            <a:r>
              <a:rPr lang="en-US" sz="24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C4CAD9-3ADA-0D2E-B6FB-6F34F646555B}"/>
              </a:ext>
            </a:extLst>
          </p:cNvPr>
          <p:cNvSpPr txBox="1"/>
          <p:nvPr/>
        </p:nvSpPr>
        <p:spPr>
          <a:xfrm>
            <a:off x="838200" y="2638402"/>
            <a:ext cx="7162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Most people are </a:t>
            </a:r>
            <a:r>
              <a:rPr lang="en-US" sz="2400" b="1" dirty="0"/>
              <a:t>not sick</a:t>
            </a:r>
            <a:r>
              <a:rPr lang="en-US" sz="2400" dirty="0"/>
              <a:t>, so: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Negative results dominate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Positive results are rare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78192D-D05B-0705-00A8-D0786302EBAE}"/>
                  </a:ext>
                </a:extLst>
              </p:cNvPr>
              <p:cNvSpPr txBox="1"/>
              <p:nvPr/>
            </p:nvSpPr>
            <p:spPr>
              <a:xfrm>
                <a:off x="987382" y="3926715"/>
                <a:ext cx="7361090" cy="286232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Why does negative dominate?</a:t>
                </a:r>
              </a:p>
              <a:p>
                <a:pPr>
                  <a:buNone/>
                </a:pPr>
                <a:r>
                  <a:rPr lang="en-US" dirty="0"/>
                  <a:t>Because the disease is very rare: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ur-P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𝑠𝑖𝑐𝑘</m:t>
                          </m:r>
                        </m:e>
                      </m:d>
                      <m:r>
                        <a:rPr lang="ur-PK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ur-PK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ur-PK" i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endParaRPr lang="ur-PK" dirty="0"/>
              </a:p>
              <a:p>
                <a:pPr>
                  <a:buNone/>
                </a:pPr>
                <a:r>
                  <a:rPr lang="en-US" dirty="0"/>
                  <a:t>Most people are healthy: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ur-P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ur-PK" i="0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ur-PK" i="1">
                              <a:latin typeface="Cambria Math" panose="02040503050406030204" pitchFamily="18" charset="0"/>
                            </a:rPr>
                            <m:t>𝑠𝑖𝑐𝑘</m:t>
                          </m:r>
                        </m:e>
                      </m:d>
                      <m:r>
                        <a:rPr lang="ur-PK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ur-PK" i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ur-PK" i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endParaRPr lang="ur-PK" dirty="0"/>
              </a:p>
              <a:p>
                <a:pPr>
                  <a:buNone/>
                </a:pPr>
                <a:r>
                  <a:rPr lang="en-US" dirty="0"/>
                  <a:t>So even with a very accurate test: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Positive cases remain rare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Negative results become very common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78192D-D05B-0705-00A8-D0786302E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382" y="3926715"/>
                <a:ext cx="7361090" cy="2862322"/>
              </a:xfrm>
              <a:prstGeom prst="rect">
                <a:avLst/>
              </a:prstGeom>
              <a:blipFill>
                <a:blip r:embed="rId2"/>
                <a:stretch>
                  <a:fillRect l="-661" t="-847" b="-211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9973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138" rIns="0" bIns="0" rtlCol="0">
            <a:spAutoFit/>
          </a:bodyPr>
          <a:lstStyle/>
          <a:p>
            <a:pPr marL="4318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60" dirty="0"/>
              <a:t> </a:t>
            </a:r>
            <a:r>
              <a:rPr dirty="0"/>
              <a:t>Spam</a:t>
            </a:r>
            <a:r>
              <a:rPr spc="-60" dirty="0"/>
              <a:t> </a:t>
            </a:r>
            <a:r>
              <a:rPr dirty="0"/>
              <a:t>Filter</a:t>
            </a:r>
            <a:r>
              <a:rPr spc="-5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Individual</a:t>
            </a:r>
            <a:r>
              <a:rPr spc="-60" dirty="0"/>
              <a:t> </a:t>
            </a:r>
            <a:r>
              <a:rPr spc="-20" dirty="0"/>
              <a:t>Words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15595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58333"/>
              <a:buFont typeface="Lucida Sans Unicode"/>
              <a:buChar char="▪"/>
              <a:tabLst>
                <a:tab pos="347980" algn="l"/>
              </a:tabLst>
            </a:pP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How</a:t>
            </a:r>
            <a:r>
              <a:rPr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do</a:t>
            </a:r>
            <a:r>
              <a:rPr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we</a:t>
            </a:r>
            <a:r>
              <a:rPr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use</a:t>
            </a:r>
            <a:r>
              <a:rPr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Bayes’</a:t>
            </a:r>
            <a:r>
              <a:rPr b="0" spc="-1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Law</a:t>
            </a:r>
            <a:r>
              <a:rPr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create</a:t>
            </a:r>
            <a:r>
              <a:rPr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good</a:t>
            </a:r>
            <a:r>
              <a:rPr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spam</a:t>
            </a:r>
            <a:r>
              <a:rPr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filter?</a:t>
            </a:r>
          </a:p>
          <a:p>
            <a:pPr marL="19685">
              <a:lnSpc>
                <a:spcPct val="100000"/>
              </a:lnSpc>
              <a:spcBef>
                <a:spcPts val="1300"/>
              </a:spcBef>
              <a:buClr>
                <a:srgbClr val="3333CC"/>
              </a:buClr>
              <a:buFont typeface="Lucida Sans Unicode"/>
              <a:buChar char="▪"/>
            </a:pPr>
            <a:endParaRPr b="0" spc="-10" dirty="0">
              <a:solidFill>
                <a:srgbClr val="000000"/>
              </a:solidFill>
              <a:latin typeface="Arial MT"/>
              <a:cs typeface="Arial MT"/>
            </a:endParaRPr>
          </a:p>
          <a:p>
            <a:pPr marL="347980" marR="5080" indent="-316230">
              <a:lnSpc>
                <a:spcPts val="2300"/>
              </a:lnSpc>
              <a:spcBef>
                <a:spcPts val="5"/>
              </a:spcBef>
              <a:buClr>
                <a:srgbClr val="3333CC"/>
              </a:buClr>
              <a:buSzPct val="58333"/>
              <a:buFont typeface="Lucida Sans Unicode"/>
              <a:buChar char="▪"/>
              <a:tabLst>
                <a:tab pos="347980" algn="l"/>
              </a:tabLst>
            </a:pP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If</a:t>
            </a:r>
            <a:r>
              <a:rPr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word</a:t>
            </a:r>
            <a:r>
              <a:rPr b="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“Dating”</a:t>
            </a:r>
            <a:r>
              <a:rPr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appears,</a:t>
            </a:r>
            <a:r>
              <a:rPr b="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this</a:t>
            </a:r>
            <a:r>
              <a:rPr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adds</a:t>
            </a:r>
            <a:r>
              <a:rPr b="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b="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probability</a:t>
            </a:r>
            <a:r>
              <a:rPr b="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20" dirty="0">
                <a:solidFill>
                  <a:srgbClr val="000000"/>
                </a:solidFill>
                <a:latin typeface="Arial MT"/>
                <a:cs typeface="Arial MT"/>
              </a:rPr>
              <a:t>that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email</a:t>
            </a:r>
            <a:r>
              <a:rPr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spam.</a:t>
            </a:r>
            <a:r>
              <a:rPr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But</a:t>
            </a:r>
            <a:r>
              <a:rPr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it’s</a:t>
            </a:r>
            <a:r>
              <a:rPr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not</a:t>
            </a:r>
            <a:r>
              <a:rPr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conclusive,</a:t>
            </a:r>
            <a:r>
              <a:rPr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20" dirty="0">
                <a:solidFill>
                  <a:srgbClr val="000000"/>
                </a:solidFill>
                <a:latin typeface="Arial MT"/>
                <a:cs typeface="Arial MT"/>
              </a:rPr>
              <a:t>yet.</a:t>
            </a:r>
          </a:p>
          <a:p>
            <a:pPr marL="19685">
              <a:lnSpc>
                <a:spcPct val="100000"/>
              </a:lnSpc>
              <a:spcBef>
                <a:spcPts val="765"/>
              </a:spcBef>
              <a:buClr>
                <a:srgbClr val="3333CC"/>
              </a:buClr>
              <a:buFont typeface="Lucida Sans Unicode"/>
              <a:buChar char="▪"/>
            </a:pPr>
            <a:endParaRPr b="0" spc="-20" dirty="0">
              <a:solidFill>
                <a:srgbClr val="000000"/>
              </a:solidFill>
              <a:latin typeface="Arial MT"/>
              <a:cs typeface="Arial MT"/>
            </a:endParaRPr>
          </a:p>
          <a:p>
            <a:pPr marL="347980" indent="-315595">
              <a:lnSpc>
                <a:spcPct val="100000"/>
              </a:lnSpc>
              <a:buClr>
                <a:srgbClr val="3333CC"/>
              </a:buClr>
              <a:buSzPct val="58333"/>
              <a:buFont typeface="Lucida Sans Unicode"/>
              <a:buChar char="▪"/>
              <a:tabLst>
                <a:tab pos="347980" algn="l"/>
              </a:tabLst>
            </a:pP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We</a:t>
            </a:r>
            <a:r>
              <a:rPr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need</a:t>
            </a:r>
            <a:r>
              <a:rPr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to</a:t>
            </a:r>
            <a:r>
              <a:rPr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see</a:t>
            </a:r>
            <a:r>
              <a:rPr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what</a:t>
            </a:r>
            <a:r>
              <a:rPr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else</a:t>
            </a:r>
            <a:r>
              <a:rPr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is</a:t>
            </a:r>
            <a:r>
              <a:rPr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in</a:t>
            </a:r>
            <a:r>
              <a:rPr b="0"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email.</a:t>
            </a:r>
          </a:p>
          <a:p>
            <a:pPr marL="19685">
              <a:lnSpc>
                <a:spcPct val="100000"/>
              </a:lnSpc>
              <a:spcBef>
                <a:spcPts val="1305"/>
              </a:spcBef>
              <a:buClr>
                <a:srgbClr val="3333CC"/>
              </a:buClr>
              <a:buFont typeface="Lucida Sans Unicode"/>
              <a:buChar char="▪"/>
            </a:pPr>
            <a:endParaRPr b="0" spc="-10" dirty="0">
              <a:solidFill>
                <a:srgbClr val="000000"/>
              </a:solidFill>
              <a:latin typeface="Arial MT"/>
              <a:cs typeface="Arial MT"/>
            </a:endParaRPr>
          </a:p>
          <a:p>
            <a:pPr marL="347980" marR="19050" indent="-316230">
              <a:lnSpc>
                <a:spcPts val="2300"/>
              </a:lnSpc>
              <a:buClr>
                <a:srgbClr val="3333CC"/>
              </a:buClr>
              <a:buSzPct val="58333"/>
              <a:buFont typeface="Lucida Sans Unicode"/>
              <a:buChar char="▪"/>
              <a:tabLst>
                <a:tab pos="347980" algn="l"/>
              </a:tabLst>
            </a:pP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Let’s</a:t>
            </a:r>
            <a:r>
              <a:rPr b="0" spc="3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first</a:t>
            </a:r>
            <a:r>
              <a:rPr b="0" spc="3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focus</a:t>
            </a:r>
            <a:r>
              <a:rPr b="0" spc="3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on</a:t>
            </a:r>
            <a:r>
              <a:rPr b="0" spc="3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just</a:t>
            </a:r>
            <a:r>
              <a:rPr b="0" spc="3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one</a:t>
            </a:r>
            <a:r>
              <a:rPr b="0" spc="3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“word”</a:t>
            </a:r>
            <a:r>
              <a:rPr b="0" spc="3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at</a:t>
            </a:r>
            <a:r>
              <a:rPr b="0" spc="3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a</a:t>
            </a:r>
            <a:r>
              <a:rPr b="0" spc="3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time,</a:t>
            </a:r>
            <a:r>
              <a:rPr b="0" spc="30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Then,</a:t>
            </a:r>
            <a:r>
              <a:rPr b="0" spc="3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apply Bayes’</a:t>
            </a:r>
            <a:r>
              <a:rPr b="0" spc="-1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Law,</a:t>
            </a:r>
            <a:r>
              <a:rPr b="0" spc="-8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we</a:t>
            </a:r>
            <a:r>
              <a:rPr b="0" spc="-8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have: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138" rIns="0" bIns="0" rtlCol="0">
            <a:spAutoFit/>
          </a:bodyPr>
          <a:lstStyle/>
          <a:p>
            <a:pPr marL="4318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60" dirty="0"/>
              <a:t> </a:t>
            </a:r>
            <a:r>
              <a:rPr dirty="0"/>
              <a:t>Spam</a:t>
            </a:r>
            <a:r>
              <a:rPr spc="-60" dirty="0"/>
              <a:t> </a:t>
            </a:r>
            <a:r>
              <a:rPr dirty="0"/>
              <a:t>Filter</a:t>
            </a:r>
            <a:r>
              <a:rPr spc="-5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Individual</a:t>
            </a:r>
            <a:r>
              <a:rPr spc="-60" dirty="0"/>
              <a:t> </a:t>
            </a:r>
            <a:r>
              <a:rPr spc="-20" dirty="0"/>
              <a:t>Words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3936174"/>
            <a:ext cx="5600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8295" indent="-315595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58333"/>
              <a:buFont typeface="Lucida Sans Unicode"/>
              <a:buChar char="▪"/>
              <a:tabLst>
                <a:tab pos="328295" algn="l"/>
              </a:tabLst>
            </a:pPr>
            <a:r>
              <a:rPr sz="2400" dirty="0">
                <a:latin typeface="Arial MT"/>
                <a:cs typeface="Arial MT"/>
              </a:rPr>
              <a:t>If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refer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nonspam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“ham”.</a:t>
            </a:r>
            <a:r>
              <a:rPr sz="2400" spc="53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Then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550" y="4856884"/>
            <a:ext cx="7416799" cy="59617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9200" y="2588834"/>
            <a:ext cx="5958100" cy="10825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ACCDF0-F952-298B-8A2B-1A681A31731E}"/>
              </a:ext>
            </a:extLst>
          </p:cNvPr>
          <p:cNvSpPr txBox="1"/>
          <p:nvPr/>
        </p:nvSpPr>
        <p:spPr>
          <a:xfrm>
            <a:off x="457200" y="1474012"/>
            <a:ext cx="8305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What is the probability that the email is spam if this word appears?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138" rIns="0" bIns="0" rtlCol="0">
            <a:spAutoFit/>
          </a:bodyPr>
          <a:lstStyle/>
          <a:p>
            <a:pPr marL="4318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60" dirty="0"/>
              <a:t> </a:t>
            </a:r>
            <a:r>
              <a:rPr dirty="0"/>
              <a:t>Spam</a:t>
            </a:r>
            <a:r>
              <a:rPr spc="-60" dirty="0"/>
              <a:t> </a:t>
            </a:r>
            <a:r>
              <a:rPr dirty="0"/>
              <a:t>Filter</a:t>
            </a:r>
            <a:r>
              <a:rPr spc="-5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Individual</a:t>
            </a:r>
            <a:r>
              <a:rPr spc="-60" dirty="0"/>
              <a:t> </a:t>
            </a:r>
            <a:r>
              <a:rPr spc="-20" dirty="0"/>
              <a:t>Words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9151" y="1141285"/>
            <a:ext cx="8552180" cy="4018279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780"/>
              </a:spcBef>
            </a:pPr>
            <a:r>
              <a:rPr sz="2400" b="1" spc="-10" dirty="0">
                <a:solidFill>
                  <a:srgbClr val="FF0000"/>
                </a:solidFill>
                <a:latin typeface="Tahoma"/>
                <a:cs typeface="Tahoma"/>
              </a:rPr>
              <a:t>Example</a:t>
            </a:r>
            <a:endParaRPr sz="2400" dirty="0">
              <a:latin typeface="Tahoma"/>
              <a:cs typeface="Tahoma"/>
            </a:endParaRPr>
          </a:p>
          <a:p>
            <a:pPr marL="76200" indent="-76200">
              <a:lnSpc>
                <a:spcPct val="100000"/>
              </a:lnSpc>
              <a:spcBef>
                <a:spcPts val="1680"/>
              </a:spcBef>
              <a:buClr>
                <a:srgbClr val="3333CC"/>
              </a:buClr>
              <a:buSzPct val="39583"/>
              <a:buFont typeface="Lucida Sans Unicode"/>
              <a:buChar char="▪"/>
              <a:tabLst>
                <a:tab pos="76200" algn="l"/>
              </a:tabLst>
            </a:pPr>
            <a:r>
              <a:rPr sz="2400" dirty="0">
                <a:latin typeface="Tahoma"/>
                <a:cs typeface="Tahoma"/>
              </a:rPr>
              <a:t>Suppose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we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have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employee’s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email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account.</a:t>
            </a:r>
            <a:endParaRPr sz="2400" dirty="0">
              <a:latin typeface="Tahoma"/>
              <a:cs typeface="Tahoma"/>
            </a:endParaRPr>
          </a:p>
          <a:p>
            <a:pPr marL="75565" marR="39370" indent="-73025">
              <a:lnSpc>
                <a:spcPct val="100000"/>
              </a:lnSpc>
              <a:spcBef>
                <a:spcPts val="1680"/>
              </a:spcBef>
              <a:buClr>
                <a:srgbClr val="3333CC"/>
              </a:buClr>
              <a:buSzPct val="39583"/>
              <a:buFont typeface="Lucida Sans Unicode"/>
              <a:buChar char="▪"/>
              <a:tabLst>
                <a:tab pos="76835" algn="l"/>
                <a:tab pos="1995805" algn="l"/>
              </a:tabLst>
            </a:pPr>
            <a:r>
              <a:rPr sz="2400" dirty="0">
                <a:latin typeface="Tahoma"/>
                <a:cs typeface="Tahoma"/>
              </a:rPr>
              <a:t>Total</a:t>
            </a:r>
            <a:r>
              <a:rPr sz="2400" spc="6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emails</a:t>
            </a:r>
            <a:r>
              <a:rPr sz="2400" dirty="0">
                <a:latin typeface="Tahoma"/>
                <a:cs typeface="Tahoma"/>
              </a:rPr>
              <a:t>	are</a:t>
            </a:r>
            <a:r>
              <a:rPr sz="2400" spc="29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5172:</a:t>
            </a:r>
            <a:r>
              <a:rPr sz="2400" spc="30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</a:t>
            </a:r>
            <a:r>
              <a:rPr sz="2400" spc="29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which</a:t>
            </a:r>
            <a:r>
              <a:rPr sz="2400" spc="30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1500</a:t>
            </a:r>
            <a:r>
              <a:rPr sz="2400" spc="29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are</a:t>
            </a:r>
            <a:r>
              <a:rPr sz="2400" spc="30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spam</a:t>
            </a:r>
            <a:r>
              <a:rPr sz="2400" spc="29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emails</a:t>
            </a:r>
            <a:r>
              <a:rPr sz="2400" spc="30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and 	</a:t>
            </a:r>
            <a:r>
              <a:rPr sz="2400" dirty="0">
                <a:latin typeface="Tahoma"/>
                <a:cs typeface="Tahoma"/>
              </a:rPr>
              <a:t>3,672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are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ham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(not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spam)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emails.</a:t>
            </a:r>
            <a:endParaRPr sz="2400" dirty="0">
              <a:latin typeface="Tahoma"/>
              <a:cs typeface="Tahoma"/>
            </a:endParaRPr>
          </a:p>
          <a:p>
            <a:pPr marL="75565" marR="36830" indent="-73025">
              <a:lnSpc>
                <a:spcPct val="100000"/>
              </a:lnSpc>
              <a:spcBef>
                <a:spcPts val="1680"/>
              </a:spcBef>
              <a:buClr>
                <a:srgbClr val="3333CC"/>
              </a:buClr>
              <a:buSzPct val="39583"/>
              <a:buFont typeface="Lucida Sans Unicode"/>
              <a:buChar char="▪"/>
              <a:tabLst>
                <a:tab pos="76835" algn="l"/>
              </a:tabLst>
            </a:pPr>
            <a:r>
              <a:rPr sz="2400" dirty="0">
                <a:latin typeface="Tahoma"/>
                <a:cs typeface="Tahoma"/>
              </a:rPr>
              <a:t>Lets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consider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word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“meeting”,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whose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count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spam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emails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are 	</a:t>
            </a:r>
            <a:r>
              <a:rPr sz="2400" dirty="0">
                <a:latin typeface="Tahoma"/>
                <a:cs typeface="Tahoma"/>
              </a:rPr>
              <a:t>16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and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153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ham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emails</a:t>
            </a:r>
            <a:endParaRPr sz="2400" dirty="0">
              <a:latin typeface="Tahoma"/>
              <a:cs typeface="Tahoma"/>
            </a:endParaRPr>
          </a:p>
          <a:p>
            <a:pPr marL="75565" marR="5080" indent="-73025">
              <a:lnSpc>
                <a:spcPct val="100000"/>
              </a:lnSpc>
              <a:spcBef>
                <a:spcPts val="1680"/>
              </a:spcBef>
              <a:buClr>
                <a:srgbClr val="3333CC"/>
              </a:buClr>
              <a:buSzPct val="39583"/>
              <a:buFont typeface="Lucida Sans Unicode"/>
              <a:buChar char="▪"/>
              <a:tabLst>
                <a:tab pos="76835" algn="l"/>
              </a:tabLst>
            </a:pPr>
            <a:r>
              <a:rPr sz="2400" dirty="0">
                <a:latin typeface="Tahoma"/>
                <a:cs typeface="Tahoma"/>
              </a:rPr>
              <a:t>Now</a:t>
            </a:r>
            <a:r>
              <a:rPr sz="2400" spc="10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compute</a:t>
            </a:r>
            <a:r>
              <a:rPr sz="2400" spc="1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10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chance</a:t>
            </a:r>
            <a:r>
              <a:rPr sz="2400" spc="1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that</a:t>
            </a:r>
            <a:r>
              <a:rPr sz="2400" spc="10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</a:t>
            </a:r>
            <a:r>
              <a:rPr sz="2400" spc="1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email</a:t>
            </a:r>
            <a:r>
              <a:rPr sz="2400" spc="1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is</a:t>
            </a:r>
            <a:r>
              <a:rPr sz="2400" spc="10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spam</a:t>
            </a:r>
            <a:r>
              <a:rPr sz="2400" spc="1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only</a:t>
            </a:r>
            <a:r>
              <a:rPr sz="2400" spc="10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knowing 	</a:t>
            </a:r>
            <a:r>
              <a:rPr sz="2400" dirty="0">
                <a:latin typeface="Tahoma"/>
                <a:cs typeface="Tahoma"/>
              </a:rPr>
              <a:t>it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contains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word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“meeting”: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DBBAA-AF9E-767D-33B0-A2B5D0E7E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08B5DB0A-2DCB-C323-CAAC-207964F75A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138" rIns="0" bIns="0" rtlCol="0">
            <a:spAutoFit/>
          </a:bodyPr>
          <a:lstStyle/>
          <a:p>
            <a:pPr marL="4318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60" dirty="0"/>
              <a:t> </a:t>
            </a:r>
            <a:r>
              <a:rPr dirty="0"/>
              <a:t>Spam</a:t>
            </a:r>
            <a:r>
              <a:rPr spc="-60" dirty="0"/>
              <a:t> </a:t>
            </a:r>
            <a:r>
              <a:rPr dirty="0"/>
              <a:t>Filter</a:t>
            </a:r>
            <a:r>
              <a:rPr spc="-5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Individual</a:t>
            </a:r>
            <a:r>
              <a:rPr spc="-60" dirty="0"/>
              <a:t> </a:t>
            </a:r>
            <a:r>
              <a:rPr spc="-20" dirty="0"/>
              <a:t>Words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F12F7C-89F5-9040-AE84-408279E093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322"/>
          <a:stretch>
            <a:fillRect/>
          </a:stretch>
        </p:blipFill>
        <p:spPr>
          <a:xfrm>
            <a:off x="762000" y="1524000"/>
            <a:ext cx="6494464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373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FA503-7219-E3EB-5D2E-0F1748F51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27437DD5-D1AF-49E1-F9AD-5F9F3EBE33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138" rIns="0" bIns="0" rtlCol="0">
            <a:spAutoFit/>
          </a:bodyPr>
          <a:lstStyle/>
          <a:p>
            <a:pPr marL="4318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60" dirty="0"/>
              <a:t> </a:t>
            </a:r>
            <a:r>
              <a:rPr dirty="0"/>
              <a:t>Spam</a:t>
            </a:r>
            <a:r>
              <a:rPr spc="-60" dirty="0"/>
              <a:t> </a:t>
            </a:r>
            <a:r>
              <a:rPr dirty="0"/>
              <a:t>Filter</a:t>
            </a:r>
            <a:r>
              <a:rPr spc="-5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Individual</a:t>
            </a:r>
            <a:r>
              <a:rPr spc="-60" dirty="0"/>
              <a:t> </a:t>
            </a:r>
            <a:r>
              <a:rPr spc="-20" dirty="0"/>
              <a:t>Words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8E039F-D01D-B280-1719-A26845DC2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25535"/>
            <a:ext cx="6400800" cy="19354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F9DDCD-AE71-C695-2AF2-BE47A0CAC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733800"/>
            <a:ext cx="6767961" cy="193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951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79DA0-6082-3D26-E356-E617B4806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F3B55EB6-3B78-DE76-6AEE-096F2EC6CB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138" rIns="0" bIns="0" rtlCol="0">
            <a:spAutoFit/>
          </a:bodyPr>
          <a:lstStyle/>
          <a:p>
            <a:pPr marL="4318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60" dirty="0"/>
              <a:t> </a:t>
            </a:r>
            <a:r>
              <a:rPr dirty="0"/>
              <a:t>Spam</a:t>
            </a:r>
            <a:r>
              <a:rPr spc="-60" dirty="0"/>
              <a:t> </a:t>
            </a:r>
            <a:r>
              <a:rPr dirty="0"/>
              <a:t>Filter</a:t>
            </a:r>
            <a:r>
              <a:rPr spc="-5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Individual</a:t>
            </a:r>
            <a:r>
              <a:rPr spc="-60" dirty="0"/>
              <a:t> </a:t>
            </a:r>
            <a:r>
              <a:rPr spc="-20" dirty="0"/>
              <a:t>Words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631751-FE4D-15D0-271E-DD82BF0ADC49}"/>
                  </a:ext>
                </a:extLst>
              </p:cNvPr>
              <p:cNvSpPr txBox="1"/>
              <p:nvPr/>
            </p:nvSpPr>
            <p:spPr>
              <a:xfrm>
                <a:off x="304800" y="1295400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Compute Evidence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𝒎𝒆𝒆𝒕𝒊𝒏𝒈</m:t>
                        </m:r>
                      </m:e>
                    </m:d>
                  </m:oMath>
                </a14:m>
                <a:endParaRPr lang="en-PK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631751-FE4D-15D0-271E-DD82BF0AD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295400"/>
                <a:ext cx="4572000" cy="369332"/>
              </a:xfrm>
              <a:prstGeom prst="rect">
                <a:avLst/>
              </a:prstGeom>
              <a:blipFill>
                <a:blip r:embed="rId2"/>
                <a:stretch>
                  <a:fillRect l="-1067" t="-10000" b="-25000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0A2E1843-3CBF-0E8D-773D-4848B03B6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21" y="2057400"/>
            <a:ext cx="7591663" cy="19126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F36619-78B5-1A58-B803-536BD0D7F6BB}"/>
              </a:ext>
            </a:extLst>
          </p:cNvPr>
          <p:cNvSpPr txBox="1"/>
          <p:nvPr/>
        </p:nvSpPr>
        <p:spPr>
          <a:xfrm>
            <a:off x="381000" y="397007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Compute Posterior Probability</a:t>
            </a:r>
            <a:endParaRPr lang="en-PK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6207FC4-7015-43AF-C760-653B14F324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4437250"/>
            <a:ext cx="6553200" cy="22507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9311B3-E8A1-8939-18DC-6DFB2973B046}"/>
                  </a:ext>
                </a:extLst>
              </p:cNvPr>
              <p:cNvSpPr txBox="1"/>
              <p:nvPr/>
            </p:nvSpPr>
            <p:spPr>
              <a:xfrm>
                <a:off x="4648200" y="6467459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K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PK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K" b="1" i="1">
                              <a:latin typeface="Cambria Math" panose="02040503050406030204" pitchFamily="18" charset="0"/>
                            </a:rPr>
                            <m:t>𝑺𝒑𝒂𝒎</m:t>
                          </m:r>
                          <m:r>
                            <a:rPr lang="en-PK" b="1" i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PK" b="1" i="1">
                              <a:latin typeface="Cambria Math" panose="02040503050406030204" pitchFamily="18" charset="0"/>
                            </a:rPr>
                            <m:t>𝒎𝒆𝒆𝒕𝒊𝒏𝒈</m:t>
                          </m:r>
                        </m:e>
                      </m:d>
                      <m:r>
                        <a:rPr lang="en-PK" b="1" i="0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PK" b="1" i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PK" b="1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PK" b="1" i="0">
                          <a:latin typeface="Cambria Math" panose="02040503050406030204" pitchFamily="18" charset="0"/>
                        </a:rPr>
                        <m:t>𝟎𝟗𝟓</m:t>
                      </m:r>
                      <m:r>
                        <a:rPr lang="en-PK" b="1" i="0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PK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9311B3-E8A1-8939-18DC-6DFB2973B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6467459"/>
                <a:ext cx="4572000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7821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138" rIns="0" bIns="0" rtlCol="0">
            <a:spAutoFit/>
          </a:bodyPr>
          <a:lstStyle/>
          <a:p>
            <a:pPr marL="4318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60" dirty="0"/>
              <a:t> </a:t>
            </a:r>
            <a:r>
              <a:rPr dirty="0"/>
              <a:t>Spam</a:t>
            </a:r>
            <a:r>
              <a:rPr spc="-60" dirty="0"/>
              <a:t> </a:t>
            </a:r>
            <a:r>
              <a:rPr dirty="0"/>
              <a:t>Filter</a:t>
            </a:r>
            <a:r>
              <a:rPr spc="-5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Individual</a:t>
            </a:r>
            <a:r>
              <a:rPr spc="-60" dirty="0"/>
              <a:t> </a:t>
            </a:r>
            <a:r>
              <a:rPr spc="-20" dirty="0"/>
              <a:t>Words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7340" y="1524000"/>
            <a:ext cx="8529320" cy="44686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Even if an email contains the word </a:t>
            </a:r>
            <a:r>
              <a:rPr lang="en-US" sz="2400" b="1" dirty="0"/>
              <a:t>“meeting”</a:t>
            </a:r>
            <a:r>
              <a:rPr lang="en-US" sz="2400" dirty="0"/>
              <a:t>: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Only </a:t>
            </a:r>
            <a:r>
              <a:rPr lang="en-US" sz="2400" b="1" dirty="0"/>
              <a:t>9.5% chance it is spam</a:t>
            </a:r>
            <a:r>
              <a:rPr lang="en-US" sz="2400" dirty="0"/>
              <a:t> 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So it is </a:t>
            </a:r>
            <a:r>
              <a:rPr lang="en-US" sz="2400" b="1" dirty="0"/>
              <a:t>most likely NOT spam (ham)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“Not all words indicate spam. Some words like ‘meeting’ actually suggest normal emails.”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138" rIns="0" bIns="0" rtlCol="0">
            <a:spAutoFit/>
          </a:bodyPr>
          <a:lstStyle/>
          <a:p>
            <a:pPr marL="4318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60" dirty="0"/>
              <a:t> </a:t>
            </a:r>
            <a:r>
              <a:rPr dirty="0"/>
              <a:t>Spam</a:t>
            </a:r>
            <a:r>
              <a:rPr spc="-60" dirty="0"/>
              <a:t> </a:t>
            </a:r>
            <a:r>
              <a:rPr dirty="0"/>
              <a:t>Filter</a:t>
            </a:r>
            <a:r>
              <a:rPr spc="-5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Individual</a:t>
            </a:r>
            <a:r>
              <a:rPr spc="-60" dirty="0"/>
              <a:t> </a:t>
            </a:r>
            <a:r>
              <a:rPr spc="-20" dirty="0"/>
              <a:t>Words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9151" y="1288923"/>
            <a:ext cx="8551545" cy="464312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180"/>
              </a:spcBef>
            </a:pPr>
            <a:r>
              <a:rPr sz="2400" dirty="0">
                <a:latin typeface="Arial MT"/>
                <a:cs typeface="Arial MT"/>
              </a:rPr>
              <a:t>Next,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try:</a:t>
            </a:r>
            <a:endParaRPr sz="2400" dirty="0">
              <a:latin typeface="Arial MT"/>
              <a:cs typeface="Arial MT"/>
            </a:endParaRPr>
          </a:p>
          <a:p>
            <a:pPr marL="76200" indent="-76200">
              <a:lnSpc>
                <a:spcPct val="100000"/>
              </a:lnSpc>
              <a:spcBef>
                <a:spcPts val="1080"/>
              </a:spcBef>
              <a:buClr>
                <a:srgbClr val="3333CC"/>
              </a:buClr>
              <a:buSzPct val="39583"/>
              <a:buFont typeface="Lucida Sans Unicode"/>
              <a:buChar char="▪"/>
              <a:tabLst>
                <a:tab pos="76200" algn="l"/>
              </a:tabLst>
            </a:pPr>
            <a:r>
              <a:rPr sz="2400" dirty="0">
                <a:latin typeface="Arial MT"/>
                <a:cs typeface="Arial MT"/>
              </a:rPr>
              <a:t>“money”: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80%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chance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being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spam</a:t>
            </a:r>
            <a:endParaRPr sz="2400" dirty="0">
              <a:latin typeface="Arial MT"/>
              <a:cs typeface="Arial MT"/>
            </a:endParaRPr>
          </a:p>
          <a:p>
            <a:pPr marL="76200" indent="-76200">
              <a:lnSpc>
                <a:spcPct val="100000"/>
              </a:lnSpc>
              <a:spcBef>
                <a:spcPts val="1080"/>
              </a:spcBef>
              <a:buClr>
                <a:srgbClr val="3333CC"/>
              </a:buClr>
              <a:buSzPct val="39583"/>
              <a:buFont typeface="Lucida Sans Unicode"/>
              <a:buChar char="▪"/>
              <a:tabLst>
                <a:tab pos="76200" algn="l"/>
              </a:tabLst>
            </a:pPr>
            <a:r>
              <a:rPr sz="2400" dirty="0">
                <a:latin typeface="Arial MT"/>
                <a:cs typeface="Arial MT"/>
              </a:rPr>
              <a:t>“Dating”: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100%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chance</a:t>
            </a:r>
            <a:endParaRPr sz="2400" dirty="0">
              <a:latin typeface="Arial MT"/>
              <a:cs typeface="Arial MT"/>
            </a:endParaRPr>
          </a:p>
          <a:p>
            <a:pPr marL="76200" indent="-76200">
              <a:lnSpc>
                <a:spcPct val="100000"/>
              </a:lnSpc>
              <a:spcBef>
                <a:spcPts val="1080"/>
              </a:spcBef>
              <a:buClr>
                <a:srgbClr val="3333CC"/>
              </a:buClr>
              <a:buSzPct val="39583"/>
              <a:buFont typeface="Lucida Sans Unicode"/>
              <a:buChar char="▪"/>
              <a:tabLst>
                <a:tab pos="76200" algn="l"/>
              </a:tabLst>
            </a:pPr>
            <a:r>
              <a:rPr sz="2400" dirty="0">
                <a:latin typeface="Arial MT"/>
                <a:cs typeface="Arial MT"/>
              </a:rPr>
              <a:t>“enron”: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0%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chance</a:t>
            </a:r>
            <a:endParaRPr sz="2400" dirty="0">
              <a:latin typeface="Arial MT"/>
              <a:cs typeface="Arial MT"/>
            </a:endParaRPr>
          </a:p>
          <a:p>
            <a:pPr marL="75565" marR="5715" indent="-73025">
              <a:lnSpc>
                <a:spcPct val="100000"/>
              </a:lnSpc>
              <a:spcBef>
                <a:spcPts val="1080"/>
              </a:spcBef>
              <a:buClr>
                <a:srgbClr val="3333CC"/>
              </a:buClr>
              <a:buSzPct val="39583"/>
              <a:buFont typeface="Lucida Sans Unicode"/>
              <a:buChar char="▪"/>
              <a:tabLst>
                <a:tab pos="76835" algn="l"/>
              </a:tabLst>
            </a:pP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4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illustrates</a:t>
            </a:r>
            <a:r>
              <a:rPr sz="2400" spc="4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4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4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model,</a:t>
            </a:r>
            <a:r>
              <a:rPr sz="2400" spc="4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4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overfitting;</a:t>
            </a:r>
            <a:r>
              <a:rPr sz="2400" spc="4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4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4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getting 	overconfident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because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biased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data.</a:t>
            </a:r>
            <a:endParaRPr sz="2400" dirty="0">
              <a:latin typeface="Arial MT"/>
              <a:cs typeface="Arial MT"/>
            </a:endParaRPr>
          </a:p>
          <a:p>
            <a:pPr marL="75565" marR="5080" indent="-73025">
              <a:lnSpc>
                <a:spcPct val="100000"/>
              </a:lnSpc>
              <a:spcBef>
                <a:spcPts val="1080"/>
              </a:spcBef>
              <a:buClr>
                <a:srgbClr val="3333CC"/>
              </a:buClr>
              <a:buSzPct val="39583"/>
              <a:buFont typeface="Lucida Sans Unicode"/>
              <a:buChar char="▪"/>
              <a:tabLst>
                <a:tab pos="76835" algn="l"/>
              </a:tabLst>
            </a:pP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really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truth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any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email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containing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“Dating”</a:t>
            </a:r>
            <a:r>
              <a:rPr sz="2400" spc="-25" dirty="0">
                <a:latin typeface="Arial MT"/>
                <a:cs typeface="Arial MT"/>
              </a:rPr>
              <a:t> is 	</a:t>
            </a:r>
            <a:r>
              <a:rPr sz="2400" spc="-10" dirty="0">
                <a:latin typeface="Arial MT"/>
                <a:cs typeface="Arial MT"/>
              </a:rPr>
              <a:t>spam?</a:t>
            </a:r>
            <a:endParaRPr sz="2400" dirty="0">
              <a:latin typeface="Arial MT"/>
              <a:cs typeface="Arial MT"/>
            </a:endParaRPr>
          </a:p>
          <a:p>
            <a:pPr marL="75565" marR="5715" indent="-73025">
              <a:lnSpc>
                <a:spcPct val="100000"/>
              </a:lnSpc>
              <a:spcBef>
                <a:spcPts val="1080"/>
              </a:spcBef>
              <a:buClr>
                <a:srgbClr val="3333CC"/>
              </a:buClr>
              <a:buSzPct val="39583"/>
              <a:buFont typeface="Lucida Sans Unicode"/>
              <a:buChar char="▪"/>
              <a:tabLst>
                <a:tab pos="76835" algn="l"/>
              </a:tabLst>
            </a:pPr>
            <a:r>
              <a:rPr sz="2400" dirty="0">
                <a:latin typeface="Arial MT"/>
                <a:cs typeface="Arial MT"/>
              </a:rPr>
              <a:t>It’s</a:t>
            </a:r>
            <a:r>
              <a:rPr sz="2400" spc="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ofcourse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possible</a:t>
            </a:r>
            <a:r>
              <a:rPr sz="2400" spc="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write</a:t>
            </a:r>
            <a:r>
              <a:rPr sz="2400" spc="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nonspam</a:t>
            </a:r>
            <a:r>
              <a:rPr sz="2400" spc="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email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word 	</a:t>
            </a:r>
            <a:r>
              <a:rPr sz="2400" dirty="0">
                <a:latin typeface="Arial MT"/>
                <a:cs typeface="Arial MT"/>
              </a:rPr>
              <a:t>“Dating,”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well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spam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email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“Enron.”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0535" y="304800"/>
            <a:ext cx="31229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Naïve</a:t>
            </a:r>
            <a:r>
              <a:rPr sz="4000" spc="-145" dirty="0"/>
              <a:t> </a:t>
            </a:r>
            <a:r>
              <a:rPr sz="4000" spc="-10" dirty="0"/>
              <a:t>Bayes</a:t>
            </a:r>
            <a:endParaRPr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39ABE0-0410-446A-CE11-89C6DEBEA51B}"/>
              </a:ext>
            </a:extLst>
          </p:cNvPr>
          <p:cNvSpPr txBox="1"/>
          <p:nvPr/>
        </p:nvSpPr>
        <p:spPr>
          <a:xfrm>
            <a:off x="457200" y="1600200"/>
            <a:ext cx="8305800" cy="4409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2400" dirty="0"/>
              <a:t>Naive Bayes is a probabilistic machine learning algorithm based on </a:t>
            </a:r>
            <a:r>
              <a:rPr lang="en-US" sz="2400" b="1" dirty="0"/>
              <a:t>Bayes’ Theorem</a:t>
            </a:r>
            <a:r>
              <a:rPr lang="en-US" sz="2400" dirty="0"/>
              <a:t>. </a:t>
            </a:r>
          </a:p>
          <a:p>
            <a:pPr>
              <a:lnSpc>
                <a:spcPct val="200000"/>
              </a:lnSpc>
              <a:buNone/>
            </a:pPr>
            <a:r>
              <a:rPr lang="en-US" sz="2400" dirty="0"/>
              <a:t>It is mainly used for </a:t>
            </a:r>
            <a:r>
              <a:rPr lang="en-US" sz="2400" b="1" dirty="0"/>
              <a:t>classification problems</a:t>
            </a:r>
            <a:r>
              <a:rPr lang="en-US" sz="2400" dirty="0"/>
              <a:t> such as spam detection, sentiment analysis, and medical diagnosis.</a:t>
            </a:r>
          </a:p>
          <a:p>
            <a:pPr>
              <a:lnSpc>
                <a:spcPct val="200000"/>
              </a:lnSpc>
              <a:buNone/>
            </a:pPr>
            <a:r>
              <a:rPr lang="en-US" sz="2400" dirty="0"/>
              <a:t>The word </a:t>
            </a:r>
            <a:r>
              <a:rPr lang="en-US" sz="2400" b="1" dirty="0"/>
              <a:t>“naive”</a:t>
            </a:r>
            <a:r>
              <a:rPr lang="en-US" sz="2400" dirty="0"/>
              <a:t> means it assumes that all features are </a:t>
            </a:r>
            <a:r>
              <a:rPr lang="en-US" sz="2400" b="1" dirty="0"/>
              <a:t>independent</a:t>
            </a:r>
            <a:r>
              <a:rPr lang="en-US" sz="2400" dirty="0"/>
              <a:t> of each other.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rcRect b="61738"/>
          <a:stretch>
            <a:fillRect/>
          </a:stretch>
        </p:blipFill>
        <p:spPr>
          <a:xfrm>
            <a:off x="251519" y="1196751"/>
            <a:ext cx="8640959" cy="207984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6979" indent="-3764915" algn="ctr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A</a:t>
            </a:r>
            <a:r>
              <a:rPr sz="3200" spc="-55" dirty="0"/>
              <a:t> </a:t>
            </a:r>
            <a:r>
              <a:rPr sz="3200" dirty="0"/>
              <a:t>Spam</a:t>
            </a:r>
            <a:r>
              <a:rPr sz="3200" spc="-55" dirty="0"/>
              <a:t> </a:t>
            </a:r>
            <a:r>
              <a:rPr sz="3200" dirty="0"/>
              <a:t>Filter</a:t>
            </a:r>
            <a:r>
              <a:rPr sz="3200" spc="-50" dirty="0"/>
              <a:t> </a:t>
            </a:r>
            <a:r>
              <a:rPr sz="3200" dirty="0"/>
              <a:t>That</a:t>
            </a:r>
            <a:r>
              <a:rPr sz="3200" spc="-50" dirty="0"/>
              <a:t> </a:t>
            </a:r>
            <a:r>
              <a:rPr sz="3200" dirty="0"/>
              <a:t>Combines</a:t>
            </a:r>
            <a:r>
              <a:rPr sz="3200" spc="-55" dirty="0"/>
              <a:t> </a:t>
            </a:r>
            <a:r>
              <a:rPr sz="3200" dirty="0"/>
              <a:t>Words:</a:t>
            </a:r>
            <a:r>
              <a:rPr sz="3200" spc="-50" dirty="0"/>
              <a:t> </a:t>
            </a:r>
            <a:br>
              <a:rPr lang="en-US" sz="3200" spc="-50" dirty="0"/>
            </a:br>
            <a:r>
              <a:rPr sz="3200" spc="-10" dirty="0"/>
              <a:t>Naive Bayes</a:t>
            </a:r>
            <a:endParaRPr sz="3200" dirty="0"/>
          </a:p>
        </p:txBody>
      </p:sp>
      <p:sp>
        <p:nvSpPr>
          <p:cNvPr id="4" name="object 4"/>
          <p:cNvSpPr txBox="1"/>
          <p:nvPr/>
        </p:nvSpPr>
        <p:spPr>
          <a:xfrm>
            <a:off x="315108" y="1281892"/>
            <a:ext cx="128905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650" spc="-695" dirty="0">
                <a:solidFill>
                  <a:srgbClr val="3333CC"/>
                </a:solidFill>
                <a:latin typeface="Arial MT"/>
                <a:cs typeface="Arial MT"/>
              </a:rPr>
              <a:t>■</a:t>
            </a:r>
            <a:endParaRPr sz="1650">
              <a:latin typeface="Arial MT"/>
              <a:cs typeface="Arial MT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4C5557-770B-D980-39B0-AFEFEA151E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842397"/>
              </p:ext>
            </p:extLst>
          </p:nvPr>
        </p:nvGraphicFramePr>
        <p:xfrm>
          <a:off x="3558032" y="2791968"/>
          <a:ext cx="6578600" cy="1828800"/>
        </p:xfrm>
        <a:graphic>
          <a:graphicData uri="http://schemas.openxmlformats.org/drawingml/2006/table">
            <a:tbl>
              <a:tblPr/>
              <a:tblGrid>
                <a:gridCol w="3289300">
                  <a:extLst>
                    <a:ext uri="{9D8B030D-6E8A-4147-A177-3AD203B41FA5}">
                      <a16:colId xmlns:a16="http://schemas.microsoft.com/office/drawing/2014/main" val="1877506753"/>
                    </a:ext>
                  </a:extLst>
                </a:gridCol>
                <a:gridCol w="3289300">
                  <a:extLst>
                    <a:ext uri="{9D8B030D-6E8A-4147-A177-3AD203B41FA5}">
                      <a16:colId xmlns:a16="http://schemas.microsoft.com/office/drawing/2014/main" val="11619853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Present?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553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2278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Offer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9257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Meeting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5788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60010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C8CE2C2-9024-111C-F27E-5BF5C97BD306}"/>
                  </a:ext>
                </a:extLst>
              </p:cNvPr>
              <p:cNvSpPr txBox="1"/>
              <p:nvPr/>
            </p:nvSpPr>
            <p:spPr>
              <a:xfrm>
                <a:off x="609600" y="4899249"/>
                <a:ext cx="535228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So the email vector becomes: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ur-P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ur-PK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ur-PK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ur-PK" i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ur-PK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ur-PK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C8CE2C2-9024-111C-F27E-5BF5C97BD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899249"/>
                <a:ext cx="5352288" cy="646331"/>
              </a:xfrm>
              <a:prstGeom prst="rect">
                <a:avLst/>
              </a:prstGeom>
              <a:blipFill>
                <a:blip r:embed="rId3"/>
                <a:stretch>
                  <a:fillRect l="-911" t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5C0920-3AA0-363D-E48F-C1A32A5EC119}"/>
                  </a:ext>
                </a:extLst>
              </p:cNvPr>
              <p:cNvSpPr txBox="1"/>
              <p:nvPr/>
            </p:nvSpPr>
            <p:spPr>
              <a:xfrm>
                <a:off x="4800600" y="5334000"/>
                <a:ext cx="3429000" cy="12226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= complete email word vector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ur-P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r-PK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ur-PK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ur-PK" dirty="0"/>
                  <a:t>= </a:t>
                </a:r>
                <a:r>
                  <a:rPr lang="en-US" dirty="0"/>
                  <a:t>individual word feature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= index of the word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5C0920-3AA0-363D-E48F-C1A32A5EC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5334000"/>
                <a:ext cx="3429000" cy="1222642"/>
              </a:xfrm>
              <a:prstGeom prst="rect">
                <a:avLst/>
              </a:prstGeom>
              <a:blipFill>
                <a:blip r:embed="rId4"/>
                <a:stretch>
                  <a:fillRect l="-1601" t="-2488" r="-2313" b="-6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2E262-679A-3375-7C1D-E7EF3BD4A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7D35E8FD-1511-0155-1245-CDD6582F7EF6}"/>
              </a:ext>
            </a:extLst>
          </p:cNvPr>
          <p:cNvPicPr/>
          <p:nvPr/>
        </p:nvPicPr>
        <p:blipFill>
          <a:blip r:embed="rId2" cstate="print"/>
          <a:srcRect t="38262"/>
          <a:stretch>
            <a:fillRect/>
          </a:stretch>
        </p:blipFill>
        <p:spPr>
          <a:xfrm>
            <a:off x="315108" y="1281892"/>
            <a:ext cx="8640959" cy="3355937"/>
          </a:xfrm>
          <a:prstGeom prst="rect">
            <a:avLst/>
          </a:prstGeom>
        </p:spPr>
      </p:pic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F7ADFF42-7586-DC6B-3A84-F6B945BD7AD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6979" indent="-3764915" algn="ctr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A</a:t>
            </a:r>
            <a:r>
              <a:rPr sz="3200" spc="-55" dirty="0"/>
              <a:t> </a:t>
            </a:r>
            <a:r>
              <a:rPr sz="3200" dirty="0"/>
              <a:t>Spam</a:t>
            </a:r>
            <a:r>
              <a:rPr sz="3200" spc="-55" dirty="0"/>
              <a:t> </a:t>
            </a:r>
            <a:r>
              <a:rPr sz="3200" dirty="0"/>
              <a:t>Filter</a:t>
            </a:r>
            <a:r>
              <a:rPr sz="3200" spc="-50" dirty="0"/>
              <a:t> </a:t>
            </a:r>
            <a:r>
              <a:rPr sz="3200" dirty="0"/>
              <a:t>That</a:t>
            </a:r>
            <a:r>
              <a:rPr sz="3200" spc="-50" dirty="0"/>
              <a:t> </a:t>
            </a:r>
            <a:r>
              <a:rPr sz="3200" dirty="0"/>
              <a:t>Combines</a:t>
            </a:r>
            <a:r>
              <a:rPr sz="3200" spc="-55" dirty="0"/>
              <a:t> </a:t>
            </a:r>
            <a:r>
              <a:rPr sz="3200" dirty="0"/>
              <a:t>Words:</a:t>
            </a:r>
            <a:r>
              <a:rPr sz="3200" spc="-50" dirty="0"/>
              <a:t> </a:t>
            </a:r>
            <a:br>
              <a:rPr lang="en-US" sz="3200" spc="-50" dirty="0"/>
            </a:br>
            <a:r>
              <a:rPr sz="3200" spc="-10" dirty="0"/>
              <a:t>Naive Bayes</a:t>
            </a:r>
            <a:endParaRPr sz="320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29ABABA-E7D6-3104-EC29-ADED2EF2FB26}"/>
              </a:ext>
            </a:extLst>
          </p:cNvPr>
          <p:cNvSpPr txBox="1"/>
          <p:nvPr/>
        </p:nvSpPr>
        <p:spPr>
          <a:xfrm>
            <a:off x="315108" y="1281892"/>
            <a:ext cx="128905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650" spc="-695" dirty="0">
                <a:solidFill>
                  <a:srgbClr val="3333CC"/>
                </a:solidFill>
                <a:latin typeface="Arial MT"/>
                <a:cs typeface="Arial MT"/>
              </a:rPr>
              <a:t>■</a:t>
            </a:r>
            <a:endParaRPr sz="1650">
              <a:latin typeface="Arial MT"/>
              <a:cs typeface="Arial M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5D831B-95FB-6FCC-FDBB-5F3CAFDBDE4E}"/>
                  </a:ext>
                </a:extLst>
              </p:cNvPr>
              <p:cNvSpPr txBox="1"/>
              <p:nvPr/>
            </p:nvSpPr>
            <p:spPr>
              <a:xfrm>
                <a:off x="609600" y="4975943"/>
                <a:ext cx="7620000" cy="120032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ur-PK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ur-P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r-PK" i="1">
                            <a:latin typeface="Cambria Math" panose="02040503050406030204" pitchFamily="18" charset="0"/>
                          </a:rPr>
                          <m:t>𝑆𝑝𝑎𝑚</m:t>
                        </m:r>
                        <m:r>
                          <a:rPr lang="ur-PK" i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ur-PK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ur-PK" dirty="0"/>
                  <a:t>→ </a:t>
                </a:r>
                <a:r>
                  <a:rPr lang="en-US" dirty="0"/>
                  <a:t>Probability email is spam given words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ur-P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r-PK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ur-PK" i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ur-PK" i="1">
                            <a:latin typeface="Cambria Math" panose="02040503050406030204" pitchFamily="18" charset="0"/>
                          </a:rPr>
                          <m:t>𝑆𝑝𝑎𝑚</m:t>
                        </m:r>
                      </m:e>
                    </m:d>
                  </m:oMath>
                </a14:m>
                <a:r>
                  <a:rPr lang="ur-PK" dirty="0"/>
                  <a:t>→ </a:t>
                </a:r>
                <a:r>
                  <a:rPr lang="en-US" dirty="0"/>
                  <a:t>Probability these words appear in spam emails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ur-P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r-PK" i="1">
                            <a:latin typeface="Cambria Math" panose="02040503050406030204" pitchFamily="18" charset="0"/>
                          </a:rPr>
                          <m:t>𝑆𝑝𝑎𝑚</m:t>
                        </m:r>
                      </m:e>
                    </m:d>
                  </m:oMath>
                </a14:m>
                <a:r>
                  <a:rPr lang="ur-PK" dirty="0"/>
                  <a:t>→ </a:t>
                </a:r>
                <a:r>
                  <a:rPr lang="en-US" dirty="0"/>
                  <a:t>Prior probability of spam emails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ur-P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r-PK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ur-PK" dirty="0"/>
                  <a:t>→ </a:t>
                </a:r>
                <a:r>
                  <a:rPr lang="en-US" dirty="0"/>
                  <a:t>Probability of observing these words overall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5D831B-95FB-6FCC-FDBB-5F3CAFDBD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975943"/>
                <a:ext cx="7620000" cy="1200329"/>
              </a:xfrm>
              <a:prstGeom prst="rect">
                <a:avLst/>
              </a:prstGeom>
              <a:blipFill>
                <a:blip r:embed="rId3"/>
                <a:stretch>
                  <a:fillRect t="-2010" b="-653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9567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6979" marR="5080" indent="-376491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A</a:t>
            </a:r>
            <a:r>
              <a:rPr sz="3200" spc="-55" dirty="0"/>
              <a:t> </a:t>
            </a:r>
            <a:r>
              <a:rPr sz="3200" dirty="0"/>
              <a:t>Spam</a:t>
            </a:r>
            <a:r>
              <a:rPr sz="3200" spc="-55" dirty="0"/>
              <a:t> </a:t>
            </a:r>
            <a:r>
              <a:rPr sz="3200" dirty="0"/>
              <a:t>Filter</a:t>
            </a:r>
            <a:r>
              <a:rPr sz="3200" spc="-50" dirty="0"/>
              <a:t> </a:t>
            </a:r>
            <a:r>
              <a:rPr sz="3200" dirty="0"/>
              <a:t>That</a:t>
            </a:r>
            <a:r>
              <a:rPr sz="3200" spc="-50" dirty="0"/>
              <a:t> </a:t>
            </a:r>
            <a:r>
              <a:rPr sz="3200" dirty="0"/>
              <a:t>Combines</a:t>
            </a:r>
            <a:r>
              <a:rPr sz="3200" spc="-55" dirty="0"/>
              <a:t> </a:t>
            </a:r>
            <a:r>
              <a:rPr sz="3200" dirty="0"/>
              <a:t>Words:</a:t>
            </a:r>
            <a:r>
              <a:rPr sz="3200" spc="-50" dirty="0"/>
              <a:t> </a:t>
            </a:r>
            <a:r>
              <a:rPr sz="3200" spc="-10" dirty="0"/>
              <a:t>Naive Bayes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59151" y="1300886"/>
            <a:ext cx="4323080" cy="973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Example:</a:t>
            </a:r>
            <a:endParaRPr sz="2400">
              <a:latin typeface="Arial"/>
              <a:cs typeface="Arial"/>
            </a:endParaRPr>
          </a:p>
          <a:p>
            <a:pPr marL="76200" indent="-76200">
              <a:lnSpc>
                <a:spcPct val="100000"/>
              </a:lnSpc>
              <a:spcBef>
                <a:spcPts val="1700"/>
              </a:spcBef>
              <a:buClr>
                <a:srgbClr val="3333CC"/>
              </a:buClr>
              <a:buSzPct val="41666"/>
              <a:buFont typeface="Lucida Sans Unicode"/>
              <a:buChar char="▪"/>
              <a:tabLst>
                <a:tab pos="76200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new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sample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email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given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by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9151" y="2590190"/>
            <a:ext cx="1123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indent="-762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41666"/>
              <a:buFont typeface="Lucida Sans Unicode"/>
              <a:buChar char="▪"/>
              <a:tabLst>
                <a:tab pos="76200" algn="l"/>
              </a:tabLst>
            </a:pPr>
            <a:r>
              <a:rPr sz="2400" spc="-20" dirty="0">
                <a:latin typeface="Arial MT"/>
                <a:cs typeface="Arial MT"/>
              </a:rPr>
              <a:t>Email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0200" y="2572588"/>
            <a:ext cx="7014845" cy="74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3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1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&lt; 1,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0,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&gt;,</a:t>
            </a:r>
            <a:endParaRPr sz="2400" dirty="0">
              <a:latin typeface="Arial MT"/>
              <a:cs typeface="Arial MT"/>
            </a:endParaRPr>
          </a:p>
          <a:p>
            <a:pPr marL="347345">
              <a:lnSpc>
                <a:spcPts val="2830"/>
              </a:lnSpc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5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&lt;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count(dating),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count(meeting),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count(enron)&gt;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5908" y="5105400"/>
            <a:ext cx="8448675" cy="1452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How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calculate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probability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email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spam?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ts val="2830"/>
              </a:lnSpc>
              <a:spcBef>
                <a:spcPts val="2685"/>
              </a:spcBef>
            </a:pPr>
            <a:r>
              <a:rPr sz="2400" dirty="0">
                <a:latin typeface="Arial MT"/>
                <a:cs typeface="Arial MT"/>
              </a:rPr>
              <a:t>P(Spam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|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x1,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x2,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x3)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P(X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x1,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x2,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x3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|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spam)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*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P(spam)</a:t>
            </a:r>
            <a:endParaRPr sz="2400" dirty="0">
              <a:latin typeface="Arial MT"/>
              <a:cs typeface="Arial MT"/>
            </a:endParaRPr>
          </a:p>
          <a:p>
            <a:pPr marL="5500370">
              <a:lnSpc>
                <a:spcPts val="2830"/>
              </a:lnSpc>
              <a:tabLst>
                <a:tab pos="6091555" algn="l"/>
              </a:tabLst>
            </a:pPr>
            <a:r>
              <a:rPr sz="2400" spc="-50" dirty="0">
                <a:latin typeface="Arial MT"/>
                <a:cs typeface="Arial MT"/>
              </a:rPr>
              <a:t>/</a:t>
            </a:r>
            <a:r>
              <a:rPr sz="2400" dirty="0">
                <a:latin typeface="Arial MT"/>
                <a:cs typeface="Arial MT"/>
              </a:rPr>
              <a:t>	P(X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x1,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x2,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x3)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10DB0C-0655-340A-134A-47BD49389F22}"/>
              </a:ext>
            </a:extLst>
          </p:cNvPr>
          <p:cNvSpPr txBox="1"/>
          <p:nvPr/>
        </p:nvSpPr>
        <p:spPr>
          <a:xfrm>
            <a:off x="325908" y="3611257"/>
            <a:ext cx="815340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P(</a:t>
            </a:r>
            <a:r>
              <a:rPr lang="en-US" dirty="0" err="1"/>
              <a:t>X∣Spam</a:t>
            </a:r>
            <a:r>
              <a:rPr lang="en-US" dirty="0"/>
              <a:t>)=P(x1​∣Spam)×P(x2​∣Spam)×...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Instead of calculating one huge probability, we multiply probabilities of individual words.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9654E-E7D3-2A94-B8C9-216392EC8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256F4194-718E-BAC1-3668-0ACE212ADC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6979" marR="5080" indent="-376491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A</a:t>
            </a:r>
            <a:r>
              <a:rPr sz="3200" spc="-55" dirty="0"/>
              <a:t> </a:t>
            </a:r>
            <a:r>
              <a:rPr sz="3200" dirty="0"/>
              <a:t>Spam</a:t>
            </a:r>
            <a:r>
              <a:rPr sz="3200" spc="-55" dirty="0"/>
              <a:t> </a:t>
            </a:r>
            <a:r>
              <a:rPr sz="3200" dirty="0"/>
              <a:t>Filter</a:t>
            </a:r>
            <a:r>
              <a:rPr sz="3200" spc="-50" dirty="0"/>
              <a:t> </a:t>
            </a:r>
            <a:r>
              <a:rPr sz="3200" dirty="0"/>
              <a:t>That</a:t>
            </a:r>
            <a:r>
              <a:rPr sz="3200" spc="-50" dirty="0"/>
              <a:t> </a:t>
            </a:r>
            <a:r>
              <a:rPr sz="3200" dirty="0"/>
              <a:t>Combines</a:t>
            </a:r>
            <a:r>
              <a:rPr sz="3200" spc="-55" dirty="0"/>
              <a:t> </a:t>
            </a:r>
            <a:r>
              <a:rPr sz="3200" dirty="0"/>
              <a:t>Words:</a:t>
            </a:r>
            <a:r>
              <a:rPr sz="3200" spc="-50" dirty="0"/>
              <a:t> </a:t>
            </a:r>
            <a:r>
              <a:rPr sz="3200" spc="-10" dirty="0"/>
              <a:t>Naive Bayes</a:t>
            </a:r>
            <a:endParaRPr sz="32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0C9EB32-9558-FBDA-FF13-58868DD8B2C0}"/>
              </a:ext>
            </a:extLst>
          </p:cNvPr>
          <p:cNvSpPr txBox="1"/>
          <p:nvPr/>
        </p:nvSpPr>
        <p:spPr>
          <a:xfrm>
            <a:off x="259151" y="1300886"/>
            <a:ext cx="43230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Example:</a:t>
            </a:r>
            <a:endParaRPr sz="2400" dirty="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01D4F8A-A7D7-0747-010A-E8652EBDEAA9}"/>
                  </a:ext>
                </a:extLst>
              </p:cNvPr>
              <p:cNvSpPr txBox="1"/>
              <p:nvPr/>
            </p:nvSpPr>
            <p:spPr>
              <a:xfrm>
                <a:off x="533400" y="1828800"/>
                <a:ext cx="465065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Given Data</a:t>
                </a:r>
              </a:p>
              <a:p>
                <a:pPr>
                  <a:buNone/>
                </a:pPr>
                <a:r>
                  <a:rPr lang="en-PK" b="1" dirty="0"/>
                  <a:t> </a:t>
                </a:r>
                <a:r>
                  <a:rPr lang="en-US" b="1" dirty="0"/>
                  <a:t>	Prior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𝑆𝑝𝑎𝑚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𝐻𝑎𝑚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01D4F8A-A7D7-0747-010A-E8652EBDE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828800"/>
                <a:ext cx="4650658" cy="1200329"/>
              </a:xfrm>
              <a:prstGeom prst="rect">
                <a:avLst/>
              </a:prstGeom>
              <a:blipFill>
                <a:blip r:embed="rId2"/>
                <a:stretch>
                  <a:fillRect l="-1181" t="-2538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DEF533-4372-2950-3D5D-DCD9886BFF16}"/>
                  </a:ext>
                </a:extLst>
              </p:cNvPr>
              <p:cNvSpPr txBox="1"/>
              <p:nvPr/>
            </p:nvSpPr>
            <p:spPr>
              <a:xfrm>
                <a:off x="533400" y="3426542"/>
                <a:ext cx="4650658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dirty="0"/>
                  <a:t>Likelihoods</a:t>
                </a:r>
              </a:p>
              <a:p>
                <a:pPr>
                  <a:buNone/>
                </a:pPr>
                <a:r>
                  <a:rPr lang="en-US" dirty="0"/>
                  <a:t>| Word |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𝑤𝑜𝑟𝑑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𝑆𝑝𝑎𝑚</m:t>
                        </m:r>
                      </m:e>
                    </m:d>
                  </m:oMath>
                </a14:m>
                <a:r>
                  <a:rPr lang="ar-AE" dirty="0"/>
                  <a:t>| </a:t>
                </a:r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𝑤𝑜𝑟𝑑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𝐻𝑎𝑚</m:t>
                        </m:r>
                      </m:e>
                    </m:d>
                  </m:oMath>
                </a14:m>
                <a:r>
                  <a:rPr lang="ar-AE" dirty="0"/>
                  <a:t>|</a:t>
                </a:r>
                <a:br>
                  <a:rPr lang="ar-AE" dirty="0"/>
                </a:br>
                <a:r>
                  <a:rPr lang="ar-AE" dirty="0"/>
                  <a:t>|------|------------------|------------------|</a:t>
                </a:r>
                <a:br>
                  <a:rPr lang="ar-AE" dirty="0"/>
                </a:br>
                <a:r>
                  <a:rPr lang="ar-AE" dirty="0"/>
                  <a:t>| </a:t>
                </a:r>
                <a:r>
                  <a:rPr lang="en-US" dirty="0"/>
                  <a:t>dating | 0.7 | 0.1 |</a:t>
                </a:r>
                <a:br>
                  <a:rPr lang="en-US" dirty="0"/>
                </a:br>
                <a:r>
                  <a:rPr lang="en-US" dirty="0"/>
                  <a:t>| meeting | 0.1 | 0.6 |</a:t>
                </a:r>
                <a:br>
                  <a:rPr lang="en-US" dirty="0"/>
                </a:br>
                <a:r>
                  <a:rPr lang="en-US" dirty="0"/>
                  <a:t>| </a:t>
                </a:r>
                <a:r>
                  <a:rPr lang="en-US" dirty="0" err="1"/>
                  <a:t>enron</a:t>
                </a:r>
                <a:r>
                  <a:rPr lang="en-US" dirty="0"/>
                  <a:t> | 0.6 | 0.3 |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DEF533-4372-2950-3D5D-DCD9886BF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3426542"/>
                <a:ext cx="4650658" cy="1754326"/>
              </a:xfrm>
              <a:prstGeom prst="rect">
                <a:avLst/>
              </a:prstGeom>
              <a:blipFill>
                <a:blip r:embed="rId3"/>
                <a:stretch>
                  <a:fillRect l="-1312" t="-1736" b="-4514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9A5841C0-31E4-2E4F-F747-0C5BF97A7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557114"/>
            <a:ext cx="7447716" cy="84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291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717A3-1098-946F-E238-40ED2DFAD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C5FF3CD4-7205-AC47-08F8-5382059024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76979" marR="5080" indent="-376491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A</a:t>
            </a:r>
            <a:r>
              <a:rPr sz="3200" spc="-55" dirty="0"/>
              <a:t> </a:t>
            </a:r>
            <a:r>
              <a:rPr sz="3200" dirty="0"/>
              <a:t>Spam</a:t>
            </a:r>
            <a:r>
              <a:rPr sz="3200" spc="-55" dirty="0"/>
              <a:t> </a:t>
            </a:r>
            <a:r>
              <a:rPr sz="3200" dirty="0"/>
              <a:t>Filter</a:t>
            </a:r>
            <a:r>
              <a:rPr sz="3200" spc="-50" dirty="0"/>
              <a:t> </a:t>
            </a:r>
            <a:r>
              <a:rPr sz="3200" dirty="0"/>
              <a:t>That</a:t>
            </a:r>
            <a:r>
              <a:rPr sz="3200" spc="-50" dirty="0"/>
              <a:t> </a:t>
            </a:r>
            <a:r>
              <a:rPr sz="3200" dirty="0"/>
              <a:t>Combines</a:t>
            </a:r>
            <a:r>
              <a:rPr sz="3200" spc="-55" dirty="0"/>
              <a:t> </a:t>
            </a:r>
            <a:r>
              <a:rPr sz="3200" dirty="0"/>
              <a:t>Words:</a:t>
            </a:r>
            <a:r>
              <a:rPr sz="3200" spc="-50" dirty="0"/>
              <a:t> </a:t>
            </a:r>
            <a:r>
              <a:rPr sz="3200" spc="-10" dirty="0"/>
              <a:t>Naive Bayes</a:t>
            </a:r>
            <a:endParaRPr sz="32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FD808EA-1D01-5C7A-50D1-53C0DF9BBCF4}"/>
              </a:ext>
            </a:extLst>
          </p:cNvPr>
          <p:cNvSpPr txBox="1"/>
          <p:nvPr/>
        </p:nvSpPr>
        <p:spPr>
          <a:xfrm>
            <a:off x="259151" y="1300886"/>
            <a:ext cx="43230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Example:</a:t>
            </a:r>
            <a:endParaRPr sz="2400" dirty="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78042-C787-155E-AE50-DB6E34F1BB73}"/>
                  </a:ext>
                </a:extLst>
              </p:cNvPr>
              <p:cNvSpPr txBox="1"/>
              <p:nvPr/>
            </p:nvSpPr>
            <p:spPr>
              <a:xfrm>
                <a:off x="609600" y="1828800"/>
                <a:ext cx="465065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Calculate for Spam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168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78042-C787-155E-AE50-DB6E34F1B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828800"/>
                <a:ext cx="4650658" cy="923330"/>
              </a:xfrm>
              <a:prstGeom prst="rect">
                <a:avLst/>
              </a:prstGeom>
              <a:blipFill>
                <a:blip r:embed="rId2"/>
                <a:stretch>
                  <a:fillRect l="-786" t="-331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1C400E-592A-0DF8-2C46-7DC463520843}"/>
                  </a:ext>
                </a:extLst>
              </p:cNvPr>
              <p:cNvSpPr txBox="1"/>
              <p:nvPr/>
            </p:nvSpPr>
            <p:spPr>
              <a:xfrm>
                <a:off x="762000" y="2967335"/>
                <a:ext cx="465065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Calculate for Ham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𝐻𝑎𝑚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018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1C400E-592A-0DF8-2C46-7DC4635208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967335"/>
                <a:ext cx="4650658" cy="923330"/>
              </a:xfrm>
              <a:prstGeom prst="rect">
                <a:avLst/>
              </a:prstGeom>
              <a:blipFill>
                <a:blip r:embed="rId3"/>
                <a:stretch>
                  <a:fillRect l="-786" t="-3974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48855C8-86F2-F38B-E841-6C59C7F2F486}"/>
              </a:ext>
            </a:extLst>
          </p:cNvPr>
          <p:cNvSpPr txBox="1"/>
          <p:nvPr/>
        </p:nvSpPr>
        <p:spPr>
          <a:xfrm>
            <a:off x="766916" y="4204081"/>
            <a:ext cx="46506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b="1" dirty="0"/>
              <a:t>Compare</a:t>
            </a:r>
          </a:p>
          <a:p>
            <a:r>
              <a:rPr lang="da-DK" dirty="0"/>
              <a:t>	Spam = </a:t>
            </a:r>
            <a:r>
              <a:rPr lang="da-DK" b="1" dirty="0"/>
              <a:t>0.168</a:t>
            </a:r>
            <a:r>
              <a:rPr lang="da-DK" dirty="0"/>
              <a:t> </a:t>
            </a:r>
          </a:p>
          <a:p>
            <a:r>
              <a:rPr lang="da-DK" dirty="0"/>
              <a:t>	Ham = </a:t>
            </a:r>
            <a:r>
              <a:rPr lang="da-DK" b="1" dirty="0"/>
              <a:t>0.018</a:t>
            </a:r>
            <a:endParaRPr lang="da-DK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F827C1-DFE9-94D0-8E7A-26BF407D30CB}"/>
              </a:ext>
            </a:extLst>
          </p:cNvPr>
          <p:cNvSpPr txBox="1"/>
          <p:nvPr/>
        </p:nvSpPr>
        <p:spPr>
          <a:xfrm>
            <a:off x="752168" y="5619615"/>
            <a:ext cx="4650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Email is classified as </a:t>
            </a:r>
            <a:r>
              <a:rPr lang="en-US" b="1" dirty="0"/>
              <a:t>Spam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471515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9138" rIns="0" bIns="0" rtlCol="0">
            <a:spAutoFit/>
          </a:bodyPr>
          <a:lstStyle/>
          <a:p>
            <a:pPr marL="589915">
              <a:lnSpc>
                <a:spcPct val="100000"/>
              </a:lnSpc>
              <a:spcBef>
                <a:spcPts val="100"/>
              </a:spcBef>
            </a:pPr>
            <a:r>
              <a:rPr dirty="0"/>
              <a:t>Comparing</a:t>
            </a:r>
            <a:r>
              <a:rPr spc="-50" dirty="0"/>
              <a:t> </a:t>
            </a:r>
            <a:r>
              <a:rPr dirty="0"/>
              <a:t>Naive</a:t>
            </a:r>
            <a:r>
              <a:rPr spc="-55" dirty="0"/>
              <a:t> </a:t>
            </a:r>
            <a:r>
              <a:rPr dirty="0"/>
              <a:t>Bayes</a:t>
            </a:r>
            <a:r>
              <a:rPr spc="-5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spc="-30" dirty="0"/>
              <a:t>k-</a:t>
            </a:r>
            <a:r>
              <a:rPr spc="-25" dirty="0"/>
              <a:t>NN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0766" y="1354645"/>
            <a:ext cx="8462645" cy="3317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8295" indent="-315595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58333"/>
              <a:buFont typeface="Lucida Sans Unicode"/>
              <a:buChar char="▪"/>
              <a:tabLst>
                <a:tab pos="328295" algn="l"/>
              </a:tabLst>
            </a:pPr>
            <a:r>
              <a:rPr sz="2400" dirty="0">
                <a:latin typeface="Arial MT"/>
                <a:cs typeface="Arial MT"/>
              </a:rPr>
              <a:t>Naive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Bayes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linear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classifier,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while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5" dirty="0">
                <a:latin typeface="Arial MT"/>
                <a:cs typeface="Arial MT"/>
              </a:rPr>
              <a:t>k-</a:t>
            </a:r>
            <a:r>
              <a:rPr sz="2400" dirty="0">
                <a:latin typeface="Arial MT"/>
                <a:cs typeface="Arial MT"/>
              </a:rPr>
              <a:t>NN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not.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3333CC"/>
              </a:buClr>
              <a:buFont typeface="Lucida Sans Unicode"/>
              <a:buChar char="▪"/>
            </a:pPr>
            <a:endParaRPr sz="2400" dirty="0">
              <a:latin typeface="Arial MT"/>
              <a:cs typeface="Arial MT"/>
            </a:endParaRPr>
          </a:p>
          <a:p>
            <a:pPr marL="328295" marR="5080" indent="-316230">
              <a:lnSpc>
                <a:spcPct val="100000"/>
              </a:lnSpc>
              <a:buClr>
                <a:srgbClr val="3333CC"/>
              </a:buClr>
              <a:buSzPct val="58333"/>
              <a:buFont typeface="Lucida Sans Unicode"/>
              <a:buChar char="▪"/>
              <a:tabLst>
                <a:tab pos="32829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curse</a:t>
            </a:r>
            <a:r>
              <a:rPr sz="2400" spc="2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dimensionality</a:t>
            </a:r>
            <a:r>
              <a:rPr sz="2400" spc="2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large</a:t>
            </a:r>
            <a:r>
              <a:rPr sz="2400" spc="2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feature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sets</a:t>
            </a:r>
            <a:r>
              <a:rPr sz="2400" spc="2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dirty="0">
                <a:latin typeface="Arial MT"/>
                <a:cs typeface="Arial MT"/>
              </a:rPr>
              <a:t>problems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5" dirty="0">
                <a:latin typeface="Arial MT"/>
                <a:cs typeface="Arial MT"/>
              </a:rPr>
              <a:t>k-</a:t>
            </a:r>
            <a:r>
              <a:rPr sz="2400" dirty="0">
                <a:latin typeface="Arial MT"/>
                <a:cs typeface="Arial MT"/>
              </a:rPr>
              <a:t>NN,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while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Naive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Bayes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performs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well.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3333CC"/>
              </a:buClr>
              <a:buFont typeface="Lucida Sans Unicode"/>
              <a:buChar char="▪"/>
            </a:pPr>
            <a:endParaRPr sz="2400" dirty="0">
              <a:latin typeface="Arial MT"/>
              <a:cs typeface="Arial MT"/>
            </a:endParaRPr>
          </a:p>
          <a:p>
            <a:pPr marL="328295" marR="6985" indent="-316230">
              <a:lnSpc>
                <a:spcPct val="100000"/>
              </a:lnSpc>
              <a:buClr>
                <a:srgbClr val="3333CC"/>
              </a:buClr>
              <a:buSzPct val="58333"/>
              <a:buFont typeface="Lucida Sans Unicode"/>
              <a:buChar char="▪"/>
              <a:tabLst>
                <a:tab pos="328295" algn="l"/>
              </a:tabLst>
            </a:pPr>
            <a:r>
              <a:rPr sz="2400" spc="-15" dirty="0">
                <a:latin typeface="Arial MT"/>
                <a:cs typeface="Arial MT"/>
              </a:rPr>
              <a:t>k-</a:t>
            </a:r>
            <a:r>
              <a:rPr sz="2400" dirty="0">
                <a:latin typeface="Arial MT"/>
                <a:cs typeface="Arial MT"/>
              </a:rPr>
              <a:t>NN</a:t>
            </a:r>
            <a:r>
              <a:rPr sz="2400" spc="3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requires</a:t>
            </a:r>
            <a:r>
              <a:rPr sz="2400" spc="3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</a:t>
            </a:r>
            <a:r>
              <a:rPr sz="2400" spc="3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training</a:t>
            </a:r>
            <a:r>
              <a:rPr sz="2400" spc="3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(just</a:t>
            </a:r>
            <a:r>
              <a:rPr sz="2400" spc="3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load</a:t>
            </a:r>
            <a:r>
              <a:rPr sz="2400" spc="3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3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dataset),</a:t>
            </a:r>
            <a:r>
              <a:rPr sz="2400" spc="3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whereas </a:t>
            </a:r>
            <a:r>
              <a:rPr sz="2400" dirty="0">
                <a:latin typeface="Arial MT"/>
                <a:cs typeface="Arial MT"/>
              </a:rPr>
              <a:t>Naive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Bayes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does.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3333CC"/>
              </a:buClr>
              <a:buFont typeface="Lucida Sans Unicode"/>
              <a:buChar char="▪"/>
            </a:pPr>
            <a:endParaRPr sz="2400" dirty="0">
              <a:latin typeface="Arial MT"/>
              <a:cs typeface="Arial MT"/>
            </a:endParaRPr>
          </a:p>
          <a:p>
            <a:pPr marL="328295" indent="-315595">
              <a:lnSpc>
                <a:spcPct val="100000"/>
              </a:lnSpc>
              <a:buClr>
                <a:srgbClr val="3333CC"/>
              </a:buClr>
              <a:buSzPct val="58333"/>
              <a:buFont typeface="Lucida Sans Unicode"/>
              <a:buChar char="▪"/>
              <a:tabLst>
                <a:tab pos="328295" algn="l"/>
              </a:tabLst>
            </a:pPr>
            <a:r>
              <a:rPr sz="2400" dirty="0">
                <a:latin typeface="Arial MT"/>
                <a:cs typeface="Arial MT"/>
              </a:rPr>
              <a:t>Both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examples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supervised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learning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51562" y="6586728"/>
            <a:ext cx="2197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ahoma"/>
                <a:cs typeface="Tahoma"/>
              </a:rPr>
              <a:t>22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492103" y="2889504"/>
            <a:ext cx="246443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latin typeface="Arial MT"/>
                <a:cs typeface="Arial MT"/>
              </a:rPr>
              <a:t>Any</a:t>
            </a:r>
            <a:r>
              <a:rPr sz="3200" b="0" spc="-5" dirty="0">
                <a:latin typeface="Arial MT"/>
                <a:cs typeface="Arial MT"/>
              </a:rPr>
              <a:t> </a:t>
            </a:r>
            <a:r>
              <a:rPr sz="3200" b="0" spc="-10" dirty="0">
                <a:latin typeface="Arial MT"/>
                <a:cs typeface="Arial MT"/>
              </a:rPr>
              <a:t>Question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434</TotalTime>
  <Words>1308</Words>
  <Application>Microsoft Office PowerPoint</Application>
  <PresentationFormat>On-screen Show (4:3)</PresentationFormat>
  <Paragraphs>190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Arial MT</vt:lpstr>
      <vt:lpstr>Cambria Math</vt:lpstr>
      <vt:lpstr>Lucida Sans Unicode</vt:lpstr>
      <vt:lpstr>Tahoma</vt:lpstr>
      <vt:lpstr>Office Theme</vt:lpstr>
      <vt:lpstr>Fundamentals of Data Mining</vt:lpstr>
      <vt:lpstr>Outline</vt:lpstr>
      <vt:lpstr>Bayes Law</vt:lpstr>
      <vt:lpstr>Bayes Law</vt:lpstr>
      <vt:lpstr>Bayes Law</vt:lpstr>
      <vt:lpstr>Bayes Law</vt:lpstr>
      <vt:lpstr>Bayes Law</vt:lpstr>
      <vt:lpstr>A Spam Filter for Individual Words</vt:lpstr>
      <vt:lpstr>A Spam Filter for Individual Words</vt:lpstr>
      <vt:lpstr>A Spam Filter for Individual Words</vt:lpstr>
      <vt:lpstr>A Spam Filter for Individual Words</vt:lpstr>
      <vt:lpstr>A Spam Filter for Individual Words</vt:lpstr>
      <vt:lpstr>A Spam Filter for Individual Words</vt:lpstr>
      <vt:lpstr>A Spam Filter for Individual Words</vt:lpstr>
      <vt:lpstr>A Spam Filter for Individual Words</vt:lpstr>
      <vt:lpstr>Naïve Bayes</vt:lpstr>
      <vt:lpstr>A Spam Filter That Combines Words:  Naive Bayes</vt:lpstr>
      <vt:lpstr>A Spam Filter That Combines Words:  Naive Bayes</vt:lpstr>
      <vt:lpstr>A Spam Filter That Combines Words: Naive Bayes</vt:lpstr>
      <vt:lpstr>A Spam Filter That Combines Words: Naive Bayes</vt:lpstr>
      <vt:lpstr>A Spam Filter That Combines Words: Naive Bayes</vt:lpstr>
      <vt:lpstr>Comparing Naive Bayes and k-NN</vt:lpstr>
      <vt:lpstr>Any Question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Week08-09.ppt</dc:title>
  <cp:lastModifiedBy>DAIYAN HASHIM</cp:lastModifiedBy>
  <cp:revision>27</cp:revision>
  <dcterms:created xsi:type="dcterms:W3CDTF">2026-04-14T09:25:00Z</dcterms:created>
  <dcterms:modified xsi:type="dcterms:W3CDTF">2026-05-08T13:47:34Z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2026-04-14T00:00:00Z</vt:filetime>
  </property>
  <property fmtid="{D5CDD505-2E9C-101B-9397-08002B2CF9AE}" pid="3" name="Creator">
    <vt:lpwstr>Google</vt:lpwstr>
  </property>
  <property fmtid="{D5CDD505-2E9C-101B-9397-08002B2CF9AE}" pid="4" name="LastSaved">
    <vt:filetime>2026-04-14T00:00:00Z</vt:filetime>
  </property>
</Properties>
</file>