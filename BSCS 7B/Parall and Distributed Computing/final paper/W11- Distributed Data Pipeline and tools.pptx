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395" r:id="rId2"/>
    <p:sldId id="396" r:id="rId3"/>
    <p:sldId id="309" r:id="rId4"/>
    <p:sldId id="341" r:id="rId5"/>
    <p:sldId id="339" r:id="rId6"/>
    <p:sldId id="315" r:id="rId7"/>
    <p:sldId id="316" r:id="rId8"/>
    <p:sldId id="325" r:id="rId9"/>
    <p:sldId id="338" r:id="rId10"/>
    <p:sldId id="404" r:id="rId11"/>
    <p:sldId id="336" r:id="rId12"/>
    <p:sldId id="261" r:id="rId13"/>
    <p:sldId id="346" r:id="rId14"/>
    <p:sldId id="347" r:id="rId15"/>
    <p:sldId id="348" r:id="rId16"/>
    <p:sldId id="349" r:id="rId17"/>
    <p:sldId id="351" r:id="rId18"/>
    <p:sldId id="352" r:id="rId19"/>
    <p:sldId id="353" r:id="rId20"/>
    <p:sldId id="377" r:id="rId21"/>
    <p:sldId id="364" r:id="rId22"/>
    <p:sldId id="365" r:id="rId23"/>
    <p:sldId id="368" r:id="rId24"/>
    <p:sldId id="369" r:id="rId25"/>
    <p:sldId id="370" r:id="rId26"/>
    <p:sldId id="371" r:id="rId27"/>
    <p:sldId id="434" r:id="rId28"/>
    <p:sldId id="435" r:id="rId29"/>
    <p:sldId id="372" r:id="rId30"/>
    <p:sldId id="373" r:id="rId31"/>
    <p:sldId id="374" r:id="rId32"/>
    <p:sldId id="376" r:id="rId33"/>
    <p:sldId id="405" r:id="rId34"/>
    <p:sldId id="406" r:id="rId35"/>
    <p:sldId id="407" r:id="rId36"/>
    <p:sldId id="408" r:id="rId37"/>
    <p:sldId id="409" r:id="rId38"/>
    <p:sldId id="410" r:id="rId39"/>
    <p:sldId id="411" r:id="rId40"/>
    <p:sldId id="412" r:id="rId41"/>
    <p:sldId id="413" r:id="rId42"/>
    <p:sldId id="414" r:id="rId43"/>
    <p:sldId id="415" r:id="rId44"/>
    <p:sldId id="416" r:id="rId45"/>
    <p:sldId id="417" r:id="rId46"/>
    <p:sldId id="418" r:id="rId47"/>
    <p:sldId id="419" r:id="rId48"/>
    <p:sldId id="420" r:id="rId49"/>
    <p:sldId id="421" r:id="rId50"/>
    <p:sldId id="422" r:id="rId51"/>
    <p:sldId id="423" r:id="rId52"/>
    <p:sldId id="424" r:id="rId53"/>
    <p:sldId id="425" r:id="rId54"/>
    <p:sldId id="426" r:id="rId55"/>
    <p:sldId id="427" r:id="rId56"/>
    <p:sldId id="428" r:id="rId57"/>
    <p:sldId id="429" r:id="rId58"/>
    <p:sldId id="430" r:id="rId59"/>
    <p:sldId id="431" r:id="rId60"/>
    <p:sldId id="432" r:id="rId61"/>
    <p:sldId id="433"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647" autoAdjust="0"/>
    <p:restoredTop sz="94660"/>
  </p:normalViewPr>
  <p:slideViewPr>
    <p:cSldViewPr snapToGrid="0">
      <p:cViewPr varScale="1">
        <p:scale>
          <a:sx n="74" d="100"/>
          <a:sy n="74" d="100"/>
        </p:scale>
        <p:origin x="66" y="6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CC9247-DD91-4FBF-8220-BF10322B8FB6}" type="datetimeFigureOut">
              <a:rPr lang="en-US" smtClean="0"/>
              <a:t>5/11/2026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DDC130-E524-4007-A0AD-72BF932EEC03}" type="slidenum">
              <a:rPr lang="en-US" smtClean="0"/>
              <a:t>‹#›</a:t>
            </a:fld>
            <a:endParaRPr lang="en-US"/>
          </a:p>
        </p:txBody>
      </p:sp>
    </p:spTree>
    <p:extLst>
      <p:ext uri="{BB962C8B-B14F-4D97-AF65-F5344CB8AC3E}">
        <p14:creationId xmlns:p14="http://schemas.microsoft.com/office/powerpoint/2010/main" val="3665699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en.wikipedia.org/wiki/Machine_learning" TargetMode="External"/><Relationship Id="rId2" Type="http://schemas.openxmlformats.org/officeDocument/2006/relationships/slide" Target="../slides/slide14.xml"/><Relationship Id="rId1" Type="http://schemas.openxmlformats.org/officeDocument/2006/relationships/notesMaster" Target="../notesMasters/notesMaster1.xml"/><Relationship Id="rId6" Type="http://schemas.openxmlformats.org/officeDocument/2006/relationships/hyperlink" Target="http://en.wikipedia.org/wiki/Task_parallelism" TargetMode="External"/><Relationship Id="rId5" Type="http://schemas.openxmlformats.org/officeDocument/2006/relationships/hyperlink" Target="http://en.wikipedia.org/wiki/Data_parallelism" TargetMode="External"/><Relationship Id="rId4" Type="http://schemas.openxmlformats.org/officeDocument/2006/relationships/hyperlink" Target="https://en.wikipedia.org/wiki/Algorithm"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xenonstack.com/insights/big-data-security/"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hdr" sz="quarter"/>
          </p:nvPr>
        </p:nvSpPr>
        <p:spPr>
          <a:noFill/>
          <a:ln>
            <a:miter lim="800000"/>
            <a:headEnd/>
            <a:tailEnd/>
          </a:ln>
        </p:spPr>
        <p:txBody>
          <a:bodyPr/>
          <a:lstStyle/>
          <a:p>
            <a:r>
              <a:rPr lang="ko-KR" altLang="en-US"/>
              <a:t>Data Aggregation</a:t>
            </a:r>
            <a:endParaRPr lang="en-US" altLang="ko-KR"/>
          </a:p>
        </p:txBody>
      </p:sp>
      <p:sp>
        <p:nvSpPr>
          <p:cNvPr id="104451" name="Rectangle 3"/>
          <p:cNvSpPr>
            <a:spLocks noGrp="1" noChangeArrowheads="1"/>
          </p:cNvSpPr>
          <p:nvPr>
            <p:ph type="dt" sz="quarter" idx="1"/>
          </p:nvPr>
        </p:nvSpPr>
        <p:spPr>
          <a:noFill/>
          <a:ln>
            <a:miter lim="800000"/>
            <a:headEnd/>
            <a:tailEnd/>
          </a:ln>
        </p:spPr>
        <p:txBody>
          <a:bodyPr/>
          <a:lstStyle/>
          <a:p>
            <a:fld id="{3E6437D6-84B3-44EA-863F-00BB4F15E66F}" type="datetime8">
              <a:rPr lang="ko-KR" altLang="en-US"/>
              <a:pPr/>
              <a:t>26년 5월 11일 18시 35분 44초</a:t>
            </a:fld>
            <a:endParaRPr lang="en-US" altLang="ko-KR"/>
          </a:p>
        </p:txBody>
      </p:sp>
      <p:sp>
        <p:nvSpPr>
          <p:cNvPr id="104452" name="Rectangle 7"/>
          <p:cNvSpPr>
            <a:spLocks noGrp="1" noChangeArrowheads="1"/>
          </p:cNvSpPr>
          <p:nvPr>
            <p:ph type="sldNum" sz="quarter" idx="5"/>
          </p:nvPr>
        </p:nvSpPr>
        <p:spPr>
          <a:noFill/>
          <a:ln>
            <a:miter lim="800000"/>
            <a:headEnd/>
            <a:tailEnd/>
          </a:ln>
        </p:spPr>
        <p:txBody>
          <a:bodyPr/>
          <a:lstStyle/>
          <a:p>
            <a:fld id="{F72929CC-FAE3-42CD-83DA-4427CC40AD0A}" type="slidenum">
              <a:rPr lang="ko-KR" altLang="en-US"/>
              <a:pPr/>
              <a:t>7</a:t>
            </a:fld>
            <a:endParaRPr lang="en-US" altLang="ko-KR"/>
          </a:p>
        </p:txBody>
      </p:sp>
      <p:sp>
        <p:nvSpPr>
          <p:cNvPr id="104453" name="Rectangle 2"/>
          <p:cNvSpPr>
            <a:spLocks noGrp="1" noRot="1" noChangeAspect="1" noChangeArrowheads="1" noTextEdit="1"/>
          </p:cNvSpPr>
          <p:nvPr>
            <p:ph type="sldImg"/>
          </p:nvPr>
        </p:nvSpPr>
        <p:spPr>
          <a:xfrm>
            <a:off x="381000" y="685800"/>
            <a:ext cx="6096000" cy="3429000"/>
          </a:xfrm>
          <a:ln/>
        </p:spPr>
      </p:sp>
      <p:sp>
        <p:nvSpPr>
          <p:cNvPr id="104454" name="Rectangle 3"/>
          <p:cNvSpPr>
            <a:spLocks noGrp="1" noChangeArrowheads="1"/>
          </p:cNvSpPr>
          <p:nvPr>
            <p:ph type="body" idx="1"/>
          </p:nvPr>
        </p:nvSpPr>
        <p:spPr>
          <a:xfrm>
            <a:off x="913904" y="4343401"/>
            <a:ext cx="5030194" cy="4114800"/>
          </a:xfrm>
          <a:noFill/>
        </p:spPr>
        <p:txBody>
          <a:bodyPr/>
          <a:lstStyle/>
          <a:p>
            <a:pPr eaLnBrk="1" hangingPunct="1"/>
            <a:r>
              <a:rPr lang="en-US" altLang="ko-KR">
                <a:ea typeface="굴림" pitchFamily="34" charset="-127"/>
              </a:rPr>
              <a:t>Point out how sensor networks relate to the are of distributed event-based systems, and make the case that the cost model here is primarily based on conserving energy. The process of publishing data has to be made as energy-efficient as possible and data-centric routing provides a mechanism for doing this. The basic idea is to permit intermediate nodes in the network to look at application-level information and perform aggregation on multiple input packets. We focus on simple aggregation schemes like duplicate suppression/min/max in this paper. </a:t>
            </a:r>
          </a:p>
          <a:p>
            <a:pPr eaLnBrk="1" hangingPunct="1"/>
            <a:endParaRPr lang="en-US" altLang="ko-KR">
              <a:ea typeface="굴림" pitchFamily="34" charset="-127"/>
            </a:endParaRPr>
          </a:p>
        </p:txBody>
      </p:sp>
    </p:spTree>
    <p:extLst>
      <p:ext uri="{BB962C8B-B14F-4D97-AF65-F5344CB8AC3E}">
        <p14:creationId xmlns:p14="http://schemas.microsoft.com/office/powerpoint/2010/main" val="3711027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a:solidFill>
                  <a:schemeClr val="tx1"/>
                </a:solidFill>
                <a:latin typeface="+mn-lt"/>
                <a:ea typeface="+mn-ea"/>
                <a:cs typeface="+mn-cs"/>
              </a:rPr>
              <a:t>-Spark is well-suited to </a:t>
            </a:r>
            <a:r>
              <a:rPr lang="en-US" sz="1200" b="0" i="0" u="none" strike="noStrike" kern="1200" dirty="0">
                <a:solidFill>
                  <a:schemeClr val="tx1"/>
                </a:solidFill>
                <a:latin typeface="+mn-lt"/>
                <a:ea typeface="+mn-ea"/>
                <a:cs typeface="+mn-cs"/>
                <a:hlinkClick r:id="rId3" tooltip="Machine learning"/>
              </a:rPr>
              <a:t>machine learning</a:t>
            </a:r>
            <a:r>
              <a:rPr lang="en-US" sz="1200" b="0" i="0" kern="1200" dirty="0">
                <a:solidFill>
                  <a:schemeClr val="tx1"/>
                </a:solidFill>
                <a:latin typeface="+mn-lt"/>
                <a:ea typeface="+mn-ea"/>
                <a:cs typeface="+mn-cs"/>
              </a:rPr>
              <a:t> </a:t>
            </a:r>
            <a:r>
              <a:rPr lang="en-US" sz="1200" b="0" i="0" u="none" strike="noStrike" kern="1200" dirty="0">
                <a:solidFill>
                  <a:schemeClr val="tx1"/>
                </a:solidFill>
                <a:latin typeface="+mn-lt"/>
                <a:ea typeface="+mn-ea"/>
                <a:cs typeface="+mn-cs"/>
                <a:hlinkClick r:id="rId4" tooltip="Algorithm"/>
              </a:rPr>
              <a:t>algorithms</a:t>
            </a:r>
            <a:r>
              <a:rPr lang="en-US" sz="1200" b="0" i="0" u="none" strike="noStrike" kern="1200" baseline="0" dirty="0">
                <a:solidFill>
                  <a:schemeClr val="tx1"/>
                </a:solidFill>
                <a:latin typeface="+mn-lt"/>
                <a:ea typeface="+mn-ea"/>
                <a:cs typeface="+mn-cs"/>
              </a:rPr>
              <a:t> has </a:t>
            </a:r>
            <a:r>
              <a:rPr lang="en-US" sz="1200" b="0" i="0" kern="1200" dirty="0">
                <a:solidFill>
                  <a:schemeClr val="tx1"/>
                </a:solidFill>
                <a:latin typeface="+mn-lt"/>
                <a:ea typeface="+mn-ea"/>
                <a:cs typeface="+mn-cs"/>
              </a:rPr>
              <a:t>multi-stage in-memory primitives.</a:t>
            </a:r>
          </a:p>
          <a:p>
            <a:r>
              <a:rPr lang="en-US" sz="1200" b="0" i="0" kern="1200" dirty="0">
                <a:solidFill>
                  <a:schemeClr val="tx1"/>
                </a:solidFill>
                <a:latin typeface="+mn-lt"/>
                <a:ea typeface="+mn-ea"/>
                <a:cs typeface="+mn-cs"/>
              </a:rPr>
              <a:t>-One key difference between these two technologies is that Spark performs </a:t>
            </a:r>
            <a:r>
              <a:rPr lang="en-US" sz="1200" b="0" i="0" u="none" strike="noStrike" kern="1200" dirty="0">
                <a:solidFill>
                  <a:schemeClr val="tx1"/>
                </a:solidFill>
                <a:latin typeface="+mn-lt"/>
                <a:ea typeface="+mn-ea"/>
                <a:cs typeface="+mn-cs"/>
                <a:hlinkClick r:id="rId5"/>
              </a:rPr>
              <a:t>Data-Parallel computations</a:t>
            </a:r>
            <a:r>
              <a:rPr lang="en-US" sz="1200" b="0" i="0" kern="1200" dirty="0">
                <a:solidFill>
                  <a:schemeClr val="tx1"/>
                </a:solidFill>
                <a:latin typeface="+mn-lt"/>
                <a:ea typeface="+mn-ea"/>
                <a:cs typeface="+mn-cs"/>
              </a:rPr>
              <a:t> while Storm performs </a:t>
            </a:r>
            <a:r>
              <a:rPr lang="en-US" sz="1200" b="0" i="0" u="none" strike="noStrike" kern="1200" dirty="0">
                <a:solidFill>
                  <a:schemeClr val="tx1"/>
                </a:solidFill>
                <a:latin typeface="+mn-lt"/>
                <a:ea typeface="+mn-ea"/>
                <a:cs typeface="+mn-cs"/>
                <a:hlinkClick r:id="rId6"/>
              </a:rPr>
              <a:t>Task-Parallel computations</a:t>
            </a:r>
            <a:r>
              <a:rPr lang="en-US" sz="1200" b="0" i="0" kern="1200" dirty="0">
                <a:solidFill>
                  <a:schemeClr val="tx1"/>
                </a:solidFill>
                <a:latin typeface="+mn-lt"/>
                <a:ea typeface="+mn-ea"/>
                <a:cs typeface="+mn-cs"/>
              </a:rPr>
              <a:t>. </a:t>
            </a:r>
          </a:p>
          <a:p>
            <a:r>
              <a:rPr lang="en-US" dirty="0"/>
              <a:t>-Parameter sweep applications execute the same piece of code multiple times with unique sets of input parameters. </a:t>
            </a:r>
          </a:p>
          <a:p>
            <a:r>
              <a:rPr lang="en-US" dirty="0"/>
              <a:t>-HPC tasks need large amounts of computing power for short periods of time, whereas High Throughput Computing tasks also require large amounts of computing, but for much longer times (months and years, rather than hours and days). </a:t>
            </a:r>
          </a:p>
        </p:txBody>
      </p:sp>
      <p:sp>
        <p:nvSpPr>
          <p:cNvPr id="4" name="Slide Number Placeholder 3"/>
          <p:cNvSpPr>
            <a:spLocks noGrp="1"/>
          </p:cNvSpPr>
          <p:nvPr>
            <p:ph type="sldNum" sz="quarter" idx="10"/>
          </p:nvPr>
        </p:nvSpPr>
        <p:spPr/>
        <p:txBody>
          <a:bodyPr/>
          <a:lstStyle/>
          <a:p>
            <a:fld id="{720106D0-70E7-4BA4-8CC3-C35A5F077E63}" type="slidenum">
              <a:rPr lang="en-US" smtClean="0"/>
              <a:pPr/>
              <a:t>14</a:t>
            </a:fld>
            <a:endParaRPr lang="en-US"/>
          </a:p>
        </p:txBody>
      </p:sp>
    </p:spTree>
    <p:extLst>
      <p:ext uri="{BB962C8B-B14F-4D97-AF65-F5344CB8AC3E}">
        <p14:creationId xmlns:p14="http://schemas.microsoft.com/office/powerpoint/2010/main" val="6849282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OLAP</a:t>
            </a:r>
            <a:r>
              <a:rPr lang="en-US" baseline="0" dirty="0"/>
              <a:t> </a:t>
            </a:r>
            <a:r>
              <a:rPr lang="en-US" dirty="0"/>
              <a:t>computer-based technique of analyzing data to look for insights</a:t>
            </a:r>
          </a:p>
          <a:p>
            <a:r>
              <a:rPr lang="en-US" dirty="0"/>
              <a:t>OLTP facilitates and manages transaction-oriented applications typically for data entry and retrieval transaction processing.</a:t>
            </a:r>
          </a:p>
        </p:txBody>
      </p:sp>
      <p:sp>
        <p:nvSpPr>
          <p:cNvPr id="4" name="Slide Number Placeholder 3"/>
          <p:cNvSpPr>
            <a:spLocks noGrp="1"/>
          </p:cNvSpPr>
          <p:nvPr>
            <p:ph type="sldNum" sz="quarter" idx="10"/>
          </p:nvPr>
        </p:nvSpPr>
        <p:spPr/>
        <p:txBody>
          <a:bodyPr/>
          <a:lstStyle/>
          <a:p>
            <a:fld id="{720106D0-70E7-4BA4-8CC3-C35A5F077E63}" type="slidenum">
              <a:rPr lang="en-US" smtClean="0"/>
              <a:pPr/>
              <a:t>16</a:t>
            </a:fld>
            <a:endParaRPr lang="en-US"/>
          </a:p>
        </p:txBody>
      </p:sp>
    </p:spTree>
    <p:extLst>
      <p:ext uri="{BB962C8B-B14F-4D97-AF65-F5344CB8AC3E}">
        <p14:creationId xmlns:p14="http://schemas.microsoft.com/office/powerpoint/2010/main" val="34365666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Soft real-time:</a:t>
            </a:r>
            <a:r>
              <a:rPr lang="en-US" b="1" baseline="0" dirty="0"/>
              <a:t> </a:t>
            </a:r>
            <a:r>
              <a:rPr lang="en-US" dirty="0"/>
              <a:t>Failure to meet a deadline is considered neither application nor system failure </a:t>
            </a:r>
          </a:p>
          <a:p>
            <a:r>
              <a:rPr lang="en-US" dirty="0"/>
              <a:t>OLAP is an approach to answering multi-dimensional analytical (MDA) queries swiftly</a:t>
            </a:r>
          </a:p>
          <a:p>
            <a:endParaRPr lang="en-US" dirty="0"/>
          </a:p>
          <a:p>
            <a:pPr marL="0" marR="0" lvl="1" indent="0" algn="l"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Real time processing </a:t>
            </a:r>
            <a:r>
              <a:rPr lang="en-US" sz="1400" dirty="0">
                <a:solidFill>
                  <a:schemeClr val="tx1"/>
                </a:solidFill>
              </a:rPr>
              <a:t>is a subset of </a:t>
            </a:r>
            <a:r>
              <a:rPr lang="en-US" sz="1400" b="1" dirty="0">
                <a:solidFill>
                  <a:schemeClr val="tx1"/>
                </a:solidFill>
              </a:rPr>
              <a:t>interactive or online processing</a:t>
            </a:r>
            <a:r>
              <a:rPr lang="en-US" sz="1400" dirty="0">
                <a:solidFill>
                  <a:schemeClr val="tx1"/>
                </a:solidFill>
              </a:rPr>
              <a:t>. </a:t>
            </a:r>
            <a:r>
              <a:rPr lang="en-US" sz="1400" b="1" dirty="0">
                <a:solidFill>
                  <a:schemeClr val="tx1"/>
                </a:solidFill>
              </a:rPr>
              <a:t>Online</a:t>
            </a:r>
            <a:r>
              <a:rPr lang="en-US" sz="1400" dirty="0">
                <a:solidFill>
                  <a:schemeClr val="tx1"/>
                </a:solidFill>
              </a:rPr>
              <a:t> means that there is </a:t>
            </a:r>
            <a:r>
              <a:rPr lang="en-US" sz="1400" b="1" dirty="0">
                <a:solidFill>
                  <a:schemeClr val="tx1"/>
                </a:solidFill>
              </a:rPr>
              <a:t>some kind of interactivity involved</a:t>
            </a:r>
            <a:r>
              <a:rPr lang="en-US" sz="1400" dirty="0">
                <a:solidFill>
                  <a:schemeClr val="tx1"/>
                </a:solidFill>
              </a:rPr>
              <a:t>, but </a:t>
            </a:r>
            <a:r>
              <a:rPr lang="en-US" sz="1400" b="1" dirty="0">
                <a:solidFill>
                  <a:schemeClr val="tx1"/>
                </a:solidFill>
              </a:rPr>
              <a:t>doesn't</a:t>
            </a:r>
            <a:r>
              <a:rPr lang="en-US" sz="1400" dirty="0">
                <a:solidFill>
                  <a:schemeClr val="tx1"/>
                </a:solidFill>
              </a:rPr>
              <a:t> enforce </a:t>
            </a:r>
            <a:r>
              <a:rPr lang="en-US" sz="1400" b="1" dirty="0">
                <a:solidFill>
                  <a:schemeClr val="tx1"/>
                </a:solidFill>
              </a:rPr>
              <a:t>limits in latency</a:t>
            </a:r>
            <a:r>
              <a:rPr lang="en-US" sz="1400" dirty="0">
                <a:solidFill>
                  <a:schemeClr val="tx1"/>
                </a:solidFill>
              </a:rPr>
              <a:t>. </a:t>
            </a:r>
          </a:p>
          <a:p>
            <a:endParaRPr lang="en-US" dirty="0"/>
          </a:p>
        </p:txBody>
      </p:sp>
      <p:sp>
        <p:nvSpPr>
          <p:cNvPr id="4" name="Slide Number Placeholder 3"/>
          <p:cNvSpPr>
            <a:spLocks noGrp="1"/>
          </p:cNvSpPr>
          <p:nvPr>
            <p:ph type="sldNum" sz="quarter" idx="10"/>
          </p:nvPr>
        </p:nvSpPr>
        <p:spPr/>
        <p:txBody>
          <a:bodyPr/>
          <a:lstStyle/>
          <a:p>
            <a:fld id="{720106D0-70E7-4BA4-8CC3-C35A5F077E63}" type="slidenum">
              <a:rPr lang="en-US" smtClean="0"/>
              <a:pPr/>
              <a:t>17</a:t>
            </a:fld>
            <a:endParaRPr lang="en-US"/>
          </a:p>
        </p:txBody>
      </p:sp>
    </p:spTree>
    <p:extLst>
      <p:ext uri="{BB962C8B-B14F-4D97-AF65-F5344CB8AC3E}">
        <p14:creationId xmlns:p14="http://schemas.microsoft.com/office/powerpoint/2010/main" val="21090191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a:t>A program consists of several parallelizable parts and several non-parallelizable (sequential) parts.</a:t>
            </a:r>
            <a:endParaRPr lang="en-US" dirty="0"/>
          </a:p>
        </p:txBody>
      </p:sp>
      <p:sp>
        <p:nvSpPr>
          <p:cNvPr id="4" name="Slide Number Placeholder 3"/>
          <p:cNvSpPr>
            <a:spLocks noGrp="1"/>
          </p:cNvSpPr>
          <p:nvPr>
            <p:ph type="sldNum" sz="quarter" idx="10"/>
          </p:nvPr>
        </p:nvSpPr>
        <p:spPr/>
        <p:txBody>
          <a:bodyPr/>
          <a:lstStyle/>
          <a:p>
            <a:fld id="{720106D0-70E7-4BA4-8CC3-C35A5F077E63}" type="slidenum">
              <a:rPr lang="en-US" smtClean="0"/>
              <a:pPr/>
              <a:t>19</a:t>
            </a:fld>
            <a:endParaRPr lang="en-US"/>
          </a:p>
        </p:txBody>
      </p:sp>
    </p:spTree>
    <p:extLst>
      <p:ext uri="{BB962C8B-B14F-4D97-AF65-F5344CB8AC3E}">
        <p14:creationId xmlns:p14="http://schemas.microsoft.com/office/powerpoint/2010/main" val="891493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It has a straightforward and flexible architecture based on streaming data flows. It is robust and faults tolerant with tunable reliability mechanisms and many failovers and recovery mechanisms.</a:t>
            </a:r>
            <a:br>
              <a:rPr lang="en-US" dirty="0"/>
            </a:br>
            <a:r>
              <a:rPr lang="en-US" dirty="0"/>
              <a:t>It uses a simple, extensible </a:t>
            </a:r>
            <a:r>
              <a:rPr lang="en-US" dirty="0">
                <a:hlinkClick r:id="rId3"/>
              </a:rPr>
              <a:t>big data security</a:t>
            </a:r>
            <a:r>
              <a:rPr lang="en-US" dirty="0"/>
              <a:t> model that allows for an online analytic application and Data ingestion process flow.</a:t>
            </a:r>
          </a:p>
          <a:p>
            <a:endParaRPr lang="en-US" dirty="0"/>
          </a:p>
        </p:txBody>
      </p:sp>
      <p:sp>
        <p:nvSpPr>
          <p:cNvPr id="4" name="Slide Number Placeholder 3"/>
          <p:cNvSpPr>
            <a:spLocks noGrp="1"/>
          </p:cNvSpPr>
          <p:nvPr>
            <p:ph type="sldNum" sz="quarter" idx="10"/>
          </p:nvPr>
        </p:nvSpPr>
        <p:spPr/>
        <p:txBody>
          <a:bodyPr/>
          <a:lstStyle/>
          <a:p>
            <a:fld id="{B2DDC130-E524-4007-A0AD-72BF932EEC03}" type="slidenum">
              <a:rPr lang="en-US" smtClean="0"/>
              <a:t>26</a:t>
            </a:fld>
            <a:endParaRPr lang="en-US"/>
          </a:p>
        </p:txBody>
      </p:sp>
    </p:spTree>
    <p:extLst>
      <p:ext uri="{BB962C8B-B14F-4D97-AF65-F5344CB8AC3E}">
        <p14:creationId xmlns:p14="http://schemas.microsoft.com/office/powerpoint/2010/main" val="34587881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http://hortonworks.com/hadoop/flume/</a:t>
            </a:r>
          </a:p>
          <a:p>
            <a:endParaRPr lang="en-US" dirty="0"/>
          </a:p>
        </p:txBody>
      </p:sp>
      <p:sp>
        <p:nvSpPr>
          <p:cNvPr id="4" name="Slide Number Placeholder 3"/>
          <p:cNvSpPr>
            <a:spLocks noGrp="1"/>
          </p:cNvSpPr>
          <p:nvPr>
            <p:ph type="sldNum" sz="quarter" idx="10"/>
          </p:nvPr>
        </p:nvSpPr>
        <p:spPr/>
        <p:txBody>
          <a:bodyPr/>
          <a:lstStyle/>
          <a:p>
            <a:fld id="{880F26B9-270A-40B0-91DC-043FBD5A4CE4}" type="slidenum">
              <a:rPr lang="en-US" smtClean="0"/>
              <a:pPr/>
              <a:t>27</a:t>
            </a:fld>
            <a:endParaRPr lang="en-US"/>
          </a:p>
        </p:txBody>
      </p:sp>
    </p:spTree>
    <p:extLst>
      <p:ext uri="{BB962C8B-B14F-4D97-AF65-F5344CB8AC3E}">
        <p14:creationId xmlns:p14="http://schemas.microsoft.com/office/powerpoint/2010/main" val="21674289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267BA29-9C6E-4E75-8C2F-7018D02A8EF2}"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70DEA6-9FD6-4895-B5A7-003D6C6D1EA2}" type="slidenum">
              <a:rPr lang="en-US" smtClean="0"/>
              <a:t>‹#›</a:t>
            </a:fld>
            <a:endParaRPr lang="en-US"/>
          </a:p>
        </p:txBody>
      </p:sp>
    </p:spTree>
    <p:extLst>
      <p:ext uri="{BB962C8B-B14F-4D97-AF65-F5344CB8AC3E}">
        <p14:creationId xmlns:p14="http://schemas.microsoft.com/office/powerpoint/2010/main" val="1338334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267BA29-9C6E-4E75-8C2F-7018D02A8EF2}"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70DEA6-9FD6-4895-B5A7-003D6C6D1EA2}" type="slidenum">
              <a:rPr lang="en-US" smtClean="0"/>
              <a:t>‹#›</a:t>
            </a:fld>
            <a:endParaRPr lang="en-US"/>
          </a:p>
        </p:txBody>
      </p:sp>
    </p:spTree>
    <p:extLst>
      <p:ext uri="{BB962C8B-B14F-4D97-AF65-F5344CB8AC3E}">
        <p14:creationId xmlns:p14="http://schemas.microsoft.com/office/powerpoint/2010/main" val="1033593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67BA29-9C6E-4E75-8C2F-7018D02A8EF2}"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70DEA6-9FD6-4895-B5A7-003D6C6D1EA2}" type="slidenum">
              <a:rPr lang="en-US" smtClean="0"/>
              <a:t>‹#›</a:t>
            </a:fld>
            <a:endParaRPr lang="en-US"/>
          </a:p>
        </p:txBody>
      </p:sp>
    </p:spTree>
    <p:extLst>
      <p:ext uri="{BB962C8B-B14F-4D97-AF65-F5344CB8AC3E}">
        <p14:creationId xmlns:p14="http://schemas.microsoft.com/office/powerpoint/2010/main" val="2550295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267BA29-9C6E-4E75-8C2F-7018D02A8EF2}"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70DEA6-9FD6-4895-B5A7-003D6C6D1EA2}" type="slidenum">
              <a:rPr lang="en-US" smtClean="0"/>
              <a:t>‹#›</a:t>
            </a:fld>
            <a:endParaRPr lang="en-US"/>
          </a:p>
        </p:txBody>
      </p:sp>
    </p:spTree>
    <p:extLst>
      <p:ext uri="{BB962C8B-B14F-4D97-AF65-F5344CB8AC3E}">
        <p14:creationId xmlns:p14="http://schemas.microsoft.com/office/powerpoint/2010/main" val="1304314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267BA29-9C6E-4E75-8C2F-7018D02A8EF2}" type="datetimeFigureOut">
              <a:rPr lang="en-US" smtClean="0"/>
              <a:t>5/11/2026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570DEA6-9FD6-4895-B5A7-003D6C6D1EA2}" type="slidenum">
              <a:rPr lang="en-US" smtClean="0"/>
              <a:t>‹#›</a:t>
            </a:fld>
            <a:endParaRPr lang="en-US"/>
          </a:p>
        </p:txBody>
      </p:sp>
    </p:spTree>
    <p:extLst>
      <p:ext uri="{BB962C8B-B14F-4D97-AF65-F5344CB8AC3E}">
        <p14:creationId xmlns:p14="http://schemas.microsoft.com/office/powerpoint/2010/main" val="101842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267BA29-9C6E-4E75-8C2F-7018D02A8EF2}" type="datetimeFigureOut">
              <a:rPr lang="en-US" smtClean="0"/>
              <a:t>5/11/2026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570DEA6-9FD6-4895-B5A7-003D6C6D1EA2}" type="slidenum">
              <a:rPr lang="en-US" smtClean="0"/>
              <a:t>‹#›</a:t>
            </a:fld>
            <a:endParaRPr lang="en-US"/>
          </a:p>
        </p:txBody>
      </p:sp>
    </p:spTree>
    <p:extLst>
      <p:ext uri="{BB962C8B-B14F-4D97-AF65-F5344CB8AC3E}">
        <p14:creationId xmlns:p14="http://schemas.microsoft.com/office/powerpoint/2010/main" val="3848520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67BA29-9C6E-4E75-8C2F-7018D02A8EF2}" type="datetimeFigureOut">
              <a:rPr lang="en-US" smtClean="0"/>
              <a:t>5/11/2026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70DEA6-9FD6-4895-B5A7-003D6C6D1EA2}" type="slidenum">
              <a:rPr lang="en-US" smtClean="0"/>
              <a:t>‹#›</a:t>
            </a:fld>
            <a:endParaRPr lang="en-US"/>
          </a:p>
        </p:txBody>
      </p:sp>
    </p:spTree>
    <p:extLst>
      <p:ext uri="{BB962C8B-B14F-4D97-AF65-F5344CB8AC3E}">
        <p14:creationId xmlns:p14="http://schemas.microsoft.com/office/powerpoint/2010/main" val="3179286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267BA29-9C6E-4E75-8C2F-7018D02A8EF2}"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70DEA6-9FD6-4895-B5A7-003D6C6D1EA2}" type="slidenum">
              <a:rPr lang="en-US" smtClean="0"/>
              <a:t>‹#›</a:t>
            </a:fld>
            <a:endParaRPr lang="en-US"/>
          </a:p>
        </p:txBody>
      </p:sp>
    </p:spTree>
    <p:extLst>
      <p:ext uri="{BB962C8B-B14F-4D97-AF65-F5344CB8AC3E}">
        <p14:creationId xmlns:p14="http://schemas.microsoft.com/office/powerpoint/2010/main" val="918945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267BA29-9C6E-4E75-8C2F-7018D02A8EF2}"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70DEA6-9FD6-4895-B5A7-003D6C6D1EA2}" type="slidenum">
              <a:rPr lang="en-US" smtClean="0"/>
              <a:t>‹#›</a:t>
            </a:fld>
            <a:endParaRPr lang="en-US"/>
          </a:p>
        </p:txBody>
      </p:sp>
    </p:spTree>
    <p:extLst>
      <p:ext uri="{BB962C8B-B14F-4D97-AF65-F5344CB8AC3E}">
        <p14:creationId xmlns:p14="http://schemas.microsoft.com/office/powerpoint/2010/main" val="3824458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267BA29-9C6E-4E75-8C2F-7018D02A8EF2}"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70DEA6-9FD6-4895-B5A7-003D6C6D1EA2}" type="slidenum">
              <a:rPr lang="en-US" smtClean="0"/>
              <a:t>‹#›</a:t>
            </a:fld>
            <a:endParaRPr lang="en-US"/>
          </a:p>
        </p:txBody>
      </p:sp>
    </p:spTree>
    <p:extLst>
      <p:ext uri="{BB962C8B-B14F-4D97-AF65-F5344CB8AC3E}">
        <p14:creationId xmlns:p14="http://schemas.microsoft.com/office/powerpoint/2010/main" val="834597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267BA29-9C6E-4E75-8C2F-7018D02A8EF2}"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70DEA6-9FD6-4895-B5A7-003D6C6D1EA2}" type="slidenum">
              <a:rPr lang="en-US" smtClean="0"/>
              <a:t>‹#›</a:t>
            </a:fld>
            <a:endParaRPr lang="en-US"/>
          </a:p>
        </p:txBody>
      </p:sp>
    </p:spTree>
    <p:extLst>
      <p:ext uri="{BB962C8B-B14F-4D97-AF65-F5344CB8AC3E}">
        <p14:creationId xmlns:p14="http://schemas.microsoft.com/office/powerpoint/2010/main" val="3350057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67BA29-9C6E-4E75-8C2F-7018D02A8EF2}" type="datetimeFigureOut">
              <a:rPr lang="en-US" smtClean="0"/>
              <a:t>5/11/2026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70DEA6-9FD6-4895-B5A7-003D6C6D1EA2}" type="slidenum">
              <a:rPr lang="en-US" smtClean="0"/>
              <a:t>‹#›</a:t>
            </a:fld>
            <a:endParaRPr lang="en-US"/>
          </a:p>
        </p:txBody>
      </p:sp>
    </p:spTree>
    <p:extLst>
      <p:ext uri="{BB962C8B-B14F-4D97-AF65-F5344CB8AC3E}">
        <p14:creationId xmlns:p14="http://schemas.microsoft.com/office/powerpoint/2010/main" val="501947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en.wikipedia.org/wiki/Big_data" TargetMode="External"/><Relationship Id="rId2" Type="http://schemas.openxmlformats.org/officeDocument/2006/relationships/hyperlink" Target="https://en.wikipedia.org/wiki/Programming_model" TargetMode="External"/><Relationship Id="rId1" Type="http://schemas.openxmlformats.org/officeDocument/2006/relationships/slideLayout" Target="../slideLayouts/slideLayout2.xml"/><Relationship Id="rId6" Type="http://schemas.openxmlformats.org/officeDocument/2006/relationships/hyperlink" Target="https://en.wikipedia.org/wiki/Cluster_(computing)" TargetMode="External"/><Relationship Id="rId5" Type="http://schemas.openxmlformats.org/officeDocument/2006/relationships/hyperlink" Target="https://en.wikipedia.org/wiki/Distributed_computing" TargetMode="External"/><Relationship Id="rId4" Type="http://schemas.openxmlformats.org/officeDocument/2006/relationships/hyperlink" Target="https://en.wikipedia.org/wiki/Parallel_computing"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www.8bitmen.com/is-my-data-safe-in-the-cloud-a-deep-dive-all-your-questions-answered/"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xenonstack.com/blog/data-serialization-hadoop/"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xenonstack.com/blog/amazon-athena-quicksight/"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flume.apache.org/"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nifi.apache.org/" TargetMode="External"/><Relationship Id="rId2" Type="http://schemas.openxmlformats.org/officeDocument/2006/relationships/hyperlink" Target="https://www.xenonstack.com/use-cases/data-ingestion-platform/download/" TargetMode="External"/><Relationship Id="rId1" Type="http://schemas.openxmlformats.org/officeDocument/2006/relationships/slideLayout" Target="../slideLayouts/slideLayout2.xml"/><Relationship Id="rId4" Type="http://schemas.openxmlformats.org/officeDocument/2006/relationships/hyperlink" Target="https://nifi.apache.org/quickstart.html" TargetMode="External"/></Relationships>
</file>

<file path=ppt/slides/_rels/slide30.xml.rels><?xml version="1.0" encoding="UTF-8" standalone="yes"?>
<Relationships xmlns="http://schemas.openxmlformats.org/package/2006/relationships"><Relationship Id="rId2" Type="http://schemas.openxmlformats.org/officeDocument/2006/relationships/hyperlink" Target="https://www.elastic.co/logstash/"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hadoop.apache.org/"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sqoop.apache.org/"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storm.apache.org/"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github.com/nathanmarz/storm-kestrel" TargetMode="External"/><Relationship Id="rId2" Type="http://schemas.openxmlformats.org/officeDocument/2006/relationships/hyperlink" Target="https://storm.apache.org/apidocs/backtype/storm/spout/ISpout.html" TargetMode="External"/><Relationship Id="rId1" Type="http://schemas.openxmlformats.org/officeDocument/2006/relationships/slideLayout" Target="../slideLayouts/slideLayout2.xml"/><Relationship Id="rId6" Type="http://schemas.openxmlformats.org/officeDocument/2006/relationships/hyperlink" Target="https://github.com/awslabs/kinesis-storm-spout" TargetMode="External"/><Relationship Id="rId5" Type="http://schemas.openxmlformats.org/officeDocument/2006/relationships/hyperlink" Target="https://github.com/apache/storm/tree/master/external/storm-kafka" TargetMode="External"/><Relationship Id="rId4" Type="http://schemas.openxmlformats.org/officeDocument/2006/relationships/hyperlink" Target="https://github.com/Xorlev/storm-amqp-spout" TargetMode="External"/></Relationships>
</file>

<file path=ppt/slides/_rels/slide41.xml.rels><?xml version="1.0" encoding="UTF-8" standalone="yes"?>
<Relationships xmlns="http://schemas.openxmlformats.org/package/2006/relationships"><Relationship Id="rId2" Type="http://schemas.openxmlformats.org/officeDocument/2006/relationships/hyperlink" Target="https://www.xenonstack.com/blog/apache-spark-optimisation/"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xenonstack.com/blog/data-processing-apache-flink/" TargetMode="External"/><Relationship Id="rId2" Type="http://schemas.openxmlformats.org/officeDocument/2006/relationships/hyperlink" Target="https://www.xenonstack.com/blog/apache-flink/"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www.xenonstack.com/blog/streaming-integration-solution-platform/"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www.xenonstack.com/blog/big-data-analytics-solution/"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www.xenonstack.com/blog/nosql-databases/"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www.xenonstack.com/insights/apache-hadoop/"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s://www.xenonstack.com/blog/serverless-architecture-big-data/"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s://www.xenonstack.com/insights/continuous-etl/"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s://www.tableau.com/products/desktop" TargetMode="External"/><Relationship Id="rId2" Type="http://schemas.openxmlformats.org/officeDocument/2006/relationships/hyperlink" Target="https://www.tableau.com/" TargetMode="External"/><Relationship Id="rId1" Type="http://schemas.openxmlformats.org/officeDocument/2006/relationships/slideLayout" Target="../slideLayouts/slideLayout2.xml"/><Relationship Id="rId6" Type="http://schemas.openxmlformats.org/officeDocument/2006/relationships/hyperlink" Target="https://powerbi.microsoft.com/en-us/" TargetMode="External"/><Relationship Id="rId5" Type="http://schemas.openxmlformats.org/officeDocument/2006/relationships/hyperlink" Target="https://www.qlik.com/us/products/qlikview" TargetMode="External"/><Relationship Id="rId4" Type="http://schemas.openxmlformats.org/officeDocument/2006/relationships/hyperlink" Target="https://public.tableau.com/en-us/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Distributed Data Pipeline</a:t>
            </a:r>
          </a:p>
        </p:txBody>
      </p:sp>
      <p:sp>
        <p:nvSpPr>
          <p:cNvPr id="3" name="Subtitle 2"/>
          <p:cNvSpPr>
            <a:spLocks noGrp="1"/>
          </p:cNvSpPr>
          <p:nvPr>
            <p:ph type="subTitle" idx="1"/>
          </p:nvPr>
        </p:nvSpPr>
        <p:spPr>
          <a:xfrm>
            <a:off x="1524000" y="3613055"/>
            <a:ext cx="9144000" cy="1655762"/>
          </a:xfrm>
        </p:spPr>
        <p:txBody>
          <a:bodyPr/>
          <a:lstStyle/>
          <a:p>
            <a:endParaRPr lang="en-US" dirty="0"/>
          </a:p>
        </p:txBody>
      </p:sp>
    </p:spTree>
    <p:extLst>
      <p:ext uri="{BB962C8B-B14F-4D97-AF65-F5344CB8AC3E}">
        <p14:creationId xmlns:p14="http://schemas.microsoft.com/office/powerpoint/2010/main" val="16487665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Gathering to Data Visualization</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998202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a Data Pipeline?</a:t>
            </a:r>
            <a:endParaRPr lang="en-US" dirty="0"/>
          </a:p>
        </p:txBody>
      </p:sp>
      <p:sp>
        <p:nvSpPr>
          <p:cNvPr id="3" name="Content Placeholder 2"/>
          <p:cNvSpPr>
            <a:spLocks noGrp="1"/>
          </p:cNvSpPr>
          <p:nvPr>
            <p:ph idx="1"/>
          </p:nvPr>
        </p:nvSpPr>
        <p:spPr>
          <a:xfrm>
            <a:off x="838200" y="1673225"/>
            <a:ext cx="10515600" cy="1412875"/>
          </a:xfrm>
          <a:solidFill>
            <a:srgbClr val="92D050"/>
          </a:solidFill>
        </p:spPr>
        <p:txBody>
          <a:bodyPr>
            <a:normAutofit/>
          </a:bodyPr>
          <a:lstStyle/>
          <a:p>
            <a:r>
              <a:rPr lang="en-US" sz="2000" dirty="0"/>
              <a:t>Data Pipeline is a methodology that separates compute from storage.</a:t>
            </a:r>
          </a:p>
          <a:p>
            <a:r>
              <a:rPr lang="en-US" sz="2000" dirty="0"/>
              <a:t> In other words, Pipeline is commonplace for everything related to data whether to ingest data, store data or to analyze that data.</a:t>
            </a:r>
          </a:p>
          <a:p>
            <a:endParaRPr lang="en-US" sz="2000" dirty="0"/>
          </a:p>
        </p:txBody>
      </p:sp>
      <p:sp>
        <p:nvSpPr>
          <p:cNvPr id="5" name="TextBox 4"/>
          <p:cNvSpPr txBox="1"/>
          <p:nvPr/>
        </p:nvSpPr>
        <p:spPr>
          <a:xfrm>
            <a:off x="609600" y="3238500"/>
            <a:ext cx="11029950" cy="2246769"/>
          </a:xfrm>
          <a:prstGeom prst="rect">
            <a:avLst/>
          </a:prstGeom>
          <a:solidFill>
            <a:schemeClr val="accent1">
              <a:lumMod val="60000"/>
              <a:lumOff val="40000"/>
            </a:schemeClr>
          </a:solidFill>
        </p:spPr>
        <p:txBody>
          <a:bodyPr wrap="square" rtlCol="0">
            <a:spAutoFit/>
          </a:bodyPr>
          <a:lstStyle/>
          <a:p>
            <a:r>
              <a:rPr lang="en-US" sz="2000" b="1" dirty="0"/>
              <a:t>Differentiating Big Data Pipeline and ETL</a:t>
            </a:r>
          </a:p>
          <a:p>
            <a:r>
              <a:rPr lang="en-US" sz="2000" dirty="0"/>
              <a:t>Sometimes, people get confused by two terms as some use cases use both As keywords interchangeably. But Both are, in fact, different as </a:t>
            </a:r>
            <a:r>
              <a:rPr lang="en-US" sz="2000" u="sng" dirty="0">
                <a:solidFill>
                  <a:srgbClr val="FF0000"/>
                </a:solidFill>
              </a:rPr>
              <a:t>ETL (Extraction, Transformation and Load) is a subset of Data Pipeline Processing</a:t>
            </a:r>
            <a:r>
              <a:rPr lang="en-US" sz="2000" dirty="0"/>
              <a:t>.</a:t>
            </a:r>
          </a:p>
          <a:p>
            <a:r>
              <a:rPr lang="en-US" sz="2000" dirty="0"/>
              <a:t>		ETL is usually performed on Batches (here batch processing)</a:t>
            </a:r>
          </a:p>
          <a:p>
            <a:r>
              <a:rPr lang="en-US" sz="2000" dirty="0"/>
              <a:t>		Data Pipeline contains both Batch and Real-Time Processing as 			Batch Engine and Real Time data processing Layer</a:t>
            </a:r>
          </a:p>
        </p:txBody>
      </p:sp>
    </p:spTree>
    <p:extLst>
      <p:ext uri="{BB962C8B-B14F-4D97-AF65-F5344CB8AC3E}">
        <p14:creationId xmlns:p14="http://schemas.microsoft.com/office/powerpoint/2010/main" val="1509799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0187" y="602407"/>
            <a:ext cx="3056677" cy="658368"/>
          </a:xfrm>
        </p:spPr>
        <p:txBody>
          <a:bodyPr>
            <a:normAutofit fontScale="90000"/>
          </a:bodyPr>
          <a:lstStyle/>
          <a:p>
            <a:r>
              <a:rPr lang="en-US" b="1" dirty="0"/>
              <a:t>Architecture </a:t>
            </a:r>
            <a:r>
              <a:rPr lang="en-US" b="1" u="sng" dirty="0"/>
              <a:t>of Big Data Analytics</a:t>
            </a:r>
            <a:endParaRPr lang="en-US" u="sng" dirty="0"/>
          </a:p>
        </p:txBody>
      </p:sp>
      <p:sp>
        <p:nvSpPr>
          <p:cNvPr id="4" name="TextBox 3"/>
          <p:cNvSpPr txBox="1"/>
          <p:nvPr/>
        </p:nvSpPr>
        <p:spPr>
          <a:xfrm>
            <a:off x="9135323" y="2204568"/>
            <a:ext cx="3056677" cy="3170099"/>
          </a:xfrm>
          <a:prstGeom prst="rect">
            <a:avLst/>
          </a:prstGeom>
          <a:solidFill>
            <a:srgbClr val="92D050"/>
          </a:solidFill>
        </p:spPr>
        <p:txBody>
          <a:bodyPr wrap="square" rtlCol="0">
            <a:spAutoFit/>
          </a:bodyPr>
          <a:lstStyle/>
          <a:p>
            <a:pPr algn="just"/>
            <a:r>
              <a:rPr lang="en-US" sz="2000" dirty="0"/>
              <a:t>This Architecture helps in designing the data pipeline with the various requirements of either the Batch Processing System or Stream Processing System. </a:t>
            </a:r>
          </a:p>
          <a:p>
            <a:pPr algn="just"/>
            <a:endParaRPr lang="en-US" sz="2000" dirty="0"/>
          </a:p>
          <a:p>
            <a:pPr algn="just"/>
            <a:r>
              <a:rPr lang="en-US" sz="2000" dirty="0"/>
              <a:t>This architecture consists of 6 layers which ensure a secure flow of data.</a:t>
            </a:r>
          </a:p>
        </p:txBody>
      </p:sp>
      <p:pic>
        <p:nvPicPr>
          <p:cNvPr id="2050" name="Picture 2" descr="Big Data Architectur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0"/>
            <a:ext cx="9135323"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822960" y="256032"/>
            <a:ext cx="1257300" cy="923330"/>
          </a:xfrm>
          <a:prstGeom prst="rect">
            <a:avLst/>
          </a:prstGeom>
          <a:solidFill>
            <a:schemeClr val="accent2"/>
          </a:solidFill>
        </p:spPr>
        <p:txBody>
          <a:bodyPr wrap="square" rtlCol="0">
            <a:spAutoFit/>
          </a:bodyPr>
          <a:lstStyle/>
          <a:p>
            <a:pPr algn="ctr"/>
            <a:r>
              <a:rPr lang="en-US" dirty="0"/>
              <a:t>Data fusion and Integration</a:t>
            </a:r>
          </a:p>
        </p:txBody>
      </p:sp>
    </p:spTree>
    <p:extLst>
      <p:ext uri="{BB962C8B-B14F-4D97-AF65-F5344CB8AC3E}">
        <p14:creationId xmlns:p14="http://schemas.microsoft.com/office/powerpoint/2010/main" val="2802873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738210"/>
            <a:ext cx="10515600" cy="1325563"/>
          </a:xfrm>
          <a:solidFill>
            <a:srgbClr val="92D050"/>
          </a:solidFill>
        </p:spPr>
        <p:txBody>
          <a:bodyPr/>
          <a:lstStyle/>
          <a:p>
            <a:pPr algn="ctr"/>
            <a:r>
              <a:rPr lang="en-US" dirty="0"/>
              <a:t>Data Gathering</a:t>
            </a:r>
          </a:p>
        </p:txBody>
      </p:sp>
      <p:sp>
        <p:nvSpPr>
          <p:cNvPr id="3" name="TextBox 2"/>
          <p:cNvSpPr txBox="1"/>
          <p:nvPr/>
        </p:nvSpPr>
        <p:spPr>
          <a:xfrm>
            <a:off x="9289542" y="0"/>
            <a:ext cx="2867965" cy="2308324"/>
          </a:xfrm>
          <a:prstGeom prst="rect">
            <a:avLst/>
          </a:prstGeom>
          <a:solidFill>
            <a:schemeClr val="accent1">
              <a:lumMod val="60000"/>
              <a:lumOff val="40000"/>
            </a:schemeClr>
          </a:solidFill>
          <a:ln>
            <a:solidFill>
              <a:schemeClr val="tx1"/>
            </a:solidFill>
          </a:ln>
        </p:spPr>
        <p:txBody>
          <a:bodyPr wrap="none" rtlCol="0">
            <a:spAutoFit/>
          </a:bodyPr>
          <a:lstStyle/>
          <a:p>
            <a:r>
              <a:rPr lang="en-US" b="1" u="sng" dirty="0"/>
              <a:t>Big Data Architecture Layers</a:t>
            </a:r>
          </a:p>
          <a:p>
            <a:r>
              <a:rPr lang="en-US" dirty="0"/>
              <a:t>0.   Data Gathering</a:t>
            </a:r>
          </a:p>
          <a:p>
            <a:pPr marL="342900" indent="-342900">
              <a:buFont typeface="+mj-lt"/>
              <a:buAutoNum type="arabicPeriod"/>
            </a:pPr>
            <a:r>
              <a:rPr lang="en-US" dirty="0"/>
              <a:t>Data ingestion layer</a:t>
            </a:r>
          </a:p>
          <a:p>
            <a:pPr marL="342900" indent="-342900">
              <a:buFont typeface="+mj-lt"/>
              <a:buAutoNum type="arabicPeriod"/>
            </a:pPr>
            <a:r>
              <a:rPr lang="en-US" dirty="0"/>
              <a:t>Data Collector layer</a:t>
            </a:r>
          </a:p>
          <a:p>
            <a:pPr marL="342900" indent="-342900">
              <a:buFont typeface="+mj-lt"/>
              <a:buAutoNum type="arabicPeriod"/>
            </a:pPr>
            <a:r>
              <a:rPr lang="en-US" dirty="0"/>
              <a:t>Data Processing Layer</a:t>
            </a:r>
          </a:p>
          <a:p>
            <a:pPr marL="342900" indent="-342900">
              <a:buFont typeface="+mj-lt"/>
              <a:buAutoNum type="arabicPeriod"/>
            </a:pPr>
            <a:r>
              <a:rPr lang="en-US" dirty="0"/>
              <a:t>Data Storage Layer</a:t>
            </a:r>
          </a:p>
          <a:p>
            <a:pPr marL="342900" indent="-342900">
              <a:buFont typeface="+mj-lt"/>
              <a:buAutoNum type="arabicPeriod"/>
            </a:pPr>
            <a:r>
              <a:rPr lang="en-US" dirty="0"/>
              <a:t>Data Query Layer</a:t>
            </a:r>
          </a:p>
          <a:p>
            <a:pPr marL="342900" indent="-342900">
              <a:buFont typeface="+mj-lt"/>
              <a:buAutoNum type="arabicPeriod"/>
            </a:pPr>
            <a:r>
              <a:rPr lang="en-US" dirty="0"/>
              <a:t>Data Visualization Layer</a:t>
            </a:r>
          </a:p>
        </p:txBody>
      </p:sp>
    </p:spTree>
    <p:extLst>
      <p:ext uri="{BB962C8B-B14F-4D97-AF65-F5344CB8AC3E}">
        <p14:creationId xmlns:p14="http://schemas.microsoft.com/office/powerpoint/2010/main" val="1386021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484340" y="340833"/>
            <a:ext cx="10972800" cy="1143000"/>
          </a:xfrm>
        </p:spPr>
        <p:txBody>
          <a:bodyPr vert="horz" lIns="91440" tIns="45720" rIns="91440" bIns="45720" rtlCol="0" anchor="ctr">
            <a:normAutofit/>
          </a:bodyPr>
          <a:lstStyle/>
          <a:p>
            <a:r>
              <a:rPr lang="en-US" altLang="zh-TW" b="1" dirty="0"/>
              <a:t> Data Gathering </a:t>
            </a:r>
          </a:p>
        </p:txBody>
      </p:sp>
      <p:sp>
        <p:nvSpPr>
          <p:cNvPr id="58371" name="Rectangle 3"/>
          <p:cNvSpPr>
            <a:spLocks noGrp="1" noChangeArrowheads="1"/>
          </p:cNvSpPr>
          <p:nvPr>
            <p:ph idx="1"/>
          </p:nvPr>
        </p:nvSpPr>
        <p:spPr>
          <a:xfrm>
            <a:off x="838200" y="1825625"/>
            <a:ext cx="10515600" cy="3328266"/>
          </a:xfrm>
          <a:solidFill>
            <a:srgbClr val="92D050"/>
          </a:solidFill>
        </p:spPr>
        <p:txBody>
          <a:bodyPr>
            <a:noAutofit/>
          </a:bodyPr>
          <a:lstStyle/>
          <a:p>
            <a:pPr eaLnBrk="1" hangingPunct="1"/>
            <a:r>
              <a:rPr lang="en-US" altLang="zh-TW" sz="2000" dirty="0"/>
              <a:t>The objective of the data gathering problem is </a:t>
            </a:r>
            <a:r>
              <a:rPr lang="en-US" altLang="zh-TW" sz="2000" dirty="0">
                <a:solidFill>
                  <a:srgbClr val="FF0000"/>
                </a:solidFill>
              </a:rPr>
              <a:t>to transmit the data from each node to a central point or distributed processing points</a:t>
            </a:r>
            <a:r>
              <a:rPr lang="en-US" altLang="zh-TW" sz="2000" dirty="0"/>
              <a:t>.</a:t>
            </a:r>
          </a:p>
          <a:p>
            <a:pPr eaLnBrk="1" hangingPunct="1"/>
            <a:endParaRPr lang="en-US" altLang="zh-TW" sz="2000" dirty="0"/>
          </a:p>
          <a:p>
            <a:pPr eaLnBrk="1" hangingPunct="1"/>
            <a:r>
              <a:rPr lang="en-US" altLang="zh-TW" sz="2000" dirty="0"/>
              <a:t>The goal of algorithm which implement data gathering is </a:t>
            </a:r>
          </a:p>
          <a:p>
            <a:pPr eaLnBrk="1" hangingPunct="1"/>
            <a:endParaRPr lang="en-US" altLang="zh-TW" sz="2000" dirty="0"/>
          </a:p>
          <a:p>
            <a:pPr lvl="1" eaLnBrk="1" hangingPunct="1"/>
            <a:r>
              <a:rPr lang="en-US" altLang="zh-TW" sz="2000" dirty="0"/>
              <a:t>maximize the lifetime of network</a:t>
            </a:r>
          </a:p>
          <a:p>
            <a:pPr lvl="1" eaLnBrk="1" hangingPunct="1"/>
            <a:r>
              <a:rPr lang="en-US" altLang="zh-TW" sz="2000" dirty="0"/>
              <a:t>Minimum energy should be consumed</a:t>
            </a:r>
          </a:p>
          <a:p>
            <a:pPr lvl="1" eaLnBrk="1" hangingPunct="1"/>
            <a:r>
              <a:rPr lang="en-US" altLang="zh-TW" sz="2000" dirty="0"/>
              <a:t>The transmission occur with minimum delay</a:t>
            </a:r>
          </a:p>
          <a:p>
            <a:pPr lvl="1" eaLnBrk="1" hangingPunct="1"/>
            <a:endParaRPr lang="en-US" altLang="zh-TW" sz="2000" dirty="0"/>
          </a:p>
        </p:txBody>
      </p:sp>
    </p:spTree>
    <p:extLst>
      <p:ext uri="{BB962C8B-B14F-4D97-AF65-F5344CB8AC3E}">
        <p14:creationId xmlns:p14="http://schemas.microsoft.com/office/powerpoint/2010/main" val="4082387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a:xfrm>
            <a:off x="517743" y="361167"/>
            <a:ext cx="7772400" cy="1143000"/>
          </a:xfrm>
        </p:spPr>
        <p:txBody>
          <a:bodyPr vert="horz" lIns="91440" tIns="45720" rIns="91440" bIns="45720" rtlCol="0" anchor="ctr">
            <a:normAutofit/>
          </a:bodyPr>
          <a:lstStyle/>
          <a:p>
            <a:r>
              <a:rPr lang="en-US" altLang="ko-KR" b="1" dirty="0"/>
              <a:t>Data Aggregation</a:t>
            </a:r>
          </a:p>
        </p:txBody>
      </p:sp>
      <p:sp>
        <p:nvSpPr>
          <p:cNvPr id="32772" name="Rectangle 3" descr="Rectangle: Click to edit Master text styles&#10;Second level&#10;Third level&#10;Fourth level&#10;Fifth level"/>
          <p:cNvSpPr>
            <a:spLocks noGrp="1" noChangeArrowheads="1"/>
          </p:cNvSpPr>
          <p:nvPr>
            <p:ph idx="1"/>
          </p:nvPr>
        </p:nvSpPr>
        <p:spPr>
          <a:xfrm>
            <a:off x="932145" y="2351761"/>
            <a:ext cx="9915964" cy="2649730"/>
          </a:xfrm>
          <a:solidFill>
            <a:srgbClr val="92D050"/>
          </a:solidFill>
        </p:spPr>
        <p:txBody>
          <a:bodyPr>
            <a:normAutofit/>
          </a:bodyPr>
          <a:lstStyle/>
          <a:p>
            <a:pPr eaLnBrk="1" hangingPunct="1"/>
            <a:r>
              <a:rPr lang="en-US" altLang="ko-KR" sz="2000" dirty="0">
                <a:solidFill>
                  <a:srgbClr val="FF0000"/>
                </a:solidFill>
                <a:ea typeface="굴림" pitchFamily="34" charset="-127"/>
              </a:rPr>
              <a:t>Redundant</a:t>
            </a:r>
            <a:r>
              <a:rPr lang="en-US" altLang="ko-KR" sz="2000" dirty="0">
                <a:ea typeface="굴림" pitchFamily="34" charset="-127"/>
              </a:rPr>
              <a:t> Data/events </a:t>
            </a:r>
          </a:p>
          <a:p>
            <a:pPr eaLnBrk="1" hangingPunct="1"/>
            <a:r>
              <a:rPr lang="en-US" altLang="ko-KR" sz="2000" dirty="0">
                <a:ea typeface="굴림" pitchFamily="34" charset="-127"/>
              </a:rPr>
              <a:t>Some services are amenable for in-network computations.</a:t>
            </a:r>
          </a:p>
          <a:p>
            <a:pPr eaLnBrk="1" hangingPunct="1"/>
            <a:r>
              <a:rPr lang="en-US" altLang="ko-KR" sz="2000" dirty="0">
                <a:solidFill>
                  <a:srgbClr val="FF0000"/>
                </a:solidFill>
                <a:ea typeface="굴림" pitchFamily="34" charset="-127"/>
              </a:rPr>
              <a:t>Communication can be more expensive than computation</a:t>
            </a:r>
            <a:r>
              <a:rPr lang="en-US" altLang="ko-KR" sz="2000" dirty="0">
                <a:ea typeface="굴림" pitchFamily="34" charset="-127"/>
              </a:rPr>
              <a:t>.</a:t>
            </a:r>
          </a:p>
          <a:p>
            <a:pPr eaLnBrk="1" hangingPunct="1"/>
            <a:r>
              <a:rPr lang="en-US" altLang="ko-KR" sz="2000" dirty="0">
                <a:ea typeface="굴림" pitchFamily="34" charset="-127"/>
              </a:rPr>
              <a:t>By performing “</a:t>
            </a:r>
            <a:r>
              <a:rPr lang="en-US" altLang="ko-KR" sz="2000" dirty="0">
                <a:solidFill>
                  <a:srgbClr val="FF0000"/>
                </a:solidFill>
                <a:ea typeface="굴림" pitchFamily="34" charset="-127"/>
              </a:rPr>
              <a:t>computation” on data en route to the sink/server/cloud, we can reduce the amount of data traffic in the network</a:t>
            </a:r>
            <a:r>
              <a:rPr lang="en-US" altLang="ko-KR" sz="2000" dirty="0">
                <a:ea typeface="굴림" pitchFamily="34" charset="-127"/>
              </a:rPr>
              <a:t>. </a:t>
            </a:r>
          </a:p>
          <a:p>
            <a:pPr eaLnBrk="1" hangingPunct="1"/>
            <a:r>
              <a:rPr lang="en-US" altLang="ko-KR" sz="2000" dirty="0">
                <a:ea typeface="굴림" pitchFamily="34" charset="-127"/>
              </a:rPr>
              <a:t>Increases </a:t>
            </a:r>
            <a:r>
              <a:rPr lang="en-US" altLang="ko-KR" sz="2000" dirty="0">
                <a:solidFill>
                  <a:srgbClr val="FF0000"/>
                </a:solidFill>
                <a:ea typeface="굴림" pitchFamily="34" charset="-127"/>
              </a:rPr>
              <a:t>energy efficiency as well as scalability</a:t>
            </a:r>
          </a:p>
          <a:p>
            <a:pPr lvl="1" eaLnBrk="1" hangingPunct="1"/>
            <a:r>
              <a:rPr lang="en-US" altLang="ko-KR" sz="2000" dirty="0">
                <a:ea typeface="굴림" pitchFamily="34" charset="-127"/>
              </a:rPr>
              <a:t>The bigger the network, the more computational resources.</a:t>
            </a:r>
          </a:p>
        </p:txBody>
      </p:sp>
      <p:sp>
        <p:nvSpPr>
          <p:cNvPr id="32770" name="Slide Number Placeholder 5"/>
          <p:cNvSpPr>
            <a:spLocks noGrp="1"/>
          </p:cNvSpPr>
          <p:nvPr>
            <p:ph type="sldNum" sz="quarter" idx="12"/>
          </p:nvPr>
        </p:nvSpPr>
        <p:spPr>
          <a:noFill/>
          <a:ln>
            <a:miter lim="800000"/>
            <a:headEnd/>
            <a:tailEnd/>
          </a:ln>
        </p:spPr>
        <p:txBody>
          <a:bodyPr/>
          <a:lstStyle/>
          <a:p>
            <a:fld id="{1CEB420F-B8E7-4268-A911-A4B816D80131}" type="slidenum">
              <a:rPr lang="ko-KR" altLang="en-US"/>
              <a:pPr/>
              <a:t>7</a:t>
            </a:fld>
            <a:endParaRPr lang="en-US" altLang="ko-KR"/>
          </a:p>
        </p:txBody>
      </p:sp>
    </p:spTree>
    <p:extLst>
      <p:ext uri="{BB962C8B-B14F-4D97-AF65-F5344CB8AC3E}">
        <p14:creationId xmlns:p14="http://schemas.microsoft.com/office/powerpoint/2010/main" val="2215998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b="1" dirty="0"/>
              <a:t>Data Fusion</a:t>
            </a:r>
          </a:p>
        </p:txBody>
      </p:sp>
      <p:sp>
        <p:nvSpPr>
          <p:cNvPr id="3" name="Content Placeholder 2"/>
          <p:cNvSpPr>
            <a:spLocks noGrp="1"/>
          </p:cNvSpPr>
          <p:nvPr>
            <p:ph idx="1"/>
          </p:nvPr>
        </p:nvSpPr>
        <p:spPr>
          <a:xfrm>
            <a:off x="1794164" y="1922607"/>
            <a:ext cx="9455727" cy="3328266"/>
          </a:xfrm>
          <a:solidFill>
            <a:srgbClr val="92D050"/>
          </a:solidFill>
        </p:spPr>
        <p:txBody>
          <a:bodyPr>
            <a:normAutofit/>
          </a:bodyPr>
          <a:lstStyle/>
          <a:p>
            <a:r>
              <a:rPr lang="en-US" sz="2000" dirty="0"/>
              <a:t>Data fusion is an important concept in both </a:t>
            </a:r>
            <a:r>
              <a:rPr lang="en-US" sz="2000" dirty="0">
                <a:solidFill>
                  <a:srgbClr val="FF0000"/>
                </a:solidFill>
              </a:rPr>
              <a:t>big data, IoT and WSNs</a:t>
            </a:r>
            <a:r>
              <a:rPr lang="en-US" sz="2000" dirty="0"/>
              <a:t>. </a:t>
            </a:r>
          </a:p>
          <a:p>
            <a:r>
              <a:rPr lang="en-US" sz="2000" u="sng" dirty="0"/>
              <a:t>In the big data context, </a:t>
            </a:r>
          </a:p>
          <a:p>
            <a:pPr lvl="1"/>
            <a:r>
              <a:rPr lang="en-US" sz="2000" u="sng" dirty="0"/>
              <a:t>the fusion is achieved at the computational platform </a:t>
            </a:r>
          </a:p>
          <a:p>
            <a:r>
              <a:rPr lang="en-US" sz="2000" u="sng" dirty="0"/>
              <a:t>while in the WSNs context, </a:t>
            </a:r>
          </a:p>
          <a:p>
            <a:pPr lvl="1"/>
            <a:r>
              <a:rPr lang="en-US" sz="2000" u="sng" dirty="0"/>
              <a:t>the fusion is performed inside the network (i.e. in-network process</a:t>
            </a:r>
            <a:r>
              <a:rPr lang="en-US" sz="2000" dirty="0"/>
              <a:t>). </a:t>
            </a:r>
          </a:p>
          <a:p>
            <a:r>
              <a:rPr lang="en-US" sz="2000" dirty="0"/>
              <a:t>As one of the sources of the big data, </a:t>
            </a:r>
          </a:p>
          <a:p>
            <a:pPr lvl="1"/>
            <a:r>
              <a:rPr lang="en-US" sz="2000" dirty="0"/>
              <a:t>it is preferable to achieve in-network data fusion, so providing a unification of data representation and avoiding data explosion. </a:t>
            </a:r>
          </a:p>
          <a:p>
            <a:r>
              <a:rPr lang="en-US" sz="2000" dirty="0"/>
              <a:t>lead to saving the limited resources and capabilities/ resources. </a:t>
            </a:r>
          </a:p>
        </p:txBody>
      </p:sp>
    </p:spTree>
    <p:extLst>
      <p:ext uri="{BB962C8B-B14F-4D97-AF65-F5344CB8AC3E}">
        <p14:creationId xmlns:p14="http://schemas.microsoft.com/office/powerpoint/2010/main" val="1034232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14911"/>
            <a:ext cx="10515600" cy="1325563"/>
          </a:xfrm>
          <a:solidFill>
            <a:schemeClr val="accent2"/>
          </a:solidFill>
        </p:spPr>
        <p:txBody>
          <a:bodyPr/>
          <a:lstStyle/>
          <a:p>
            <a:pPr algn="ctr"/>
            <a:r>
              <a:rPr lang="en-US" dirty="0"/>
              <a:t>Data Integration, Collection and Ingestion</a:t>
            </a:r>
          </a:p>
        </p:txBody>
      </p:sp>
      <p:sp>
        <p:nvSpPr>
          <p:cNvPr id="3" name="TextBox 2"/>
          <p:cNvSpPr txBox="1"/>
          <p:nvPr/>
        </p:nvSpPr>
        <p:spPr>
          <a:xfrm>
            <a:off x="9289542" y="0"/>
            <a:ext cx="2867965" cy="2031325"/>
          </a:xfrm>
          <a:prstGeom prst="rect">
            <a:avLst/>
          </a:prstGeom>
          <a:solidFill>
            <a:schemeClr val="accent1">
              <a:lumMod val="60000"/>
              <a:lumOff val="40000"/>
            </a:schemeClr>
          </a:solidFill>
          <a:ln>
            <a:solidFill>
              <a:schemeClr val="tx1"/>
            </a:solidFill>
          </a:ln>
        </p:spPr>
        <p:txBody>
          <a:bodyPr wrap="none" rtlCol="0">
            <a:spAutoFit/>
          </a:bodyPr>
          <a:lstStyle/>
          <a:p>
            <a:r>
              <a:rPr lang="en-US" b="1" u="sng" dirty="0"/>
              <a:t>Big Data Architecture Layers</a:t>
            </a:r>
          </a:p>
          <a:p>
            <a:pPr marL="342900" indent="-342900">
              <a:buFont typeface="+mj-lt"/>
              <a:buAutoNum type="arabicPeriod"/>
            </a:pPr>
            <a:r>
              <a:rPr lang="en-US" dirty="0"/>
              <a:t>Data ingestion layer</a:t>
            </a:r>
          </a:p>
          <a:p>
            <a:pPr marL="342900" indent="-342900">
              <a:buFont typeface="+mj-lt"/>
              <a:buAutoNum type="arabicPeriod"/>
            </a:pPr>
            <a:r>
              <a:rPr lang="en-US" dirty="0"/>
              <a:t>Data Collector layer</a:t>
            </a:r>
          </a:p>
          <a:p>
            <a:pPr marL="342900" indent="-342900">
              <a:buFont typeface="+mj-lt"/>
              <a:buAutoNum type="arabicPeriod"/>
            </a:pPr>
            <a:r>
              <a:rPr lang="en-US" dirty="0"/>
              <a:t>Data Processing Layer</a:t>
            </a:r>
          </a:p>
          <a:p>
            <a:pPr marL="342900" indent="-342900">
              <a:buFont typeface="+mj-lt"/>
              <a:buAutoNum type="arabicPeriod"/>
            </a:pPr>
            <a:r>
              <a:rPr lang="en-US" dirty="0"/>
              <a:t>Data Storage Layer</a:t>
            </a:r>
          </a:p>
          <a:p>
            <a:pPr marL="342900" indent="-342900">
              <a:buFont typeface="+mj-lt"/>
              <a:buAutoNum type="arabicPeriod"/>
            </a:pPr>
            <a:r>
              <a:rPr lang="en-US" dirty="0"/>
              <a:t>Data Query Layer</a:t>
            </a:r>
          </a:p>
          <a:p>
            <a:pPr marL="342900" indent="-342900">
              <a:buFont typeface="+mj-lt"/>
              <a:buAutoNum type="arabicPeriod"/>
            </a:pPr>
            <a:r>
              <a:rPr lang="en-US" dirty="0"/>
              <a:t>Data Visualization Layer</a:t>
            </a:r>
          </a:p>
        </p:txBody>
      </p:sp>
    </p:spTree>
    <p:extLst>
      <p:ext uri="{BB962C8B-B14F-4D97-AF65-F5344CB8AC3E}">
        <p14:creationId xmlns:p14="http://schemas.microsoft.com/office/powerpoint/2010/main" val="4130741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Big Data Archite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941" y="0"/>
            <a:ext cx="9135323"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608901" y="256032"/>
            <a:ext cx="1257300" cy="923330"/>
          </a:xfrm>
          <a:prstGeom prst="rect">
            <a:avLst/>
          </a:prstGeom>
          <a:solidFill>
            <a:schemeClr val="accent2"/>
          </a:solidFill>
        </p:spPr>
        <p:txBody>
          <a:bodyPr wrap="square" rtlCol="0">
            <a:spAutoFit/>
          </a:bodyPr>
          <a:lstStyle/>
          <a:p>
            <a:pPr algn="ctr"/>
            <a:r>
              <a:rPr lang="en-US" dirty="0"/>
              <a:t>Data fusion and Integration</a:t>
            </a:r>
          </a:p>
        </p:txBody>
      </p:sp>
    </p:spTree>
    <p:extLst>
      <p:ext uri="{BB962C8B-B14F-4D97-AF65-F5344CB8AC3E}">
        <p14:creationId xmlns:p14="http://schemas.microsoft.com/office/powerpoint/2010/main" val="531509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213979" y="581892"/>
            <a:ext cx="11761985" cy="5766954"/>
          </a:xfrm>
          <a:prstGeom prst="rect">
            <a:avLst/>
          </a:prstGeom>
        </p:spPr>
      </p:pic>
    </p:spTree>
    <p:extLst>
      <p:ext uri="{BB962C8B-B14F-4D97-AF65-F5344CB8AC3E}">
        <p14:creationId xmlns:p14="http://schemas.microsoft.com/office/powerpoint/2010/main" val="286277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4236" y="705762"/>
            <a:ext cx="10515600" cy="1325563"/>
          </a:xfrm>
        </p:spPr>
        <p:txBody>
          <a:bodyPr/>
          <a:lstStyle/>
          <a:p>
            <a:r>
              <a:rPr lang="en-US" dirty="0"/>
              <a:t>1. Data Ingestion Layer</a:t>
            </a:r>
          </a:p>
        </p:txBody>
      </p:sp>
      <p:sp>
        <p:nvSpPr>
          <p:cNvPr id="3" name="Content Placeholder 2"/>
          <p:cNvSpPr>
            <a:spLocks noGrp="1"/>
          </p:cNvSpPr>
          <p:nvPr>
            <p:ph idx="1"/>
          </p:nvPr>
        </p:nvSpPr>
        <p:spPr>
          <a:xfrm>
            <a:off x="602673" y="2031325"/>
            <a:ext cx="10515600" cy="1151660"/>
          </a:xfrm>
          <a:solidFill>
            <a:srgbClr val="92D050"/>
          </a:solidFill>
        </p:spPr>
        <p:txBody>
          <a:bodyPr>
            <a:normAutofit/>
          </a:bodyPr>
          <a:lstStyle/>
          <a:p>
            <a:r>
              <a:rPr lang="en-US" sz="2000" dirty="0"/>
              <a:t>This layer is the first step for the data coming from variable sources to start its journey. </a:t>
            </a:r>
          </a:p>
          <a:p>
            <a:r>
              <a:rPr lang="en-US" sz="2000" dirty="0"/>
              <a:t>Data ingestion meaning the data here is </a:t>
            </a:r>
            <a:r>
              <a:rPr lang="en-US" sz="2000" u="sng" dirty="0">
                <a:solidFill>
                  <a:srgbClr val="FF0000"/>
                </a:solidFill>
              </a:rPr>
              <a:t>prioritized and categorized which makes data flow smoothly in further layers in Data ingestion process flow</a:t>
            </a:r>
            <a:r>
              <a:rPr lang="en-US" sz="2000" dirty="0"/>
              <a:t>.</a:t>
            </a:r>
          </a:p>
        </p:txBody>
      </p:sp>
      <p:sp>
        <p:nvSpPr>
          <p:cNvPr id="4" name="TextBox 3"/>
          <p:cNvSpPr txBox="1"/>
          <p:nvPr/>
        </p:nvSpPr>
        <p:spPr>
          <a:xfrm>
            <a:off x="9289542" y="0"/>
            <a:ext cx="2867965" cy="2031325"/>
          </a:xfrm>
          <a:prstGeom prst="rect">
            <a:avLst/>
          </a:prstGeom>
          <a:solidFill>
            <a:schemeClr val="accent1">
              <a:lumMod val="60000"/>
              <a:lumOff val="40000"/>
            </a:schemeClr>
          </a:solidFill>
          <a:ln>
            <a:solidFill>
              <a:schemeClr val="tx1"/>
            </a:solidFill>
          </a:ln>
        </p:spPr>
        <p:txBody>
          <a:bodyPr wrap="none" rtlCol="0">
            <a:spAutoFit/>
          </a:bodyPr>
          <a:lstStyle/>
          <a:p>
            <a:r>
              <a:rPr lang="en-US" b="1" u="sng" dirty="0"/>
              <a:t>Big Data Architecture Layers</a:t>
            </a:r>
          </a:p>
          <a:p>
            <a:pPr marL="342900" indent="-342900">
              <a:buFont typeface="+mj-lt"/>
              <a:buAutoNum type="arabicPeriod"/>
            </a:pPr>
            <a:r>
              <a:rPr lang="en-US" dirty="0"/>
              <a:t>Data ingestion layer</a:t>
            </a:r>
          </a:p>
          <a:p>
            <a:pPr marL="342900" indent="-342900">
              <a:buFont typeface="+mj-lt"/>
              <a:buAutoNum type="arabicPeriod"/>
            </a:pPr>
            <a:r>
              <a:rPr lang="en-US" dirty="0"/>
              <a:t>Data Collector layer</a:t>
            </a:r>
          </a:p>
          <a:p>
            <a:pPr marL="342900" indent="-342900">
              <a:buFont typeface="+mj-lt"/>
              <a:buAutoNum type="arabicPeriod"/>
            </a:pPr>
            <a:r>
              <a:rPr lang="en-US" dirty="0"/>
              <a:t>Data Processing Layer</a:t>
            </a:r>
          </a:p>
          <a:p>
            <a:pPr marL="342900" indent="-342900">
              <a:buFont typeface="+mj-lt"/>
              <a:buAutoNum type="arabicPeriod"/>
            </a:pPr>
            <a:r>
              <a:rPr lang="en-US" dirty="0"/>
              <a:t>Data Storage Layer</a:t>
            </a:r>
          </a:p>
          <a:p>
            <a:pPr marL="342900" indent="-342900">
              <a:buFont typeface="+mj-lt"/>
              <a:buAutoNum type="arabicPeriod"/>
            </a:pPr>
            <a:r>
              <a:rPr lang="en-US" dirty="0"/>
              <a:t>Data Query Layer</a:t>
            </a:r>
          </a:p>
          <a:p>
            <a:pPr marL="342900" indent="-342900">
              <a:buFont typeface="+mj-lt"/>
              <a:buAutoNum type="arabicPeriod"/>
            </a:pPr>
            <a:r>
              <a:rPr lang="en-US" dirty="0"/>
              <a:t>Data Visualization Layer</a:t>
            </a:r>
          </a:p>
        </p:txBody>
      </p:sp>
      <p:sp>
        <p:nvSpPr>
          <p:cNvPr id="5" name="Title 1"/>
          <p:cNvSpPr txBox="1">
            <a:spLocks/>
          </p:cNvSpPr>
          <p:nvPr/>
        </p:nvSpPr>
        <p:spPr>
          <a:xfrm>
            <a:off x="852054" y="35101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2. Data Collector Layer</a:t>
            </a:r>
          </a:p>
        </p:txBody>
      </p:sp>
      <p:sp>
        <p:nvSpPr>
          <p:cNvPr id="6" name="Content Placeholder 2"/>
          <p:cNvSpPr txBox="1">
            <a:spLocks/>
          </p:cNvSpPr>
          <p:nvPr/>
        </p:nvSpPr>
        <p:spPr>
          <a:xfrm>
            <a:off x="838200" y="4847444"/>
            <a:ext cx="10536382" cy="1276351"/>
          </a:xfrm>
          <a:prstGeom prst="rect">
            <a:avLst/>
          </a:prstGeom>
          <a:solidFill>
            <a:srgbClr val="92D050"/>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In this Layer, more focus is on the </a:t>
            </a:r>
            <a:r>
              <a:rPr lang="en-US" sz="2000" dirty="0">
                <a:solidFill>
                  <a:srgbClr val="FF0000"/>
                </a:solidFill>
              </a:rPr>
              <a:t>transportation of data from the ingestion layer to the rest of the data pipeline</a:t>
            </a:r>
            <a:r>
              <a:rPr lang="en-US" sz="2000" dirty="0"/>
              <a:t>.</a:t>
            </a:r>
          </a:p>
          <a:p>
            <a:r>
              <a:rPr lang="en-US" sz="2000" dirty="0"/>
              <a:t> It is the Layer, where components are decoupled so that analytic capabilities may begin.</a:t>
            </a:r>
          </a:p>
        </p:txBody>
      </p:sp>
    </p:spTree>
    <p:extLst>
      <p:ext uri="{BB962C8B-B14F-4D97-AF65-F5344CB8AC3E}">
        <p14:creationId xmlns:p14="http://schemas.microsoft.com/office/powerpoint/2010/main" val="702908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p:cNvSpPr>
            <a:spLocks noGrp="1"/>
          </p:cNvSpPr>
          <p:nvPr>
            <p:ph type="title"/>
          </p:nvPr>
        </p:nvSpPr>
        <p:spPr>
          <a:xfrm>
            <a:off x="96311" y="343595"/>
            <a:ext cx="10515600" cy="1325563"/>
          </a:xfrm>
        </p:spPr>
        <p:txBody>
          <a:bodyPr vert="horz" lIns="91440" tIns="45720" rIns="91440" bIns="45720" rtlCol="0" anchor="ctr">
            <a:normAutofit/>
          </a:bodyPr>
          <a:lstStyle/>
          <a:p>
            <a:r>
              <a:rPr lang="en-US" dirty="0"/>
              <a:t>Data ingestion: Execution Models</a:t>
            </a:r>
          </a:p>
        </p:txBody>
      </p:sp>
      <p:grpSp>
        <p:nvGrpSpPr>
          <p:cNvPr id="2" name="Group 1"/>
          <p:cNvGrpSpPr/>
          <p:nvPr/>
        </p:nvGrpSpPr>
        <p:grpSpPr>
          <a:xfrm>
            <a:off x="1463040" y="1497274"/>
            <a:ext cx="8430768" cy="5167312"/>
            <a:chOff x="3448454" y="2286052"/>
            <a:chExt cx="5214974" cy="2539263"/>
          </a:xfrm>
        </p:grpSpPr>
        <p:sp>
          <p:nvSpPr>
            <p:cNvPr id="46" name="Rectangle 45"/>
            <p:cNvSpPr/>
            <p:nvPr/>
          </p:nvSpPr>
          <p:spPr>
            <a:xfrm>
              <a:off x="3448454" y="3427194"/>
              <a:ext cx="2277691" cy="28575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dirty="0">
                  <a:solidFill>
                    <a:schemeClr val="tx1"/>
                  </a:solidFill>
                </a:rPr>
                <a:t>Execution Models</a:t>
              </a:r>
            </a:p>
          </p:txBody>
        </p:sp>
        <p:sp>
          <p:nvSpPr>
            <p:cNvPr id="49" name="Rectangle 48"/>
            <p:cNvSpPr/>
            <p:nvPr/>
          </p:nvSpPr>
          <p:spPr>
            <a:xfrm>
              <a:off x="5984522" y="2286052"/>
              <a:ext cx="2672308" cy="32618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r>
                <a:rPr lang="en-US" dirty="0">
                  <a:solidFill>
                    <a:schemeClr val="tx1"/>
                  </a:solidFill>
                </a:rPr>
                <a:t>Batch Processing</a:t>
              </a:r>
            </a:p>
          </p:txBody>
        </p:sp>
        <p:sp>
          <p:nvSpPr>
            <p:cNvPr id="50" name="Rectangle 49"/>
            <p:cNvSpPr/>
            <p:nvPr/>
          </p:nvSpPr>
          <p:spPr>
            <a:xfrm>
              <a:off x="5984523" y="2832694"/>
              <a:ext cx="2678905" cy="35719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r>
                <a:rPr lang="en-US" dirty="0">
                  <a:solidFill>
                    <a:schemeClr val="tx1"/>
                  </a:solidFill>
                </a:rPr>
                <a:t>Interactive Processing (Online Processing)</a:t>
              </a:r>
            </a:p>
          </p:txBody>
        </p:sp>
        <p:sp>
          <p:nvSpPr>
            <p:cNvPr id="55" name="Rectangle 54"/>
            <p:cNvSpPr/>
            <p:nvPr/>
          </p:nvSpPr>
          <p:spPr>
            <a:xfrm>
              <a:off x="5984523" y="3410342"/>
              <a:ext cx="2678905" cy="32468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r>
                <a:rPr lang="en-US" dirty="0">
                  <a:solidFill>
                    <a:schemeClr val="tx1"/>
                  </a:solidFill>
                </a:rPr>
                <a:t>Stream Processing</a:t>
              </a:r>
            </a:p>
          </p:txBody>
        </p:sp>
        <p:sp>
          <p:nvSpPr>
            <p:cNvPr id="62" name="Rectangle 61"/>
            <p:cNvSpPr/>
            <p:nvPr/>
          </p:nvSpPr>
          <p:spPr>
            <a:xfrm>
              <a:off x="5984523" y="3955486"/>
              <a:ext cx="2678905" cy="32468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r>
                <a:rPr lang="en-US" dirty="0">
                  <a:solidFill>
                    <a:schemeClr val="tx1"/>
                  </a:solidFill>
                </a:rPr>
                <a:t>Real-time Processing</a:t>
              </a:r>
            </a:p>
          </p:txBody>
        </p:sp>
        <p:sp>
          <p:nvSpPr>
            <p:cNvPr id="65" name="Rectangle 64"/>
            <p:cNvSpPr/>
            <p:nvPr/>
          </p:nvSpPr>
          <p:spPr>
            <a:xfrm>
              <a:off x="5984523" y="4500629"/>
              <a:ext cx="2678905" cy="32468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r>
                <a:rPr lang="en-US" dirty="0">
                  <a:solidFill>
                    <a:schemeClr val="tx1"/>
                  </a:solidFill>
                </a:rPr>
                <a:t>Parallel Processing</a:t>
              </a:r>
            </a:p>
          </p:txBody>
        </p:sp>
        <p:cxnSp>
          <p:nvCxnSpPr>
            <p:cNvPr id="80" name="Elbow Connector 79"/>
            <p:cNvCxnSpPr>
              <a:stCxn id="46" idx="3"/>
              <a:endCxn id="49" idx="1"/>
            </p:cNvCxnSpPr>
            <p:nvPr/>
          </p:nvCxnSpPr>
          <p:spPr>
            <a:xfrm flipV="1">
              <a:off x="5726144" y="2449144"/>
              <a:ext cx="258378" cy="1120926"/>
            </a:xfrm>
            <a:prstGeom prst="bentConnector3">
              <a:avLst>
                <a:gd name="adj1" fmla="val 50000"/>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2" name="Shape 81"/>
            <p:cNvCxnSpPr>
              <a:stCxn id="46" idx="3"/>
              <a:endCxn id="50" idx="1"/>
            </p:cNvCxnSpPr>
            <p:nvPr/>
          </p:nvCxnSpPr>
          <p:spPr>
            <a:xfrm flipV="1">
              <a:off x="5726144" y="3011290"/>
              <a:ext cx="258378" cy="558781"/>
            </a:xfrm>
            <a:prstGeom prst="bentConnector3">
              <a:avLst>
                <a:gd name="adj1" fmla="val 50000"/>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Elbow Connector 84"/>
            <p:cNvCxnSpPr>
              <a:stCxn id="55" idx="1"/>
              <a:endCxn id="46" idx="3"/>
            </p:cNvCxnSpPr>
            <p:nvPr/>
          </p:nvCxnSpPr>
          <p:spPr>
            <a:xfrm rot="10800000">
              <a:off x="5726144" y="3570072"/>
              <a:ext cx="258378" cy="2615"/>
            </a:xfrm>
            <a:prstGeom prst="bentConnector3">
              <a:avLst>
                <a:gd name="adj1" fmla="val 50000"/>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Elbow Connector 86"/>
            <p:cNvCxnSpPr>
              <a:stCxn id="62" idx="1"/>
              <a:endCxn id="46" idx="3"/>
            </p:cNvCxnSpPr>
            <p:nvPr/>
          </p:nvCxnSpPr>
          <p:spPr>
            <a:xfrm rot="10800000">
              <a:off x="5726144" y="3570072"/>
              <a:ext cx="258378" cy="547759"/>
            </a:xfrm>
            <a:prstGeom prst="bentConnector3">
              <a:avLst>
                <a:gd name="adj1" fmla="val 50000"/>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Elbow Connector 17"/>
            <p:cNvCxnSpPr>
              <a:stCxn id="46" idx="3"/>
              <a:endCxn id="65" idx="1"/>
            </p:cNvCxnSpPr>
            <p:nvPr/>
          </p:nvCxnSpPr>
          <p:spPr>
            <a:xfrm>
              <a:off x="5726144" y="3570070"/>
              <a:ext cx="258378" cy="1092902"/>
            </a:xfrm>
            <a:prstGeom prst="bentConnector3">
              <a:avLst>
                <a:gd name="adj1" fmla="val 50000"/>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4343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182" y="261216"/>
            <a:ext cx="10515600" cy="1325563"/>
          </a:xfrm>
        </p:spPr>
        <p:txBody>
          <a:bodyPr vert="horz" lIns="91440" tIns="45720" rIns="91440" bIns="45720" rtlCol="0" anchor="ctr">
            <a:normAutofit/>
          </a:bodyPr>
          <a:lstStyle/>
          <a:p>
            <a:r>
              <a:rPr lang="en-US" dirty="0"/>
              <a:t>Batch Processing</a:t>
            </a:r>
          </a:p>
        </p:txBody>
      </p:sp>
      <p:sp>
        <p:nvSpPr>
          <p:cNvPr id="4" name="Content Placeholder 44"/>
          <p:cNvSpPr>
            <a:spLocks noGrp="1"/>
          </p:cNvSpPr>
          <p:nvPr>
            <p:ph idx="1"/>
          </p:nvPr>
        </p:nvSpPr>
        <p:spPr>
          <a:xfrm>
            <a:off x="513172" y="2433686"/>
            <a:ext cx="11113008" cy="2415406"/>
          </a:xfrm>
          <a:solidFill>
            <a:srgbClr val="92D050"/>
          </a:solidFill>
        </p:spPr>
        <p:txBody>
          <a:bodyPr>
            <a:noAutofit/>
          </a:bodyPr>
          <a:lstStyle/>
          <a:p>
            <a:r>
              <a:rPr lang="en-US" sz="2000" b="1" dirty="0">
                <a:solidFill>
                  <a:schemeClr val="tx1"/>
                </a:solidFill>
              </a:rPr>
              <a:t>Batch Processing</a:t>
            </a:r>
            <a:r>
              <a:rPr lang="en-US" sz="2000" dirty="0">
                <a:solidFill>
                  <a:schemeClr val="tx1"/>
                </a:solidFill>
              </a:rPr>
              <a:t>:  allows  users  to  submit series of programs (jobs) and they will be executed to completion  without  further  user  input and manual intervention.</a:t>
            </a:r>
          </a:p>
          <a:p>
            <a:pPr lvl="1"/>
            <a:r>
              <a:rPr lang="en-US" sz="2000" dirty="0"/>
              <a:t>Is </a:t>
            </a:r>
            <a:r>
              <a:rPr lang="en-US" sz="2000" dirty="0" err="1"/>
              <a:t>Hadoop</a:t>
            </a:r>
            <a:r>
              <a:rPr lang="en-US" sz="2000" dirty="0"/>
              <a:t> a batch processing framework?</a:t>
            </a:r>
          </a:p>
          <a:p>
            <a:pPr lvl="2"/>
            <a:r>
              <a:rPr lang="en-US" dirty="0"/>
              <a:t>In better words, </a:t>
            </a:r>
            <a:r>
              <a:rPr lang="en-US" dirty="0" err="1"/>
              <a:t>Hadoop</a:t>
            </a:r>
            <a:r>
              <a:rPr lang="en-US" dirty="0"/>
              <a:t> is an open source distributed processing framework.</a:t>
            </a:r>
          </a:p>
          <a:p>
            <a:pPr lvl="2"/>
            <a:r>
              <a:rPr lang="en-US" dirty="0" err="1"/>
              <a:t>Hadoop</a:t>
            </a:r>
            <a:r>
              <a:rPr lang="en-US" dirty="0"/>
              <a:t> Map-Reduce is best suited for batch processing.</a:t>
            </a:r>
          </a:p>
          <a:p>
            <a:pPr lvl="1"/>
            <a:r>
              <a:rPr lang="en-US" sz="2000" dirty="0">
                <a:solidFill>
                  <a:schemeClr val="tx1"/>
                </a:solidFill>
              </a:rPr>
              <a:t>Spark and Storm can be used for real time and stream processing.</a:t>
            </a:r>
          </a:p>
          <a:p>
            <a:pPr lvl="1"/>
            <a:r>
              <a:rPr lang="en-US" sz="2000" dirty="0"/>
              <a:t>Strom-Hadoop for real-time processing.</a:t>
            </a:r>
            <a:endParaRPr lang="en-US" sz="2000" dirty="0">
              <a:solidFill>
                <a:schemeClr val="tx1"/>
              </a:solidFill>
            </a:endParaRPr>
          </a:p>
        </p:txBody>
      </p:sp>
    </p:spTree>
    <p:extLst>
      <p:ext uri="{BB962C8B-B14F-4D97-AF65-F5344CB8AC3E}">
        <p14:creationId xmlns:p14="http://schemas.microsoft.com/office/powerpoint/2010/main" val="19498654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82879" y="264027"/>
            <a:ext cx="10515600" cy="1325563"/>
          </a:xfrm>
        </p:spPr>
        <p:txBody>
          <a:bodyPr vert="horz" lIns="91440" tIns="45720" rIns="91440" bIns="45720" rtlCol="0" anchor="ctr">
            <a:normAutofit/>
          </a:bodyPr>
          <a:lstStyle/>
          <a:p>
            <a:r>
              <a:rPr lang="en-US" dirty="0"/>
              <a:t>Batch Processing</a:t>
            </a:r>
          </a:p>
        </p:txBody>
      </p:sp>
      <p:grpSp>
        <p:nvGrpSpPr>
          <p:cNvPr id="4" name="Group 3"/>
          <p:cNvGrpSpPr/>
          <p:nvPr/>
        </p:nvGrpSpPr>
        <p:grpSpPr>
          <a:xfrm>
            <a:off x="1280160" y="1499616"/>
            <a:ext cx="8321040" cy="4749697"/>
            <a:chOff x="4070255" y="3065845"/>
            <a:chExt cx="4847496" cy="3183468"/>
          </a:xfrm>
        </p:grpSpPr>
        <p:sp>
          <p:nvSpPr>
            <p:cNvPr id="5" name="Rectangle 4"/>
            <p:cNvSpPr/>
            <p:nvPr/>
          </p:nvSpPr>
          <p:spPr>
            <a:xfrm>
              <a:off x="6774611" y="3065845"/>
              <a:ext cx="2143140" cy="32618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r>
                <a:rPr lang="en-US" sz="2000" dirty="0">
                  <a:solidFill>
                    <a:schemeClr val="tx1"/>
                  </a:solidFill>
                </a:rPr>
                <a:t>Bag of Tasks</a:t>
              </a:r>
            </a:p>
          </p:txBody>
        </p:sp>
        <p:sp>
          <p:nvSpPr>
            <p:cNvPr id="6" name="Rectangle 5"/>
            <p:cNvSpPr/>
            <p:nvPr/>
          </p:nvSpPr>
          <p:spPr>
            <a:xfrm>
              <a:off x="6774611" y="3668586"/>
              <a:ext cx="2143140" cy="32618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r>
                <a:rPr lang="en-US" sz="2000" dirty="0">
                  <a:solidFill>
                    <a:schemeClr val="tx1"/>
                  </a:solidFill>
                </a:rPr>
                <a:t>High Performance Computing jobs</a:t>
              </a:r>
            </a:p>
          </p:txBody>
        </p:sp>
        <p:sp>
          <p:nvSpPr>
            <p:cNvPr id="7" name="Rectangle 6"/>
            <p:cNvSpPr/>
            <p:nvPr/>
          </p:nvSpPr>
          <p:spPr>
            <a:xfrm>
              <a:off x="6774611" y="4194792"/>
              <a:ext cx="2143140" cy="32618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r>
                <a:rPr lang="en-US" sz="2000" dirty="0">
                  <a:solidFill>
                    <a:schemeClr val="tx1"/>
                  </a:solidFill>
                </a:rPr>
                <a:t>Scientific Workflows</a:t>
              </a:r>
            </a:p>
          </p:txBody>
        </p:sp>
        <p:sp>
          <p:nvSpPr>
            <p:cNvPr id="8" name="Rectangle 7"/>
            <p:cNvSpPr/>
            <p:nvPr/>
          </p:nvSpPr>
          <p:spPr>
            <a:xfrm>
              <a:off x="6774611" y="4952542"/>
              <a:ext cx="2143140" cy="32618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r>
                <a:rPr lang="en-US" sz="2000" dirty="0">
                  <a:solidFill>
                    <a:schemeClr val="tx1"/>
                  </a:solidFill>
                </a:rPr>
                <a:t>Parameter Sweep Tasks</a:t>
              </a:r>
            </a:p>
          </p:txBody>
        </p:sp>
        <p:sp>
          <p:nvSpPr>
            <p:cNvPr id="10" name="Rectangle 9"/>
            <p:cNvSpPr/>
            <p:nvPr/>
          </p:nvSpPr>
          <p:spPr>
            <a:xfrm>
              <a:off x="4070255" y="4449655"/>
              <a:ext cx="2143140" cy="32618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r>
                <a:rPr lang="en-US" sz="2000" dirty="0">
                  <a:solidFill>
                    <a:schemeClr val="tx1"/>
                  </a:solidFill>
                </a:rPr>
                <a:t>Batch Processing</a:t>
              </a:r>
            </a:p>
          </p:txBody>
        </p:sp>
        <p:cxnSp>
          <p:nvCxnSpPr>
            <p:cNvPr id="11" name="Elbow Connector 10"/>
            <p:cNvCxnSpPr>
              <a:stCxn id="10" idx="3"/>
              <a:endCxn id="5" idx="1"/>
            </p:cNvCxnSpPr>
            <p:nvPr/>
          </p:nvCxnSpPr>
          <p:spPr>
            <a:xfrm flipV="1">
              <a:off x="6213395" y="3228937"/>
              <a:ext cx="561216" cy="1383810"/>
            </a:xfrm>
            <a:prstGeom prst="bentConnector3">
              <a:avLst>
                <a:gd name="adj1" fmla="val 50000"/>
              </a:avLst>
            </a:prstGeom>
            <a:ln w="3175" cap="sq">
              <a:solidFill>
                <a:schemeClr val="bg1">
                  <a:lumMod val="6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2" name="Elbow Connector 11"/>
            <p:cNvCxnSpPr>
              <a:stCxn id="10" idx="3"/>
              <a:endCxn id="6" idx="1"/>
            </p:cNvCxnSpPr>
            <p:nvPr/>
          </p:nvCxnSpPr>
          <p:spPr>
            <a:xfrm flipV="1">
              <a:off x="6213395" y="3831679"/>
              <a:ext cx="561216" cy="781068"/>
            </a:xfrm>
            <a:prstGeom prst="bentConnector3">
              <a:avLst>
                <a:gd name="adj1" fmla="val 50000"/>
              </a:avLst>
            </a:prstGeom>
            <a:ln w="3175" cap="sq">
              <a:solidFill>
                <a:schemeClr val="bg1">
                  <a:lumMod val="6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4" name="Elbow Connector 13"/>
            <p:cNvCxnSpPr>
              <a:stCxn id="7" idx="1"/>
              <a:endCxn id="10" idx="3"/>
            </p:cNvCxnSpPr>
            <p:nvPr/>
          </p:nvCxnSpPr>
          <p:spPr>
            <a:xfrm rot="10800000" flipV="1">
              <a:off x="6213395" y="4357885"/>
              <a:ext cx="561216" cy="254863"/>
            </a:xfrm>
            <a:prstGeom prst="bentConnector3">
              <a:avLst>
                <a:gd name="adj1" fmla="val 50000"/>
              </a:avLst>
            </a:prstGeom>
            <a:ln w="3175" cap="sq">
              <a:solidFill>
                <a:schemeClr val="bg1">
                  <a:lumMod val="6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5" name="Shape 25"/>
            <p:cNvCxnSpPr>
              <a:stCxn id="10" idx="3"/>
              <a:endCxn id="8" idx="1"/>
            </p:cNvCxnSpPr>
            <p:nvPr/>
          </p:nvCxnSpPr>
          <p:spPr>
            <a:xfrm>
              <a:off x="6213395" y="4612748"/>
              <a:ext cx="561216" cy="502887"/>
            </a:xfrm>
            <a:prstGeom prst="bentConnector3">
              <a:avLst>
                <a:gd name="adj1" fmla="val 50000"/>
              </a:avLst>
            </a:prstGeom>
            <a:ln w="3175" cap="sq">
              <a:solidFill>
                <a:schemeClr val="bg1">
                  <a:lumMod val="6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6774611" y="5422567"/>
              <a:ext cx="2143140" cy="32618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r>
                <a:rPr lang="en-US" sz="2000" dirty="0">
                  <a:solidFill>
                    <a:schemeClr val="tx1"/>
                  </a:solidFill>
                </a:rPr>
                <a:t>Map-Reduce Tasks</a:t>
              </a:r>
            </a:p>
          </p:txBody>
        </p:sp>
        <p:cxnSp>
          <p:nvCxnSpPr>
            <p:cNvPr id="17" name="Elbow Connector 16"/>
            <p:cNvCxnSpPr>
              <a:stCxn id="10" idx="3"/>
              <a:endCxn id="16" idx="1"/>
            </p:cNvCxnSpPr>
            <p:nvPr/>
          </p:nvCxnSpPr>
          <p:spPr>
            <a:xfrm>
              <a:off x="6213395" y="4612747"/>
              <a:ext cx="561216" cy="972912"/>
            </a:xfrm>
            <a:prstGeom prst="bentConnector3">
              <a:avLst>
                <a:gd name="adj1" fmla="val 50000"/>
              </a:avLst>
            </a:prstGeom>
            <a:ln w="3175" cap="sq">
              <a:solidFill>
                <a:schemeClr val="bg1">
                  <a:lumMod val="6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6774611" y="5923128"/>
              <a:ext cx="2143140" cy="32618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r>
                <a:rPr lang="en-US" sz="2000" dirty="0">
                  <a:solidFill>
                    <a:schemeClr val="tx1"/>
                  </a:solidFill>
                </a:rPr>
                <a:t>Graph Processing</a:t>
              </a:r>
            </a:p>
          </p:txBody>
        </p:sp>
        <p:cxnSp>
          <p:nvCxnSpPr>
            <p:cNvPr id="19" name="Elbow Connector 18"/>
            <p:cNvCxnSpPr>
              <a:stCxn id="10" idx="3"/>
              <a:endCxn id="18" idx="1"/>
            </p:cNvCxnSpPr>
            <p:nvPr/>
          </p:nvCxnSpPr>
          <p:spPr>
            <a:xfrm>
              <a:off x="6213395" y="4612748"/>
              <a:ext cx="561216" cy="1473473"/>
            </a:xfrm>
            <a:prstGeom prst="bentConnector3">
              <a:avLst>
                <a:gd name="adj1" fmla="val 50000"/>
              </a:avLst>
            </a:prstGeom>
            <a:ln w="3175" cap="sq">
              <a:solidFill>
                <a:schemeClr val="bg1">
                  <a:lumMod val="65000"/>
                </a:schemeClr>
              </a:solidFill>
              <a:prstDash val="solid"/>
              <a:miter lim="800000"/>
            </a:ln>
          </p:spPr>
          <p:style>
            <a:lnRef idx="1">
              <a:schemeClr val="accent1"/>
            </a:lnRef>
            <a:fillRef idx="0">
              <a:schemeClr val="accent1"/>
            </a:fillRef>
            <a:effectRef idx="0">
              <a:schemeClr val="accent1"/>
            </a:effectRef>
            <a:fontRef idx="minor">
              <a:schemeClr val="tx1"/>
            </a:fontRef>
          </p:style>
        </p:cxnSp>
      </p:grpSp>
      <p:sp>
        <p:nvSpPr>
          <p:cNvPr id="3" name="TextBox 2"/>
          <p:cNvSpPr txBox="1"/>
          <p:nvPr/>
        </p:nvSpPr>
        <p:spPr>
          <a:xfrm>
            <a:off x="8162366" y="191692"/>
            <a:ext cx="3281490" cy="830997"/>
          </a:xfrm>
          <a:prstGeom prst="rect">
            <a:avLst/>
          </a:prstGeom>
          <a:solidFill>
            <a:srgbClr val="92D050"/>
          </a:solidFill>
        </p:spPr>
        <p:txBody>
          <a:bodyPr wrap="square" rtlCol="0">
            <a:spAutoFit/>
          </a:bodyPr>
          <a:lstStyle/>
          <a:p>
            <a:r>
              <a:rPr lang="en-US" sz="1200" dirty="0">
                <a:solidFill>
                  <a:srgbClr val="FF0000"/>
                </a:solidFill>
              </a:rPr>
              <a:t>jobs that are parallel among which there are no dependencies. Jobs can be executed out of the submission order, such as video encoding/ decoding, etc.</a:t>
            </a:r>
          </a:p>
        </p:txBody>
      </p:sp>
      <p:sp>
        <p:nvSpPr>
          <p:cNvPr id="21" name="TextBox 20"/>
          <p:cNvSpPr txBox="1"/>
          <p:nvPr/>
        </p:nvSpPr>
        <p:spPr>
          <a:xfrm>
            <a:off x="9803111" y="1308754"/>
            <a:ext cx="2264198" cy="738664"/>
          </a:xfrm>
          <a:prstGeom prst="rect">
            <a:avLst/>
          </a:prstGeom>
          <a:solidFill>
            <a:srgbClr val="92D050"/>
          </a:solidFill>
        </p:spPr>
        <p:txBody>
          <a:bodyPr wrap="square" rtlCol="0">
            <a:spAutoFit/>
          </a:bodyPr>
          <a:lstStyle/>
          <a:p>
            <a:r>
              <a:rPr lang="en-US" sz="1400" dirty="0">
                <a:solidFill>
                  <a:srgbClr val="FF0000"/>
                </a:solidFill>
              </a:rPr>
              <a:t>At least more than 1012 floating point computations per sec.</a:t>
            </a:r>
          </a:p>
        </p:txBody>
      </p:sp>
      <p:sp>
        <p:nvSpPr>
          <p:cNvPr id="22" name="TextBox 21"/>
          <p:cNvSpPr txBox="1"/>
          <p:nvPr/>
        </p:nvSpPr>
        <p:spPr>
          <a:xfrm>
            <a:off x="2265523" y="2780993"/>
            <a:ext cx="2864225" cy="646331"/>
          </a:xfrm>
          <a:prstGeom prst="rect">
            <a:avLst/>
          </a:prstGeom>
          <a:solidFill>
            <a:srgbClr val="92D050"/>
          </a:solidFill>
        </p:spPr>
        <p:txBody>
          <a:bodyPr wrap="square" rtlCol="0">
            <a:spAutoFit/>
          </a:bodyPr>
          <a:lstStyle/>
          <a:p>
            <a:r>
              <a:rPr lang="en-US" sz="1200" dirty="0">
                <a:solidFill>
                  <a:srgbClr val="FF0000"/>
                </a:solidFill>
              </a:rPr>
              <a:t> to compose and execute a series of computational or data manipulation steps, or </a:t>
            </a:r>
            <a:r>
              <a:rPr lang="en-US" sz="1200" b="1" dirty="0">
                <a:solidFill>
                  <a:srgbClr val="FF0000"/>
                </a:solidFill>
              </a:rPr>
              <a:t>workflow</a:t>
            </a:r>
            <a:r>
              <a:rPr lang="en-US" sz="1200" dirty="0">
                <a:solidFill>
                  <a:srgbClr val="FF0000"/>
                </a:solidFill>
              </a:rPr>
              <a:t>, in  a </a:t>
            </a:r>
            <a:r>
              <a:rPr lang="en-US" sz="1200" b="1" dirty="0">
                <a:solidFill>
                  <a:srgbClr val="FF0000"/>
                </a:solidFill>
              </a:rPr>
              <a:t>scientific</a:t>
            </a:r>
            <a:r>
              <a:rPr lang="en-US" sz="1200" dirty="0">
                <a:solidFill>
                  <a:srgbClr val="FF0000"/>
                </a:solidFill>
              </a:rPr>
              <a:t> application.</a:t>
            </a:r>
          </a:p>
        </p:txBody>
      </p:sp>
      <p:sp>
        <p:nvSpPr>
          <p:cNvPr id="23" name="TextBox 22"/>
          <p:cNvSpPr txBox="1"/>
          <p:nvPr/>
        </p:nvSpPr>
        <p:spPr>
          <a:xfrm>
            <a:off x="1688800" y="4209890"/>
            <a:ext cx="3541956" cy="738664"/>
          </a:xfrm>
          <a:prstGeom prst="rect">
            <a:avLst/>
          </a:prstGeom>
          <a:solidFill>
            <a:srgbClr val="92D050"/>
          </a:solidFill>
        </p:spPr>
        <p:txBody>
          <a:bodyPr wrap="square" rtlCol="0">
            <a:spAutoFit/>
          </a:bodyPr>
          <a:lstStyle/>
          <a:p>
            <a:r>
              <a:rPr lang="en-US" sz="1400" dirty="0">
                <a:solidFill>
                  <a:srgbClr val="FF0000"/>
                </a:solidFill>
              </a:rPr>
              <a:t>the analysis engine that adjusts the value of </a:t>
            </a:r>
            <a:r>
              <a:rPr lang="en-US" sz="1400" b="1" dirty="0">
                <a:solidFill>
                  <a:srgbClr val="FF0000"/>
                </a:solidFill>
              </a:rPr>
              <a:t>parameter</a:t>
            </a:r>
            <a:r>
              <a:rPr lang="en-US" sz="1400" dirty="0">
                <a:solidFill>
                  <a:srgbClr val="FF0000"/>
                </a:solidFill>
              </a:rPr>
              <a:t> by </a:t>
            </a:r>
            <a:r>
              <a:rPr lang="en-US" sz="1400" b="1" dirty="0">
                <a:solidFill>
                  <a:srgbClr val="FF0000"/>
                </a:solidFill>
              </a:rPr>
              <a:t>sweeping</a:t>
            </a:r>
            <a:r>
              <a:rPr lang="en-US" sz="1400" dirty="0">
                <a:solidFill>
                  <a:srgbClr val="FF0000"/>
                </a:solidFill>
              </a:rPr>
              <a:t> the </a:t>
            </a:r>
            <a:r>
              <a:rPr lang="en-US" sz="1400" b="1" dirty="0">
                <a:solidFill>
                  <a:srgbClr val="FF0000"/>
                </a:solidFill>
              </a:rPr>
              <a:t>parameter</a:t>
            </a:r>
            <a:r>
              <a:rPr lang="en-US" sz="1400" dirty="0">
                <a:solidFill>
                  <a:srgbClr val="FF0000"/>
                </a:solidFill>
              </a:rPr>
              <a:t> values through a user defined range.</a:t>
            </a:r>
          </a:p>
        </p:txBody>
      </p:sp>
      <p:sp>
        <p:nvSpPr>
          <p:cNvPr id="24" name="TextBox 23"/>
          <p:cNvSpPr txBox="1"/>
          <p:nvPr/>
        </p:nvSpPr>
        <p:spPr>
          <a:xfrm>
            <a:off x="34812" y="5154321"/>
            <a:ext cx="4702326" cy="738664"/>
          </a:xfrm>
          <a:prstGeom prst="rect">
            <a:avLst/>
          </a:prstGeom>
          <a:solidFill>
            <a:srgbClr val="92D050"/>
          </a:solidFill>
        </p:spPr>
        <p:txBody>
          <a:bodyPr wrap="square" rtlCol="0">
            <a:spAutoFit/>
          </a:bodyPr>
          <a:lstStyle/>
          <a:p>
            <a:r>
              <a:rPr lang="en-US" sz="1400" dirty="0">
                <a:solidFill>
                  <a:srgbClr val="FF0000"/>
                </a:solidFill>
              </a:rPr>
              <a:t>A </a:t>
            </a:r>
            <a:r>
              <a:rPr lang="en-US" sz="1400" dirty="0">
                <a:solidFill>
                  <a:srgbClr val="FF0000"/>
                </a:solidFill>
                <a:hlinkClick r:id="rId2" tooltip="Programming model"/>
              </a:rPr>
              <a:t>programming model</a:t>
            </a:r>
            <a:r>
              <a:rPr lang="en-US" sz="1400" dirty="0">
                <a:solidFill>
                  <a:srgbClr val="FF0000"/>
                </a:solidFill>
              </a:rPr>
              <a:t> and an associated implementation for processing and generating </a:t>
            </a:r>
            <a:r>
              <a:rPr lang="en-US" sz="1400" dirty="0">
                <a:solidFill>
                  <a:srgbClr val="FF0000"/>
                </a:solidFill>
                <a:hlinkClick r:id="rId3" tooltip="Big data"/>
              </a:rPr>
              <a:t>big data</a:t>
            </a:r>
            <a:r>
              <a:rPr lang="en-US" sz="1400" dirty="0">
                <a:solidFill>
                  <a:srgbClr val="FF0000"/>
                </a:solidFill>
              </a:rPr>
              <a:t> sets with a </a:t>
            </a:r>
            <a:r>
              <a:rPr lang="en-US" sz="1400" dirty="0">
                <a:solidFill>
                  <a:srgbClr val="FF0000"/>
                </a:solidFill>
                <a:hlinkClick r:id="rId4" tooltip="Parallel computing"/>
              </a:rPr>
              <a:t>parallel</a:t>
            </a:r>
            <a:r>
              <a:rPr lang="en-US" sz="1400" dirty="0">
                <a:solidFill>
                  <a:srgbClr val="FF0000"/>
                </a:solidFill>
              </a:rPr>
              <a:t>, </a:t>
            </a:r>
            <a:r>
              <a:rPr lang="en-US" sz="1400" dirty="0">
                <a:solidFill>
                  <a:srgbClr val="FF0000"/>
                </a:solidFill>
                <a:hlinkClick r:id="rId5" tooltip="Distributed computing"/>
              </a:rPr>
              <a:t>distributed</a:t>
            </a:r>
            <a:r>
              <a:rPr lang="en-US" sz="1400" dirty="0">
                <a:solidFill>
                  <a:srgbClr val="FF0000"/>
                </a:solidFill>
              </a:rPr>
              <a:t> algorithm on a </a:t>
            </a:r>
            <a:r>
              <a:rPr lang="en-US" sz="1400" dirty="0">
                <a:solidFill>
                  <a:srgbClr val="FF0000"/>
                </a:solidFill>
                <a:hlinkClick r:id="rId6" tooltip="Cluster (computing)"/>
              </a:rPr>
              <a:t>cluster</a:t>
            </a:r>
            <a:endParaRPr lang="en-US" sz="1400" dirty="0">
              <a:solidFill>
                <a:srgbClr val="FF0000"/>
              </a:solidFill>
            </a:endParaRPr>
          </a:p>
        </p:txBody>
      </p:sp>
      <p:sp>
        <p:nvSpPr>
          <p:cNvPr id="25" name="TextBox 24"/>
          <p:cNvSpPr txBox="1"/>
          <p:nvPr/>
        </p:nvSpPr>
        <p:spPr>
          <a:xfrm>
            <a:off x="0" y="6112155"/>
            <a:ext cx="5865802" cy="646331"/>
          </a:xfrm>
          <a:prstGeom prst="rect">
            <a:avLst/>
          </a:prstGeom>
          <a:solidFill>
            <a:srgbClr val="92D050"/>
          </a:solidFill>
        </p:spPr>
        <p:txBody>
          <a:bodyPr wrap="square" rtlCol="0">
            <a:spAutoFit/>
          </a:bodyPr>
          <a:lstStyle/>
          <a:p>
            <a:r>
              <a:rPr lang="en-US" sz="1200" dirty="0">
                <a:solidFill>
                  <a:srgbClr val="FF0000"/>
                </a:solidFill>
              </a:rPr>
              <a:t>where massive </a:t>
            </a:r>
            <a:r>
              <a:rPr lang="en-US" sz="1200" b="1" dirty="0">
                <a:solidFill>
                  <a:srgbClr val="FF0000"/>
                </a:solidFill>
              </a:rPr>
              <a:t>graphs</a:t>
            </a:r>
            <a:r>
              <a:rPr lang="en-US" sz="1200" dirty="0">
                <a:solidFill>
                  <a:srgbClr val="FF0000"/>
                </a:solidFill>
              </a:rPr>
              <a:t> (such as the web </a:t>
            </a:r>
            <a:r>
              <a:rPr lang="en-US" sz="1200" b="1" dirty="0">
                <a:solidFill>
                  <a:srgbClr val="FF0000"/>
                </a:solidFill>
              </a:rPr>
              <a:t>graph</a:t>
            </a:r>
            <a:r>
              <a:rPr lang="en-US" sz="1200" dirty="0">
                <a:solidFill>
                  <a:srgbClr val="FF0000"/>
                </a:solidFill>
              </a:rPr>
              <a:t>) are </a:t>
            </a:r>
            <a:r>
              <a:rPr lang="en-US" sz="1200" b="1" dirty="0">
                <a:solidFill>
                  <a:srgbClr val="FF0000"/>
                </a:solidFill>
              </a:rPr>
              <a:t>processed</a:t>
            </a:r>
            <a:r>
              <a:rPr lang="en-US" sz="1200" dirty="0">
                <a:solidFill>
                  <a:srgbClr val="FF0000"/>
                </a:solidFill>
              </a:rPr>
              <a:t> for information, and machine learning, where massive amounts of data are used to train models such as clustering algorithms and frequent pattern mining</a:t>
            </a:r>
          </a:p>
        </p:txBody>
      </p:sp>
      <p:cxnSp>
        <p:nvCxnSpPr>
          <p:cNvPr id="27" name="Straight Arrow Connector 26"/>
          <p:cNvCxnSpPr/>
          <p:nvPr/>
        </p:nvCxnSpPr>
        <p:spPr>
          <a:xfrm flipV="1">
            <a:off x="6938682" y="835310"/>
            <a:ext cx="1223683" cy="6367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9601200" y="1986280"/>
            <a:ext cx="661326" cy="5148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H="1" flipV="1">
            <a:off x="4958997" y="2998694"/>
            <a:ext cx="963365" cy="2262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H="1">
            <a:off x="4572000" y="4801210"/>
            <a:ext cx="12938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H="1">
            <a:off x="3697635" y="5361852"/>
            <a:ext cx="2168167" cy="3843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8" idx="1"/>
          </p:cNvCxnSpPr>
          <p:nvPr/>
        </p:nvCxnSpPr>
        <p:spPr>
          <a:xfrm flipH="1">
            <a:off x="4838278" y="6005981"/>
            <a:ext cx="1084084" cy="92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2679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219653"/>
            <a:ext cx="10515600" cy="683318"/>
          </a:xfrm>
        </p:spPr>
        <p:txBody>
          <a:bodyPr vert="horz" lIns="91440" tIns="45720" rIns="91440" bIns="45720" rtlCol="0" anchor="ctr">
            <a:normAutofit fontScale="90000"/>
          </a:bodyPr>
          <a:lstStyle/>
          <a:p>
            <a:r>
              <a:rPr lang="en-US" dirty="0"/>
              <a:t>Interactive (Online) Processing</a:t>
            </a:r>
          </a:p>
        </p:txBody>
      </p:sp>
      <p:sp>
        <p:nvSpPr>
          <p:cNvPr id="3" name="Content Placeholder 2"/>
          <p:cNvSpPr>
            <a:spLocks noGrp="1"/>
          </p:cNvSpPr>
          <p:nvPr>
            <p:ph idx="1"/>
          </p:nvPr>
        </p:nvSpPr>
        <p:spPr>
          <a:xfrm>
            <a:off x="826770" y="971551"/>
            <a:ext cx="10370127" cy="1804266"/>
          </a:xfrm>
          <a:solidFill>
            <a:srgbClr val="92D050"/>
          </a:solidFill>
        </p:spPr>
        <p:txBody>
          <a:bodyPr>
            <a:noAutofit/>
          </a:bodyPr>
          <a:lstStyle/>
          <a:p>
            <a:r>
              <a:rPr lang="en-US" sz="2000" b="1" dirty="0">
                <a:solidFill>
                  <a:schemeClr val="tx1"/>
                </a:solidFill>
              </a:rPr>
              <a:t>Interactive Processing: </a:t>
            </a:r>
            <a:r>
              <a:rPr lang="en-US" sz="2000" dirty="0">
                <a:solidFill>
                  <a:schemeClr val="tx1"/>
                </a:solidFill>
              </a:rPr>
              <a:t>Interactive computing refers to application which accepts </a:t>
            </a:r>
            <a:r>
              <a:rPr lang="en-US" sz="2000" dirty="0">
                <a:solidFill>
                  <a:srgbClr val="FF0000"/>
                </a:solidFill>
              </a:rPr>
              <a:t>input from humans</a:t>
            </a:r>
            <a:r>
              <a:rPr lang="en-US" sz="2000" dirty="0">
                <a:solidFill>
                  <a:schemeClr val="tx1"/>
                </a:solidFill>
              </a:rPr>
              <a:t>, e.g., Web applications, Massively Multiplayer Online (MMO) games.</a:t>
            </a:r>
          </a:p>
          <a:p>
            <a:r>
              <a:rPr lang="en-US" sz="2000" b="1" dirty="0"/>
              <a:t>Online Processing: </a:t>
            </a:r>
            <a:r>
              <a:rPr lang="en-US" sz="2000" dirty="0"/>
              <a:t>Another term for Interactive processing.</a:t>
            </a:r>
          </a:p>
          <a:p>
            <a:pPr lvl="1"/>
            <a:r>
              <a:rPr lang="en-US" sz="2000" dirty="0">
                <a:solidFill>
                  <a:schemeClr val="tx1"/>
                </a:solidFill>
              </a:rPr>
              <a:t>Interactive or online processing requires a user to supply an input.</a:t>
            </a:r>
          </a:p>
          <a:p>
            <a:pPr lvl="1"/>
            <a:r>
              <a:rPr lang="en-US" sz="2000" dirty="0">
                <a:solidFill>
                  <a:srgbClr val="FF0000"/>
                </a:solidFill>
              </a:rPr>
              <a:t>Bar code scanning, online analytical processing</a:t>
            </a:r>
            <a:r>
              <a:rPr lang="en-US" sz="2000" dirty="0">
                <a:solidFill>
                  <a:schemeClr val="tx1"/>
                </a:solidFill>
              </a:rPr>
              <a:t> (OLAP), </a:t>
            </a:r>
            <a:r>
              <a:rPr lang="en-US" sz="2000" dirty="0">
                <a:solidFill>
                  <a:srgbClr val="FF0000"/>
                </a:solidFill>
              </a:rPr>
              <a:t>online transaction processing </a:t>
            </a:r>
            <a:r>
              <a:rPr lang="en-US" sz="2000" dirty="0">
                <a:solidFill>
                  <a:schemeClr val="tx1"/>
                </a:solidFill>
              </a:rPr>
              <a:t>(OLTP)</a:t>
            </a:r>
            <a:endParaRPr lang="en-US" sz="2000" dirty="0"/>
          </a:p>
          <a:p>
            <a:endParaRPr lang="en-US" sz="2000" dirty="0"/>
          </a:p>
        </p:txBody>
      </p:sp>
      <p:sp>
        <p:nvSpPr>
          <p:cNvPr id="4" name="Title 1"/>
          <p:cNvSpPr txBox="1">
            <a:spLocks/>
          </p:cNvSpPr>
          <p:nvPr/>
        </p:nvSpPr>
        <p:spPr>
          <a:xfrm>
            <a:off x="244880" y="2937510"/>
            <a:ext cx="10515600" cy="7627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Stream  Processing</a:t>
            </a:r>
            <a:endParaRPr lang="en-US" dirty="0"/>
          </a:p>
        </p:txBody>
      </p:sp>
      <p:sp>
        <p:nvSpPr>
          <p:cNvPr id="5" name="Content Placeholder 2"/>
          <p:cNvSpPr txBox="1">
            <a:spLocks/>
          </p:cNvSpPr>
          <p:nvPr/>
        </p:nvSpPr>
        <p:spPr>
          <a:xfrm>
            <a:off x="826770" y="3928745"/>
            <a:ext cx="10370127" cy="2663248"/>
          </a:xfrm>
          <a:prstGeom prst="rect">
            <a:avLst/>
          </a:prstGeom>
          <a:solidFill>
            <a:srgbClr val="92D050"/>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a:t>Stream  Processing: </a:t>
            </a:r>
            <a:r>
              <a:rPr lang="en-US" sz="2000"/>
              <a:t>record-by-record analysis of machine data in motion, e.g., </a:t>
            </a:r>
            <a:r>
              <a:rPr lang="en-US" sz="2000">
                <a:solidFill>
                  <a:srgbClr val="FF0000"/>
                </a:solidFill>
              </a:rPr>
              <a:t>Sensor Networks analytics</a:t>
            </a:r>
            <a:r>
              <a:rPr lang="en-US" sz="2000"/>
              <a:t>, </a:t>
            </a:r>
            <a:r>
              <a:rPr lang="en-US" sz="2000">
                <a:solidFill>
                  <a:srgbClr val="FF0000"/>
                </a:solidFill>
              </a:rPr>
              <a:t>Internet of things applications, Online video processing</a:t>
            </a:r>
            <a:r>
              <a:rPr lang="en-US" sz="2000"/>
              <a:t>.</a:t>
            </a:r>
          </a:p>
          <a:p>
            <a:endParaRPr lang="en-US" sz="2000"/>
          </a:p>
          <a:p>
            <a:r>
              <a:rPr lang="en-US" sz="2000"/>
              <a:t>Characteristics</a:t>
            </a:r>
          </a:p>
          <a:p>
            <a:pPr lvl="1"/>
            <a:r>
              <a:rPr lang="en-US" sz="2000"/>
              <a:t>Compute Intensity</a:t>
            </a:r>
          </a:p>
          <a:p>
            <a:pPr lvl="1"/>
            <a:r>
              <a:rPr lang="en-US" sz="2000"/>
              <a:t>Data Parallelism</a:t>
            </a:r>
          </a:p>
          <a:p>
            <a:pPr lvl="1"/>
            <a:r>
              <a:rPr lang="en-US" sz="2000"/>
              <a:t>Data Locality</a:t>
            </a:r>
          </a:p>
          <a:p>
            <a:pPr marL="0" indent="0">
              <a:buFont typeface="Arial" panose="020B0604020202020204" pitchFamily="34" charset="0"/>
              <a:buNone/>
            </a:pPr>
            <a:endParaRPr lang="en-US" sz="2000"/>
          </a:p>
          <a:p>
            <a:endParaRPr lang="en-US" sz="2000" dirty="0"/>
          </a:p>
        </p:txBody>
      </p:sp>
    </p:spTree>
    <p:extLst>
      <p:ext uri="{BB962C8B-B14F-4D97-AF65-F5344CB8AC3E}">
        <p14:creationId xmlns:p14="http://schemas.microsoft.com/office/powerpoint/2010/main" val="11774525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836" y="230043"/>
            <a:ext cx="10515600" cy="1325563"/>
          </a:xfrm>
        </p:spPr>
        <p:txBody>
          <a:bodyPr vert="horz" lIns="91440" tIns="45720" rIns="91440" bIns="45720" rtlCol="0" anchor="ctr">
            <a:normAutofit/>
          </a:bodyPr>
          <a:lstStyle/>
          <a:p>
            <a:r>
              <a:rPr lang="en-US" dirty="0"/>
              <a:t>Real-time Processing</a:t>
            </a:r>
          </a:p>
        </p:txBody>
      </p:sp>
      <p:sp>
        <p:nvSpPr>
          <p:cNvPr id="3" name="Content Placeholder 2"/>
          <p:cNvSpPr>
            <a:spLocks noGrp="1"/>
          </p:cNvSpPr>
          <p:nvPr>
            <p:ph idx="1"/>
          </p:nvPr>
        </p:nvSpPr>
        <p:spPr>
          <a:xfrm>
            <a:off x="838200" y="1999797"/>
            <a:ext cx="7695483" cy="3297918"/>
          </a:xfrm>
          <a:solidFill>
            <a:srgbClr val="92D050"/>
          </a:solidFill>
        </p:spPr>
        <p:txBody>
          <a:bodyPr>
            <a:noAutofit/>
          </a:bodyPr>
          <a:lstStyle/>
          <a:p>
            <a:r>
              <a:rPr lang="en-US" sz="2000" b="1" dirty="0"/>
              <a:t>Real-time Processing: </a:t>
            </a:r>
            <a:r>
              <a:rPr lang="en-US" sz="2000" dirty="0"/>
              <a:t>real time data processing involves a continual input, process and output of data. Data must be processed in a small time period (or near real time). </a:t>
            </a:r>
          </a:p>
          <a:p>
            <a:pPr lvl="1"/>
            <a:r>
              <a:rPr lang="en-US" sz="2000" dirty="0"/>
              <a:t>Hard real-time </a:t>
            </a:r>
          </a:p>
          <a:p>
            <a:pPr lvl="2"/>
            <a:r>
              <a:rPr lang="en-US" dirty="0"/>
              <a:t>Nuclear systems, avionics</a:t>
            </a:r>
          </a:p>
          <a:p>
            <a:pPr lvl="1"/>
            <a:r>
              <a:rPr lang="en-US" sz="2000" dirty="0"/>
              <a:t>Firm real time</a:t>
            </a:r>
          </a:p>
          <a:p>
            <a:pPr lvl="2"/>
            <a:r>
              <a:rPr lang="en-US" dirty="0"/>
              <a:t>Sound system</a:t>
            </a:r>
          </a:p>
          <a:p>
            <a:pPr lvl="1"/>
            <a:r>
              <a:rPr lang="en-US" sz="2000" dirty="0"/>
              <a:t>Soft real-time</a:t>
            </a:r>
          </a:p>
          <a:p>
            <a:pPr lvl="2"/>
            <a:r>
              <a:rPr lang="en-US" dirty="0"/>
              <a:t>Weather stations</a:t>
            </a:r>
          </a:p>
        </p:txBody>
      </p:sp>
      <p:pic>
        <p:nvPicPr>
          <p:cNvPr id="3073" name="Picture 1"/>
          <p:cNvPicPr>
            <a:picLocks noChangeAspect="1" noChangeArrowheads="1"/>
          </p:cNvPicPr>
          <p:nvPr/>
        </p:nvPicPr>
        <p:blipFill>
          <a:blip r:embed="rId3"/>
          <a:srcRect/>
          <a:stretch>
            <a:fillRect/>
          </a:stretch>
        </p:blipFill>
        <p:spPr bwMode="auto">
          <a:xfrm>
            <a:off x="8533683" y="1314020"/>
            <a:ext cx="3123910" cy="1714512"/>
          </a:xfrm>
          <a:prstGeom prst="rect">
            <a:avLst/>
          </a:prstGeom>
          <a:noFill/>
          <a:ln w="9525">
            <a:noFill/>
            <a:miter lim="800000"/>
            <a:headEnd/>
            <a:tailEnd/>
          </a:ln>
          <a:effectLst/>
        </p:spPr>
      </p:pic>
      <p:pic>
        <p:nvPicPr>
          <p:cNvPr id="3075" name="Picture 3"/>
          <p:cNvPicPr>
            <a:picLocks noChangeAspect="1" noChangeArrowheads="1"/>
          </p:cNvPicPr>
          <p:nvPr/>
        </p:nvPicPr>
        <p:blipFill>
          <a:blip r:embed="rId4" cstate="print"/>
          <a:srcRect/>
          <a:stretch>
            <a:fillRect/>
          </a:stretch>
        </p:blipFill>
        <p:spPr bwMode="auto">
          <a:xfrm>
            <a:off x="8633850" y="4068299"/>
            <a:ext cx="2384431" cy="1571636"/>
          </a:xfrm>
          <a:prstGeom prst="rect">
            <a:avLst/>
          </a:prstGeom>
          <a:noFill/>
          <a:ln w="9525">
            <a:noFill/>
            <a:miter lim="800000"/>
            <a:headEnd/>
            <a:tailEnd/>
          </a:ln>
          <a:effectLst/>
        </p:spPr>
      </p:pic>
    </p:spTree>
    <p:extLst>
      <p:ext uri="{BB962C8B-B14F-4D97-AF65-F5344CB8AC3E}">
        <p14:creationId xmlns:p14="http://schemas.microsoft.com/office/powerpoint/2010/main" val="1360143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182" y="292389"/>
            <a:ext cx="10515600" cy="1325563"/>
          </a:xfrm>
        </p:spPr>
        <p:txBody>
          <a:bodyPr vert="horz" lIns="91440" tIns="45720" rIns="91440" bIns="45720" rtlCol="0" anchor="ctr">
            <a:normAutofit/>
          </a:bodyPr>
          <a:lstStyle/>
          <a:p>
            <a:r>
              <a:rPr lang="en-US" dirty="0"/>
              <a:t>Real-time Processing  vs. Stream Processing</a:t>
            </a:r>
          </a:p>
        </p:txBody>
      </p:sp>
      <p:sp>
        <p:nvSpPr>
          <p:cNvPr id="3" name="Content Placeholder 2"/>
          <p:cNvSpPr>
            <a:spLocks noGrp="1"/>
          </p:cNvSpPr>
          <p:nvPr>
            <p:ph idx="1"/>
          </p:nvPr>
        </p:nvSpPr>
        <p:spPr>
          <a:xfrm>
            <a:off x="838200" y="1825625"/>
            <a:ext cx="9525000" cy="1776557"/>
          </a:xfrm>
          <a:solidFill>
            <a:srgbClr val="92D050"/>
          </a:solidFill>
        </p:spPr>
        <p:txBody>
          <a:bodyPr>
            <a:normAutofit/>
          </a:bodyPr>
          <a:lstStyle/>
          <a:p>
            <a:r>
              <a:rPr lang="en-US" sz="2000" dirty="0"/>
              <a:t>There are </a:t>
            </a:r>
            <a:r>
              <a:rPr lang="en-US" sz="2000" i="1" u="sng" dirty="0"/>
              <a:t>no compulsory time limitations</a:t>
            </a:r>
            <a:r>
              <a:rPr lang="en-US" sz="2000" u="sng" dirty="0"/>
              <a:t> in stream processing </a:t>
            </a:r>
            <a:r>
              <a:rPr lang="en-US" sz="2000" dirty="0"/>
              <a:t>while </a:t>
            </a:r>
            <a:r>
              <a:rPr lang="en-US" sz="2000" u="sng" dirty="0"/>
              <a:t>small </a:t>
            </a:r>
            <a:r>
              <a:rPr lang="en-US" sz="2000" i="1" u="sng" dirty="0"/>
              <a:t>guaranteed deadline</a:t>
            </a:r>
            <a:r>
              <a:rPr lang="en-US" sz="2000" u="sng" dirty="0"/>
              <a:t> is compulsory in real-time processing</a:t>
            </a:r>
          </a:p>
          <a:p>
            <a:pPr lvl="1"/>
            <a:r>
              <a:rPr lang="en-US" sz="2000" dirty="0"/>
              <a:t>Other examples: </a:t>
            </a:r>
          </a:p>
          <a:p>
            <a:pPr lvl="1"/>
            <a:r>
              <a:rPr lang="en-US" sz="2000" dirty="0"/>
              <a:t>airline ticket reservations, stock market, Fly-by-wire, antilock brakes, Videoconference applications, VoIP </a:t>
            </a:r>
          </a:p>
          <a:p>
            <a:endParaRPr lang="en-US" sz="2000" dirty="0"/>
          </a:p>
        </p:txBody>
      </p:sp>
    </p:spTree>
    <p:extLst>
      <p:ext uri="{BB962C8B-B14F-4D97-AF65-F5344CB8AC3E}">
        <p14:creationId xmlns:p14="http://schemas.microsoft.com/office/powerpoint/2010/main" val="30017887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527" y="274637"/>
            <a:ext cx="10515600" cy="1325563"/>
          </a:xfrm>
        </p:spPr>
        <p:txBody>
          <a:bodyPr vert="horz" lIns="91440" tIns="45720" rIns="91440" bIns="45720" rtlCol="0" anchor="ctr">
            <a:normAutofit/>
          </a:bodyPr>
          <a:lstStyle/>
          <a:p>
            <a:r>
              <a:rPr lang="en-US" dirty="0"/>
              <a:t>Parallel Processing</a:t>
            </a:r>
          </a:p>
        </p:txBody>
      </p:sp>
      <p:sp>
        <p:nvSpPr>
          <p:cNvPr id="3" name="Content Placeholder 2"/>
          <p:cNvSpPr>
            <a:spLocks noGrp="1"/>
          </p:cNvSpPr>
          <p:nvPr>
            <p:ph idx="1"/>
          </p:nvPr>
        </p:nvSpPr>
        <p:spPr>
          <a:xfrm>
            <a:off x="1413164" y="2597728"/>
            <a:ext cx="9920397" cy="1780309"/>
          </a:xfrm>
          <a:solidFill>
            <a:srgbClr val="92D050"/>
          </a:solidFill>
        </p:spPr>
        <p:txBody>
          <a:bodyPr>
            <a:noAutofit/>
          </a:bodyPr>
          <a:lstStyle/>
          <a:p>
            <a:r>
              <a:rPr lang="en-US" sz="2000" dirty="0"/>
              <a:t>is the processing of program instructions by dividing them among multiple processors with the objective of running a program in less time.</a:t>
            </a:r>
          </a:p>
          <a:p>
            <a:pPr lvl="1"/>
            <a:r>
              <a:rPr lang="en-US" sz="2000" dirty="0"/>
              <a:t>Concurrent computing vs. Parallel Processing</a:t>
            </a:r>
          </a:p>
          <a:p>
            <a:pPr lvl="2"/>
            <a:r>
              <a:rPr lang="en-US" dirty="0"/>
              <a:t>It is possible to have parallelism without concurrency (such as bit-level parallelism)</a:t>
            </a:r>
            <a:r>
              <a:rPr lang="en-US" dirty="0">
                <a:solidFill>
                  <a:srgbClr val="FF0000"/>
                </a:solidFill>
              </a:rPr>
              <a:t>- static or dynamic scheduling</a:t>
            </a:r>
          </a:p>
          <a:p>
            <a:pPr marL="457200" lvl="1" indent="0">
              <a:buNone/>
            </a:pPr>
            <a:endParaRPr lang="en-US" sz="2000" dirty="0"/>
          </a:p>
          <a:p>
            <a:pPr lvl="1"/>
            <a:endParaRPr lang="en-US" sz="2000" dirty="0"/>
          </a:p>
        </p:txBody>
      </p:sp>
      <p:sp>
        <p:nvSpPr>
          <p:cNvPr id="4" name="TextBox 3"/>
          <p:cNvSpPr txBox="1"/>
          <p:nvPr/>
        </p:nvSpPr>
        <p:spPr>
          <a:xfrm>
            <a:off x="3020290" y="5334000"/>
            <a:ext cx="3036793" cy="646331"/>
          </a:xfrm>
          <a:prstGeom prst="rect">
            <a:avLst/>
          </a:prstGeom>
          <a:solidFill>
            <a:schemeClr val="accent2"/>
          </a:solidFill>
        </p:spPr>
        <p:txBody>
          <a:bodyPr wrap="none" rtlCol="0">
            <a:spAutoFit/>
          </a:bodyPr>
          <a:lstStyle/>
          <a:p>
            <a:r>
              <a:rPr lang="en-US" dirty="0"/>
              <a:t>Threading and multi threading</a:t>
            </a:r>
          </a:p>
          <a:p>
            <a:r>
              <a:rPr lang="en-US" dirty="0"/>
              <a:t>ILP and TLP and JLP</a:t>
            </a:r>
          </a:p>
        </p:txBody>
      </p:sp>
    </p:spTree>
    <p:extLst>
      <p:ext uri="{BB962C8B-B14F-4D97-AF65-F5344CB8AC3E}">
        <p14:creationId xmlns:p14="http://schemas.microsoft.com/office/powerpoint/2010/main" val="2659123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7416"/>
            <a:ext cx="10515600" cy="1325563"/>
          </a:xfrm>
        </p:spPr>
        <p:txBody>
          <a:bodyPr vert="horz" lIns="91440" tIns="45720" rIns="91440" bIns="45720" rtlCol="0" anchor="ctr">
            <a:normAutofit/>
          </a:bodyPr>
          <a:lstStyle/>
          <a:p>
            <a:r>
              <a:rPr lang="en-US" dirty="0"/>
              <a:t>Data ingestion Challenges</a:t>
            </a:r>
          </a:p>
        </p:txBody>
      </p:sp>
      <p:sp>
        <p:nvSpPr>
          <p:cNvPr id="3" name="Content Placeholder 2"/>
          <p:cNvSpPr>
            <a:spLocks noGrp="1"/>
          </p:cNvSpPr>
          <p:nvPr>
            <p:ph idx="1"/>
          </p:nvPr>
        </p:nvSpPr>
        <p:spPr>
          <a:xfrm>
            <a:off x="4662054" y="2088861"/>
            <a:ext cx="3692236" cy="2095212"/>
          </a:xfrm>
          <a:solidFill>
            <a:srgbClr val="92D050"/>
          </a:solidFill>
        </p:spPr>
        <p:txBody>
          <a:bodyPr>
            <a:noAutofit/>
          </a:bodyPr>
          <a:lstStyle/>
          <a:p>
            <a:pPr marL="0" indent="0">
              <a:buNone/>
            </a:pPr>
            <a:r>
              <a:rPr lang="en-US" sz="2000" dirty="0"/>
              <a:t>Data  Ingestion challenges</a:t>
            </a:r>
          </a:p>
          <a:p>
            <a:pPr marL="0" indent="0">
              <a:buNone/>
            </a:pPr>
            <a:endParaRPr lang="en-US" sz="2000" dirty="0"/>
          </a:p>
          <a:p>
            <a:pPr marL="0" indent="0">
              <a:buNone/>
            </a:pPr>
            <a:r>
              <a:rPr lang="en-US" sz="2000" dirty="0"/>
              <a:t>Slow Process</a:t>
            </a:r>
          </a:p>
          <a:p>
            <a:pPr marL="0" indent="0">
              <a:buNone/>
            </a:pPr>
            <a:r>
              <a:rPr lang="en-US" sz="2000" dirty="0"/>
              <a:t>Complex and expensive</a:t>
            </a:r>
          </a:p>
          <a:p>
            <a:pPr marL="0" indent="0">
              <a:buNone/>
            </a:pPr>
            <a:r>
              <a:rPr lang="en-US" sz="2000" dirty="0"/>
              <a:t>Vulnerable</a:t>
            </a:r>
          </a:p>
          <a:p>
            <a:endParaRPr lang="en-US" sz="2000" dirty="0"/>
          </a:p>
        </p:txBody>
      </p:sp>
    </p:spTree>
    <p:extLst>
      <p:ext uri="{BB962C8B-B14F-4D97-AF65-F5344CB8AC3E}">
        <p14:creationId xmlns:p14="http://schemas.microsoft.com/office/powerpoint/2010/main" val="794627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3509" y="675698"/>
            <a:ext cx="10515600" cy="2884920"/>
          </a:xfrm>
          <a:solidFill>
            <a:srgbClr val="92D050"/>
          </a:solidFill>
        </p:spPr>
        <p:txBody>
          <a:bodyPr>
            <a:normAutofit/>
          </a:bodyPr>
          <a:lstStyle/>
          <a:p>
            <a:pPr marL="0" indent="0">
              <a:buNone/>
            </a:pPr>
            <a:r>
              <a:rPr lang="en-US" sz="2000" b="1" dirty="0"/>
              <a:t>Slow Process</a:t>
            </a:r>
          </a:p>
          <a:p>
            <a:r>
              <a:rPr lang="en-US" sz="2000" dirty="0"/>
              <a:t>Data ingestion is a slow process. </a:t>
            </a:r>
          </a:p>
          <a:p>
            <a:pPr lvl="1"/>
            <a:r>
              <a:rPr lang="en-US" sz="2000" dirty="0"/>
              <a:t>How?</a:t>
            </a:r>
          </a:p>
          <a:p>
            <a:r>
              <a:rPr lang="en-US" sz="2000" dirty="0"/>
              <a:t>When data is streamed from several </a:t>
            </a:r>
            <a:r>
              <a:rPr lang="en-US" sz="2000" u="sng" dirty="0"/>
              <a:t>different sources </a:t>
            </a:r>
            <a:r>
              <a:rPr lang="en-US" sz="2000" dirty="0"/>
              <a:t>into the system, data coming from each &amp; every different source has a </a:t>
            </a:r>
            <a:r>
              <a:rPr lang="en-US" sz="2000" u="sng" dirty="0"/>
              <a:t>different format, different syntax, attached metadata</a:t>
            </a:r>
            <a:r>
              <a:rPr lang="en-US" sz="2000" dirty="0"/>
              <a:t>. </a:t>
            </a:r>
          </a:p>
          <a:p>
            <a:r>
              <a:rPr lang="en-US" sz="2000" dirty="0"/>
              <a:t>The data as a whole is </a:t>
            </a:r>
            <a:r>
              <a:rPr lang="en-US" sz="2000" u="sng" dirty="0">
                <a:solidFill>
                  <a:srgbClr val="FF0000"/>
                </a:solidFill>
              </a:rPr>
              <a:t>heterogeneous</a:t>
            </a:r>
            <a:r>
              <a:rPr lang="en-US" sz="2000" dirty="0"/>
              <a:t>. </a:t>
            </a:r>
          </a:p>
          <a:p>
            <a:r>
              <a:rPr lang="en-US" sz="2000" dirty="0"/>
              <a:t>It has to be transformed into a common format like </a:t>
            </a:r>
            <a:r>
              <a:rPr lang="en-US" sz="2000" dirty="0">
                <a:solidFill>
                  <a:srgbClr val="FF0000"/>
                </a:solidFill>
              </a:rPr>
              <a:t>JSON</a:t>
            </a:r>
            <a:r>
              <a:rPr lang="en-US" sz="2000" dirty="0"/>
              <a:t> or something to be understood by the analytics system.</a:t>
            </a:r>
          </a:p>
          <a:p>
            <a:endParaRPr lang="en-US" sz="2000" dirty="0"/>
          </a:p>
        </p:txBody>
      </p:sp>
      <p:sp>
        <p:nvSpPr>
          <p:cNvPr id="5" name="Content Placeholder 2"/>
          <p:cNvSpPr txBox="1">
            <a:spLocks/>
          </p:cNvSpPr>
          <p:nvPr/>
        </p:nvSpPr>
        <p:spPr>
          <a:xfrm>
            <a:off x="685801" y="3862243"/>
            <a:ext cx="10515600" cy="2677102"/>
          </a:xfrm>
          <a:prstGeom prst="rect">
            <a:avLst/>
          </a:prstGeom>
          <a:solidFill>
            <a:srgbClr val="92D050"/>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t>The </a:t>
            </a:r>
            <a:r>
              <a:rPr lang="en-US" sz="2000">
                <a:solidFill>
                  <a:srgbClr val="FF0000"/>
                </a:solidFill>
              </a:rPr>
              <a:t>conversion of data </a:t>
            </a:r>
            <a:r>
              <a:rPr lang="en-US" sz="2000"/>
              <a:t>is a tedious process. </a:t>
            </a:r>
          </a:p>
          <a:p>
            <a:r>
              <a:rPr lang="en-US" sz="2000"/>
              <a:t>It takes a </a:t>
            </a:r>
            <a:r>
              <a:rPr lang="en-US" sz="2000" u="sng"/>
              <a:t>lot of computing resources </a:t>
            </a:r>
            <a:r>
              <a:rPr lang="en-US" sz="2000"/>
              <a:t>&amp; time. </a:t>
            </a:r>
          </a:p>
          <a:p>
            <a:r>
              <a:rPr lang="en-US" sz="2000"/>
              <a:t>Flowing data has to be staged at several stages in </a:t>
            </a:r>
            <a:r>
              <a:rPr lang="en-US" sz="2000" u="sng"/>
              <a:t>the pipeline, processed &amp; then moved ahead</a:t>
            </a:r>
            <a:r>
              <a:rPr lang="en-US" sz="2000"/>
              <a:t>. </a:t>
            </a:r>
          </a:p>
          <a:p>
            <a:r>
              <a:rPr lang="en-US" sz="2000"/>
              <a:t>Also, at each &amp; every stage data </a:t>
            </a:r>
            <a:r>
              <a:rPr lang="en-US" sz="2000" u="sng"/>
              <a:t>has to be authenticated &amp; verified </a:t>
            </a:r>
            <a:r>
              <a:rPr lang="en-US" sz="2000"/>
              <a:t>to meet the organization’s security standards. </a:t>
            </a:r>
          </a:p>
          <a:p>
            <a:r>
              <a:rPr lang="en-US" sz="2000"/>
              <a:t>With the </a:t>
            </a:r>
            <a:r>
              <a:rPr lang="en-US" sz="2000" u="sng">
                <a:solidFill>
                  <a:srgbClr val="FF0000"/>
                </a:solidFill>
              </a:rPr>
              <a:t>traditional data cleansing processes</a:t>
            </a:r>
            <a:r>
              <a:rPr lang="en-US" sz="2000"/>
              <a:t>, it takes weeks if not months to get useful information on hand. </a:t>
            </a:r>
          </a:p>
          <a:p>
            <a:endParaRPr lang="en-US" sz="2000" dirty="0"/>
          </a:p>
        </p:txBody>
      </p:sp>
      <p:sp>
        <p:nvSpPr>
          <p:cNvPr id="6" name="Content Placeholder 2"/>
          <p:cNvSpPr txBox="1">
            <a:spLocks/>
          </p:cNvSpPr>
          <p:nvPr/>
        </p:nvSpPr>
        <p:spPr>
          <a:xfrm>
            <a:off x="9753599" y="0"/>
            <a:ext cx="2445327" cy="1357745"/>
          </a:xfrm>
          <a:prstGeom prst="rect">
            <a:avLst/>
          </a:prstGeom>
          <a:solidFill>
            <a:schemeClr val="bg2"/>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100"/>
              <a:t>Data  Ingestion challenges</a:t>
            </a:r>
          </a:p>
          <a:p>
            <a:pPr marL="0" indent="0">
              <a:buFont typeface="Arial" panose="020B0604020202020204" pitchFamily="34" charset="0"/>
              <a:buNone/>
            </a:pPr>
            <a:endParaRPr lang="en-US" sz="1100"/>
          </a:p>
          <a:p>
            <a:pPr marL="0" indent="0">
              <a:buFont typeface="Arial" panose="020B0604020202020204" pitchFamily="34" charset="0"/>
              <a:buNone/>
            </a:pPr>
            <a:r>
              <a:rPr lang="en-US" sz="1100"/>
              <a:t>Slow Process</a:t>
            </a:r>
          </a:p>
          <a:p>
            <a:pPr marL="0" indent="0">
              <a:buFont typeface="Arial" panose="020B0604020202020204" pitchFamily="34" charset="0"/>
              <a:buNone/>
            </a:pPr>
            <a:r>
              <a:rPr lang="en-US" sz="1100"/>
              <a:t>Complex and expensive</a:t>
            </a:r>
          </a:p>
          <a:p>
            <a:pPr marL="0" indent="0">
              <a:buFont typeface="Arial" panose="020B0604020202020204" pitchFamily="34" charset="0"/>
              <a:buNone/>
            </a:pPr>
            <a:r>
              <a:rPr lang="en-US" sz="1100"/>
              <a:t>Vulnerable</a:t>
            </a:r>
          </a:p>
          <a:p>
            <a:endParaRPr lang="en-US" sz="1100" dirty="0"/>
          </a:p>
        </p:txBody>
      </p:sp>
    </p:spTree>
    <p:extLst>
      <p:ext uri="{BB962C8B-B14F-4D97-AF65-F5344CB8AC3E}">
        <p14:creationId xmlns:p14="http://schemas.microsoft.com/office/powerpoint/2010/main" val="9782282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3509" y="634134"/>
            <a:ext cx="9040090" cy="862157"/>
          </a:xfrm>
          <a:solidFill>
            <a:srgbClr val="92D050"/>
          </a:solidFill>
        </p:spPr>
        <p:txBody>
          <a:bodyPr>
            <a:normAutofit fontScale="85000" lnSpcReduction="10000"/>
          </a:bodyPr>
          <a:lstStyle/>
          <a:p>
            <a:r>
              <a:rPr lang="en-US" sz="2000" dirty="0"/>
              <a:t>The </a:t>
            </a:r>
            <a:r>
              <a:rPr lang="en-US" sz="2000" dirty="0">
                <a:solidFill>
                  <a:srgbClr val="FF0000"/>
                </a:solidFill>
              </a:rPr>
              <a:t>conversion of data </a:t>
            </a:r>
            <a:r>
              <a:rPr lang="en-US" sz="2000" dirty="0"/>
              <a:t>is a tedious process. It takes a </a:t>
            </a:r>
            <a:r>
              <a:rPr lang="en-US" sz="2000" u="sng" dirty="0"/>
              <a:t>lot of </a:t>
            </a:r>
            <a:r>
              <a:rPr lang="en-US" sz="2000" b="1" u="sng" dirty="0"/>
              <a:t>computing resources &amp; time</a:t>
            </a:r>
            <a:r>
              <a:rPr lang="en-US" sz="2000" dirty="0"/>
              <a:t>. </a:t>
            </a:r>
          </a:p>
          <a:p>
            <a:r>
              <a:rPr lang="en-US" sz="2000" dirty="0"/>
              <a:t>Flowing data has to be staged at several stages in </a:t>
            </a:r>
            <a:r>
              <a:rPr lang="en-US" sz="2000" u="sng" dirty="0"/>
              <a:t>the pipeline, processed &amp; then moved ahead</a:t>
            </a:r>
            <a:r>
              <a:rPr lang="en-US" sz="2000" dirty="0"/>
              <a:t>. </a:t>
            </a:r>
          </a:p>
        </p:txBody>
      </p:sp>
      <p:sp>
        <p:nvSpPr>
          <p:cNvPr id="4" name="Content Placeholder 5"/>
          <p:cNvSpPr txBox="1">
            <a:spLocks/>
          </p:cNvSpPr>
          <p:nvPr/>
        </p:nvSpPr>
        <p:spPr>
          <a:xfrm>
            <a:off x="699655" y="1770205"/>
            <a:ext cx="10515600" cy="2164484"/>
          </a:xfrm>
          <a:prstGeom prst="rect">
            <a:avLst/>
          </a:prstGeom>
          <a:solidFill>
            <a:srgbClr val="92D050"/>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Complex &amp; Expensive</a:t>
            </a:r>
          </a:p>
          <a:p>
            <a:r>
              <a:rPr lang="en-US" sz="2000" dirty="0"/>
              <a:t>There are always scenarios were the tools &amp; frameworks available in the market fail to serve your custom needs &amp; </a:t>
            </a:r>
            <a:r>
              <a:rPr lang="en-US" sz="2000" u="sng" dirty="0">
                <a:solidFill>
                  <a:srgbClr val="FF0000"/>
                </a:solidFill>
              </a:rPr>
              <a:t>you are left with no option than to write a custom solution from the ground up</a:t>
            </a:r>
          </a:p>
          <a:p>
            <a:r>
              <a:rPr lang="en-US" sz="2000" dirty="0"/>
              <a:t>The </a:t>
            </a:r>
            <a:r>
              <a:rPr lang="en-US" sz="2000" u="sng" dirty="0"/>
              <a:t>semantics of the data coming from externals sources changes sometimes</a:t>
            </a:r>
            <a:r>
              <a:rPr lang="en-US" sz="2000" dirty="0"/>
              <a:t> which then requires a change in the backend data processing code too. </a:t>
            </a:r>
          </a:p>
          <a:p>
            <a:r>
              <a:rPr lang="en-US" sz="2000" dirty="0"/>
              <a:t>The external IOT devices are </a:t>
            </a:r>
            <a:r>
              <a:rPr lang="en-US" sz="2000" u="sng" dirty="0"/>
              <a:t>evolving at a quick speed</a:t>
            </a:r>
            <a:r>
              <a:rPr lang="en-US" sz="2000" dirty="0"/>
              <a:t>.</a:t>
            </a:r>
          </a:p>
          <a:p>
            <a:endParaRPr lang="en-US" sz="2000" dirty="0"/>
          </a:p>
        </p:txBody>
      </p:sp>
      <p:sp>
        <p:nvSpPr>
          <p:cNvPr id="6" name="Content Placeholder 2"/>
          <p:cNvSpPr txBox="1">
            <a:spLocks/>
          </p:cNvSpPr>
          <p:nvPr/>
        </p:nvSpPr>
        <p:spPr>
          <a:xfrm>
            <a:off x="505692" y="4272538"/>
            <a:ext cx="11270672" cy="1845830"/>
          </a:xfrm>
          <a:prstGeom prst="rect">
            <a:avLst/>
          </a:prstGeom>
          <a:solidFill>
            <a:srgbClr val="92D050"/>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Data is Vulnerable</a:t>
            </a:r>
          </a:p>
          <a:p>
            <a:r>
              <a:rPr lang="en-US" sz="2000" dirty="0"/>
              <a:t>Then data is moved around it opens up the possibility of a breach.</a:t>
            </a:r>
          </a:p>
          <a:p>
            <a:r>
              <a:rPr lang="en-US" sz="2000" dirty="0"/>
              <a:t> Moving data is vulnerable. </a:t>
            </a:r>
          </a:p>
          <a:p>
            <a:pPr lvl="1"/>
            <a:r>
              <a:rPr lang="en-US" sz="1800" dirty="0"/>
              <a:t>It goes through several different staging areas &amp; the </a:t>
            </a:r>
            <a:r>
              <a:rPr lang="en-US" sz="1800" u="sng" dirty="0">
                <a:hlinkClick r:id="rId2"/>
              </a:rPr>
              <a:t>development team has to put in additional resources to ensure their system meets the security standards at all times</a:t>
            </a:r>
            <a:r>
              <a:rPr lang="en-US" sz="1800" u="sng" dirty="0"/>
              <a:t>.</a:t>
            </a:r>
            <a:endParaRPr lang="en-US" sz="1800" dirty="0"/>
          </a:p>
        </p:txBody>
      </p:sp>
      <p:sp>
        <p:nvSpPr>
          <p:cNvPr id="7" name="Content Placeholder 2"/>
          <p:cNvSpPr txBox="1">
            <a:spLocks/>
          </p:cNvSpPr>
          <p:nvPr/>
        </p:nvSpPr>
        <p:spPr>
          <a:xfrm>
            <a:off x="9753599" y="0"/>
            <a:ext cx="2445327" cy="1357745"/>
          </a:xfrm>
          <a:prstGeom prst="rect">
            <a:avLst/>
          </a:prstGeom>
          <a:solidFill>
            <a:schemeClr val="bg2"/>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100"/>
              <a:t>Data  Ingestion challenges</a:t>
            </a:r>
          </a:p>
          <a:p>
            <a:pPr marL="0" indent="0">
              <a:buFont typeface="Arial" panose="020B0604020202020204" pitchFamily="34" charset="0"/>
              <a:buNone/>
            </a:pPr>
            <a:endParaRPr lang="en-US" sz="1100"/>
          </a:p>
          <a:p>
            <a:pPr marL="0" indent="0">
              <a:buFont typeface="Arial" panose="020B0604020202020204" pitchFamily="34" charset="0"/>
              <a:buNone/>
            </a:pPr>
            <a:r>
              <a:rPr lang="en-US" sz="1100"/>
              <a:t>Slow Process</a:t>
            </a:r>
          </a:p>
          <a:p>
            <a:pPr marL="0" indent="0">
              <a:buFont typeface="Arial" panose="020B0604020202020204" pitchFamily="34" charset="0"/>
              <a:buNone/>
            </a:pPr>
            <a:r>
              <a:rPr lang="en-US" sz="1100"/>
              <a:t>Complex and expensive</a:t>
            </a:r>
          </a:p>
          <a:p>
            <a:pPr marL="0" indent="0">
              <a:buFont typeface="Arial" panose="020B0604020202020204" pitchFamily="34" charset="0"/>
              <a:buNone/>
            </a:pPr>
            <a:r>
              <a:rPr lang="en-US" sz="1100"/>
              <a:t>Vulnerable</a:t>
            </a:r>
          </a:p>
          <a:p>
            <a:endParaRPr lang="en-US" sz="1100" dirty="0"/>
          </a:p>
        </p:txBody>
      </p:sp>
    </p:spTree>
    <p:extLst>
      <p:ext uri="{BB962C8B-B14F-4D97-AF65-F5344CB8AC3E}">
        <p14:creationId xmlns:p14="http://schemas.microsoft.com/office/powerpoint/2010/main" val="11349413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dirty="0"/>
              <a:t>Data Ingestion Best Practices</a:t>
            </a:r>
          </a:p>
        </p:txBody>
      </p:sp>
      <p:sp>
        <p:nvSpPr>
          <p:cNvPr id="3" name="Content Placeholder 2"/>
          <p:cNvSpPr>
            <a:spLocks noGrp="1"/>
          </p:cNvSpPr>
          <p:nvPr>
            <p:ph idx="1"/>
          </p:nvPr>
        </p:nvSpPr>
        <p:spPr>
          <a:xfrm>
            <a:off x="838200" y="1825624"/>
            <a:ext cx="10515600" cy="4020993"/>
          </a:xfrm>
          <a:solidFill>
            <a:srgbClr val="92D050"/>
          </a:solidFill>
        </p:spPr>
        <p:txBody>
          <a:bodyPr>
            <a:normAutofit/>
          </a:bodyPr>
          <a:lstStyle/>
          <a:p>
            <a:r>
              <a:rPr lang="en-US" sz="2000" b="1" dirty="0"/>
              <a:t>Network Bandwidth:</a:t>
            </a:r>
            <a:r>
              <a:rPr lang="en-US" sz="2000" dirty="0"/>
              <a:t> Data Pipeline must be able to compete with business traffic. Sometimes traffic increases or sometimes decreases, so Network bandwidth scalability is the biggest Data Pipeline challenge. Data ingestion tools are required for bandwidth throttling and compression capabilities.</a:t>
            </a:r>
          </a:p>
          <a:p>
            <a:endParaRPr lang="en-US" sz="2000" dirty="0"/>
          </a:p>
          <a:p>
            <a:r>
              <a:rPr lang="en-US" sz="2000" b="1" dirty="0"/>
              <a:t>Support for Unreliable Network:</a:t>
            </a:r>
            <a:r>
              <a:rPr lang="en-US" sz="2000" dirty="0"/>
              <a:t> Data Ingestion Pipeline takes data with multiple structures, i.e., images, audios, videos, text files, tabular files data, XML files, log files, etc. and due to the variable speed of data coming, it might travel through the unreliable network. Data Pipeline should be capable of supporting this also. It is one of the most important Data ingestion best practices.</a:t>
            </a:r>
          </a:p>
          <a:p>
            <a:endParaRPr lang="en-US" sz="2000" dirty="0"/>
          </a:p>
          <a:p>
            <a:r>
              <a:rPr lang="en-US" sz="2000" b="1" dirty="0"/>
              <a:t>Heterogeneous Technologies and Systems:</a:t>
            </a:r>
            <a:r>
              <a:rPr lang="en-US" sz="2000" dirty="0"/>
              <a:t> Tools for Data Ingestion Pipeline must be able to use different data sources technologies and different operating systems.</a:t>
            </a:r>
          </a:p>
          <a:p>
            <a:endParaRPr lang="en-US" sz="2000" dirty="0"/>
          </a:p>
        </p:txBody>
      </p:sp>
    </p:spTree>
    <p:extLst>
      <p:ext uri="{BB962C8B-B14F-4D97-AF65-F5344CB8AC3E}">
        <p14:creationId xmlns:p14="http://schemas.microsoft.com/office/powerpoint/2010/main" val="18366026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dirty="0"/>
              <a:t>Data Ingestion Best Practices</a:t>
            </a:r>
          </a:p>
        </p:txBody>
      </p:sp>
      <p:sp>
        <p:nvSpPr>
          <p:cNvPr id="3" name="Content Placeholder 2"/>
          <p:cNvSpPr>
            <a:spLocks noGrp="1"/>
          </p:cNvSpPr>
          <p:nvPr>
            <p:ph idx="1"/>
          </p:nvPr>
        </p:nvSpPr>
        <p:spPr>
          <a:xfrm>
            <a:off x="838200" y="1825624"/>
            <a:ext cx="10515600" cy="3813175"/>
          </a:xfrm>
          <a:solidFill>
            <a:srgbClr val="92D050"/>
          </a:solidFill>
        </p:spPr>
        <p:txBody>
          <a:bodyPr>
            <a:normAutofit lnSpcReduction="10000"/>
          </a:bodyPr>
          <a:lstStyle/>
          <a:p>
            <a:r>
              <a:rPr lang="en-US" sz="2000" b="1" dirty="0"/>
              <a:t>Choose Right Data Format:</a:t>
            </a:r>
            <a:r>
              <a:rPr lang="en-US" sz="2000" dirty="0"/>
              <a:t> Data ingestion tools must provide </a:t>
            </a:r>
            <a:r>
              <a:rPr lang="en-US" sz="2000" dirty="0">
                <a:hlinkClick r:id="rId2"/>
              </a:rPr>
              <a:t>data serialization</a:t>
            </a:r>
            <a:r>
              <a:rPr lang="en-US" sz="2000" dirty="0"/>
              <a:t> format, that means as data comes in the variable format so converting them into single format will provide an easier view to understand or relate the data.</a:t>
            </a:r>
          </a:p>
          <a:p>
            <a:endParaRPr lang="en-US" sz="2000" dirty="0"/>
          </a:p>
          <a:p>
            <a:r>
              <a:rPr lang="en-US" sz="2000" b="1" dirty="0"/>
              <a:t>Streaming Data:</a:t>
            </a:r>
            <a:r>
              <a:rPr lang="en-US" sz="2000" dirty="0"/>
              <a:t> Data ingestion best practices are dependent upon business necessity whether to process the data in batch or streams or real-time. Sometimes we may require both processing in the data ingestion pipeline. So, tools must be capable of supporting both.</a:t>
            </a:r>
          </a:p>
          <a:p>
            <a:endParaRPr lang="en-US" sz="2000" dirty="0"/>
          </a:p>
          <a:p>
            <a:r>
              <a:rPr lang="en-US" sz="2000" b="1" dirty="0"/>
              <a:t>Maintain Scalability:</a:t>
            </a:r>
            <a:r>
              <a:rPr lang="en-US" sz="2000" dirty="0"/>
              <a:t> Data ingestion best practices can be increased or decreased with time we can’t say for on Monday data will come less and the rest of the days comes a lot for processing. So, the usage of data is not uniform. What we can do is make our pipeline so scalable that it is able to handle any amount of data coming at variable speed.</a:t>
            </a:r>
          </a:p>
        </p:txBody>
      </p:sp>
    </p:spTree>
    <p:extLst>
      <p:ext uri="{BB962C8B-B14F-4D97-AF65-F5344CB8AC3E}">
        <p14:creationId xmlns:p14="http://schemas.microsoft.com/office/powerpoint/2010/main" val="13605445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dirty="0"/>
              <a:t>Data Ingestion Best Practices</a:t>
            </a:r>
          </a:p>
        </p:txBody>
      </p:sp>
      <p:sp>
        <p:nvSpPr>
          <p:cNvPr id="3" name="Content Placeholder 2"/>
          <p:cNvSpPr>
            <a:spLocks noGrp="1"/>
          </p:cNvSpPr>
          <p:nvPr>
            <p:ph idx="1"/>
          </p:nvPr>
        </p:nvSpPr>
        <p:spPr>
          <a:xfrm>
            <a:off x="838200" y="1825625"/>
            <a:ext cx="10515600" cy="3993284"/>
          </a:xfrm>
          <a:solidFill>
            <a:srgbClr val="92D050"/>
          </a:solidFill>
        </p:spPr>
        <p:txBody>
          <a:bodyPr>
            <a:normAutofit/>
          </a:bodyPr>
          <a:lstStyle/>
          <a:p>
            <a:r>
              <a:rPr lang="en-US" sz="2000" b="1" dirty="0"/>
              <a:t>Connections:</a:t>
            </a:r>
            <a:r>
              <a:rPr lang="en-US" sz="2000" dirty="0"/>
              <a:t> All the time data keeps on increasing in the Data ingestion framework, new data comes and old data modified, so, each new integration can take anywhere from a few days to a few months to complete.</a:t>
            </a:r>
          </a:p>
          <a:p>
            <a:endParaRPr lang="en-US" sz="2000" dirty="0"/>
          </a:p>
          <a:p>
            <a:r>
              <a:rPr lang="en-US" sz="2000" b="1" dirty="0"/>
              <a:t>High Accuracy:</a:t>
            </a:r>
            <a:r>
              <a:rPr lang="en-US" sz="2000" dirty="0"/>
              <a:t> The only way to build trust with data consumers is to make sure that your data is auditable. One best practice that’s easy to implement is never to discard inputs or intermediate forms when altering data in Data ingestion process flow.</a:t>
            </a:r>
          </a:p>
          <a:p>
            <a:endParaRPr lang="en-US" sz="2000" dirty="0"/>
          </a:p>
          <a:p>
            <a:r>
              <a:rPr lang="en-US" sz="2000" b="1" dirty="0"/>
              <a:t>Latency:</a:t>
            </a:r>
            <a:r>
              <a:rPr lang="en-US" sz="2000" dirty="0"/>
              <a:t> The fresher your data, the agiler your company’s decision-making can be. Extracting data from APIs and databases in real-time can be difficult, and many target data sources, including large object stores like Amazon S3 and analytics databases like </a:t>
            </a:r>
            <a:r>
              <a:rPr lang="en-US" sz="2000" dirty="0">
                <a:hlinkClick r:id="rId2"/>
              </a:rPr>
              <a:t>Amazon Athena</a:t>
            </a:r>
            <a:r>
              <a:rPr lang="en-US" sz="2000" dirty="0"/>
              <a:t> Redshift, are optimized for receiving data in chunks rather than a stream.</a:t>
            </a:r>
          </a:p>
          <a:p>
            <a:endParaRPr lang="en-US" sz="2000" dirty="0"/>
          </a:p>
          <a:p>
            <a:endParaRPr lang="en-US" sz="2000" dirty="0"/>
          </a:p>
        </p:txBody>
      </p:sp>
    </p:spTree>
    <p:extLst>
      <p:ext uri="{BB962C8B-B14F-4D97-AF65-F5344CB8AC3E}">
        <p14:creationId xmlns:p14="http://schemas.microsoft.com/office/powerpoint/2010/main" val="34166692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dirty="0"/>
              <a:t>Big Data Ingestion Tools</a:t>
            </a:r>
          </a:p>
        </p:txBody>
      </p:sp>
      <p:sp>
        <p:nvSpPr>
          <p:cNvPr id="3" name="Content Placeholder 2"/>
          <p:cNvSpPr>
            <a:spLocks noGrp="1"/>
          </p:cNvSpPr>
          <p:nvPr>
            <p:ph idx="1"/>
          </p:nvPr>
        </p:nvSpPr>
        <p:spPr>
          <a:xfrm>
            <a:off x="838200" y="1603945"/>
            <a:ext cx="10515600" cy="3217430"/>
          </a:xfrm>
          <a:solidFill>
            <a:srgbClr val="92D050"/>
          </a:solidFill>
        </p:spPr>
        <p:txBody>
          <a:bodyPr>
            <a:normAutofit/>
          </a:bodyPr>
          <a:lstStyle/>
          <a:p>
            <a:pPr marL="0" indent="0">
              <a:buNone/>
            </a:pPr>
            <a:r>
              <a:rPr lang="en-US" sz="2000" b="1" dirty="0">
                <a:solidFill>
                  <a:srgbClr val="0070C0"/>
                </a:solidFill>
              </a:rPr>
              <a:t>1. Apache Flume</a:t>
            </a:r>
          </a:p>
          <a:p>
            <a:pPr marL="0" indent="0">
              <a:buNone/>
            </a:pPr>
            <a:r>
              <a:rPr lang="en-US" sz="2000" dirty="0"/>
              <a:t>Apache Flume is a distributed, reliable, and available service for efficiently collecting, aggregating, and moving large amounts of log data.</a:t>
            </a:r>
          </a:p>
          <a:p>
            <a:pPr marL="0" indent="0">
              <a:buNone/>
            </a:pPr>
            <a:r>
              <a:rPr lang="en-US" sz="2000" b="1" dirty="0"/>
              <a:t>Functions of Apache Flume</a:t>
            </a:r>
            <a:endParaRPr lang="en-US" sz="2000" dirty="0"/>
          </a:p>
          <a:p>
            <a:pPr lvl="1"/>
            <a:r>
              <a:rPr lang="en-US" sz="2000" b="1" dirty="0"/>
              <a:t>Stream Data:</a:t>
            </a:r>
            <a:r>
              <a:rPr lang="en-US" sz="2000" dirty="0"/>
              <a:t> Ingest streaming data from multiple sources into Hadoop for storage and analysis.</a:t>
            </a:r>
          </a:p>
          <a:p>
            <a:pPr lvl="1"/>
            <a:r>
              <a:rPr lang="en-US" sz="2000" b="1" dirty="0"/>
              <a:t>Insulate System</a:t>
            </a:r>
            <a:r>
              <a:rPr lang="en-US" sz="2000" dirty="0"/>
              <a:t>: Buffer storage platform from transient spikes, when </a:t>
            </a:r>
            <a:r>
              <a:rPr lang="en-US" sz="2000" u="sng" dirty="0"/>
              <a:t>the rate of incoming data exceeds the rate at which data can be written to the destination</a:t>
            </a:r>
          </a:p>
          <a:p>
            <a:pPr lvl="1"/>
            <a:r>
              <a:rPr lang="en-US" sz="2000" b="1" dirty="0"/>
              <a:t>Scale Horizontally:</a:t>
            </a:r>
            <a:r>
              <a:rPr lang="en-US" sz="2000" dirty="0"/>
              <a:t> For new Data ingestion streams and additional volume as needed.</a:t>
            </a:r>
          </a:p>
          <a:p>
            <a:endParaRPr lang="en-US" sz="2000" dirty="0"/>
          </a:p>
        </p:txBody>
      </p:sp>
      <p:pic>
        <p:nvPicPr>
          <p:cNvPr id="1028" name="Picture 4" descr="Agent component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6177" y="4886324"/>
            <a:ext cx="4343400" cy="181927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8164456" y="736661"/>
            <a:ext cx="2651816" cy="646331"/>
          </a:xfrm>
          <a:prstGeom prst="rect">
            <a:avLst/>
          </a:prstGeom>
        </p:spPr>
        <p:txBody>
          <a:bodyPr wrap="none">
            <a:spAutoFit/>
          </a:bodyPr>
          <a:lstStyle/>
          <a:p>
            <a:r>
              <a:rPr lang="en-US" dirty="0">
                <a:hlinkClick r:id="rId4"/>
              </a:rPr>
              <a:t>https://flume.apache.org/</a:t>
            </a:r>
            <a:endParaRPr lang="en-US" dirty="0"/>
          </a:p>
          <a:p>
            <a:endParaRPr lang="en-US" dirty="0"/>
          </a:p>
        </p:txBody>
      </p:sp>
      <p:sp>
        <p:nvSpPr>
          <p:cNvPr id="5" name="TextBox 4"/>
          <p:cNvSpPr txBox="1"/>
          <p:nvPr/>
        </p:nvSpPr>
        <p:spPr>
          <a:xfrm>
            <a:off x="443345" y="5624945"/>
            <a:ext cx="1722651" cy="646331"/>
          </a:xfrm>
          <a:prstGeom prst="rect">
            <a:avLst/>
          </a:prstGeom>
          <a:noFill/>
        </p:spPr>
        <p:txBody>
          <a:bodyPr wrap="none" rtlCol="0">
            <a:spAutoFit/>
          </a:bodyPr>
          <a:lstStyle/>
          <a:p>
            <a:r>
              <a:rPr lang="en-US" dirty="0"/>
              <a:t>Pull architecture</a:t>
            </a:r>
          </a:p>
          <a:p>
            <a:r>
              <a:rPr lang="en-US" dirty="0"/>
              <a:t>Point to point</a:t>
            </a:r>
          </a:p>
        </p:txBody>
      </p:sp>
    </p:spTree>
    <p:extLst>
      <p:ext uri="{BB962C8B-B14F-4D97-AF65-F5344CB8AC3E}">
        <p14:creationId xmlns:p14="http://schemas.microsoft.com/office/powerpoint/2010/main" val="18003370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Flume</a:t>
            </a:r>
          </a:p>
        </p:txBody>
      </p:sp>
      <p:sp>
        <p:nvSpPr>
          <p:cNvPr id="3" name="Content Placeholder 2"/>
          <p:cNvSpPr>
            <a:spLocks noGrp="1"/>
          </p:cNvSpPr>
          <p:nvPr>
            <p:ph idx="1"/>
          </p:nvPr>
        </p:nvSpPr>
        <p:spPr>
          <a:xfrm>
            <a:off x="1981200" y="2667001"/>
            <a:ext cx="8229600" cy="3459163"/>
          </a:xfrm>
        </p:spPr>
        <p:txBody>
          <a:bodyPr>
            <a:normAutofit/>
          </a:bodyPr>
          <a:lstStyle/>
          <a:p>
            <a:r>
              <a:rPr lang="en-US" dirty="0"/>
              <a:t>Apache Flume is a distributed, reliable, and available service for efficiently collecting, aggregating, and moving large amounts of streaming data into the Hadoop Distributed File System (HDFS). </a:t>
            </a:r>
          </a:p>
        </p:txBody>
      </p:sp>
    </p:spTree>
    <p:extLst>
      <p:ext uri="{BB962C8B-B14F-4D97-AF65-F5344CB8AC3E}">
        <p14:creationId xmlns:p14="http://schemas.microsoft.com/office/powerpoint/2010/main" val="8617002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flume works</a:t>
            </a:r>
          </a:p>
        </p:txBody>
      </p:sp>
      <p:sp>
        <p:nvSpPr>
          <p:cNvPr id="3" name="Content Placeholder 2"/>
          <p:cNvSpPr>
            <a:spLocks noGrp="1"/>
          </p:cNvSpPr>
          <p:nvPr>
            <p:ph idx="1"/>
          </p:nvPr>
        </p:nvSpPr>
        <p:spPr>
          <a:xfrm>
            <a:off x="1981201" y="1905001"/>
            <a:ext cx="8407399" cy="3880773"/>
          </a:xfrm>
        </p:spPr>
        <p:txBody>
          <a:bodyPr/>
          <a:lstStyle/>
          <a:p>
            <a:r>
              <a:rPr lang="en-US" dirty="0"/>
              <a:t>Data flows like:</a:t>
            </a:r>
          </a:p>
          <a:p>
            <a:pPr marL="457200" lvl="1" indent="0">
              <a:buNone/>
            </a:pPr>
            <a:r>
              <a:rPr lang="en-US" dirty="0"/>
              <a:t>Agent tier -&gt;  Collector tier -&gt;  Storage tier</a:t>
            </a:r>
          </a:p>
          <a:p>
            <a:r>
              <a:rPr lang="en-US" b="1" dirty="0"/>
              <a:t>Agent nodes </a:t>
            </a:r>
            <a:r>
              <a:rPr lang="en-US" dirty="0"/>
              <a:t>are typically installed on the machines that generate the logs and are data’s initial point of contact with Flume. They forward data to the next tier of </a:t>
            </a:r>
            <a:r>
              <a:rPr lang="en-US" b="1" i="1" dirty="0"/>
              <a:t>collector nodes</a:t>
            </a:r>
            <a:r>
              <a:rPr lang="en-US" dirty="0"/>
              <a:t>, which aggregate the separate data flows and forward them to the final </a:t>
            </a:r>
            <a:r>
              <a:rPr lang="en-US" b="1" i="1" dirty="0"/>
              <a:t>storage tier</a:t>
            </a:r>
            <a:r>
              <a:rPr lang="en-US" dirty="0"/>
              <a:t>.</a:t>
            </a:r>
          </a:p>
        </p:txBody>
      </p:sp>
    </p:spTree>
    <p:extLst>
      <p:ext uri="{BB962C8B-B14F-4D97-AF65-F5344CB8AC3E}">
        <p14:creationId xmlns:p14="http://schemas.microsoft.com/office/powerpoint/2010/main" val="6143311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dirty="0"/>
              <a:t>Big Data Ingestion Tools</a:t>
            </a:r>
          </a:p>
        </p:txBody>
      </p:sp>
      <p:sp>
        <p:nvSpPr>
          <p:cNvPr id="3" name="Content Placeholder 2"/>
          <p:cNvSpPr>
            <a:spLocks noGrp="1"/>
          </p:cNvSpPr>
          <p:nvPr>
            <p:ph idx="1"/>
          </p:nvPr>
        </p:nvSpPr>
        <p:spPr>
          <a:xfrm>
            <a:off x="838200" y="1825625"/>
            <a:ext cx="10300855" cy="4284230"/>
          </a:xfrm>
          <a:solidFill>
            <a:srgbClr val="92D050"/>
          </a:solidFill>
        </p:spPr>
        <p:txBody>
          <a:bodyPr>
            <a:normAutofit/>
          </a:bodyPr>
          <a:lstStyle/>
          <a:p>
            <a:pPr marL="0" indent="0">
              <a:buNone/>
            </a:pPr>
            <a:r>
              <a:rPr lang="en-US" sz="2000" b="1" dirty="0">
                <a:solidFill>
                  <a:srgbClr val="0070C0"/>
                </a:solidFill>
              </a:rPr>
              <a:t>2. Apache </a:t>
            </a:r>
            <a:r>
              <a:rPr lang="en-US" sz="2000" b="1" dirty="0" err="1">
                <a:solidFill>
                  <a:srgbClr val="0070C0"/>
                </a:solidFill>
              </a:rPr>
              <a:t>Nifi</a:t>
            </a:r>
            <a:endParaRPr lang="en-US" sz="2000" b="1" dirty="0">
              <a:solidFill>
                <a:srgbClr val="0070C0"/>
              </a:solidFill>
            </a:endParaRPr>
          </a:p>
          <a:p>
            <a:pPr marL="0" indent="0">
              <a:buNone/>
            </a:pPr>
            <a:endParaRPr lang="en-US" sz="2000" b="1" dirty="0"/>
          </a:p>
          <a:p>
            <a:pPr marL="0" indent="0">
              <a:buNone/>
            </a:pPr>
            <a:r>
              <a:rPr lang="en-US" sz="2000" dirty="0"/>
              <a:t>Apache </a:t>
            </a:r>
            <a:r>
              <a:rPr lang="en-US" sz="2000" dirty="0" err="1"/>
              <a:t>Nifi</a:t>
            </a:r>
            <a:r>
              <a:rPr lang="en-US" sz="2000" dirty="0"/>
              <a:t> is another one of the best Data ingestion tools that provide an easy to use, powerful, and reliable system to process and distribute data. </a:t>
            </a:r>
            <a:r>
              <a:rPr lang="en-US" sz="2000" dirty="0">
                <a:hlinkClick r:id="rId2"/>
              </a:rPr>
              <a:t>Apache </a:t>
            </a:r>
            <a:r>
              <a:rPr lang="en-US" sz="2000" dirty="0" err="1">
                <a:hlinkClick r:id="rId2"/>
              </a:rPr>
              <a:t>NiFi</a:t>
            </a:r>
            <a:r>
              <a:rPr lang="en-US" sz="2000" dirty="0"/>
              <a:t> supports robust and scalable </a:t>
            </a:r>
            <a:r>
              <a:rPr lang="en-US" sz="2000" u="sng" dirty="0"/>
              <a:t>directed graphs of data routing, transformation, and system mediation logic</a:t>
            </a:r>
            <a:r>
              <a:rPr lang="en-US" sz="2000" dirty="0"/>
              <a:t>.</a:t>
            </a:r>
          </a:p>
          <a:p>
            <a:pPr marL="0" indent="0">
              <a:buNone/>
            </a:pPr>
            <a:endParaRPr lang="en-US" sz="2000" dirty="0"/>
          </a:p>
          <a:p>
            <a:r>
              <a:rPr lang="en-US" sz="2000" b="1" dirty="0"/>
              <a:t>Functions of Apache </a:t>
            </a:r>
            <a:r>
              <a:rPr lang="en-US" sz="2000" b="1" dirty="0" err="1"/>
              <a:t>Nifi</a:t>
            </a:r>
            <a:endParaRPr lang="en-US" sz="2000" dirty="0"/>
          </a:p>
          <a:p>
            <a:pPr lvl="1"/>
            <a:r>
              <a:rPr lang="en-US" sz="2000" dirty="0"/>
              <a:t>Track data flow from beginning to end</a:t>
            </a:r>
          </a:p>
          <a:p>
            <a:pPr lvl="1"/>
            <a:r>
              <a:rPr lang="en-US" sz="2000" dirty="0"/>
              <a:t>The seamless experience between design, control, feedback, and monitoring</a:t>
            </a:r>
          </a:p>
          <a:p>
            <a:pPr lvl="1"/>
            <a:r>
              <a:rPr lang="en-US" sz="2000" dirty="0"/>
              <a:t>Secure because of SSL, SSH, HTTPS, encrypted content.</a:t>
            </a:r>
          </a:p>
          <a:p>
            <a:endParaRPr lang="en-US" sz="2000" dirty="0"/>
          </a:p>
        </p:txBody>
      </p:sp>
      <p:sp>
        <p:nvSpPr>
          <p:cNvPr id="4" name="TextBox 3"/>
          <p:cNvSpPr txBox="1"/>
          <p:nvPr/>
        </p:nvSpPr>
        <p:spPr>
          <a:xfrm>
            <a:off x="7204363" y="1902997"/>
            <a:ext cx="3822008" cy="1200329"/>
          </a:xfrm>
          <a:prstGeom prst="rect">
            <a:avLst/>
          </a:prstGeom>
          <a:noFill/>
        </p:spPr>
        <p:txBody>
          <a:bodyPr wrap="none" rtlCol="0">
            <a:spAutoFit/>
          </a:bodyPr>
          <a:lstStyle/>
          <a:p>
            <a:r>
              <a:rPr lang="en-US" dirty="0">
                <a:solidFill>
                  <a:srgbClr val="FF0000"/>
                </a:solidFill>
                <a:hlinkClick r:id="rId3"/>
              </a:rPr>
              <a:t>https://nifi.apache.org/</a:t>
            </a:r>
            <a:endParaRPr lang="en-US" dirty="0">
              <a:solidFill>
                <a:srgbClr val="FF0000"/>
              </a:solidFill>
            </a:endParaRPr>
          </a:p>
          <a:p>
            <a:r>
              <a:rPr lang="en-US" dirty="0">
                <a:hlinkClick r:id="rId4"/>
              </a:rPr>
              <a:t>https://nifi.apache.org/quickstart.html</a:t>
            </a:r>
            <a:endParaRPr lang="en-US" dirty="0"/>
          </a:p>
          <a:p>
            <a:endParaRPr lang="en-US" dirty="0"/>
          </a:p>
          <a:p>
            <a:endParaRPr lang="en-US" dirty="0"/>
          </a:p>
        </p:txBody>
      </p:sp>
    </p:spTree>
    <p:extLst>
      <p:ext uri="{BB962C8B-B14F-4D97-AF65-F5344CB8AC3E}">
        <p14:creationId xmlns:p14="http://schemas.microsoft.com/office/powerpoint/2010/main" val="18431909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dirty="0"/>
              <a:t>Distributed and Big Data Ingestion Tools</a:t>
            </a:r>
          </a:p>
        </p:txBody>
      </p:sp>
      <p:sp>
        <p:nvSpPr>
          <p:cNvPr id="3" name="Content Placeholder 2"/>
          <p:cNvSpPr>
            <a:spLocks noGrp="1"/>
          </p:cNvSpPr>
          <p:nvPr>
            <p:ph idx="1"/>
          </p:nvPr>
        </p:nvSpPr>
        <p:spPr>
          <a:xfrm>
            <a:off x="838200" y="1825625"/>
            <a:ext cx="10515600" cy="2815648"/>
          </a:xfrm>
          <a:solidFill>
            <a:srgbClr val="92D050"/>
          </a:solidFill>
        </p:spPr>
        <p:txBody>
          <a:bodyPr>
            <a:normAutofit/>
          </a:bodyPr>
          <a:lstStyle/>
          <a:p>
            <a:pPr marL="0" indent="0">
              <a:buNone/>
            </a:pPr>
            <a:r>
              <a:rPr lang="en-US" sz="2000" b="1" dirty="0">
                <a:solidFill>
                  <a:srgbClr val="0070C0"/>
                </a:solidFill>
              </a:rPr>
              <a:t>3. Elastic </a:t>
            </a:r>
            <a:r>
              <a:rPr lang="en-US" sz="2000" b="1" dirty="0" err="1">
                <a:solidFill>
                  <a:srgbClr val="0070C0"/>
                </a:solidFill>
              </a:rPr>
              <a:t>Logstash</a:t>
            </a:r>
            <a:endParaRPr lang="en-US" sz="2000" b="1" dirty="0">
              <a:solidFill>
                <a:srgbClr val="0070C0"/>
              </a:solidFill>
            </a:endParaRPr>
          </a:p>
          <a:p>
            <a:pPr marL="0" indent="0">
              <a:buNone/>
            </a:pPr>
            <a:r>
              <a:rPr lang="en-US" sz="2000" dirty="0"/>
              <a:t>Elastic </a:t>
            </a:r>
            <a:r>
              <a:rPr lang="en-US" sz="2000" dirty="0" err="1"/>
              <a:t>Logstash</a:t>
            </a:r>
            <a:r>
              <a:rPr lang="en-US" sz="2000" dirty="0"/>
              <a:t> is an open-source Data ingestion tool, server-side data processing pipeline that ingests data from a multitude of sources simultaneously transforms it, and then sends it to your “stash, ” i.e., </a:t>
            </a:r>
            <a:r>
              <a:rPr lang="en-US" sz="2000" dirty="0" err="1"/>
              <a:t>Elasticsearch</a:t>
            </a:r>
            <a:r>
              <a:rPr lang="en-US" sz="2000" dirty="0"/>
              <a:t>.</a:t>
            </a:r>
          </a:p>
          <a:p>
            <a:pPr marL="0" indent="0">
              <a:buNone/>
            </a:pPr>
            <a:r>
              <a:rPr lang="en-US" sz="2000" b="1" dirty="0"/>
              <a:t>Functions of Elastic </a:t>
            </a:r>
            <a:r>
              <a:rPr lang="en-US" sz="2000" b="1" dirty="0" err="1"/>
              <a:t>Logstash</a:t>
            </a:r>
            <a:endParaRPr lang="en-US" sz="2000" dirty="0"/>
          </a:p>
          <a:p>
            <a:pPr lvl="1"/>
            <a:r>
              <a:rPr lang="en-US" sz="2000" dirty="0"/>
              <a:t>Easily </a:t>
            </a:r>
            <a:r>
              <a:rPr lang="en-US" sz="2000" u="sng" dirty="0"/>
              <a:t>ingests from your logs, metrics, web applications, data stores</a:t>
            </a:r>
          </a:p>
          <a:p>
            <a:pPr lvl="1"/>
            <a:r>
              <a:rPr lang="en-US" sz="2000" dirty="0"/>
              <a:t>Multiple AWS services and done in continuous, </a:t>
            </a:r>
            <a:r>
              <a:rPr lang="en-US" sz="2000" u="sng" dirty="0"/>
              <a:t>streaming fashion</a:t>
            </a:r>
          </a:p>
          <a:p>
            <a:pPr lvl="1"/>
            <a:r>
              <a:rPr lang="en-US" sz="2000" dirty="0"/>
              <a:t>Ingest Data of all Shapes, Sizes, and Sources</a:t>
            </a:r>
          </a:p>
        </p:txBody>
      </p:sp>
      <p:sp>
        <p:nvSpPr>
          <p:cNvPr id="4" name="TextBox 3"/>
          <p:cNvSpPr txBox="1"/>
          <p:nvPr/>
        </p:nvSpPr>
        <p:spPr>
          <a:xfrm>
            <a:off x="8232898" y="4995553"/>
            <a:ext cx="3263522" cy="646331"/>
          </a:xfrm>
          <a:prstGeom prst="rect">
            <a:avLst/>
          </a:prstGeom>
          <a:noFill/>
        </p:spPr>
        <p:txBody>
          <a:bodyPr wrap="none" rtlCol="0">
            <a:spAutoFit/>
          </a:bodyPr>
          <a:lstStyle/>
          <a:p>
            <a:r>
              <a:rPr lang="en-US" dirty="0">
                <a:hlinkClick r:id="rId2"/>
              </a:rPr>
              <a:t>https://www.elastic.co/logstash/</a:t>
            </a:r>
            <a:endParaRPr lang="en-US" dirty="0"/>
          </a:p>
          <a:p>
            <a:endParaRPr lang="en-US" dirty="0"/>
          </a:p>
        </p:txBody>
      </p:sp>
    </p:spTree>
    <p:extLst>
      <p:ext uri="{BB962C8B-B14F-4D97-AF65-F5344CB8AC3E}">
        <p14:creationId xmlns:p14="http://schemas.microsoft.com/office/powerpoint/2010/main" val="30953723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rot="20126952">
            <a:off x="1034643" y="1267954"/>
            <a:ext cx="6169852" cy="1325563"/>
          </a:xfrm>
        </p:spPr>
        <p:txBody>
          <a:bodyPr vert="horz" lIns="91440" tIns="45720" rIns="91440" bIns="45720" rtlCol="0" anchor="ctr">
            <a:normAutofit/>
          </a:bodyPr>
          <a:lstStyle/>
          <a:p>
            <a:r>
              <a:rPr lang="en-US" dirty="0"/>
              <a:t>Data Ingestion: Challenges</a:t>
            </a:r>
          </a:p>
        </p:txBody>
      </p:sp>
      <p:sp>
        <p:nvSpPr>
          <p:cNvPr id="3" name="Content Placeholder 2"/>
          <p:cNvSpPr>
            <a:spLocks noGrp="1"/>
          </p:cNvSpPr>
          <p:nvPr>
            <p:ph idx="1"/>
          </p:nvPr>
        </p:nvSpPr>
        <p:spPr>
          <a:xfrm rot="20078391">
            <a:off x="647700" y="2390910"/>
            <a:ext cx="10515600" cy="2327275"/>
          </a:xfrm>
          <a:solidFill>
            <a:schemeClr val="accent2"/>
          </a:solidFill>
        </p:spPr>
        <p:txBody>
          <a:bodyPr>
            <a:normAutofit/>
          </a:bodyPr>
          <a:lstStyle/>
          <a:p>
            <a:pPr marL="0" indent="0">
              <a:buNone/>
            </a:pPr>
            <a:r>
              <a:rPr lang="en-US" sz="3200" dirty="0"/>
              <a:t>As the number of IoT devices increases, both the volume and variance of Data Sources are expanding rapidly. So, extracting the data from the Data ingestion pipeline such that it can be used by the destination system is a significant challenge regarding time and resources.</a:t>
            </a:r>
          </a:p>
        </p:txBody>
      </p:sp>
      <p:sp>
        <p:nvSpPr>
          <p:cNvPr id="4" name="TextBox 3"/>
          <p:cNvSpPr txBox="1"/>
          <p:nvPr/>
        </p:nvSpPr>
        <p:spPr>
          <a:xfrm>
            <a:off x="5883079" y="5122677"/>
            <a:ext cx="6042221" cy="1384995"/>
          </a:xfrm>
          <a:prstGeom prst="rect">
            <a:avLst/>
          </a:prstGeom>
          <a:solidFill>
            <a:srgbClr val="92D050"/>
          </a:solidFill>
        </p:spPr>
        <p:txBody>
          <a:bodyPr wrap="square" rtlCol="0">
            <a:spAutoFit/>
          </a:bodyPr>
          <a:lstStyle/>
          <a:p>
            <a:pPr algn="just"/>
            <a:r>
              <a:rPr lang="en-US" sz="2800" dirty="0"/>
              <a:t>Incorrect data ingestion can result in unreliable connectivity. This can disrupt communication and cause data loss.</a:t>
            </a:r>
          </a:p>
        </p:txBody>
      </p:sp>
    </p:spTree>
    <p:extLst>
      <p:ext uri="{BB962C8B-B14F-4D97-AF65-F5344CB8AC3E}">
        <p14:creationId xmlns:p14="http://schemas.microsoft.com/office/powerpoint/2010/main" val="15124635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1559" y="1380259"/>
            <a:ext cx="11029950" cy="3690505"/>
          </a:xfrm>
          <a:solidFill>
            <a:srgbClr val="92D050"/>
          </a:solidFill>
        </p:spPr>
        <p:txBody>
          <a:bodyPr>
            <a:noAutofit/>
          </a:bodyPr>
          <a:lstStyle/>
          <a:p>
            <a:pPr marL="0" indent="0">
              <a:buNone/>
            </a:pPr>
            <a:r>
              <a:rPr lang="en-US" sz="2000" b="1" dirty="0"/>
              <a:t>Tips for Better Data Ingestion</a:t>
            </a:r>
          </a:p>
          <a:p>
            <a:r>
              <a:rPr lang="en-US" sz="2000" dirty="0"/>
              <a:t>Be capable enough to handle and upgrade the Data ingestion pipeline, new data sources, technology and applications</a:t>
            </a:r>
          </a:p>
          <a:p>
            <a:r>
              <a:rPr lang="en-US" sz="2000" dirty="0"/>
              <a:t>Assure that the consuming application is working with correct, consistent and trustworthy data to apply Data ingestion best practices.</a:t>
            </a:r>
          </a:p>
          <a:p>
            <a:r>
              <a:rPr lang="en-US" sz="2000" dirty="0"/>
              <a:t>Allows rapid consumption of data in Data ingestion process flow.</a:t>
            </a:r>
          </a:p>
          <a:p>
            <a:r>
              <a:rPr lang="en-US" sz="2000" dirty="0"/>
              <a:t>Capacity and reliability – The system needs to scale according to input coming and also it should be fault-tolerant.</a:t>
            </a:r>
          </a:p>
          <a:p>
            <a:r>
              <a:rPr lang="en-US" sz="2000" dirty="0"/>
              <a:t>Data volume – Though storing all incoming data is preferable; there are some cases in which aggregate data is stored.</a:t>
            </a:r>
          </a:p>
        </p:txBody>
      </p:sp>
    </p:spTree>
    <p:extLst>
      <p:ext uri="{BB962C8B-B14F-4D97-AF65-F5344CB8AC3E}">
        <p14:creationId xmlns:p14="http://schemas.microsoft.com/office/powerpoint/2010/main" val="22253825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5072" y="2061153"/>
            <a:ext cx="10515600" cy="3480665"/>
          </a:xfrm>
          <a:solidFill>
            <a:srgbClr val="92D050"/>
          </a:solidFill>
        </p:spPr>
        <p:txBody>
          <a:bodyPr/>
          <a:lstStyle/>
          <a:p>
            <a:r>
              <a:rPr lang="en-US" dirty="0"/>
              <a:t>Data Ingestion tools</a:t>
            </a:r>
          </a:p>
          <a:p>
            <a:pPr lvl="1"/>
            <a:r>
              <a:rPr lang="en-US" dirty="0"/>
              <a:t>Apache flume- </a:t>
            </a:r>
          </a:p>
          <a:p>
            <a:pPr lvl="2"/>
            <a:r>
              <a:rPr lang="en-US" dirty="0"/>
              <a:t>Streaming, buffer storage platform, scale horizontally</a:t>
            </a:r>
          </a:p>
          <a:p>
            <a:pPr lvl="1"/>
            <a:r>
              <a:rPr lang="en-US" dirty="0" err="1"/>
              <a:t>Apachey</a:t>
            </a:r>
            <a:r>
              <a:rPr lang="en-US" dirty="0"/>
              <a:t> </a:t>
            </a:r>
            <a:r>
              <a:rPr lang="en-US" dirty="0" err="1"/>
              <a:t>nifi</a:t>
            </a:r>
            <a:r>
              <a:rPr lang="en-US" dirty="0"/>
              <a:t>- </a:t>
            </a:r>
          </a:p>
          <a:p>
            <a:pPr lvl="2"/>
            <a:r>
              <a:rPr lang="en-US" dirty="0"/>
              <a:t>data flow from ingestion to processing and data distribution, secure due to basic SSL, SSH, HTTPs  encrypted content.</a:t>
            </a:r>
          </a:p>
          <a:p>
            <a:pPr lvl="1"/>
            <a:r>
              <a:rPr lang="en-US" dirty="0"/>
              <a:t>Elastic </a:t>
            </a:r>
            <a:r>
              <a:rPr lang="en-US" dirty="0" err="1"/>
              <a:t>logstash</a:t>
            </a:r>
            <a:r>
              <a:rPr lang="en-US" dirty="0"/>
              <a:t>- </a:t>
            </a:r>
          </a:p>
          <a:p>
            <a:pPr lvl="2"/>
            <a:r>
              <a:rPr lang="en-US" dirty="0"/>
              <a:t>ingest data from multiple sources, logs, web apps, data stores, ingest data of all shapes and sizes.</a:t>
            </a:r>
          </a:p>
          <a:p>
            <a:pPr lvl="1"/>
            <a:endParaRPr lang="en-US" dirty="0"/>
          </a:p>
        </p:txBody>
      </p:sp>
      <p:sp>
        <p:nvSpPr>
          <p:cNvPr id="4" name="TextBox 3"/>
          <p:cNvSpPr txBox="1"/>
          <p:nvPr/>
        </p:nvSpPr>
        <p:spPr>
          <a:xfrm>
            <a:off x="1163782" y="766510"/>
            <a:ext cx="5144935" cy="646331"/>
          </a:xfrm>
          <a:prstGeom prst="rect">
            <a:avLst/>
          </a:prstGeom>
          <a:noFill/>
        </p:spPr>
        <p:txBody>
          <a:bodyPr wrap="none" rtlCol="0">
            <a:spAutoFit/>
          </a:bodyPr>
          <a:lstStyle/>
          <a:p>
            <a:r>
              <a:rPr lang="en-US" sz="3600" dirty="0"/>
              <a:t>Major Data Ingestion tools</a:t>
            </a:r>
          </a:p>
        </p:txBody>
      </p:sp>
    </p:spTree>
    <p:extLst>
      <p:ext uri="{BB962C8B-B14F-4D97-AF65-F5344CB8AC3E}">
        <p14:creationId xmlns:p14="http://schemas.microsoft.com/office/powerpoint/2010/main" val="9983539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01235"/>
            <a:ext cx="10515600" cy="1325563"/>
          </a:xfrm>
          <a:solidFill>
            <a:schemeClr val="accent2"/>
          </a:solidFill>
        </p:spPr>
        <p:txBody>
          <a:bodyPr/>
          <a:lstStyle/>
          <a:p>
            <a:pPr algn="ctr"/>
            <a:r>
              <a:rPr lang="en-US" dirty="0"/>
              <a:t>Big Data Processing Layer</a:t>
            </a:r>
          </a:p>
        </p:txBody>
      </p:sp>
      <p:sp>
        <p:nvSpPr>
          <p:cNvPr id="4" name="TextBox 3"/>
          <p:cNvSpPr txBox="1"/>
          <p:nvPr/>
        </p:nvSpPr>
        <p:spPr>
          <a:xfrm>
            <a:off x="9289542" y="0"/>
            <a:ext cx="2867965" cy="2031325"/>
          </a:xfrm>
          <a:prstGeom prst="rect">
            <a:avLst/>
          </a:prstGeom>
          <a:solidFill>
            <a:schemeClr val="accent1">
              <a:lumMod val="60000"/>
              <a:lumOff val="40000"/>
            </a:schemeClr>
          </a:solidFill>
          <a:ln>
            <a:solidFill>
              <a:schemeClr val="tx1"/>
            </a:solidFill>
          </a:ln>
        </p:spPr>
        <p:txBody>
          <a:bodyPr wrap="none" rtlCol="0">
            <a:spAutoFit/>
          </a:bodyPr>
          <a:lstStyle/>
          <a:p>
            <a:r>
              <a:rPr lang="en-US" b="1" u="sng" dirty="0"/>
              <a:t>Big Data Architecture Layers</a:t>
            </a:r>
          </a:p>
          <a:p>
            <a:pPr marL="342900" indent="-342900">
              <a:buFont typeface="+mj-lt"/>
              <a:buAutoNum type="arabicPeriod"/>
            </a:pPr>
            <a:r>
              <a:rPr lang="en-US" dirty="0"/>
              <a:t>Data ingestion layer</a:t>
            </a:r>
          </a:p>
          <a:p>
            <a:pPr marL="342900" indent="-342900">
              <a:buFont typeface="+mj-lt"/>
              <a:buAutoNum type="arabicPeriod"/>
            </a:pPr>
            <a:r>
              <a:rPr lang="en-US" dirty="0"/>
              <a:t>Data Collector layer</a:t>
            </a:r>
          </a:p>
          <a:p>
            <a:pPr marL="342900" indent="-342900">
              <a:buFont typeface="+mj-lt"/>
              <a:buAutoNum type="arabicPeriod"/>
            </a:pPr>
            <a:r>
              <a:rPr lang="en-US" dirty="0"/>
              <a:t>Data Processing Layer</a:t>
            </a:r>
          </a:p>
          <a:p>
            <a:pPr marL="342900" indent="-342900">
              <a:buFont typeface="+mj-lt"/>
              <a:buAutoNum type="arabicPeriod"/>
            </a:pPr>
            <a:r>
              <a:rPr lang="en-US" dirty="0"/>
              <a:t>Data Storage Layer</a:t>
            </a:r>
          </a:p>
          <a:p>
            <a:pPr marL="342900" indent="-342900">
              <a:buFont typeface="+mj-lt"/>
              <a:buAutoNum type="arabicPeriod"/>
            </a:pPr>
            <a:r>
              <a:rPr lang="en-US" dirty="0"/>
              <a:t>Data Query Layer</a:t>
            </a:r>
          </a:p>
          <a:p>
            <a:pPr marL="342900" indent="-342900">
              <a:buFont typeface="+mj-lt"/>
              <a:buAutoNum type="arabicPeriod"/>
            </a:pPr>
            <a:r>
              <a:rPr lang="en-US" dirty="0"/>
              <a:t>Data Visualization Layer</a:t>
            </a:r>
          </a:p>
        </p:txBody>
      </p:sp>
    </p:spTree>
    <p:extLst>
      <p:ext uri="{BB962C8B-B14F-4D97-AF65-F5344CB8AC3E}">
        <p14:creationId xmlns:p14="http://schemas.microsoft.com/office/powerpoint/2010/main" val="8371984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Big Data Archite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941" y="0"/>
            <a:ext cx="9135323"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608901" y="256032"/>
            <a:ext cx="1257300" cy="923330"/>
          </a:xfrm>
          <a:prstGeom prst="rect">
            <a:avLst/>
          </a:prstGeom>
          <a:solidFill>
            <a:schemeClr val="accent2"/>
          </a:solidFill>
        </p:spPr>
        <p:txBody>
          <a:bodyPr wrap="square" rtlCol="0">
            <a:spAutoFit/>
          </a:bodyPr>
          <a:lstStyle/>
          <a:p>
            <a:pPr algn="ctr"/>
            <a:r>
              <a:rPr lang="en-US" dirty="0"/>
              <a:t>Data fusion and Integration</a:t>
            </a:r>
          </a:p>
        </p:txBody>
      </p:sp>
    </p:spTree>
    <p:extLst>
      <p:ext uri="{BB962C8B-B14F-4D97-AF65-F5344CB8AC3E}">
        <p14:creationId xmlns:p14="http://schemas.microsoft.com/office/powerpoint/2010/main" val="31375152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Data Processing Layer</a:t>
            </a:r>
          </a:p>
        </p:txBody>
      </p:sp>
      <p:sp>
        <p:nvSpPr>
          <p:cNvPr id="3" name="Content Placeholder 2"/>
          <p:cNvSpPr>
            <a:spLocks noGrp="1"/>
          </p:cNvSpPr>
          <p:nvPr>
            <p:ph idx="1"/>
          </p:nvPr>
        </p:nvSpPr>
        <p:spPr>
          <a:xfrm>
            <a:off x="838200" y="1825625"/>
            <a:ext cx="10515600" cy="2150630"/>
          </a:xfrm>
          <a:solidFill>
            <a:srgbClr val="92D050"/>
          </a:solidFill>
        </p:spPr>
        <p:txBody>
          <a:bodyPr>
            <a:normAutofit/>
          </a:bodyPr>
          <a:lstStyle/>
          <a:p>
            <a:r>
              <a:rPr lang="en-US" sz="2000" dirty="0"/>
              <a:t>In this primary layer, the focus is to </a:t>
            </a:r>
          </a:p>
          <a:p>
            <a:pPr lvl="1"/>
            <a:r>
              <a:rPr lang="en-US" sz="2000" dirty="0"/>
              <a:t>specialize in the </a:t>
            </a:r>
            <a:r>
              <a:rPr lang="en-US" sz="2000" u="sng" dirty="0"/>
              <a:t>data pipeline processing system</a:t>
            </a:r>
            <a:r>
              <a:rPr lang="en-US" sz="2000" dirty="0"/>
              <a:t>, </a:t>
            </a:r>
          </a:p>
          <a:p>
            <a:pPr marL="457200" lvl="1" indent="0">
              <a:buNone/>
            </a:pPr>
            <a:r>
              <a:rPr lang="en-US" sz="2000" dirty="0"/>
              <a:t>or </a:t>
            </a:r>
          </a:p>
          <a:p>
            <a:pPr lvl="1"/>
            <a:r>
              <a:rPr lang="en-US" sz="2000" dirty="0"/>
              <a:t>we can say the </a:t>
            </a:r>
            <a:r>
              <a:rPr lang="en-US" sz="2000" u="sng" dirty="0"/>
              <a:t>data we have collected in the previous layer is to be processed </a:t>
            </a:r>
            <a:r>
              <a:rPr lang="en-US" sz="2000" dirty="0"/>
              <a:t>in this layer. </a:t>
            </a:r>
          </a:p>
          <a:p>
            <a:r>
              <a:rPr lang="en-US" sz="2000" dirty="0"/>
              <a:t>Here we do some magic with the </a:t>
            </a:r>
            <a:r>
              <a:rPr lang="en-US" sz="2000" u="sng" dirty="0"/>
              <a:t>data to route them to a different destination, classify the data flow and it’s the first point where the analytic may take place</a:t>
            </a:r>
            <a:r>
              <a:rPr lang="en-US" sz="2000" dirty="0"/>
              <a:t>.</a:t>
            </a:r>
          </a:p>
        </p:txBody>
      </p:sp>
      <p:sp>
        <p:nvSpPr>
          <p:cNvPr id="5" name="TextBox 4"/>
          <p:cNvSpPr txBox="1"/>
          <p:nvPr/>
        </p:nvSpPr>
        <p:spPr>
          <a:xfrm>
            <a:off x="9289542" y="0"/>
            <a:ext cx="2867965" cy="2031325"/>
          </a:xfrm>
          <a:prstGeom prst="rect">
            <a:avLst/>
          </a:prstGeom>
          <a:solidFill>
            <a:schemeClr val="accent1">
              <a:lumMod val="60000"/>
              <a:lumOff val="40000"/>
            </a:schemeClr>
          </a:solidFill>
          <a:ln>
            <a:solidFill>
              <a:schemeClr val="tx1"/>
            </a:solidFill>
          </a:ln>
        </p:spPr>
        <p:txBody>
          <a:bodyPr wrap="none" rtlCol="0">
            <a:spAutoFit/>
          </a:bodyPr>
          <a:lstStyle/>
          <a:p>
            <a:r>
              <a:rPr lang="en-US" b="1" u="sng" dirty="0"/>
              <a:t>Big Data Architecture Layers</a:t>
            </a:r>
          </a:p>
          <a:p>
            <a:pPr marL="342900" indent="-342900">
              <a:buFont typeface="+mj-lt"/>
              <a:buAutoNum type="arabicPeriod"/>
            </a:pPr>
            <a:r>
              <a:rPr lang="en-US" dirty="0"/>
              <a:t>Data ingestion layer</a:t>
            </a:r>
          </a:p>
          <a:p>
            <a:pPr marL="342900" indent="-342900">
              <a:buFont typeface="+mj-lt"/>
              <a:buAutoNum type="arabicPeriod"/>
            </a:pPr>
            <a:r>
              <a:rPr lang="en-US" dirty="0"/>
              <a:t>Data Collector layer</a:t>
            </a:r>
          </a:p>
          <a:p>
            <a:pPr marL="342900" indent="-342900">
              <a:buFont typeface="+mj-lt"/>
              <a:buAutoNum type="arabicPeriod"/>
            </a:pPr>
            <a:r>
              <a:rPr lang="en-US" dirty="0"/>
              <a:t>Data Processing Layer</a:t>
            </a:r>
          </a:p>
          <a:p>
            <a:pPr marL="342900" indent="-342900">
              <a:buFont typeface="+mj-lt"/>
              <a:buAutoNum type="arabicPeriod"/>
            </a:pPr>
            <a:r>
              <a:rPr lang="en-US" dirty="0"/>
              <a:t>Data Storage Layer</a:t>
            </a:r>
          </a:p>
          <a:p>
            <a:pPr marL="342900" indent="-342900">
              <a:buFont typeface="+mj-lt"/>
              <a:buAutoNum type="arabicPeriod"/>
            </a:pPr>
            <a:r>
              <a:rPr lang="en-US" dirty="0"/>
              <a:t>Data Query Layer</a:t>
            </a:r>
          </a:p>
          <a:p>
            <a:pPr marL="342900" indent="-342900">
              <a:buFont typeface="+mj-lt"/>
              <a:buAutoNum type="arabicPeriod"/>
            </a:pPr>
            <a:r>
              <a:rPr lang="en-US" dirty="0"/>
              <a:t>Data Visualization Layer</a:t>
            </a:r>
          </a:p>
        </p:txBody>
      </p:sp>
    </p:spTree>
    <p:extLst>
      <p:ext uri="{BB962C8B-B14F-4D97-AF65-F5344CB8AC3E}">
        <p14:creationId xmlns:p14="http://schemas.microsoft.com/office/powerpoint/2010/main" val="24701618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solidFill>
            <a:srgbClr val="92D050"/>
          </a:solidFill>
        </p:spPr>
        <p:txBody>
          <a:bodyPr>
            <a:normAutofit/>
          </a:bodyPr>
          <a:lstStyle/>
          <a:p>
            <a:r>
              <a:rPr lang="en-US" sz="2000" dirty="0"/>
              <a:t>Big Data Batch Processing System is a </a:t>
            </a:r>
            <a:r>
              <a:rPr lang="en-US" sz="2000" b="1" u="sng" dirty="0"/>
              <a:t>simple batch processing </a:t>
            </a:r>
            <a:r>
              <a:rPr lang="en-US" sz="2000" dirty="0"/>
              <a:t>system for offline analytics. For doing this tool used is </a:t>
            </a:r>
            <a:r>
              <a:rPr lang="en-US" sz="2000" b="1" u="sng" dirty="0"/>
              <a:t>Apache </a:t>
            </a:r>
            <a:r>
              <a:rPr lang="en-US" sz="2000" b="1" u="sng" dirty="0" err="1"/>
              <a:t>Sqoop</a:t>
            </a:r>
            <a:r>
              <a:rPr lang="en-US" sz="2000" dirty="0"/>
              <a:t>.</a:t>
            </a:r>
          </a:p>
          <a:p>
            <a:r>
              <a:rPr lang="en-US" sz="2000" dirty="0"/>
              <a:t>Apache </a:t>
            </a:r>
            <a:r>
              <a:rPr lang="en-US" sz="2000" dirty="0" err="1"/>
              <a:t>Sqoop</a:t>
            </a:r>
            <a:r>
              <a:rPr lang="en-US" sz="2000" dirty="0"/>
              <a:t> (TM) is a tool designed for efficiently transferring bulk data between </a:t>
            </a:r>
            <a:r>
              <a:rPr lang="en-US" sz="2000" dirty="0" err="1">
                <a:hlinkClick r:id="rId2"/>
              </a:rPr>
              <a:t>Hadoop</a:t>
            </a:r>
            <a:r>
              <a:rPr lang="en-US" sz="2000" dirty="0"/>
              <a:t> and structured data stores such as relational databases.</a:t>
            </a:r>
          </a:p>
        </p:txBody>
      </p:sp>
      <p:pic>
        <p:nvPicPr>
          <p:cNvPr id="5122" name="Picture 2" descr="Data Processing Layer of Big Data Framewor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8575" y="3230746"/>
            <a:ext cx="6686550" cy="27813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a:spLocks noGrp="1"/>
          </p:cNvSpPr>
          <p:nvPr>
            <p:ph type="title"/>
          </p:nvPr>
        </p:nvSpPr>
        <p:spPr>
          <a:xfrm>
            <a:off x="838200" y="365125"/>
            <a:ext cx="10515600" cy="1325563"/>
          </a:xfrm>
        </p:spPr>
        <p:txBody>
          <a:bodyPr/>
          <a:lstStyle/>
          <a:p>
            <a:r>
              <a:rPr lang="en-US" dirty="0"/>
              <a:t>Data Processing tools</a:t>
            </a:r>
          </a:p>
        </p:txBody>
      </p:sp>
    </p:spTree>
    <p:extLst>
      <p:ext uri="{BB962C8B-B14F-4D97-AF65-F5344CB8AC3E}">
        <p14:creationId xmlns:p14="http://schemas.microsoft.com/office/powerpoint/2010/main" val="4222873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5299" y="692727"/>
            <a:ext cx="11461173" cy="2216728"/>
          </a:xfrm>
          <a:solidFill>
            <a:srgbClr val="92D050"/>
          </a:solidFill>
        </p:spPr>
        <p:txBody>
          <a:bodyPr>
            <a:normAutofit/>
          </a:bodyPr>
          <a:lstStyle/>
          <a:p>
            <a:pPr marL="0" indent="0">
              <a:buNone/>
            </a:pPr>
            <a:r>
              <a:rPr lang="en-US" sz="2000" b="1" dirty="0"/>
              <a:t>What is Apache </a:t>
            </a:r>
            <a:r>
              <a:rPr lang="en-US" sz="2000" b="1" dirty="0" err="1"/>
              <a:t>Sqoop</a:t>
            </a:r>
            <a:r>
              <a:rPr lang="en-US" sz="2000" b="1" dirty="0"/>
              <a:t>?</a:t>
            </a:r>
            <a:endParaRPr lang="en-US" sz="2000" dirty="0"/>
          </a:p>
          <a:p>
            <a:pPr marL="0" indent="0">
              <a:buNone/>
            </a:pPr>
            <a:r>
              <a:rPr lang="en-US" sz="2000" dirty="0"/>
              <a:t>It efficiently transfers bulk data between Apache Hadoop and structured </a:t>
            </a:r>
            <a:r>
              <a:rPr lang="en-US" sz="2000" dirty="0" err="1"/>
              <a:t>datastores</a:t>
            </a:r>
            <a:r>
              <a:rPr lang="en-US" sz="2000" dirty="0"/>
              <a:t> such as relational databases. </a:t>
            </a:r>
          </a:p>
          <a:p>
            <a:pPr marL="0" indent="0">
              <a:buNone/>
            </a:pPr>
            <a:endParaRPr lang="en-US" sz="2000" dirty="0"/>
          </a:p>
          <a:p>
            <a:pPr marL="0" indent="0">
              <a:buNone/>
            </a:pPr>
            <a:r>
              <a:rPr lang="en-US" sz="2000" dirty="0"/>
              <a:t>Apache </a:t>
            </a:r>
            <a:r>
              <a:rPr lang="en-US" sz="2000" dirty="0" err="1"/>
              <a:t>Sqoop</a:t>
            </a:r>
            <a:r>
              <a:rPr lang="en-US" sz="2000" dirty="0"/>
              <a:t> works with relational databases such as Teradata, </a:t>
            </a:r>
            <a:r>
              <a:rPr lang="en-US" sz="2000" dirty="0" err="1"/>
              <a:t>Netezza</a:t>
            </a:r>
            <a:r>
              <a:rPr lang="en-US" sz="2000" dirty="0"/>
              <a:t>, Oracle, MySQL, </a:t>
            </a:r>
            <a:r>
              <a:rPr lang="en-US" sz="2000" dirty="0" err="1"/>
              <a:t>Postgres</a:t>
            </a:r>
            <a:r>
              <a:rPr lang="en-US" sz="2000" dirty="0"/>
              <a:t>, and HSQLDB.</a:t>
            </a:r>
          </a:p>
          <a:p>
            <a:endParaRPr lang="en-US" sz="2000" dirty="0"/>
          </a:p>
        </p:txBody>
      </p:sp>
      <p:sp>
        <p:nvSpPr>
          <p:cNvPr id="7" name="TextBox 6"/>
          <p:cNvSpPr txBox="1"/>
          <p:nvPr/>
        </p:nvSpPr>
        <p:spPr>
          <a:xfrm>
            <a:off x="4010891" y="3347894"/>
            <a:ext cx="2990850" cy="2862322"/>
          </a:xfrm>
          <a:prstGeom prst="rect">
            <a:avLst/>
          </a:prstGeom>
          <a:solidFill>
            <a:schemeClr val="accent2"/>
          </a:solidFill>
        </p:spPr>
        <p:txBody>
          <a:bodyPr wrap="square" rtlCol="0">
            <a:spAutoFit/>
          </a:bodyPr>
          <a:lstStyle/>
          <a:p>
            <a:r>
              <a:rPr lang="en-US" sz="2000" b="1" dirty="0"/>
              <a:t>Functions of Apache </a:t>
            </a:r>
            <a:r>
              <a:rPr lang="en-US" sz="2000" b="1" dirty="0" err="1"/>
              <a:t>Sqoop</a:t>
            </a:r>
            <a:endParaRPr lang="en-US" sz="2000" dirty="0"/>
          </a:p>
          <a:p>
            <a:pPr marL="285750" indent="-285750">
              <a:buFont typeface="Arial" panose="020B0604020202020204" pitchFamily="34" charset="0"/>
              <a:buChar char="•"/>
            </a:pPr>
            <a:r>
              <a:rPr lang="en-US" sz="2000" dirty="0"/>
              <a:t>Import </a:t>
            </a:r>
            <a:r>
              <a:rPr lang="en-US" sz="2000" b="1" u="sng" dirty="0"/>
              <a:t>sequential data sets</a:t>
            </a:r>
            <a:r>
              <a:rPr lang="en-US" sz="2000" dirty="0"/>
              <a:t> from mainframe</a:t>
            </a:r>
          </a:p>
          <a:p>
            <a:pPr marL="285750" indent="-285750">
              <a:buFont typeface="Arial" panose="020B0604020202020204" pitchFamily="34" charset="0"/>
              <a:buChar char="•"/>
            </a:pPr>
            <a:r>
              <a:rPr lang="en-US" sz="2000" dirty="0"/>
              <a:t>Data imports</a:t>
            </a:r>
          </a:p>
          <a:p>
            <a:pPr marL="285750" indent="-285750">
              <a:buFont typeface="Arial" panose="020B0604020202020204" pitchFamily="34" charset="0"/>
              <a:buChar char="•"/>
            </a:pPr>
            <a:r>
              <a:rPr lang="en-US" sz="2000" dirty="0"/>
              <a:t>Parallel Data Transfer</a:t>
            </a:r>
          </a:p>
          <a:p>
            <a:pPr marL="285750" indent="-285750">
              <a:buFont typeface="Arial" panose="020B0604020202020204" pitchFamily="34" charset="0"/>
              <a:buChar char="•"/>
            </a:pPr>
            <a:r>
              <a:rPr lang="en-US" sz="2000" dirty="0"/>
              <a:t>Fast data copies</a:t>
            </a:r>
          </a:p>
          <a:p>
            <a:pPr marL="285750" indent="-285750">
              <a:buFont typeface="Arial" panose="020B0604020202020204" pitchFamily="34" charset="0"/>
              <a:buChar char="•"/>
            </a:pPr>
            <a:r>
              <a:rPr lang="en-US" sz="2000" dirty="0"/>
              <a:t>Efficient data analysis</a:t>
            </a:r>
          </a:p>
          <a:p>
            <a:pPr marL="285750" indent="-285750">
              <a:buFont typeface="Arial" panose="020B0604020202020204" pitchFamily="34" charset="0"/>
              <a:buChar char="•"/>
            </a:pPr>
            <a:r>
              <a:rPr lang="en-US" sz="2000" dirty="0"/>
              <a:t>Load balancing</a:t>
            </a:r>
          </a:p>
        </p:txBody>
      </p:sp>
      <p:sp>
        <p:nvSpPr>
          <p:cNvPr id="2" name="Rectangle 1"/>
          <p:cNvSpPr/>
          <p:nvPr/>
        </p:nvSpPr>
        <p:spPr>
          <a:xfrm>
            <a:off x="8081365" y="3500643"/>
            <a:ext cx="2679451" cy="646331"/>
          </a:xfrm>
          <a:prstGeom prst="rect">
            <a:avLst/>
          </a:prstGeom>
        </p:spPr>
        <p:txBody>
          <a:bodyPr wrap="none">
            <a:spAutoFit/>
          </a:bodyPr>
          <a:lstStyle/>
          <a:p>
            <a:r>
              <a:rPr lang="en-US" dirty="0">
                <a:hlinkClick r:id="rId2"/>
              </a:rPr>
              <a:t>https://sqoop.apache.org/</a:t>
            </a:r>
            <a:endParaRPr lang="en-US" dirty="0"/>
          </a:p>
          <a:p>
            <a:endParaRPr lang="en-US" dirty="0"/>
          </a:p>
        </p:txBody>
      </p:sp>
    </p:spTree>
    <p:extLst>
      <p:ext uri="{BB962C8B-B14F-4D97-AF65-F5344CB8AC3E}">
        <p14:creationId xmlns:p14="http://schemas.microsoft.com/office/powerpoint/2010/main" val="1761672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7486" y="789999"/>
            <a:ext cx="10515600" cy="1842366"/>
          </a:xfrm>
          <a:solidFill>
            <a:srgbClr val="92D050"/>
          </a:solidFill>
        </p:spPr>
        <p:txBody>
          <a:bodyPr>
            <a:normAutofit/>
          </a:bodyPr>
          <a:lstStyle/>
          <a:p>
            <a:pPr marL="0" indent="0">
              <a:buNone/>
            </a:pPr>
            <a:r>
              <a:rPr lang="en-US" sz="2000" b="1" dirty="0"/>
              <a:t>Near Real-Time Processing System</a:t>
            </a:r>
          </a:p>
          <a:p>
            <a:pPr marL="0" indent="0">
              <a:buNone/>
            </a:pPr>
            <a:endParaRPr lang="en-US" sz="2000" dirty="0"/>
          </a:p>
          <a:p>
            <a:pPr marL="0" indent="0">
              <a:buNone/>
            </a:pPr>
            <a:r>
              <a:rPr lang="en-US" sz="2000" dirty="0"/>
              <a:t>A pure online processing system for online analytics. For this type of processing </a:t>
            </a:r>
            <a:r>
              <a:rPr lang="en-US" sz="2000" b="1" u="sng" dirty="0"/>
              <a:t>Apache Storm </a:t>
            </a:r>
            <a:r>
              <a:rPr lang="en-US" sz="2000" dirty="0"/>
              <a:t>is used. The Apache Storm cluster makes decisions about the criticality of the event and sends the alerts to the warning system (dashboard, e-mail, other monitoring systems).</a:t>
            </a:r>
          </a:p>
        </p:txBody>
      </p:sp>
      <p:sp>
        <p:nvSpPr>
          <p:cNvPr id="2" name="TextBox 1"/>
          <p:cNvSpPr txBox="1"/>
          <p:nvPr/>
        </p:nvSpPr>
        <p:spPr>
          <a:xfrm>
            <a:off x="1011382" y="3491345"/>
            <a:ext cx="9725231" cy="2862322"/>
          </a:xfrm>
          <a:prstGeom prst="rect">
            <a:avLst/>
          </a:prstGeom>
          <a:solidFill>
            <a:srgbClr val="92D050"/>
          </a:solidFill>
        </p:spPr>
        <p:txBody>
          <a:bodyPr wrap="square" rtlCol="0">
            <a:spAutoFit/>
          </a:bodyPr>
          <a:lstStyle/>
          <a:p>
            <a:r>
              <a:rPr lang="en-US" sz="2000" dirty="0"/>
              <a:t>Apache Storm has many use cases: </a:t>
            </a:r>
          </a:p>
          <a:p>
            <a:pPr marL="342900" indent="-342900">
              <a:buFont typeface="Arial" pitchFamily="34" charset="0"/>
              <a:buChar char="•"/>
            </a:pPr>
            <a:r>
              <a:rPr lang="en-US" sz="2000" dirty="0"/>
              <a:t>Real time analytics, </a:t>
            </a:r>
          </a:p>
          <a:p>
            <a:pPr marL="342900" indent="-342900">
              <a:buFont typeface="Arial" pitchFamily="34" charset="0"/>
              <a:buChar char="•"/>
            </a:pPr>
            <a:r>
              <a:rPr lang="en-US" sz="2000" dirty="0"/>
              <a:t>online machine learning, </a:t>
            </a:r>
          </a:p>
          <a:p>
            <a:pPr marL="342900" indent="-342900">
              <a:buFont typeface="Arial" pitchFamily="34" charset="0"/>
              <a:buChar char="•"/>
            </a:pPr>
            <a:r>
              <a:rPr lang="en-US" sz="2000" dirty="0"/>
              <a:t>continuous computation, </a:t>
            </a:r>
          </a:p>
          <a:p>
            <a:pPr marL="342900" indent="-342900">
              <a:buFont typeface="Arial" pitchFamily="34" charset="0"/>
              <a:buChar char="•"/>
            </a:pPr>
            <a:r>
              <a:rPr lang="en-US" sz="2000" dirty="0"/>
              <a:t>distributed RPC, ETL, and more. </a:t>
            </a:r>
          </a:p>
          <a:p>
            <a:r>
              <a:rPr lang="en-US" sz="2000" dirty="0"/>
              <a:t>Apache Storm is fast: a benchmark clocked it at over a million tuples processed per second per node. </a:t>
            </a:r>
          </a:p>
          <a:p>
            <a:r>
              <a:rPr lang="en-US" sz="2000" dirty="0"/>
              <a:t>It is scalable, fault-tolerant, guarantees your data will be processed, and is easy to set up and operate.</a:t>
            </a:r>
          </a:p>
        </p:txBody>
      </p:sp>
      <p:sp>
        <p:nvSpPr>
          <p:cNvPr id="4" name="Rectangle 3"/>
          <p:cNvSpPr/>
          <p:nvPr/>
        </p:nvSpPr>
        <p:spPr>
          <a:xfrm>
            <a:off x="5380301" y="2875002"/>
            <a:ext cx="2650597" cy="646331"/>
          </a:xfrm>
          <a:prstGeom prst="rect">
            <a:avLst/>
          </a:prstGeom>
        </p:spPr>
        <p:txBody>
          <a:bodyPr wrap="none">
            <a:spAutoFit/>
          </a:bodyPr>
          <a:lstStyle/>
          <a:p>
            <a:r>
              <a:rPr lang="en-US" dirty="0">
                <a:hlinkClick r:id="rId2"/>
              </a:rPr>
              <a:t>https://storm.apache.org/</a:t>
            </a:r>
            <a:endParaRPr lang="en-US" dirty="0"/>
          </a:p>
          <a:p>
            <a:endParaRPr lang="en-US" dirty="0"/>
          </a:p>
        </p:txBody>
      </p:sp>
    </p:spTree>
    <p:extLst>
      <p:ext uri="{BB962C8B-B14F-4D97-AF65-F5344CB8AC3E}">
        <p14:creationId xmlns:p14="http://schemas.microsoft.com/office/powerpoint/2010/main" val="17810593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7764" y="696723"/>
            <a:ext cx="11677650" cy="1436878"/>
          </a:xfrm>
          <a:solidFill>
            <a:srgbClr val="92D050"/>
          </a:solidFill>
        </p:spPr>
        <p:txBody>
          <a:bodyPr>
            <a:normAutofit/>
          </a:bodyPr>
          <a:lstStyle/>
          <a:p>
            <a:pPr marL="0" indent="0">
              <a:buNone/>
            </a:pPr>
            <a:r>
              <a:rPr lang="en-US" sz="2000" b="1" dirty="0"/>
              <a:t>What is Apache Storm?</a:t>
            </a:r>
          </a:p>
          <a:p>
            <a:pPr marL="0" indent="0">
              <a:buNone/>
            </a:pPr>
            <a:r>
              <a:rPr lang="en-US" sz="2000" dirty="0"/>
              <a:t>It is a system for processing streaming data in </a:t>
            </a:r>
            <a:r>
              <a:rPr lang="en-US" sz="2000" b="1" u="sng" dirty="0"/>
              <a:t>real-time during Data ingestion</a:t>
            </a:r>
            <a:r>
              <a:rPr lang="en-US" sz="2000" dirty="0"/>
              <a:t>. It adds reliable real-time data processing capabilities to Enterprise Hadoop. Storm on YARN is powerful for scenarios requiring real-time analytics, machine learning and continuous monitoring of operations.</a:t>
            </a:r>
          </a:p>
        </p:txBody>
      </p:sp>
      <p:sp>
        <p:nvSpPr>
          <p:cNvPr id="2" name="Rectangle 1"/>
          <p:cNvSpPr/>
          <p:nvPr/>
        </p:nvSpPr>
        <p:spPr>
          <a:xfrm>
            <a:off x="1246909" y="2413659"/>
            <a:ext cx="9434945" cy="3785652"/>
          </a:xfrm>
          <a:prstGeom prst="rect">
            <a:avLst/>
          </a:prstGeom>
          <a:solidFill>
            <a:srgbClr val="92D050"/>
          </a:solidFill>
        </p:spPr>
        <p:txBody>
          <a:bodyPr wrap="square">
            <a:spAutoFit/>
          </a:bodyPr>
          <a:lstStyle/>
          <a:p>
            <a:r>
              <a:rPr lang="en-US" sz="2000" dirty="0"/>
              <a:t>Apache Storm integrates with any queuing system and any database system. Apache Storm's </a:t>
            </a:r>
            <a:r>
              <a:rPr lang="en-US" sz="2000" dirty="0">
                <a:hlinkClick r:id="rId2"/>
              </a:rPr>
              <a:t>spout</a:t>
            </a:r>
            <a:r>
              <a:rPr lang="en-US" sz="2000" dirty="0"/>
              <a:t> abstraction makes it </a:t>
            </a:r>
            <a:r>
              <a:rPr lang="en-US" sz="2000" u="sng" dirty="0"/>
              <a:t>easy to integrate a new queuing system</a:t>
            </a:r>
            <a:r>
              <a:rPr lang="en-US" sz="2000" dirty="0"/>
              <a:t>. Example queue integrations include:</a:t>
            </a:r>
          </a:p>
          <a:p>
            <a:endParaRPr lang="en-US" sz="2000" dirty="0"/>
          </a:p>
          <a:p>
            <a:r>
              <a:rPr lang="en-US" sz="2000" dirty="0">
                <a:hlinkClick r:id="rId3"/>
              </a:rPr>
              <a:t>Kestrel</a:t>
            </a:r>
            <a:endParaRPr lang="en-US" sz="2000" dirty="0"/>
          </a:p>
          <a:p>
            <a:r>
              <a:rPr lang="en-US" sz="2000" dirty="0" err="1">
                <a:hlinkClick r:id="rId4"/>
              </a:rPr>
              <a:t>RabbitMQ</a:t>
            </a:r>
            <a:r>
              <a:rPr lang="en-US" sz="2000" dirty="0">
                <a:hlinkClick r:id="rId4"/>
              </a:rPr>
              <a:t> / AMQP</a:t>
            </a:r>
            <a:endParaRPr lang="en-US" sz="2000" dirty="0"/>
          </a:p>
          <a:p>
            <a:r>
              <a:rPr lang="en-US" sz="2000" dirty="0">
                <a:hlinkClick r:id="rId5"/>
              </a:rPr>
              <a:t>Kafka</a:t>
            </a:r>
            <a:endParaRPr lang="en-US" sz="2000" dirty="0"/>
          </a:p>
          <a:p>
            <a:r>
              <a:rPr lang="en-US" sz="2000" dirty="0">
                <a:hlinkClick r:id="rId6"/>
              </a:rPr>
              <a:t>Amazon Kinesis</a:t>
            </a:r>
            <a:endParaRPr lang="en-US" sz="2000" dirty="0"/>
          </a:p>
          <a:p>
            <a:endParaRPr lang="en-US" sz="2000" dirty="0"/>
          </a:p>
          <a:p>
            <a:r>
              <a:rPr lang="en-US" sz="2000" dirty="0"/>
              <a:t>Likewise, integrating Apache Storm with database systems is easy. Simply open a connection to your database and read/write like you normally would. Apache Storm will handle the parallelization, partitioning, and retrying on failures when necessary.</a:t>
            </a:r>
          </a:p>
        </p:txBody>
      </p:sp>
    </p:spTree>
    <p:extLst>
      <p:ext uri="{BB962C8B-B14F-4D97-AF65-F5344CB8AC3E}">
        <p14:creationId xmlns:p14="http://schemas.microsoft.com/office/powerpoint/2010/main" val="31631756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4237" y="1465406"/>
            <a:ext cx="10515600" cy="3522230"/>
          </a:xfrm>
          <a:solidFill>
            <a:srgbClr val="92D050"/>
          </a:solidFill>
        </p:spPr>
        <p:txBody>
          <a:bodyPr>
            <a:normAutofit/>
          </a:bodyPr>
          <a:lstStyle/>
          <a:p>
            <a:pPr marL="0" indent="0">
              <a:buNone/>
            </a:pPr>
            <a:r>
              <a:rPr lang="en-US" sz="2000" b="1" dirty="0"/>
              <a:t>What is Apache Spark?</a:t>
            </a:r>
            <a:endParaRPr lang="en-US" sz="2000" dirty="0"/>
          </a:p>
          <a:p>
            <a:pPr marL="0" indent="0">
              <a:buNone/>
            </a:pPr>
            <a:r>
              <a:rPr lang="en-US" sz="2000" dirty="0">
                <a:hlinkClick r:id="rId2"/>
              </a:rPr>
              <a:t>Apache Spark optimization</a:t>
            </a:r>
            <a:r>
              <a:rPr lang="en-US" sz="2000" dirty="0"/>
              <a:t> is a fast, </a:t>
            </a:r>
            <a:r>
              <a:rPr lang="en-US" sz="2000" b="1" u="sng" dirty="0"/>
              <a:t>in-memory data processing engine </a:t>
            </a:r>
            <a:r>
              <a:rPr lang="en-US" sz="2000" dirty="0"/>
              <a:t>with elegant and expressive development APIs to allow data workers to efficiently </a:t>
            </a:r>
            <a:r>
              <a:rPr lang="en-US" sz="2000" b="1" u="sng" dirty="0"/>
              <a:t>execute streaming, machine learning or SQL workloads</a:t>
            </a:r>
            <a:r>
              <a:rPr lang="en-US" sz="2000" dirty="0"/>
              <a:t> that require fast iterative access to data sets.</a:t>
            </a:r>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dirty="0"/>
              <a:t>With Spark running on Apache Hadoop YARN, developers everywhere can now create applications to exploit Spark’s power, derive insights, and enrich their data science workloads within a single, shared data set in Hadoop</a:t>
            </a:r>
          </a:p>
          <a:p>
            <a:endParaRPr lang="en-US" sz="2000" dirty="0"/>
          </a:p>
        </p:txBody>
      </p:sp>
    </p:spTree>
    <p:extLst>
      <p:ext uri="{BB962C8B-B14F-4D97-AF65-F5344CB8AC3E}">
        <p14:creationId xmlns:p14="http://schemas.microsoft.com/office/powerpoint/2010/main" val="6714052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0491" y="1494559"/>
            <a:ext cx="10515600" cy="4106141"/>
          </a:xfrm>
          <a:solidFill>
            <a:srgbClr val="92D050"/>
          </a:solidFill>
        </p:spPr>
        <p:txBody>
          <a:bodyPr>
            <a:normAutofit/>
          </a:bodyPr>
          <a:lstStyle/>
          <a:p>
            <a:pPr marL="0" indent="0">
              <a:buNone/>
            </a:pPr>
            <a:r>
              <a:rPr lang="en-US" sz="2000" b="1" dirty="0"/>
              <a:t>What is Apache </a:t>
            </a:r>
            <a:r>
              <a:rPr lang="en-US" sz="2000" b="1" dirty="0" err="1"/>
              <a:t>Flink</a:t>
            </a:r>
            <a:r>
              <a:rPr lang="en-US" sz="2000" b="1" dirty="0"/>
              <a:t>?</a:t>
            </a:r>
            <a:endParaRPr lang="en-US" sz="2000" dirty="0"/>
          </a:p>
          <a:p>
            <a:r>
              <a:rPr lang="en-US" sz="2000" dirty="0">
                <a:hlinkClick r:id="rId2"/>
              </a:rPr>
              <a:t>Apache </a:t>
            </a:r>
            <a:r>
              <a:rPr lang="en-US" sz="2000" dirty="0" err="1">
                <a:hlinkClick r:id="rId2"/>
              </a:rPr>
              <a:t>Flink</a:t>
            </a:r>
            <a:r>
              <a:rPr lang="en-US" sz="2000" dirty="0"/>
              <a:t> is an open-source framework in for </a:t>
            </a:r>
            <a:r>
              <a:rPr lang="en-US" sz="2000" b="1" u="sng" dirty="0"/>
              <a:t>distributed stream processing</a:t>
            </a:r>
            <a:r>
              <a:rPr lang="en-US" sz="2000" dirty="0"/>
              <a:t> that Provides results that are accurate, even in the case of out-of-order or late-arriving data or </a:t>
            </a:r>
            <a:r>
              <a:rPr lang="en-US" sz="2000" dirty="0">
                <a:hlinkClick r:id="rId3"/>
              </a:rPr>
              <a:t>Distributed Data Processing with Apache </a:t>
            </a:r>
            <a:r>
              <a:rPr lang="en-US" sz="2000" dirty="0" err="1">
                <a:hlinkClick r:id="rId3"/>
              </a:rPr>
              <a:t>Flink</a:t>
            </a:r>
            <a:r>
              <a:rPr lang="en-US" sz="2000" dirty="0"/>
              <a:t>.</a:t>
            </a:r>
          </a:p>
          <a:p>
            <a:endParaRPr lang="en-US" sz="2000" dirty="0"/>
          </a:p>
          <a:p>
            <a:pPr marL="0" indent="0">
              <a:buNone/>
            </a:pPr>
            <a:endParaRPr lang="en-US" sz="2000" dirty="0"/>
          </a:p>
          <a:p>
            <a:pPr marL="0" indent="0">
              <a:buNone/>
            </a:pPr>
            <a:r>
              <a:rPr lang="en-US" sz="2000" b="1" dirty="0"/>
              <a:t>Key Features of Apache </a:t>
            </a:r>
            <a:r>
              <a:rPr lang="en-US" sz="2000" b="1" dirty="0" err="1"/>
              <a:t>Flink</a:t>
            </a:r>
            <a:endParaRPr lang="en-US" sz="2000" dirty="0"/>
          </a:p>
          <a:p>
            <a:r>
              <a:rPr lang="en-US" sz="2000" dirty="0"/>
              <a:t>Performs Data ingestion at large scale, running on thousands of nodes with excellent throughput and latency characteristics and Data ingestion framework.</a:t>
            </a:r>
          </a:p>
          <a:p>
            <a:r>
              <a:rPr lang="en-US" sz="2000" dirty="0"/>
              <a:t>It’s </a:t>
            </a:r>
            <a:r>
              <a:rPr lang="en-US" sz="2000" b="1" u="sng" dirty="0"/>
              <a:t>streaming data flow execution engine</a:t>
            </a:r>
            <a:r>
              <a:rPr lang="en-US" sz="2000" dirty="0"/>
              <a:t>, APIs and domain-specific libraries for Batch, Streaming, Machine Learning, and Graph Processing.</a:t>
            </a:r>
          </a:p>
          <a:p>
            <a:endParaRPr lang="en-US" sz="2000" dirty="0"/>
          </a:p>
        </p:txBody>
      </p:sp>
    </p:spTree>
    <p:extLst>
      <p:ext uri="{BB962C8B-B14F-4D97-AF65-F5344CB8AC3E}">
        <p14:creationId xmlns:p14="http://schemas.microsoft.com/office/powerpoint/2010/main" val="28622546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39785"/>
            <a:ext cx="10515600" cy="1325563"/>
          </a:xfrm>
          <a:solidFill>
            <a:schemeClr val="accent2"/>
          </a:solidFill>
        </p:spPr>
        <p:txBody>
          <a:bodyPr/>
          <a:lstStyle/>
          <a:p>
            <a:pPr algn="ctr"/>
            <a:r>
              <a:rPr lang="en-US" dirty="0"/>
              <a:t>Big Data Storage Layer</a:t>
            </a:r>
          </a:p>
        </p:txBody>
      </p:sp>
      <p:sp>
        <p:nvSpPr>
          <p:cNvPr id="4" name="TextBox 3"/>
          <p:cNvSpPr txBox="1"/>
          <p:nvPr/>
        </p:nvSpPr>
        <p:spPr>
          <a:xfrm>
            <a:off x="9289542" y="0"/>
            <a:ext cx="2867965" cy="2031325"/>
          </a:xfrm>
          <a:prstGeom prst="rect">
            <a:avLst/>
          </a:prstGeom>
          <a:solidFill>
            <a:schemeClr val="accent1">
              <a:lumMod val="60000"/>
              <a:lumOff val="40000"/>
            </a:schemeClr>
          </a:solidFill>
          <a:ln>
            <a:solidFill>
              <a:schemeClr val="tx1"/>
            </a:solidFill>
          </a:ln>
        </p:spPr>
        <p:txBody>
          <a:bodyPr wrap="none" rtlCol="0">
            <a:spAutoFit/>
          </a:bodyPr>
          <a:lstStyle/>
          <a:p>
            <a:r>
              <a:rPr lang="en-US" b="1" u="sng" dirty="0"/>
              <a:t>Big Data Architecture Layers</a:t>
            </a:r>
          </a:p>
          <a:p>
            <a:pPr marL="342900" indent="-342900">
              <a:buFont typeface="+mj-lt"/>
              <a:buAutoNum type="arabicPeriod"/>
            </a:pPr>
            <a:r>
              <a:rPr lang="en-US" dirty="0"/>
              <a:t>Data ingestion layer</a:t>
            </a:r>
          </a:p>
          <a:p>
            <a:pPr marL="342900" indent="-342900">
              <a:buFont typeface="+mj-lt"/>
              <a:buAutoNum type="arabicPeriod"/>
            </a:pPr>
            <a:r>
              <a:rPr lang="en-US" dirty="0"/>
              <a:t>Data Collector layer</a:t>
            </a:r>
          </a:p>
          <a:p>
            <a:pPr marL="342900" indent="-342900">
              <a:buFont typeface="+mj-lt"/>
              <a:buAutoNum type="arabicPeriod"/>
            </a:pPr>
            <a:r>
              <a:rPr lang="en-US" dirty="0"/>
              <a:t>Data Processing Layer</a:t>
            </a:r>
          </a:p>
          <a:p>
            <a:pPr marL="342900" indent="-342900">
              <a:buFont typeface="+mj-lt"/>
              <a:buAutoNum type="arabicPeriod"/>
            </a:pPr>
            <a:r>
              <a:rPr lang="en-US" dirty="0"/>
              <a:t>Data Storage Layer</a:t>
            </a:r>
          </a:p>
          <a:p>
            <a:pPr marL="342900" indent="-342900">
              <a:buFont typeface="+mj-lt"/>
              <a:buAutoNum type="arabicPeriod"/>
            </a:pPr>
            <a:r>
              <a:rPr lang="en-US" dirty="0"/>
              <a:t>Data Query Layer</a:t>
            </a:r>
          </a:p>
          <a:p>
            <a:pPr marL="342900" indent="-342900">
              <a:buFont typeface="+mj-lt"/>
              <a:buAutoNum type="arabicPeriod"/>
            </a:pPr>
            <a:r>
              <a:rPr lang="en-US" dirty="0"/>
              <a:t>Data Visualization Layer</a:t>
            </a:r>
          </a:p>
        </p:txBody>
      </p:sp>
    </p:spTree>
    <p:extLst>
      <p:ext uri="{BB962C8B-B14F-4D97-AF65-F5344CB8AC3E}">
        <p14:creationId xmlns:p14="http://schemas.microsoft.com/office/powerpoint/2010/main" val="25229726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Big Data Archite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941" y="0"/>
            <a:ext cx="9135323"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608901" y="256032"/>
            <a:ext cx="1257300" cy="923330"/>
          </a:xfrm>
          <a:prstGeom prst="rect">
            <a:avLst/>
          </a:prstGeom>
          <a:solidFill>
            <a:schemeClr val="accent2"/>
          </a:solidFill>
        </p:spPr>
        <p:txBody>
          <a:bodyPr wrap="square" rtlCol="0">
            <a:spAutoFit/>
          </a:bodyPr>
          <a:lstStyle/>
          <a:p>
            <a:pPr algn="ctr"/>
            <a:r>
              <a:rPr lang="en-US" dirty="0"/>
              <a:t>Data fusion and Integration</a:t>
            </a:r>
          </a:p>
        </p:txBody>
      </p:sp>
    </p:spTree>
    <p:extLst>
      <p:ext uri="{BB962C8B-B14F-4D97-AF65-F5344CB8AC3E}">
        <p14:creationId xmlns:p14="http://schemas.microsoft.com/office/powerpoint/2010/main" val="34676595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Data Storage Layer</a:t>
            </a:r>
          </a:p>
        </p:txBody>
      </p:sp>
      <p:sp>
        <p:nvSpPr>
          <p:cNvPr id="3" name="Content Placeholder 2"/>
          <p:cNvSpPr>
            <a:spLocks noGrp="1"/>
          </p:cNvSpPr>
          <p:nvPr>
            <p:ph idx="1"/>
          </p:nvPr>
        </p:nvSpPr>
        <p:spPr>
          <a:xfrm>
            <a:off x="838200" y="2228849"/>
            <a:ext cx="10515600" cy="1387187"/>
          </a:xfrm>
          <a:solidFill>
            <a:srgbClr val="92D050"/>
          </a:solidFill>
        </p:spPr>
        <p:txBody>
          <a:bodyPr>
            <a:normAutofit/>
          </a:bodyPr>
          <a:lstStyle/>
          <a:p>
            <a:r>
              <a:rPr lang="en-US" sz="2000" dirty="0"/>
              <a:t>Storage becomes a challenge when the size of the data you are dealing with, becomes large. </a:t>
            </a:r>
          </a:p>
          <a:p>
            <a:r>
              <a:rPr lang="en-US" sz="2000" dirty="0"/>
              <a:t>Several possible solutions like </a:t>
            </a:r>
            <a:r>
              <a:rPr lang="en-US" sz="2000" dirty="0">
                <a:hlinkClick r:id="rId2"/>
              </a:rPr>
              <a:t>Data Ingestion Patterns</a:t>
            </a:r>
            <a:r>
              <a:rPr lang="en-US" sz="2000" dirty="0"/>
              <a:t> can rescue from such problems. </a:t>
            </a:r>
          </a:p>
          <a:p>
            <a:r>
              <a:rPr lang="en-US" sz="2000" dirty="0"/>
              <a:t>This layer focuses on “where and how to store such large data efficiently.”</a:t>
            </a:r>
          </a:p>
        </p:txBody>
      </p:sp>
      <p:sp>
        <p:nvSpPr>
          <p:cNvPr id="4" name="TextBox 3"/>
          <p:cNvSpPr txBox="1"/>
          <p:nvPr/>
        </p:nvSpPr>
        <p:spPr>
          <a:xfrm>
            <a:off x="9289542" y="0"/>
            <a:ext cx="2867965" cy="2031325"/>
          </a:xfrm>
          <a:prstGeom prst="rect">
            <a:avLst/>
          </a:prstGeom>
          <a:solidFill>
            <a:schemeClr val="accent1">
              <a:lumMod val="60000"/>
              <a:lumOff val="40000"/>
            </a:schemeClr>
          </a:solidFill>
          <a:ln>
            <a:solidFill>
              <a:schemeClr val="tx1"/>
            </a:solidFill>
          </a:ln>
        </p:spPr>
        <p:txBody>
          <a:bodyPr wrap="none" rtlCol="0">
            <a:spAutoFit/>
          </a:bodyPr>
          <a:lstStyle/>
          <a:p>
            <a:r>
              <a:rPr lang="en-US" b="1" u="sng" dirty="0"/>
              <a:t>Big Data Architecture Layers</a:t>
            </a:r>
          </a:p>
          <a:p>
            <a:pPr marL="342900" indent="-342900">
              <a:buFont typeface="+mj-lt"/>
              <a:buAutoNum type="arabicPeriod"/>
            </a:pPr>
            <a:r>
              <a:rPr lang="en-US" dirty="0"/>
              <a:t>Data ingestion layer</a:t>
            </a:r>
          </a:p>
          <a:p>
            <a:pPr marL="342900" indent="-342900">
              <a:buFont typeface="+mj-lt"/>
              <a:buAutoNum type="arabicPeriod"/>
            </a:pPr>
            <a:r>
              <a:rPr lang="en-US" dirty="0"/>
              <a:t>Data Collector layer</a:t>
            </a:r>
          </a:p>
          <a:p>
            <a:pPr marL="342900" indent="-342900">
              <a:buFont typeface="+mj-lt"/>
              <a:buAutoNum type="arabicPeriod"/>
            </a:pPr>
            <a:r>
              <a:rPr lang="en-US" dirty="0"/>
              <a:t>Data Processing Layer</a:t>
            </a:r>
          </a:p>
          <a:p>
            <a:pPr marL="342900" indent="-342900">
              <a:buFont typeface="+mj-lt"/>
              <a:buAutoNum type="arabicPeriod"/>
            </a:pPr>
            <a:r>
              <a:rPr lang="en-US" dirty="0"/>
              <a:t>Data Storage Layer</a:t>
            </a:r>
          </a:p>
          <a:p>
            <a:pPr marL="342900" indent="-342900">
              <a:buFont typeface="+mj-lt"/>
              <a:buAutoNum type="arabicPeriod"/>
            </a:pPr>
            <a:r>
              <a:rPr lang="en-US" dirty="0"/>
              <a:t>Data Query Layer</a:t>
            </a:r>
          </a:p>
          <a:p>
            <a:pPr marL="342900" indent="-342900">
              <a:buFont typeface="+mj-lt"/>
              <a:buAutoNum type="arabicPeriod"/>
            </a:pPr>
            <a:r>
              <a:rPr lang="en-US" dirty="0"/>
              <a:t>Data Visualization Layer</a:t>
            </a:r>
          </a:p>
        </p:txBody>
      </p:sp>
    </p:spTree>
    <p:extLst>
      <p:ext uri="{BB962C8B-B14F-4D97-AF65-F5344CB8AC3E}">
        <p14:creationId xmlns:p14="http://schemas.microsoft.com/office/powerpoint/2010/main" val="21039872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dirty="0"/>
              <a:t>Big Data Storage Layer</a:t>
            </a:r>
          </a:p>
        </p:txBody>
      </p:sp>
      <p:sp>
        <p:nvSpPr>
          <p:cNvPr id="3" name="Content Placeholder 2"/>
          <p:cNvSpPr>
            <a:spLocks noGrp="1"/>
          </p:cNvSpPr>
          <p:nvPr>
            <p:ph idx="1"/>
          </p:nvPr>
        </p:nvSpPr>
        <p:spPr>
          <a:xfrm>
            <a:off x="838200" y="1825625"/>
            <a:ext cx="10515600" cy="2219902"/>
          </a:xfrm>
          <a:solidFill>
            <a:srgbClr val="92D050"/>
          </a:solidFill>
        </p:spPr>
        <p:txBody>
          <a:bodyPr>
            <a:normAutofit/>
          </a:bodyPr>
          <a:lstStyle/>
          <a:p>
            <a:pPr marL="0" indent="0">
              <a:buNone/>
            </a:pPr>
            <a:r>
              <a:rPr lang="en-US" sz="2000" dirty="0"/>
              <a:t>The major issue in Data ingestion process flow is to keep data in the right place based on usage. We have relational Databases that were a successful place to store our data over the years.</a:t>
            </a:r>
          </a:p>
          <a:p>
            <a:pPr marL="0" indent="0">
              <a:buNone/>
            </a:pPr>
            <a:endParaRPr lang="en-US" sz="2000" dirty="0"/>
          </a:p>
          <a:p>
            <a:pPr marL="0" indent="0">
              <a:buNone/>
            </a:pPr>
            <a:br>
              <a:rPr lang="en-US" sz="2000" dirty="0"/>
            </a:br>
            <a:r>
              <a:rPr lang="en-US" sz="2000" dirty="0"/>
              <a:t>But with the new </a:t>
            </a:r>
            <a:r>
              <a:rPr lang="en-US" sz="2000" dirty="0">
                <a:hlinkClick r:id="rId2"/>
              </a:rPr>
              <a:t>big data analytics</a:t>
            </a:r>
            <a:r>
              <a:rPr lang="en-US" sz="2000" dirty="0"/>
              <a:t> strategic enterprise applications, you should no longer be assuming that your persistence should be relational in Data ingestion.</a:t>
            </a:r>
          </a:p>
        </p:txBody>
      </p:sp>
      <p:sp>
        <p:nvSpPr>
          <p:cNvPr id="4" name="Content Placeholder 2"/>
          <p:cNvSpPr txBox="1">
            <a:spLocks/>
          </p:cNvSpPr>
          <p:nvPr/>
        </p:nvSpPr>
        <p:spPr>
          <a:xfrm>
            <a:off x="886691" y="4708329"/>
            <a:ext cx="10515600" cy="1553926"/>
          </a:xfrm>
          <a:prstGeom prst="rect">
            <a:avLst/>
          </a:prstGeom>
          <a:solidFill>
            <a:srgbClr val="92D050"/>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t>Polyglot persistence </a:t>
            </a:r>
            <a:r>
              <a:rPr lang="en-US" sz="2000"/>
              <a:t>is the idea of using multiple databases to power a single application. </a:t>
            </a:r>
          </a:p>
          <a:p>
            <a:pPr marL="0" indent="0">
              <a:buFont typeface="Arial" panose="020B0604020202020204" pitchFamily="34" charset="0"/>
              <a:buNone/>
            </a:pPr>
            <a:endParaRPr lang="en-US" sz="2000"/>
          </a:p>
          <a:p>
            <a:pPr marL="0" indent="0">
              <a:buFont typeface="Arial" panose="020B0604020202020204" pitchFamily="34" charset="0"/>
              <a:buNone/>
            </a:pPr>
            <a:r>
              <a:rPr lang="en-US" sz="2000"/>
              <a:t>Polyglot persistence is the way to share or divide your data into multiple databases and leverage their power together.</a:t>
            </a:r>
            <a:endParaRPr lang="en-US" sz="2000" dirty="0"/>
          </a:p>
        </p:txBody>
      </p:sp>
    </p:spTree>
    <p:extLst>
      <p:ext uri="{BB962C8B-B14F-4D97-AF65-F5344CB8AC3E}">
        <p14:creationId xmlns:p14="http://schemas.microsoft.com/office/powerpoint/2010/main" val="13926011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9333" y="1438657"/>
            <a:ext cx="10515600" cy="3022508"/>
          </a:xfrm>
          <a:solidFill>
            <a:srgbClr val="92D050"/>
          </a:solidFill>
        </p:spPr>
        <p:txBody>
          <a:bodyPr>
            <a:noAutofit/>
          </a:bodyPr>
          <a:lstStyle/>
          <a:p>
            <a:pPr marL="0" indent="0">
              <a:buNone/>
            </a:pPr>
            <a:r>
              <a:rPr lang="en-US" sz="2000" b="1" dirty="0"/>
              <a:t>Advantages of Polyglot Persistence</a:t>
            </a:r>
            <a:endParaRPr lang="en-US" sz="2000" dirty="0"/>
          </a:p>
          <a:p>
            <a:r>
              <a:rPr lang="en-US" sz="2000" b="1" dirty="0"/>
              <a:t>Faster response times:</a:t>
            </a:r>
            <a:r>
              <a:rPr lang="en-US" sz="2000" dirty="0"/>
              <a:t> Here we leverage all the features of databases in one app, which makes the response times of your app very quickly.</a:t>
            </a:r>
          </a:p>
          <a:p>
            <a:r>
              <a:rPr lang="en-US" sz="2000" b="1" dirty="0"/>
              <a:t>Helps your app to scale well:</a:t>
            </a:r>
            <a:r>
              <a:rPr lang="en-US" sz="2000" dirty="0"/>
              <a:t> Your app scales exceptionally well with the data. All the </a:t>
            </a:r>
            <a:r>
              <a:rPr lang="en-US" sz="2000" dirty="0" err="1">
                <a:hlinkClick r:id="rId2"/>
              </a:rPr>
              <a:t>NoSQL</a:t>
            </a:r>
            <a:r>
              <a:rPr lang="en-US" sz="2000" dirty="0">
                <a:hlinkClick r:id="rId2"/>
              </a:rPr>
              <a:t> databases</a:t>
            </a:r>
            <a:r>
              <a:rPr lang="en-US" sz="2000" dirty="0"/>
              <a:t> scale well when you model databases correctly for the data that you want to store.</a:t>
            </a:r>
          </a:p>
          <a:p>
            <a:r>
              <a:rPr lang="en-US" sz="2000" b="1" dirty="0"/>
              <a:t>A rich experience:</a:t>
            </a:r>
            <a:r>
              <a:rPr lang="en-US" sz="2000" dirty="0"/>
              <a:t> You have a vibrant experience when you harness the power of multiple databases at the same time. For example, if you want to search for Products in an e-commerce app, then you use </a:t>
            </a:r>
            <a:r>
              <a:rPr lang="en-US" sz="2000" dirty="0" err="1"/>
              <a:t>ElasticSearch</a:t>
            </a:r>
            <a:r>
              <a:rPr lang="en-US" sz="2000" dirty="0"/>
              <a:t>, which returns the results based on relevance, which </a:t>
            </a:r>
            <a:r>
              <a:rPr lang="en-US" sz="2000" dirty="0" err="1"/>
              <a:t>MongoDB</a:t>
            </a:r>
            <a:r>
              <a:rPr lang="en-US" sz="2000" dirty="0"/>
              <a:t> cannot do.</a:t>
            </a:r>
          </a:p>
          <a:p>
            <a:endParaRPr lang="en-US" sz="2000" dirty="0"/>
          </a:p>
        </p:txBody>
      </p:sp>
    </p:spTree>
    <p:extLst>
      <p:ext uri="{BB962C8B-B14F-4D97-AF65-F5344CB8AC3E}">
        <p14:creationId xmlns:p14="http://schemas.microsoft.com/office/powerpoint/2010/main" val="30476428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9214" y="1380259"/>
            <a:ext cx="11106150" cy="4050723"/>
          </a:xfrm>
          <a:solidFill>
            <a:srgbClr val="92D050"/>
          </a:solidFill>
        </p:spPr>
        <p:txBody>
          <a:bodyPr>
            <a:normAutofit/>
          </a:bodyPr>
          <a:lstStyle/>
          <a:p>
            <a:pPr marL="0" indent="0">
              <a:buNone/>
            </a:pPr>
            <a:r>
              <a:rPr lang="en-US" sz="2000" b="1" dirty="0"/>
              <a:t>Big Data Storage Tools</a:t>
            </a:r>
          </a:p>
          <a:p>
            <a:pPr marL="0" indent="0">
              <a:buNone/>
            </a:pPr>
            <a:r>
              <a:rPr lang="en-US" sz="2000" b="1" dirty="0"/>
              <a:t>1. HDFS : Hadoop Distributed File System</a:t>
            </a:r>
            <a:endParaRPr lang="en-US" sz="2000" dirty="0"/>
          </a:p>
          <a:p>
            <a:r>
              <a:rPr lang="en-US" sz="2000" dirty="0"/>
              <a:t>HDFS is a Java-based file system that provides scalable and reliable data storage, and it was designed to span large clusters of commodity servers.</a:t>
            </a:r>
          </a:p>
          <a:p>
            <a:r>
              <a:rPr lang="en-US" sz="2000" dirty="0"/>
              <a:t>To store such massive data, the files are stored on multiple machines. These files are stored redundantly to rescue the system from possible data losses in case of failure.</a:t>
            </a:r>
          </a:p>
          <a:p>
            <a:r>
              <a:rPr lang="en-US" sz="2000" dirty="0"/>
              <a:t>HDFS also makes applications available for parallel processing in Data ingestion. HDFS is built to support applications with large data sets, including individual files that reach into the terabytes.</a:t>
            </a:r>
          </a:p>
          <a:p>
            <a:r>
              <a:rPr lang="en-US" sz="2000" dirty="0"/>
              <a:t>When HDFS takes in data, it breaks the information down into separate pieces and distributes them to different nodes in a cluster, allowing for parallel processing.</a:t>
            </a:r>
          </a:p>
          <a:p>
            <a:r>
              <a:rPr lang="en-US" sz="2000" dirty="0"/>
              <a:t>HDFS and YARN from the data management layer of </a:t>
            </a:r>
            <a:r>
              <a:rPr lang="en-US" sz="2000" dirty="0">
                <a:hlinkClick r:id="rId2"/>
              </a:rPr>
              <a:t>Apache Hadoop</a:t>
            </a:r>
            <a:r>
              <a:rPr lang="en-US" sz="2000" dirty="0"/>
              <a:t> in Data ingestion framework.</a:t>
            </a:r>
          </a:p>
          <a:p>
            <a:endParaRPr lang="en-US" sz="2000" dirty="0"/>
          </a:p>
        </p:txBody>
      </p:sp>
    </p:spTree>
    <p:extLst>
      <p:ext uri="{BB962C8B-B14F-4D97-AF65-F5344CB8AC3E}">
        <p14:creationId xmlns:p14="http://schemas.microsoft.com/office/powerpoint/2010/main" val="22309656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877" y="525780"/>
            <a:ext cx="11152632" cy="6000750"/>
          </a:xfrm>
          <a:solidFill>
            <a:srgbClr val="92D050"/>
          </a:solidFill>
        </p:spPr>
        <p:txBody>
          <a:bodyPr>
            <a:normAutofit/>
          </a:bodyPr>
          <a:lstStyle/>
          <a:p>
            <a:pPr marL="0" indent="0">
              <a:buNone/>
            </a:pPr>
            <a:r>
              <a:rPr lang="en-US" sz="2000" b="1" dirty="0"/>
              <a:t>Big Data Storage Tools:</a:t>
            </a:r>
          </a:p>
          <a:p>
            <a:pPr marL="0" indent="0">
              <a:lnSpc>
                <a:spcPct val="150000"/>
              </a:lnSpc>
              <a:buNone/>
            </a:pPr>
            <a:r>
              <a:rPr lang="en-US" sz="2000" b="1" dirty="0"/>
              <a:t>2. </a:t>
            </a:r>
            <a:r>
              <a:rPr lang="en-US" sz="2000" b="1" dirty="0" err="1"/>
              <a:t>GlusterFS</a:t>
            </a:r>
            <a:r>
              <a:rPr lang="en-US" sz="2000" b="1" dirty="0"/>
              <a:t>: Dependable Distributed File System</a:t>
            </a:r>
            <a:endParaRPr lang="en-US" sz="2000" dirty="0"/>
          </a:p>
          <a:p>
            <a:pPr>
              <a:lnSpc>
                <a:spcPct val="150000"/>
              </a:lnSpc>
            </a:pPr>
            <a:r>
              <a:rPr lang="en-US" sz="2000" dirty="0"/>
              <a:t>As we know a good storage solution must provide elasticity in both storage and performance without affecting active operations.</a:t>
            </a:r>
          </a:p>
          <a:p>
            <a:pPr>
              <a:lnSpc>
                <a:spcPct val="150000"/>
              </a:lnSpc>
            </a:pPr>
            <a:r>
              <a:rPr lang="en-US" sz="2000" dirty="0"/>
              <a:t>Scale-out storage systems based on </a:t>
            </a:r>
            <a:r>
              <a:rPr lang="en-US" sz="2000" dirty="0" err="1"/>
              <a:t>GlusterFS</a:t>
            </a:r>
            <a:r>
              <a:rPr lang="en-US" sz="2000" dirty="0"/>
              <a:t> are suitable for </a:t>
            </a:r>
            <a:r>
              <a:rPr lang="en-US" sz="2000" b="1" u="sng" dirty="0"/>
              <a:t>unstructured data such as documents, images, audio and video files, and log files</a:t>
            </a:r>
            <a:r>
              <a:rPr lang="en-US" sz="2000" dirty="0"/>
              <a:t>. </a:t>
            </a:r>
          </a:p>
          <a:p>
            <a:pPr>
              <a:lnSpc>
                <a:spcPct val="150000"/>
              </a:lnSpc>
            </a:pPr>
            <a:r>
              <a:rPr lang="en-US" sz="2000" dirty="0" err="1"/>
              <a:t>GlusterFS</a:t>
            </a:r>
            <a:r>
              <a:rPr lang="en-US" sz="2000" dirty="0"/>
              <a:t> is a scalable network </a:t>
            </a:r>
            <a:r>
              <a:rPr lang="en-US" sz="2000" dirty="0" err="1"/>
              <a:t>filesystem</a:t>
            </a:r>
            <a:r>
              <a:rPr lang="en-US" sz="2000" dirty="0"/>
              <a:t>.</a:t>
            </a:r>
            <a:br>
              <a:rPr lang="en-US" sz="2000" dirty="0"/>
            </a:br>
            <a:endParaRPr lang="en-US" sz="2000" dirty="0"/>
          </a:p>
          <a:p>
            <a:pPr marL="0" indent="0">
              <a:buNone/>
            </a:pPr>
            <a:r>
              <a:rPr lang="en-US" sz="2000" dirty="0"/>
              <a:t>It’s Open Source.</a:t>
            </a:r>
          </a:p>
          <a:p>
            <a:r>
              <a:rPr lang="en-US" sz="2000" dirty="0"/>
              <a:t>You can deploy </a:t>
            </a:r>
            <a:r>
              <a:rPr lang="en-US" sz="2000" dirty="0" err="1"/>
              <a:t>GlusterFS</a:t>
            </a:r>
            <a:r>
              <a:rPr lang="en-US" sz="2000" dirty="0"/>
              <a:t> with the help of commodity hardware servers.</a:t>
            </a:r>
          </a:p>
          <a:p>
            <a:r>
              <a:rPr lang="en-US" sz="2000" dirty="0"/>
              <a:t>Linear scaling of performance and storage capacity.</a:t>
            </a:r>
          </a:p>
          <a:p>
            <a:r>
              <a:rPr lang="en-US" sz="2000" dirty="0"/>
              <a:t>Scale storage size up to several petabytes, which can be accessed by thousands for servers.</a:t>
            </a:r>
          </a:p>
          <a:p>
            <a:endParaRPr lang="en-US" sz="2000" dirty="0"/>
          </a:p>
        </p:txBody>
      </p:sp>
    </p:spTree>
    <p:extLst>
      <p:ext uri="{BB962C8B-B14F-4D97-AF65-F5344CB8AC3E}">
        <p14:creationId xmlns:p14="http://schemas.microsoft.com/office/powerpoint/2010/main" val="22209922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7565" y="754380"/>
            <a:ext cx="11704320" cy="5806440"/>
          </a:xfrm>
          <a:solidFill>
            <a:srgbClr val="92D050"/>
          </a:solidFill>
        </p:spPr>
        <p:txBody>
          <a:bodyPr>
            <a:normAutofit/>
          </a:bodyPr>
          <a:lstStyle/>
          <a:p>
            <a:pPr marL="0" indent="0">
              <a:lnSpc>
                <a:spcPct val="150000"/>
              </a:lnSpc>
              <a:buNone/>
            </a:pPr>
            <a:r>
              <a:rPr lang="en-US" sz="2000" b="1" dirty="0"/>
              <a:t>Big Data Storage tools:</a:t>
            </a:r>
          </a:p>
          <a:p>
            <a:pPr marL="0" indent="0">
              <a:lnSpc>
                <a:spcPct val="150000"/>
              </a:lnSpc>
              <a:buNone/>
            </a:pPr>
            <a:r>
              <a:rPr lang="en-US" sz="2000" b="1" dirty="0"/>
              <a:t>3. Amazon S3 Storage Service</a:t>
            </a:r>
            <a:endParaRPr lang="en-US" sz="2000" dirty="0"/>
          </a:p>
          <a:p>
            <a:pPr>
              <a:lnSpc>
                <a:spcPct val="150000"/>
              </a:lnSpc>
            </a:pPr>
            <a:r>
              <a:rPr lang="en-US" sz="2000" dirty="0"/>
              <a:t>Amazon Simple Storage Service (Amazon S3) is object storage with a simple web service interface to store and retrieve any amount of data from anywhere on the internet.</a:t>
            </a:r>
          </a:p>
          <a:p>
            <a:pPr>
              <a:lnSpc>
                <a:spcPct val="150000"/>
              </a:lnSpc>
            </a:pPr>
            <a:r>
              <a:rPr lang="en-US" sz="2000" dirty="0"/>
              <a:t>It is </a:t>
            </a:r>
            <a:r>
              <a:rPr lang="en-US" sz="2000" u="sng" dirty="0"/>
              <a:t>designed to deliver 99.999999999% durability, and scale past trillions of objects worldwide</a:t>
            </a:r>
            <a:r>
              <a:rPr lang="en-US" sz="2000" dirty="0"/>
              <a:t>.</a:t>
            </a:r>
            <a:br>
              <a:rPr lang="en-US" sz="2000" dirty="0"/>
            </a:br>
            <a:r>
              <a:rPr lang="en-US" sz="2000" dirty="0"/>
              <a:t>Customers use S3 as primary storage for cloud-native applications; as a </a:t>
            </a:r>
            <a:r>
              <a:rPr lang="en-US" sz="2000" u="sng" dirty="0"/>
              <a:t>bulk repository, or “data lake,” for analytics</a:t>
            </a:r>
            <a:r>
              <a:rPr lang="en-US" sz="2000" dirty="0"/>
              <a:t>; as a target for backup &amp; recovery and disaster recovery; and with the </a:t>
            </a:r>
            <a:r>
              <a:rPr lang="en-US" sz="2000" dirty="0" err="1">
                <a:hlinkClick r:id="rId2"/>
              </a:rPr>
              <a:t>serverless</a:t>
            </a:r>
            <a:r>
              <a:rPr lang="en-US" sz="2000" dirty="0">
                <a:hlinkClick r:id="rId2"/>
              </a:rPr>
              <a:t> architecture of big data</a:t>
            </a:r>
            <a:r>
              <a:rPr lang="en-US" sz="2000" dirty="0"/>
              <a:t> computing.</a:t>
            </a:r>
          </a:p>
          <a:p>
            <a:pPr>
              <a:lnSpc>
                <a:spcPct val="150000"/>
              </a:lnSpc>
            </a:pPr>
            <a:r>
              <a:rPr lang="en-US" sz="2000" dirty="0"/>
              <a:t>It’s simple to move large volumes of data into or out of S3 with Amazon’s cloud data migration options.</a:t>
            </a:r>
          </a:p>
          <a:p>
            <a:pPr>
              <a:lnSpc>
                <a:spcPct val="150000"/>
              </a:lnSpc>
            </a:pPr>
            <a:r>
              <a:rPr lang="en-US" sz="2000" dirty="0"/>
              <a:t>Once data is stored on Amazon S3, it can be automatically tiered into lower cost, longer-term cloud storage classes like S3 Standard – Infrequent Access and Amazon Glacier for archiving.</a:t>
            </a:r>
          </a:p>
        </p:txBody>
      </p:sp>
    </p:spTree>
    <p:extLst>
      <p:ext uri="{BB962C8B-B14F-4D97-AF65-F5344CB8AC3E}">
        <p14:creationId xmlns:p14="http://schemas.microsoft.com/office/powerpoint/2010/main" val="22659497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1040" y="385445"/>
            <a:ext cx="10515600" cy="1740535"/>
          </a:xfrm>
          <a:solidFill>
            <a:srgbClr val="92D050"/>
          </a:solidFill>
        </p:spPr>
        <p:txBody>
          <a:bodyPr>
            <a:normAutofit/>
          </a:bodyPr>
          <a:lstStyle/>
          <a:p>
            <a:pPr marL="0" indent="0">
              <a:buNone/>
            </a:pPr>
            <a:r>
              <a:rPr lang="en-US" sz="2000" b="1" dirty="0"/>
              <a:t>4. Cassandra</a:t>
            </a:r>
          </a:p>
          <a:p>
            <a:r>
              <a:rPr lang="en-US" sz="2000" dirty="0"/>
              <a:t>Cassandra is a distributed database management system that is used for handling large volumes of data across several servers. This is one of the most popular Big Data technologies which is preferred for processing structured data sets. It was first developed by Facebook as a </a:t>
            </a:r>
            <a:r>
              <a:rPr lang="en-US" sz="2000" dirty="0" err="1"/>
              <a:t>NoSQL</a:t>
            </a:r>
            <a:r>
              <a:rPr lang="en-US" sz="2000" dirty="0"/>
              <a:t> solution. It is now used by corporate giants, such as Netflix, Twitter and Cisco.</a:t>
            </a:r>
          </a:p>
          <a:p>
            <a:endParaRPr lang="en-US" sz="2000" dirty="0"/>
          </a:p>
        </p:txBody>
      </p:sp>
      <p:sp>
        <p:nvSpPr>
          <p:cNvPr id="4" name="TextBox 3"/>
          <p:cNvSpPr txBox="1"/>
          <p:nvPr/>
        </p:nvSpPr>
        <p:spPr>
          <a:xfrm>
            <a:off x="895418" y="2693472"/>
            <a:ext cx="10378304" cy="3139321"/>
          </a:xfrm>
          <a:prstGeom prst="rect">
            <a:avLst/>
          </a:prstGeom>
          <a:solidFill>
            <a:srgbClr val="92D050"/>
          </a:solidFill>
        </p:spPr>
        <p:txBody>
          <a:bodyPr wrap="square" rtlCol="0">
            <a:spAutoFit/>
          </a:bodyPr>
          <a:lstStyle/>
          <a:p>
            <a:r>
              <a:rPr lang="en-US" b="1" dirty="0"/>
              <a:t>The most exciting features of Cassandra include:</a:t>
            </a:r>
            <a:endParaRPr lang="en-US" dirty="0"/>
          </a:p>
          <a:p>
            <a:pPr marL="285750" indent="-285750">
              <a:buFont typeface="Arial" panose="020B0604020202020204" pitchFamily="34" charset="0"/>
              <a:buChar char="•"/>
            </a:pPr>
            <a:r>
              <a:rPr lang="en-US" dirty="0"/>
              <a:t>It provides an easy to use query language, so it will be hassle-free if you want to transition from a relational database to Cassandra</a:t>
            </a:r>
          </a:p>
          <a:p>
            <a:pPr marL="285750" indent="-285750">
              <a:buFont typeface="Arial" panose="020B0604020202020204" pitchFamily="34" charset="0"/>
              <a:buChar char="•"/>
            </a:pPr>
            <a:r>
              <a:rPr lang="en-US" dirty="0"/>
              <a:t>Its </a:t>
            </a:r>
            <a:r>
              <a:rPr lang="en-US" dirty="0" err="1"/>
              <a:t>Masterclass</a:t>
            </a:r>
            <a:r>
              <a:rPr lang="en-US" dirty="0"/>
              <a:t> architecture allows data to be read and written on any node</a:t>
            </a:r>
          </a:p>
          <a:p>
            <a:pPr marL="285750" indent="-285750">
              <a:buFont typeface="Arial" panose="020B0604020202020204" pitchFamily="34" charset="0"/>
              <a:buChar char="•"/>
            </a:pPr>
            <a:r>
              <a:rPr lang="en-US" dirty="0"/>
              <a:t>Data is replicated on different nodes, so there is no single point of failure. Even if a node fails to work, data stored on other nodes will be available for use</a:t>
            </a:r>
          </a:p>
          <a:p>
            <a:pPr marL="285750" indent="-285750">
              <a:buFont typeface="Arial" panose="020B0604020202020204" pitchFamily="34" charset="0"/>
              <a:buChar char="•"/>
            </a:pPr>
            <a:r>
              <a:rPr lang="en-US" dirty="0"/>
              <a:t>Data can also be replicated across multiple data </a:t>
            </a:r>
            <a:r>
              <a:rPr lang="en-US" dirty="0" err="1"/>
              <a:t>centres</a:t>
            </a:r>
            <a:r>
              <a:rPr lang="en-US" dirty="0"/>
              <a:t>. So, if data is lost or damaged in one data </a:t>
            </a:r>
            <a:r>
              <a:rPr lang="en-US" dirty="0" err="1"/>
              <a:t>centre</a:t>
            </a:r>
            <a:r>
              <a:rPr lang="en-US" dirty="0"/>
              <a:t>, it can be retrieved from other data </a:t>
            </a:r>
            <a:r>
              <a:rPr lang="en-US" dirty="0" err="1"/>
              <a:t>centres</a:t>
            </a:r>
            <a:endParaRPr lang="en-US" dirty="0"/>
          </a:p>
          <a:p>
            <a:pPr marL="285750" indent="-285750">
              <a:buFont typeface="Arial" panose="020B0604020202020204" pitchFamily="34" charset="0"/>
              <a:buChar char="•"/>
            </a:pPr>
            <a:r>
              <a:rPr lang="en-US" dirty="0"/>
              <a:t>It has built-in security features, such as restore mechanisms and data backup</a:t>
            </a:r>
          </a:p>
          <a:p>
            <a:pPr marL="285750" indent="-285750">
              <a:buFont typeface="Arial" panose="020B0604020202020204" pitchFamily="34" charset="0"/>
              <a:buChar char="•"/>
            </a:pPr>
            <a:r>
              <a:rPr lang="en-US" dirty="0"/>
              <a:t>This tool allows the detection and recovery of failed nodes</a:t>
            </a:r>
          </a:p>
          <a:p>
            <a:endParaRPr lang="en-US" dirty="0"/>
          </a:p>
        </p:txBody>
      </p:sp>
    </p:spTree>
    <p:extLst>
      <p:ext uri="{BB962C8B-B14F-4D97-AF65-F5344CB8AC3E}">
        <p14:creationId xmlns:p14="http://schemas.microsoft.com/office/powerpoint/2010/main" val="106797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8945"/>
            <a:ext cx="10515600" cy="1325563"/>
          </a:xfrm>
          <a:solidFill>
            <a:schemeClr val="accent2"/>
          </a:solidFill>
        </p:spPr>
        <p:txBody>
          <a:bodyPr/>
          <a:lstStyle/>
          <a:p>
            <a:pPr algn="ctr"/>
            <a:r>
              <a:rPr lang="en-US" dirty="0"/>
              <a:t>Big Data Query Layer</a:t>
            </a:r>
          </a:p>
        </p:txBody>
      </p:sp>
      <p:sp>
        <p:nvSpPr>
          <p:cNvPr id="4" name="TextBox 3"/>
          <p:cNvSpPr txBox="1"/>
          <p:nvPr/>
        </p:nvSpPr>
        <p:spPr>
          <a:xfrm>
            <a:off x="9289542" y="0"/>
            <a:ext cx="2867965" cy="2031325"/>
          </a:xfrm>
          <a:prstGeom prst="rect">
            <a:avLst/>
          </a:prstGeom>
          <a:solidFill>
            <a:schemeClr val="accent1">
              <a:lumMod val="60000"/>
              <a:lumOff val="40000"/>
            </a:schemeClr>
          </a:solidFill>
          <a:ln>
            <a:solidFill>
              <a:schemeClr val="tx1"/>
            </a:solidFill>
          </a:ln>
        </p:spPr>
        <p:txBody>
          <a:bodyPr wrap="none" rtlCol="0">
            <a:spAutoFit/>
          </a:bodyPr>
          <a:lstStyle/>
          <a:p>
            <a:r>
              <a:rPr lang="en-US" b="1" u="sng" dirty="0"/>
              <a:t>Big Data Architecture Layers</a:t>
            </a:r>
          </a:p>
          <a:p>
            <a:pPr marL="342900" indent="-342900">
              <a:buFont typeface="+mj-lt"/>
              <a:buAutoNum type="arabicPeriod"/>
            </a:pPr>
            <a:r>
              <a:rPr lang="en-US" dirty="0"/>
              <a:t>Data ingestion layer</a:t>
            </a:r>
          </a:p>
          <a:p>
            <a:pPr marL="342900" indent="-342900">
              <a:buFont typeface="+mj-lt"/>
              <a:buAutoNum type="arabicPeriod"/>
            </a:pPr>
            <a:r>
              <a:rPr lang="en-US" dirty="0"/>
              <a:t>Data Collector layer</a:t>
            </a:r>
          </a:p>
          <a:p>
            <a:pPr marL="342900" indent="-342900">
              <a:buFont typeface="+mj-lt"/>
              <a:buAutoNum type="arabicPeriod"/>
            </a:pPr>
            <a:r>
              <a:rPr lang="en-US" dirty="0"/>
              <a:t>Data Processing Layer</a:t>
            </a:r>
          </a:p>
          <a:p>
            <a:pPr marL="342900" indent="-342900">
              <a:buFont typeface="+mj-lt"/>
              <a:buAutoNum type="arabicPeriod"/>
            </a:pPr>
            <a:r>
              <a:rPr lang="en-US" dirty="0"/>
              <a:t>Data Storage Layer</a:t>
            </a:r>
          </a:p>
          <a:p>
            <a:pPr marL="342900" indent="-342900">
              <a:buFont typeface="+mj-lt"/>
              <a:buAutoNum type="arabicPeriod"/>
            </a:pPr>
            <a:r>
              <a:rPr lang="en-US" dirty="0"/>
              <a:t>Data Query Layer</a:t>
            </a:r>
          </a:p>
          <a:p>
            <a:pPr marL="342900" indent="-342900">
              <a:buFont typeface="+mj-lt"/>
              <a:buAutoNum type="arabicPeriod"/>
            </a:pPr>
            <a:r>
              <a:rPr lang="en-US" dirty="0"/>
              <a:t>Data Visualization Layer</a:t>
            </a:r>
          </a:p>
        </p:txBody>
      </p:sp>
    </p:spTree>
    <p:extLst>
      <p:ext uri="{BB962C8B-B14F-4D97-AF65-F5344CB8AC3E}">
        <p14:creationId xmlns:p14="http://schemas.microsoft.com/office/powerpoint/2010/main" val="14527433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Big Data Archite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941" y="0"/>
            <a:ext cx="9135323"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608901" y="256032"/>
            <a:ext cx="1257300" cy="923330"/>
          </a:xfrm>
          <a:prstGeom prst="rect">
            <a:avLst/>
          </a:prstGeom>
          <a:solidFill>
            <a:schemeClr val="accent2"/>
          </a:solidFill>
        </p:spPr>
        <p:txBody>
          <a:bodyPr wrap="square" rtlCol="0">
            <a:spAutoFit/>
          </a:bodyPr>
          <a:lstStyle/>
          <a:p>
            <a:pPr algn="ctr"/>
            <a:r>
              <a:rPr lang="en-US" dirty="0"/>
              <a:t>Data fusion and Integration</a:t>
            </a:r>
          </a:p>
        </p:txBody>
      </p:sp>
    </p:spTree>
    <p:extLst>
      <p:ext uri="{BB962C8B-B14F-4D97-AF65-F5344CB8AC3E}">
        <p14:creationId xmlns:p14="http://schemas.microsoft.com/office/powerpoint/2010/main" val="33057596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Data Query Layer</a:t>
            </a:r>
          </a:p>
        </p:txBody>
      </p:sp>
      <p:sp>
        <p:nvSpPr>
          <p:cNvPr id="3" name="Content Placeholder 2"/>
          <p:cNvSpPr>
            <a:spLocks noGrp="1"/>
          </p:cNvSpPr>
          <p:nvPr>
            <p:ph idx="1"/>
          </p:nvPr>
        </p:nvSpPr>
        <p:spPr>
          <a:xfrm>
            <a:off x="826770" y="2091689"/>
            <a:ext cx="10515600" cy="1201883"/>
          </a:xfrm>
          <a:solidFill>
            <a:srgbClr val="92D050"/>
          </a:solidFill>
        </p:spPr>
        <p:txBody>
          <a:bodyPr>
            <a:normAutofit/>
          </a:bodyPr>
          <a:lstStyle/>
          <a:p>
            <a:r>
              <a:rPr lang="en-US" sz="2000" dirty="0"/>
              <a:t>This is the layer where active analytic processing takes place. </a:t>
            </a:r>
          </a:p>
          <a:p>
            <a:r>
              <a:rPr lang="en-US" sz="2000" dirty="0"/>
              <a:t>Here, the primary focus is to gather the data value so that they are made to be more helpful for the next layer.</a:t>
            </a:r>
          </a:p>
        </p:txBody>
      </p:sp>
      <p:sp>
        <p:nvSpPr>
          <p:cNvPr id="4" name="TextBox 3"/>
          <p:cNvSpPr txBox="1"/>
          <p:nvPr/>
        </p:nvSpPr>
        <p:spPr>
          <a:xfrm>
            <a:off x="9289542" y="0"/>
            <a:ext cx="2867965" cy="2031325"/>
          </a:xfrm>
          <a:prstGeom prst="rect">
            <a:avLst/>
          </a:prstGeom>
          <a:solidFill>
            <a:schemeClr val="accent1">
              <a:lumMod val="60000"/>
              <a:lumOff val="40000"/>
            </a:schemeClr>
          </a:solidFill>
          <a:ln>
            <a:solidFill>
              <a:schemeClr val="tx1"/>
            </a:solidFill>
          </a:ln>
        </p:spPr>
        <p:txBody>
          <a:bodyPr wrap="none" rtlCol="0">
            <a:spAutoFit/>
          </a:bodyPr>
          <a:lstStyle/>
          <a:p>
            <a:r>
              <a:rPr lang="en-US" b="1" u="sng" dirty="0"/>
              <a:t>Big Data Architecture Layers</a:t>
            </a:r>
          </a:p>
          <a:p>
            <a:pPr marL="342900" indent="-342900">
              <a:buFont typeface="+mj-lt"/>
              <a:buAutoNum type="arabicPeriod"/>
            </a:pPr>
            <a:r>
              <a:rPr lang="en-US" dirty="0"/>
              <a:t>Data ingestion layer</a:t>
            </a:r>
          </a:p>
          <a:p>
            <a:pPr marL="342900" indent="-342900">
              <a:buFont typeface="+mj-lt"/>
              <a:buAutoNum type="arabicPeriod"/>
            </a:pPr>
            <a:r>
              <a:rPr lang="en-US" dirty="0"/>
              <a:t>Data Collector layer</a:t>
            </a:r>
          </a:p>
          <a:p>
            <a:pPr marL="342900" indent="-342900">
              <a:buFont typeface="+mj-lt"/>
              <a:buAutoNum type="arabicPeriod"/>
            </a:pPr>
            <a:r>
              <a:rPr lang="en-US" dirty="0"/>
              <a:t>Data Processing Layer</a:t>
            </a:r>
          </a:p>
          <a:p>
            <a:pPr marL="342900" indent="-342900">
              <a:buFont typeface="+mj-lt"/>
              <a:buAutoNum type="arabicPeriod"/>
            </a:pPr>
            <a:r>
              <a:rPr lang="en-US" dirty="0"/>
              <a:t>Data Storage Layer</a:t>
            </a:r>
          </a:p>
          <a:p>
            <a:pPr marL="342900" indent="-342900">
              <a:buFont typeface="+mj-lt"/>
              <a:buAutoNum type="arabicPeriod"/>
            </a:pPr>
            <a:r>
              <a:rPr lang="en-US" dirty="0"/>
              <a:t>Data Query Layer</a:t>
            </a:r>
          </a:p>
          <a:p>
            <a:pPr marL="342900" indent="-342900">
              <a:buFont typeface="+mj-lt"/>
              <a:buAutoNum type="arabicPeriod"/>
            </a:pPr>
            <a:r>
              <a:rPr lang="en-US" dirty="0"/>
              <a:t>Data Visualization Layer</a:t>
            </a:r>
          </a:p>
        </p:txBody>
      </p:sp>
      <p:sp>
        <p:nvSpPr>
          <p:cNvPr id="5" name="Content Placeholder 2"/>
          <p:cNvSpPr txBox="1">
            <a:spLocks/>
          </p:cNvSpPr>
          <p:nvPr/>
        </p:nvSpPr>
        <p:spPr>
          <a:xfrm>
            <a:off x="826770" y="3951605"/>
            <a:ext cx="10515600" cy="2413866"/>
          </a:xfrm>
          <a:prstGeom prst="rect">
            <a:avLst/>
          </a:prstGeom>
          <a:solidFill>
            <a:srgbClr val="92D050"/>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It is the layer where active analytic processing takes place. This is a field where interactive queries are necessary, and it’s a zone traditionally dominated by SQL expert developers. Before Hadoop, we had insufficient storage due to which it takes a long analytics process.</a:t>
            </a:r>
          </a:p>
          <a:p>
            <a:pPr marL="0" indent="0">
              <a:buFont typeface="Arial" panose="020B0604020202020204" pitchFamily="34" charset="0"/>
              <a:buNone/>
            </a:pPr>
            <a:endParaRPr lang="en-US" sz="2000" dirty="0"/>
          </a:p>
          <a:p>
            <a:pPr marL="0" indent="0">
              <a:buFont typeface="Arial" panose="020B0604020202020204" pitchFamily="34" charset="0"/>
              <a:buNone/>
            </a:pPr>
            <a:r>
              <a:rPr lang="en-US" sz="2000" dirty="0"/>
              <a:t>At first, it goes through a Lengthy process, i.e., </a:t>
            </a:r>
            <a:r>
              <a:rPr lang="en-US" sz="2000" dirty="0">
                <a:hlinkClick r:id="rId2"/>
              </a:rPr>
              <a:t>ETL</a:t>
            </a:r>
            <a:r>
              <a:rPr lang="en-US" sz="2000" dirty="0"/>
              <a:t> to get a new data source ready to be stored and after that, it puts the data in a database or data warehouse. But now, Data ingestion and data analytics became two essential steps that solved problems.</a:t>
            </a:r>
          </a:p>
        </p:txBody>
      </p:sp>
    </p:spTree>
    <p:extLst>
      <p:ext uri="{BB962C8B-B14F-4D97-AF65-F5344CB8AC3E}">
        <p14:creationId xmlns:p14="http://schemas.microsoft.com/office/powerpoint/2010/main" val="8304776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3870" y="1116965"/>
            <a:ext cx="10515600" cy="3775075"/>
          </a:xfrm>
          <a:solidFill>
            <a:srgbClr val="92D050"/>
          </a:solidFill>
        </p:spPr>
        <p:txBody>
          <a:bodyPr>
            <a:normAutofit lnSpcReduction="10000"/>
          </a:bodyPr>
          <a:lstStyle/>
          <a:p>
            <a:r>
              <a:rPr lang="en-US" sz="2000" b="1" u="sng" dirty="0"/>
              <a:t>Apache Hive </a:t>
            </a:r>
            <a:r>
              <a:rPr lang="en-US" sz="2000" dirty="0"/>
              <a:t>is a distributed, fault-tolerant data warehouse system that enables analytics at a massive scale. </a:t>
            </a:r>
          </a:p>
          <a:p>
            <a:pPr lvl="1"/>
            <a:r>
              <a:rPr lang="en-US" sz="1600" dirty="0"/>
              <a:t>A data warehouse provides a central store of information that can easily be analyzed to make informed, data driven decisions. </a:t>
            </a:r>
          </a:p>
          <a:p>
            <a:pPr lvl="1"/>
            <a:r>
              <a:rPr lang="en-US" sz="1600" b="1" u="sng" dirty="0"/>
              <a:t>Hive allows users to read, write, and manage petabytes of data using SQL.</a:t>
            </a:r>
          </a:p>
          <a:p>
            <a:r>
              <a:rPr lang="en-US" sz="2000" dirty="0"/>
              <a:t>Hive is built on top of Apache Hadoop, which is an open-source framework used to efficiently store and process large datasets. </a:t>
            </a:r>
          </a:p>
          <a:p>
            <a:r>
              <a:rPr lang="en-US" sz="2000" dirty="0"/>
              <a:t>As a result, Hive is closely integrated with Hadoop, and is designed to work quickly on petabytes of data. </a:t>
            </a:r>
          </a:p>
          <a:p>
            <a:endParaRPr lang="en-US" sz="2000" dirty="0"/>
          </a:p>
          <a:p>
            <a:r>
              <a:rPr lang="en-US" sz="2000" dirty="0"/>
              <a:t>What makes Hive unique is the ability to query large datasets, leveraging Apache </a:t>
            </a:r>
            <a:r>
              <a:rPr lang="en-US" sz="2000" dirty="0" err="1"/>
              <a:t>Tez</a:t>
            </a:r>
            <a:r>
              <a:rPr lang="en-US" sz="2000" dirty="0"/>
              <a:t> or </a:t>
            </a:r>
            <a:r>
              <a:rPr lang="en-US" sz="2000" dirty="0" err="1"/>
              <a:t>MapReduce</a:t>
            </a:r>
            <a:r>
              <a:rPr lang="en-US" sz="2000" dirty="0"/>
              <a:t>, with a SQL-like interface.</a:t>
            </a:r>
          </a:p>
        </p:txBody>
      </p:sp>
    </p:spTree>
    <p:extLst>
      <p:ext uri="{BB962C8B-B14F-4D97-AF65-F5344CB8AC3E}">
        <p14:creationId xmlns:p14="http://schemas.microsoft.com/office/powerpoint/2010/main" val="5166210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91591"/>
            <a:ext cx="10515600" cy="3966210"/>
          </a:xfrm>
          <a:solidFill>
            <a:srgbClr val="92D050"/>
          </a:solidFill>
        </p:spPr>
        <p:txBody>
          <a:bodyPr>
            <a:normAutofit lnSpcReduction="10000"/>
          </a:bodyPr>
          <a:lstStyle/>
          <a:p>
            <a:pPr marL="0" indent="0">
              <a:buNone/>
            </a:pPr>
            <a:r>
              <a:rPr lang="en-US" sz="2000" b="1" u="sng" dirty="0"/>
              <a:t>Presto </a:t>
            </a:r>
          </a:p>
          <a:p>
            <a:r>
              <a:rPr lang="en-US" sz="2000" dirty="0"/>
              <a:t>is an open source distributed SQL query engine for running interactive analytic queries against data sources of all sizes ranging from gigabytes to petabytes.</a:t>
            </a:r>
          </a:p>
          <a:p>
            <a:r>
              <a:rPr lang="en-US" sz="2000" dirty="0"/>
              <a:t>Presto was designed and written from the ground up for interactive analytics and approaches the speed of commercial data warehouses while scaling to the size of organizations like Facebook.</a:t>
            </a:r>
          </a:p>
          <a:p>
            <a:r>
              <a:rPr lang="en-US" sz="2000" dirty="0"/>
              <a:t>Presto allows querying data where it lives, including Hive, Cassandra, relational databases or even proprietary data stores. </a:t>
            </a:r>
          </a:p>
          <a:p>
            <a:endParaRPr lang="en-US" sz="2000" dirty="0"/>
          </a:p>
          <a:p>
            <a:endParaRPr lang="en-US" sz="2000" dirty="0"/>
          </a:p>
          <a:p>
            <a:endParaRPr lang="en-US" sz="2000" dirty="0"/>
          </a:p>
          <a:p>
            <a:r>
              <a:rPr lang="en-US" sz="2000" dirty="0"/>
              <a:t>A single Presto query can combine data from multiple sources, allowing for analytics across your entire organization.</a:t>
            </a:r>
          </a:p>
        </p:txBody>
      </p:sp>
    </p:spTree>
    <p:extLst>
      <p:ext uri="{BB962C8B-B14F-4D97-AF65-F5344CB8AC3E}">
        <p14:creationId xmlns:p14="http://schemas.microsoft.com/office/powerpoint/2010/main" val="32059916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8190" y="225426"/>
            <a:ext cx="10515600" cy="890856"/>
          </a:xfrm>
          <a:solidFill>
            <a:srgbClr val="92D050"/>
          </a:solidFill>
        </p:spPr>
        <p:txBody>
          <a:bodyPr>
            <a:normAutofit lnSpcReduction="10000"/>
          </a:bodyPr>
          <a:lstStyle/>
          <a:p>
            <a:pPr marL="0" indent="0">
              <a:buNone/>
            </a:pPr>
            <a:r>
              <a:rPr lang="en-US" sz="2000" b="1" dirty="0"/>
              <a:t>Amazon Redshift </a:t>
            </a:r>
            <a:r>
              <a:rPr lang="en-US" sz="2000" dirty="0"/>
              <a:t>uses SQL to analyze structured and semi-structured data across data warehouses, operational databases, and data lakes, using AWS-designed hardware and machine learning to deliver the best price performance at any scale.</a:t>
            </a:r>
          </a:p>
        </p:txBody>
      </p:sp>
      <p:pic>
        <p:nvPicPr>
          <p:cNvPr id="1026" name="Picture 2" descr="Amazon Redshift how it wor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385" y="1257300"/>
            <a:ext cx="11044258" cy="5372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95645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56655"/>
            <a:ext cx="10515600" cy="1325563"/>
          </a:xfrm>
          <a:solidFill>
            <a:schemeClr val="accent2"/>
          </a:solidFill>
        </p:spPr>
        <p:txBody>
          <a:bodyPr/>
          <a:lstStyle/>
          <a:p>
            <a:pPr algn="ctr"/>
            <a:r>
              <a:rPr lang="en-US" dirty="0"/>
              <a:t>Big Data Visualization Layer</a:t>
            </a:r>
          </a:p>
        </p:txBody>
      </p:sp>
      <p:sp>
        <p:nvSpPr>
          <p:cNvPr id="4" name="TextBox 3"/>
          <p:cNvSpPr txBox="1"/>
          <p:nvPr/>
        </p:nvSpPr>
        <p:spPr>
          <a:xfrm>
            <a:off x="9289542" y="0"/>
            <a:ext cx="2867965" cy="2031325"/>
          </a:xfrm>
          <a:prstGeom prst="rect">
            <a:avLst/>
          </a:prstGeom>
          <a:solidFill>
            <a:schemeClr val="accent1">
              <a:lumMod val="60000"/>
              <a:lumOff val="40000"/>
            </a:schemeClr>
          </a:solidFill>
          <a:ln>
            <a:solidFill>
              <a:schemeClr val="tx1"/>
            </a:solidFill>
          </a:ln>
        </p:spPr>
        <p:txBody>
          <a:bodyPr wrap="none" rtlCol="0">
            <a:spAutoFit/>
          </a:bodyPr>
          <a:lstStyle/>
          <a:p>
            <a:r>
              <a:rPr lang="en-US" b="1" u="sng" dirty="0"/>
              <a:t>Big Data Architecture Layers</a:t>
            </a:r>
          </a:p>
          <a:p>
            <a:pPr marL="342900" indent="-342900">
              <a:buFont typeface="+mj-lt"/>
              <a:buAutoNum type="arabicPeriod"/>
            </a:pPr>
            <a:r>
              <a:rPr lang="en-US" dirty="0"/>
              <a:t>Data ingestion layer</a:t>
            </a:r>
          </a:p>
          <a:p>
            <a:pPr marL="342900" indent="-342900">
              <a:buFont typeface="+mj-lt"/>
              <a:buAutoNum type="arabicPeriod"/>
            </a:pPr>
            <a:r>
              <a:rPr lang="en-US" dirty="0"/>
              <a:t>Data Collector layer</a:t>
            </a:r>
          </a:p>
          <a:p>
            <a:pPr marL="342900" indent="-342900">
              <a:buFont typeface="+mj-lt"/>
              <a:buAutoNum type="arabicPeriod"/>
            </a:pPr>
            <a:r>
              <a:rPr lang="en-US" dirty="0"/>
              <a:t>Data Processing Layer</a:t>
            </a:r>
          </a:p>
          <a:p>
            <a:pPr marL="342900" indent="-342900">
              <a:buFont typeface="+mj-lt"/>
              <a:buAutoNum type="arabicPeriod"/>
            </a:pPr>
            <a:r>
              <a:rPr lang="en-US" dirty="0"/>
              <a:t>Data Storage Layer</a:t>
            </a:r>
          </a:p>
          <a:p>
            <a:pPr marL="342900" indent="-342900">
              <a:buFont typeface="+mj-lt"/>
              <a:buAutoNum type="arabicPeriod"/>
            </a:pPr>
            <a:r>
              <a:rPr lang="en-US" dirty="0"/>
              <a:t>Data Query Layer</a:t>
            </a:r>
          </a:p>
          <a:p>
            <a:pPr marL="342900" indent="-342900">
              <a:buFont typeface="+mj-lt"/>
              <a:buAutoNum type="arabicPeriod"/>
            </a:pPr>
            <a:r>
              <a:rPr lang="en-US" dirty="0"/>
              <a:t>Data Visualization Layer</a:t>
            </a:r>
          </a:p>
        </p:txBody>
      </p:sp>
    </p:spTree>
    <p:extLst>
      <p:ext uri="{BB962C8B-B14F-4D97-AF65-F5344CB8AC3E}">
        <p14:creationId xmlns:p14="http://schemas.microsoft.com/office/powerpoint/2010/main" val="4782095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Big Data Archite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941" y="0"/>
            <a:ext cx="9135323"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608901" y="256032"/>
            <a:ext cx="1257300" cy="923330"/>
          </a:xfrm>
          <a:prstGeom prst="rect">
            <a:avLst/>
          </a:prstGeom>
          <a:solidFill>
            <a:schemeClr val="accent2"/>
          </a:solidFill>
        </p:spPr>
        <p:txBody>
          <a:bodyPr wrap="square" rtlCol="0">
            <a:spAutoFit/>
          </a:bodyPr>
          <a:lstStyle/>
          <a:p>
            <a:pPr algn="ctr"/>
            <a:r>
              <a:rPr lang="en-US" dirty="0"/>
              <a:t>Data fusion and Integration</a:t>
            </a:r>
          </a:p>
        </p:txBody>
      </p:sp>
    </p:spTree>
    <p:extLst>
      <p:ext uri="{BB962C8B-B14F-4D97-AF65-F5344CB8AC3E}">
        <p14:creationId xmlns:p14="http://schemas.microsoft.com/office/powerpoint/2010/main" val="393133398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 Data Visualization Layer</a:t>
            </a:r>
          </a:p>
        </p:txBody>
      </p:sp>
      <p:sp>
        <p:nvSpPr>
          <p:cNvPr id="3" name="Content Placeholder 2"/>
          <p:cNvSpPr>
            <a:spLocks noGrp="1"/>
          </p:cNvSpPr>
          <p:nvPr>
            <p:ph idx="1"/>
          </p:nvPr>
        </p:nvSpPr>
        <p:spPr>
          <a:xfrm>
            <a:off x="838200" y="2190750"/>
            <a:ext cx="10515600" cy="1549978"/>
          </a:xfrm>
          <a:solidFill>
            <a:srgbClr val="92D050"/>
          </a:solidFill>
        </p:spPr>
        <p:txBody>
          <a:bodyPr>
            <a:normAutofit/>
          </a:bodyPr>
          <a:lstStyle/>
          <a:p>
            <a:r>
              <a:rPr lang="en-US" sz="2000" dirty="0"/>
              <a:t>The visualization, or presentation tier, probably the most prestigious tier, </a:t>
            </a:r>
          </a:p>
          <a:p>
            <a:pPr lvl="1"/>
            <a:r>
              <a:rPr lang="en-US" sz="2000" dirty="0"/>
              <a:t>where the data pipeline users may feel the VALUE of DATA. </a:t>
            </a:r>
          </a:p>
          <a:p>
            <a:r>
              <a:rPr lang="en-US" sz="2000" dirty="0"/>
              <a:t>We need something that will grab people’s attention, pull them into, make your findings well-understood.</a:t>
            </a:r>
          </a:p>
        </p:txBody>
      </p:sp>
      <p:sp>
        <p:nvSpPr>
          <p:cNvPr id="4" name="TextBox 3"/>
          <p:cNvSpPr txBox="1"/>
          <p:nvPr/>
        </p:nvSpPr>
        <p:spPr>
          <a:xfrm>
            <a:off x="9289542" y="0"/>
            <a:ext cx="2867965" cy="2031325"/>
          </a:xfrm>
          <a:prstGeom prst="rect">
            <a:avLst/>
          </a:prstGeom>
          <a:solidFill>
            <a:schemeClr val="accent1">
              <a:lumMod val="60000"/>
              <a:lumOff val="40000"/>
            </a:schemeClr>
          </a:solidFill>
          <a:ln>
            <a:solidFill>
              <a:schemeClr val="tx1"/>
            </a:solidFill>
          </a:ln>
        </p:spPr>
        <p:txBody>
          <a:bodyPr wrap="none" rtlCol="0">
            <a:spAutoFit/>
          </a:bodyPr>
          <a:lstStyle/>
          <a:p>
            <a:r>
              <a:rPr lang="en-US" b="1" u="sng" dirty="0"/>
              <a:t>Big Data Architecture Layers</a:t>
            </a:r>
          </a:p>
          <a:p>
            <a:pPr marL="342900" indent="-342900">
              <a:buFont typeface="+mj-lt"/>
              <a:buAutoNum type="arabicPeriod"/>
            </a:pPr>
            <a:r>
              <a:rPr lang="en-US" dirty="0"/>
              <a:t>Data ingestion layer</a:t>
            </a:r>
          </a:p>
          <a:p>
            <a:pPr marL="342900" indent="-342900">
              <a:buFont typeface="+mj-lt"/>
              <a:buAutoNum type="arabicPeriod"/>
            </a:pPr>
            <a:r>
              <a:rPr lang="en-US" dirty="0"/>
              <a:t>Data Collector layer</a:t>
            </a:r>
          </a:p>
          <a:p>
            <a:pPr marL="342900" indent="-342900">
              <a:buFont typeface="+mj-lt"/>
              <a:buAutoNum type="arabicPeriod"/>
            </a:pPr>
            <a:r>
              <a:rPr lang="en-US" dirty="0"/>
              <a:t>Data Processing Layer</a:t>
            </a:r>
          </a:p>
          <a:p>
            <a:pPr marL="342900" indent="-342900">
              <a:buFont typeface="+mj-lt"/>
              <a:buAutoNum type="arabicPeriod"/>
            </a:pPr>
            <a:r>
              <a:rPr lang="en-US" dirty="0"/>
              <a:t>Data Storage Layer</a:t>
            </a:r>
          </a:p>
          <a:p>
            <a:pPr marL="342900" indent="-342900">
              <a:buFont typeface="+mj-lt"/>
              <a:buAutoNum type="arabicPeriod"/>
            </a:pPr>
            <a:r>
              <a:rPr lang="en-US" dirty="0"/>
              <a:t>Data Query Layer</a:t>
            </a:r>
          </a:p>
          <a:p>
            <a:pPr marL="342900" indent="-342900">
              <a:buFont typeface="+mj-lt"/>
              <a:buAutoNum type="arabicPeriod"/>
            </a:pPr>
            <a:r>
              <a:rPr lang="en-US" dirty="0"/>
              <a:t>Data Visualization Layer</a:t>
            </a:r>
          </a:p>
        </p:txBody>
      </p:sp>
    </p:spTree>
    <p:extLst>
      <p:ext uri="{BB962C8B-B14F-4D97-AF65-F5344CB8AC3E}">
        <p14:creationId xmlns:p14="http://schemas.microsoft.com/office/powerpoint/2010/main" val="36231695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419735"/>
            <a:ext cx="10938510" cy="1765181"/>
          </a:xfrm>
          <a:solidFill>
            <a:srgbClr val="92D050"/>
          </a:solidFill>
        </p:spPr>
        <p:txBody>
          <a:bodyPr>
            <a:normAutofit/>
          </a:bodyPr>
          <a:lstStyle/>
          <a:p>
            <a:pPr marL="0" indent="0">
              <a:buNone/>
            </a:pPr>
            <a:r>
              <a:rPr lang="en-US" sz="2000" u="sng" dirty="0">
                <a:hlinkClick r:id="rId2"/>
              </a:rPr>
              <a:t>Tableau</a:t>
            </a:r>
            <a:r>
              <a:rPr lang="en-US" sz="2000" dirty="0"/>
              <a:t> is a data visualization tool that can be used to create interactive graphs, charts, and maps. It allows you to connect to different data sources and</a:t>
            </a:r>
            <a:r>
              <a:rPr lang="en-US" sz="2000" b="1" dirty="0"/>
              <a:t> create visualizations in minutes.</a:t>
            </a:r>
            <a:endParaRPr lang="en-US" sz="2000" dirty="0"/>
          </a:p>
          <a:p>
            <a:pPr marL="0" indent="0">
              <a:buNone/>
            </a:pPr>
            <a:r>
              <a:rPr lang="en-US" sz="2000" u="sng" dirty="0">
                <a:hlinkClick r:id="rId3"/>
              </a:rPr>
              <a:t>Tableau Desktop</a:t>
            </a:r>
            <a:r>
              <a:rPr lang="en-US" sz="2000" dirty="0"/>
              <a:t> is the original product. It’s made for creating static visualizations that can be published on one or more web pages, but it doesn’t create interactive maps.</a:t>
            </a:r>
          </a:p>
          <a:p>
            <a:pPr marL="0" indent="0">
              <a:buNone/>
            </a:pPr>
            <a:r>
              <a:rPr lang="en-US" sz="2000" u="sng" dirty="0">
                <a:hlinkClick r:id="rId4"/>
              </a:rPr>
              <a:t>Tableau Public</a:t>
            </a:r>
            <a:r>
              <a:rPr lang="en-US" sz="2000" dirty="0"/>
              <a:t> is the free distribution of the Desktop product with some limitations.</a:t>
            </a:r>
          </a:p>
        </p:txBody>
      </p:sp>
      <p:sp>
        <p:nvSpPr>
          <p:cNvPr id="5" name="Rectangle 4"/>
          <p:cNvSpPr/>
          <p:nvPr/>
        </p:nvSpPr>
        <p:spPr>
          <a:xfrm>
            <a:off x="628650" y="2849017"/>
            <a:ext cx="10938510" cy="1938992"/>
          </a:xfrm>
          <a:prstGeom prst="rect">
            <a:avLst/>
          </a:prstGeom>
          <a:solidFill>
            <a:srgbClr val="92D050"/>
          </a:solidFill>
        </p:spPr>
        <p:txBody>
          <a:bodyPr wrap="square">
            <a:spAutoFit/>
          </a:bodyPr>
          <a:lstStyle/>
          <a:p>
            <a:r>
              <a:rPr lang="en-US" sz="2000" u="sng" dirty="0" err="1">
                <a:solidFill>
                  <a:srgbClr val="292929"/>
                </a:solidFill>
                <a:hlinkClick r:id="rId5"/>
              </a:rPr>
              <a:t>QlikView</a:t>
            </a:r>
            <a:r>
              <a:rPr lang="en-US" sz="2000" dirty="0">
                <a:solidFill>
                  <a:srgbClr val="292929"/>
                </a:solidFill>
              </a:rPr>
              <a:t> is not just another data visualization tool, It is a </a:t>
            </a:r>
            <a:r>
              <a:rPr lang="en-US" sz="2000" b="1" dirty="0">
                <a:solidFill>
                  <a:srgbClr val="292929"/>
                </a:solidFill>
              </a:rPr>
              <a:t>data discovery platform</a:t>
            </a:r>
            <a:r>
              <a:rPr lang="en-US" sz="2000" dirty="0">
                <a:solidFill>
                  <a:srgbClr val="292929"/>
                </a:solidFill>
              </a:rPr>
              <a:t> that empowers the users to make faster, more informed decisions by accelerating analytics, revealing new business insights, and increasing the accuracy of results.</a:t>
            </a:r>
          </a:p>
          <a:p>
            <a:r>
              <a:rPr lang="en-US" sz="2000" dirty="0"/>
              <a:t>It has been developed on a </a:t>
            </a:r>
            <a:r>
              <a:rPr lang="en-US" sz="2000" b="1" dirty="0"/>
              <a:t>“drag and drops” visualization interface,</a:t>
            </a:r>
            <a:r>
              <a:rPr lang="en-US" sz="2000" dirty="0"/>
              <a:t> allowing users to easily add data from many different sources, such as databases or spreadsheets, without having to write any code. These characteristics also make it a relatively easier tool to learn and grasp.</a:t>
            </a:r>
            <a:endParaRPr lang="en-US" sz="2000" b="0" i="0" dirty="0">
              <a:solidFill>
                <a:srgbClr val="292929"/>
              </a:solidFill>
              <a:effectLst/>
            </a:endParaRPr>
          </a:p>
        </p:txBody>
      </p:sp>
      <p:sp>
        <p:nvSpPr>
          <p:cNvPr id="6" name="TextBox 5"/>
          <p:cNvSpPr txBox="1"/>
          <p:nvPr/>
        </p:nvSpPr>
        <p:spPr>
          <a:xfrm>
            <a:off x="628649" y="5452110"/>
            <a:ext cx="10938511" cy="707886"/>
          </a:xfrm>
          <a:prstGeom prst="rect">
            <a:avLst/>
          </a:prstGeom>
          <a:solidFill>
            <a:srgbClr val="92D050"/>
          </a:solidFill>
        </p:spPr>
        <p:txBody>
          <a:bodyPr wrap="square" rtlCol="0">
            <a:spAutoFit/>
          </a:bodyPr>
          <a:lstStyle/>
          <a:p>
            <a:r>
              <a:rPr lang="en-US" sz="2000" dirty="0"/>
              <a:t>The </a:t>
            </a:r>
            <a:r>
              <a:rPr lang="en-US" sz="2000" u="sng" dirty="0">
                <a:hlinkClick r:id="rId6"/>
              </a:rPr>
              <a:t>Microsoft Power BI</a:t>
            </a:r>
            <a:r>
              <a:rPr lang="en-US" sz="2000" dirty="0"/>
              <a:t> is the data visualization tool that is used for business intelligence type of data. It is and can be used for reporting, self-service analytics, and predictive analytics.</a:t>
            </a:r>
          </a:p>
        </p:txBody>
      </p:sp>
    </p:spTree>
    <p:extLst>
      <p:ext uri="{BB962C8B-B14F-4D97-AF65-F5344CB8AC3E}">
        <p14:creationId xmlns:p14="http://schemas.microsoft.com/office/powerpoint/2010/main" val="31534198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777</TotalTime>
  <Words>5301</Words>
  <Application>Microsoft Office PowerPoint</Application>
  <PresentationFormat>Widescreen</PresentationFormat>
  <Paragraphs>455</Paragraphs>
  <Slides>61</Slides>
  <Notes>7</Notes>
  <HiddenSlides>10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61</vt:i4>
      </vt:variant>
    </vt:vector>
  </HeadingPairs>
  <TitlesOfParts>
    <vt:vector size="66" baseType="lpstr">
      <vt:lpstr>굴림</vt:lpstr>
      <vt:lpstr>Arial</vt:lpstr>
      <vt:lpstr>Calibri</vt:lpstr>
      <vt:lpstr>Calibri Light</vt:lpstr>
      <vt:lpstr>Office Theme</vt:lpstr>
      <vt:lpstr>Distributed Data Pipeline</vt:lpstr>
      <vt:lpstr>Data Gathering to Data Visualization</vt:lpstr>
      <vt:lpstr>What is a Data Pipeline?</vt:lpstr>
      <vt:lpstr>Architecture of Big Data Analytics</vt:lpstr>
      <vt:lpstr>Data Gathering</vt:lpstr>
      <vt:lpstr> Data Gathering </vt:lpstr>
      <vt:lpstr>Data Aggregation</vt:lpstr>
      <vt:lpstr>Data Fusion</vt:lpstr>
      <vt:lpstr>Data Integration, Collection and Ingestion</vt:lpstr>
      <vt:lpstr>PowerPoint Presentation</vt:lpstr>
      <vt:lpstr>PowerPoint Presentation</vt:lpstr>
      <vt:lpstr>1. Data Ingestion Layer</vt:lpstr>
      <vt:lpstr>Data ingestion: Execution Models</vt:lpstr>
      <vt:lpstr>Batch Processing</vt:lpstr>
      <vt:lpstr>Batch Processing</vt:lpstr>
      <vt:lpstr>Interactive (Online) Processing</vt:lpstr>
      <vt:lpstr>Real-time Processing</vt:lpstr>
      <vt:lpstr>Real-time Processing  vs. Stream Processing</vt:lpstr>
      <vt:lpstr>Parallel Processing</vt:lpstr>
      <vt:lpstr>Data ingestion Challenges</vt:lpstr>
      <vt:lpstr>PowerPoint Presentation</vt:lpstr>
      <vt:lpstr>PowerPoint Presentation</vt:lpstr>
      <vt:lpstr>Data Ingestion Best Practices</vt:lpstr>
      <vt:lpstr>Data Ingestion Best Practices</vt:lpstr>
      <vt:lpstr>Data Ingestion Best Practices</vt:lpstr>
      <vt:lpstr>Big Data Ingestion Tools</vt:lpstr>
      <vt:lpstr>Flume</vt:lpstr>
      <vt:lpstr>How flume works</vt:lpstr>
      <vt:lpstr>Big Data Ingestion Tools</vt:lpstr>
      <vt:lpstr>Distributed and Big Data Ingestion Tools</vt:lpstr>
      <vt:lpstr>Data Ingestion: Challenges</vt:lpstr>
      <vt:lpstr>PowerPoint Presentation</vt:lpstr>
      <vt:lpstr>PowerPoint Presentation</vt:lpstr>
      <vt:lpstr>Big Data Processing Layer</vt:lpstr>
      <vt:lpstr>PowerPoint Presentation</vt:lpstr>
      <vt:lpstr>3. Data Processing Layer</vt:lpstr>
      <vt:lpstr>Data Processing tools</vt:lpstr>
      <vt:lpstr>PowerPoint Presentation</vt:lpstr>
      <vt:lpstr>PowerPoint Presentation</vt:lpstr>
      <vt:lpstr>PowerPoint Presentation</vt:lpstr>
      <vt:lpstr>PowerPoint Presentation</vt:lpstr>
      <vt:lpstr>PowerPoint Presentation</vt:lpstr>
      <vt:lpstr>Big Data Storage Layer</vt:lpstr>
      <vt:lpstr>PowerPoint Presentation</vt:lpstr>
      <vt:lpstr>4. Data Storage Layer</vt:lpstr>
      <vt:lpstr>Big Data Storage Layer</vt:lpstr>
      <vt:lpstr>PowerPoint Presentation</vt:lpstr>
      <vt:lpstr>PowerPoint Presentation</vt:lpstr>
      <vt:lpstr>PowerPoint Presentation</vt:lpstr>
      <vt:lpstr>PowerPoint Presentation</vt:lpstr>
      <vt:lpstr>PowerPoint Presentation</vt:lpstr>
      <vt:lpstr>Big Data Query Layer</vt:lpstr>
      <vt:lpstr>PowerPoint Presentation</vt:lpstr>
      <vt:lpstr>5. Data Query Layer</vt:lpstr>
      <vt:lpstr>PowerPoint Presentation</vt:lpstr>
      <vt:lpstr>PowerPoint Presentation</vt:lpstr>
      <vt:lpstr>PowerPoint Presentation</vt:lpstr>
      <vt:lpstr>Big Data Visualization Layer</vt:lpstr>
      <vt:lpstr>PowerPoint Presentation</vt:lpstr>
      <vt:lpstr>6. Data Visualization Layer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drdanish</dc:creator>
  <cp:lastModifiedBy>Rana Faisal Hayat</cp:lastModifiedBy>
  <cp:revision>57</cp:revision>
  <dcterms:created xsi:type="dcterms:W3CDTF">2020-12-03T09:40:11Z</dcterms:created>
  <dcterms:modified xsi:type="dcterms:W3CDTF">2026-05-11T13:35:50Z</dcterms:modified>
</cp:coreProperties>
</file>