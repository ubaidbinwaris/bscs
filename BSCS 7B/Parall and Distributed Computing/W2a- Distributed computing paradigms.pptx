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34" r:id="rId2"/>
    <p:sldId id="256" r:id="rId3"/>
    <p:sldId id="257" r:id="rId4"/>
    <p:sldId id="258" r:id="rId5"/>
    <p:sldId id="259" r:id="rId6"/>
    <p:sldId id="260" r:id="rId7"/>
    <p:sldId id="261" r:id="rId8"/>
    <p:sldId id="335" r:id="rId9"/>
    <p:sldId id="336" r:id="rId10"/>
    <p:sldId id="262" r:id="rId11"/>
    <p:sldId id="263" r:id="rId12"/>
    <p:sldId id="264" r:id="rId13"/>
    <p:sldId id="276" r:id="rId14"/>
    <p:sldId id="277" r:id="rId15"/>
    <p:sldId id="281" r:id="rId16"/>
    <p:sldId id="282" r:id="rId17"/>
    <p:sldId id="301" r:id="rId18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13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0C45E-C66B-4285-86E5-8175FB50AE6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E8C5A-EA14-4BB1-9D75-A61D97408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5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0" y="129032"/>
            <a:ext cx="46101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743" y="671994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FFE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8544" y="1225334"/>
            <a:ext cx="101599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89344" y="1212634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520311" y="722566"/>
            <a:ext cx="50749" cy="502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7743" y="716422"/>
            <a:ext cx="4432935" cy="560070"/>
          </a:xfrm>
          <a:custGeom>
            <a:avLst/>
            <a:gdLst/>
            <a:ahLst/>
            <a:cxnLst/>
            <a:rect l="l" t="t" r="r" b="b"/>
            <a:pathLst>
              <a:path w="4432935" h="560069">
                <a:moveTo>
                  <a:pt x="4432567" y="0"/>
                </a:moveTo>
                <a:lnTo>
                  <a:pt x="0" y="0"/>
                </a:lnTo>
                <a:lnTo>
                  <a:pt x="0" y="508911"/>
                </a:lnTo>
                <a:lnTo>
                  <a:pt x="4008" y="528636"/>
                </a:lnTo>
                <a:lnTo>
                  <a:pt x="14922" y="544789"/>
                </a:lnTo>
                <a:lnTo>
                  <a:pt x="31075" y="555703"/>
                </a:lnTo>
                <a:lnTo>
                  <a:pt x="50800" y="559712"/>
                </a:lnTo>
                <a:lnTo>
                  <a:pt x="4381767" y="559712"/>
                </a:lnTo>
                <a:lnTo>
                  <a:pt x="4401492" y="555703"/>
                </a:lnTo>
                <a:lnTo>
                  <a:pt x="4417644" y="544789"/>
                </a:lnTo>
                <a:lnTo>
                  <a:pt x="4428558" y="528636"/>
                </a:lnTo>
                <a:lnTo>
                  <a:pt x="4432567" y="508911"/>
                </a:lnTo>
                <a:lnTo>
                  <a:pt x="4432567" y="0"/>
                </a:lnTo>
                <a:close/>
              </a:path>
            </a:pathLst>
          </a:custGeom>
          <a:solidFill>
            <a:srgbClr val="FFE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520311" y="760658"/>
            <a:ext cx="0" cy="483870"/>
          </a:xfrm>
          <a:custGeom>
            <a:avLst/>
            <a:gdLst/>
            <a:ahLst/>
            <a:cxnLst/>
            <a:rect l="l" t="t" r="r" b="b"/>
            <a:pathLst>
              <a:path h="483869">
                <a:moveTo>
                  <a:pt x="0" y="4837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520311" y="7479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520311" y="7352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520311" y="7225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2303995" y="0"/>
                </a:moveTo>
                <a:lnTo>
                  <a:pt x="0" y="0"/>
                </a:lnTo>
                <a:lnTo>
                  <a:pt x="0" y="129032"/>
                </a:lnTo>
                <a:lnTo>
                  <a:pt x="2303995" y="129032"/>
                </a:lnTo>
                <a:lnTo>
                  <a:pt x="2303995" y="0"/>
                </a:lnTo>
                <a:close/>
              </a:path>
            </a:pathLst>
          </a:custGeom>
          <a:solidFill>
            <a:srgbClr val="FCC1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129032"/>
            <a:ext cx="46101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604" y="806558"/>
            <a:ext cx="4388891" cy="1970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58348" y="3331252"/>
            <a:ext cx="283210" cy="119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3.png"/><Relationship Id="rId3" Type="http://schemas.openxmlformats.org/officeDocument/2006/relationships/slide" Target="slide4.xml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" Target="slide5.xml"/><Relationship Id="rId7" Type="http://schemas.openxmlformats.org/officeDocument/2006/relationships/image" Target="../media/image2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png"/><Relationship Id="rId3" Type="http://schemas.openxmlformats.org/officeDocument/2006/relationships/slide" Target="slide6.xml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2" Type="http://schemas.openxmlformats.org/officeDocument/2006/relationships/slide" Target="slide3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19.png"/><Relationship Id="rId15" Type="http://schemas.openxmlformats.org/officeDocument/2006/relationships/image" Target="../media/image38.png"/><Relationship Id="rId10" Type="http://schemas.openxmlformats.org/officeDocument/2006/relationships/image" Target="../media/image2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slide" Target="slide7.xml"/><Relationship Id="rId7" Type="http://schemas.openxmlformats.org/officeDocument/2006/relationships/image" Target="../media/image19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2.png"/><Relationship Id="rId3" Type="http://schemas.openxmlformats.org/officeDocument/2006/relationships/slide" Target="slide10.xml"/><Relationship Id="rId7" Type="http://schemas.openxmlformats.org/officeDocument/2006/relationships/image" Target="../media/image24.png"/><Relationship Id="rId12" Type="http://schemas.openxmlformats.org/officeDocument/2006/relationships/image" Target="../media/image38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0" Type="http://schemas.openxmlformats.org/officeDocument/2006/relationships/image" Target="../media/image35.png"/><Relationship Id="rId4" Type="http://schemas.openxmlformats.org/officeDocument/2006/relationships/slide" Target="slide11.xml"/><Relationship Id="rId9" Type="http://schemas.openxmlformats.org/officeDocument/2006/relationships/image" Target="../media/image36.png"/><Relationship Id="rId1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slide" Target="slide10.xml"/><Relationship Id="rId7" Type="http://schemas.openxmlformats.org/officeDocument/2006/relationships/image" Target="../media/image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0.png"/><Relationship Id="rId4" Type="http://schemas.openxmlformats.org/officeDocument/2006/relationships/slide" Target="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13.png"/><Relationship Id="rId3" Type="http://schemas.openxmlformats.org/officeDocument/2006/relationships/slide" Target="slide10.xml"/><Relationship Id="rId7" Type="http://schemas.openxmlformats.org/officeDocument/2006/relationships/image" Target="../media/image2.png"/><Relationship Id="rId12" Type="http://schemas.openxmlformats.org/officeDocument/2006/relationships/image" Target="../media/image57.png"/><Relationship Id="rId17" Type="http://schemas.openxmlformats.org/officeDocument/2006/relationships/slide" Target="slide17.xml"/><Relationship Id="rId2" Type="http://schemas.openxmlformats.org/officeDocument/2006/relationships/slide" Target="slide3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6.png"/><Relationship Id="rId5" Type="http://schemas.openxmlformats.org/officeDocument/2006/relationships/image" Target="../media/image52.png"/><Relationship Id="rId15" Type="http://schemas.openxmlformats.org/officeDocument/2006/relationships/image" Target="../media/image59.png"/><Relationship Id="rId10" Type="http://schemas.openxmlformats.org/officeDocument/2006/relationships/image" Target="../media/image8.png"/><Relationship Id="rId4" Type="http://schemas.openxmlformats.org/officeDocument/2006/relationships/slide" Target="slide13.xml"/><Relationship Id="rId9" Type="http://schemas.openxmlformats.org/officeDocument/2006/relationships/image" Target="../media/image55.png"/><Relationship Id="rId1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slide" Target="slide10.xml"/><Relationship Id="rId7" Type="http://schemas.openxmlformats.org/officeDocument/2006/relationships/image" Target="../media/image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slide" Target="slide17.xml"/><Relationship Id="rId4" Type="http://schemas.openxmlformats.org/officeDocument/2006/relationships/slide" Target="slide14.xml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10.xml"/><Relationship Id="rId7" Type="http://schemas.openxmlformats.org/officeDocument/2006/relationships/image" Target="../media/image6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4.png"/><Relationship Id="rId10" Type="http://schemas.openxmlformats.org/officeDocument/2006/relationships/slide" Target="slide17.xml"/><Relationship Id="rId4" Type="http://schemas.openxmlformats.org/officeDocument/2006/relationships/slide" Target="slide15.xml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1.png"/><Relationship Id="rId3" Type="http://schemas.openxmlformats.org/officeDocument/2006/relationships/slide" Target="slide10.xml"/><Relationship Id="rId7" Type="http://schemas.openxmlformats.org/officeDocument/2006/relationships/image" Target="../media/image2.png"/><Relationship Id="rId12" Type="http://schemas.openxmlformats.org/officeDocument/2006/relationships/image" Target="../media/image36.png"/><Relationship Id="rId17" Type="http://schemas.openxmlformats.org/officeDocument/2006/relationships/slide" Target="slide17.xml"/><Relationship Id="rId2" Type="http://schemas.openxmlformats.org/officeDocument/2006/relationships/slide" Target="slide3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0.png"/><Relationship Id="rId5" Type="http://schemas.openxmlformats.org/officeDocument/2006/relationships/image" Target="../media/image66.png"/><Relationship Id="rId15" Type="http://schemas.openxmlformats.org/officeDocument/2006/relationships/image" Target="../media/image73.png"/><Relationship Id="rId10" Type="http://schemas.openxmlformats.org/officeDocument/2006/relationships/image" Target="../media/image19.png"/><Relationship Id="rId4" Type="http://schemas.openxmlformats.org/officeDocument/2006/relationships/slide" Target="slide16.xml"/><Relationship Id="rId9" Type="http://schemas.openxmlformats.org/officeDocument/2006/relationships/image" Target="../media/image69.png"/><Relationship Id="rId1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22.png"/><Relationship Id="rId3" Type="http://schemas.openxmlformats.org/officeDocument/2006/relationships/slide" Target="slide10.xml"/><Relationship Id="rId7" Type="http://schemas.openxmlformats.org/officeDocument/2006/relationships/image" Target="../media/image2.png"/><Relationship Id="rId12" Type="http://schemas.openxmlformats.org/officeDocument/2006/relationships/image" Target="../media/image1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0.png"/><Relationship Id="rId5" Type="http://schemas.openxmlformats.org/officeDocument/2006/relationships/image" Target="../media/image75.png"/><Relationship Id="rId10" Type="http://schemas.openxmlformats.org/officeDocument/2006/relationships/image" Target="../media/image79.png"/><Relationship Id="rId4" Type="http://schemas.openxmlformats.org/officeDocument/2006/relationships/slide" Target="slide17.xml"/><Relationship Id="rId9" Type="http://schemas.openxmlformats.org/officeDocument/2006/relationships/image" Target="../media/image78.png"/><Relationship Id="rId1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500+ Cloud Computing Pictures [HD] | Download Free Images on Unspla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032"/>
            <a:ext cx="4610100" cy="333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148367"/>
            <a:ext cx="45459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Parallel and Distributed Computing</a:t>
            </a:r>
          </a:p>
          <a:p>
            <a:r>
              <a:rPr lang="en-US" sz="1600" dirty="0" smtClean="0">
                <a:solidFill>
                  <a:srgbClr val="FFC000"/>
                </a:solidFill>
              </a:rPr>
              <a:t>2a. Welcome to Distributed Paradigm</a:t>
            </a:r>
            <a:endParaRPr lang="en-US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802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303" y="638994"/>
            <a:ext cx="1783714" cy="55435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70"/>
              </a:spcBef>
            </a:pPr>
            <a:r>
              <a:rPr sz="1400" b="1" spc="10" dirty="0">
                <a:solidFill>
                  <a:srgbClr val="04064C"/>
                </a:solidFill>
                <a:latin typeface="Arial"/>
                <a:cs typeface="Arial"/>
              </a:rPr>
              <a:t>Distributed</a:t>
            </a:r>
            <a:r>
              <a:rPr sz="1400" b="1" spc="-4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04064C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509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(3rd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Edition)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743" y="1807362"/>
            <a:ext cx="4483735" cy="1163955"/>
            <a:chOff x="87743" y="1807362"/>
            <a:chExt cx="4483735" cy="1163955"/>
          </a:xfrm>
        </p:grpSpPr>
        <p:sp>
          <p:nvSpPr>
            <p:cNvPr id="4" name="object 4"/>
            <p:cNvSpPr/>
            <p:nvPr/>
          </p:nvSpPr>
          <p:spPr>
            <a:xfrm>
              <a:off x="87743" y="180736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8544" y="2869552"/>
              <a:ext cx="101600" cy="101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9344" y="2856852"/>
              <a:ext cx="4381715" cy="114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20311" y="1857933"/>
              <a:ext cx="50749" cy="101161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743" y="1851775"/>
              <a:ext cx="4432935" cy="1068705"/>
            </a:xfrm>
            <a:custGeom>
              <a:avLst/>
              <a:gdLst/>
              <a:ahLst/>
              <a:cxnLst/>
              <a:rect l="l" t="t" r="r" b="b"/>
              <a:pathLst>
                <a:path w="4432935" h="1068705">
                  <a:moveTo>
                    <a:pt x="4432567" y="0"/>
                  </a:moveTo>
                  <a:lnTo>
                    <a:pt x="0" y="0"/>
                  </a:lnTo>
                  <a:lnTo>
                    <a:pt x="0" y="1017776"/>
                  </a:lnTo>
                  <a:lnTo>
                    <a:pt x="4008" y="1037501"/>
                  </a:lnTo>
                  <a:lnTo>
                    <a:pt x="14922" y="1053654"/>
                  </a:lnTo>
                  <a:lnTo>
                    <a:pt x="31075" y="1064568"/>
                  </a:lnTo>
                  <a:lnTo>
                    <a:pt x="50800" y="1068577"/>
                  </a:lnTo>
                  <a:lnTo>
                    <a:pt x="4381767" y="1068577"/>
                  </a:lnTo>
                  <a:lnTo>
                    <a:pt x="4401492" y="1064568"/>
                  </a:lnTo>
                  <a:lnTo>
                    <a:pt x="4417644" y="1053654"/>
                  </a:lnTo>
                  <a:lnTo>
                    <a:pt x="4428558" y="1037501"/>
                  </a:lnTo>
                  <a:lnTo>
                    <a:pt x="4432567" y="101777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1896012"/>
              <a:ext cx="0" cy="993140"/>
            </a:xfrm>
            <a:custGeom>
              <a:avLst/>
              <a:gdLst/>
              <a:ahLst/>
              <a:cxnLst/>
              <a:rect l="l" t="t" r="r" b="b"/>
              <a:pathLst>
                <a:path h="993139">
                  <a:moveTo>
                    <a:pt x="0" y="9925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1" y="18833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18706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18579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07998" y="2023818"/>
            <a:ext cx="1992630" cy="8790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latin typeface="Arial"/>
                <a:cs typeface="Arial"/>
              </a:rPr>
              <a:t>Chapter 01: Introduction</a:t>
            </a:r>
            <a:endParaRPr sz="1400" dirty="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1170"/>
              </a:spcBef>
            </a:pPr>
            <a:r>
              <a:rPr sz="1100" spc="-20" dirty="0">
                <a:latin typeface="Arial"/>
                <a:cs typeface="Arial"/>
              </a:rPr>
              <a:t>Version: </a:t>
            </a:r>
            <a:r>
              <a:rPr sz="1100" spc="-5" dirty="0" smtClean="0">
                <a:latin typeface="Arial"/>
                <a:cs typeface="Arial"/>
              </a:rPr>
              <a:t>Feb</a:t>
            </a:r>
            <a:r>
              <a:rPr lang="en-US" sz="1100" spc="-5" dirty="0" smtClean="0">
                <a:latin typeface="Arial"/>
                <a:cs typeface="Arial"/>
              </a:rPr>
              <a:t>.</a:t>
            </a:r>
            <a:r>
              <a:rPr sz="1100" spc="65" dirty="0" smtClean="0">
                <a:latin typeface="Arial"/>
                <a:cs typeface="Arial"/>
              </a:rPr>
              <a:t> </a:t>
            </a:r>
            <a:r>
              <a:rPr sz="1100" spc="-10" dirty="0" smtClean="0">
                <a:latin typeface="Arial"/>
                <a:cs typeface="Arial"/>
              </a:rPr>
              <a:t>2017</a:t>
            </a:r>
            <a:endParaRPr lang="en-US" sz="1100" spc="-10" dirty="0" smtClean="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1170"/>
              </a:spcBef>
            </a:pPr>
            <a:r>
              <a:rPr lang="en-US" sz="1100" spc="-10" dirty="0" smtClean="0">
                <a:latin typeface="Arial"/>
                <a:cs typeface="Arial"/>
              </a:rPr>
              <a:t>Revised: Oct. 2021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474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What is a distributed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system?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2303995" y="0"/>
                </a:moveTo>
                <a:lnTo>
                  <a:pt x="0" y="0"/>
                </a:lnTo>
                <a:lnTo>
                  <a:pt x="0" y="129032"/>
                </a:lnTo>
                <a:lnTo>
                  <a:pt x="2303995" y="129032"/>
                </a:lnTo>
                <a:lnTo>
                  <a:pt x="2303995" y="0"/>
                </a:lnTo>
                <a:close/>
              </a:path>
            </a:pathLst>
          </a:custGeom>
          <a:solidFill>
            <a:srgbClr val="FCC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0" dirty="0"/>
              <a:t>Distributed</a:t>
            </a:r>
            <a:r>
              <a:rPr dirty="0"/>
              <a:t> </a:t>
            </a:r>
            <a:r>
              <a:rPr spc="15" dirty="0"/>
              <a:t>System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7743" y="985583"/>
            <a:ext cx="4483735" cy="599440"/>
            <a:chOff x="87743" y="985583"/>
            <a:chExt cx="4483735" cy="599440"/>
          </a:xfrm>
        </p:grpSpPr>
        <p:sp>
          <p:nvSpPr>
            <p:cNvPr id="6" name="object 6"/>
            <p:cNvSpPr/>
            <p:nvPr/>
          </p:nvSpPr>
          <p:spPr>
            <a:xfrm>
              <a:off x="87743" y="985583"/>
              <a:ext cx="4432935" cy="175260"/>
            </a:xfrm>
            <a:custGeom>
              <a:avLst/>
              <a:gdLst/>
              <a:ahLst/>
              <a:cxnLst/>
              <a:rect l="l" t="t" r="r" b="b"/>
              <a:pathLst>
                <a:path w="4432935" h="175259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4812"/>
                  </a:lnTo>
                  <a:lnTo>
                    <a:pt x="4432567" y="174812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744" y="1147749"/>
              <a:ext cx="4432566" cy="506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8544" y="1483372"/>
              <a:ext cx="101600" cy="1016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9344" y="1470672"/>
              <a:ext cx="4381715" cy="1143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1" y="1029830"/>
              <a:ext cx="50749" cy="45354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743" y="1192029"/>
              <a:ext cx="4432935" cy="342265"/>
            </a:xfrm>
            <a:custGeom>
              <a:avLst/>
              <a:gdLst/>
              <a:ahLst/>
              <a:cxnLst/>
              <a:rect l="l" t="t" r="r" b="b"/>
              <a:pathLst>
                <a:path w="4432935" h="342265">
                  <a:moveTo>
                    <a:pt x="4432567" y="0"/>
                  </a:moveTo>
                  <a:lnTo>
                    <a:pt x="0" y="0"/>
                  </a:lnTo>
                  <a:lnTo>
                    <a:pt x="0" y="291343"/>
                  </a:lnTo>
                  <a:lnTo>
                    <a:pt x="4008" y="311067"/>
                  </a:lnTo>
                  <a:lnTo>
                    <a:pt x="14922" y="327220"/>
                  </a:lnTo>
                  <a:lnTo>
                    <a:pt x="31075" y="338134"/>
                  </a:lnTo>
                  <a:lnTo>
                    <a:pt x="50800" y="342143"/>
                  </a:lnTo>
                  <a:lnTo>
                    <a:pt x="4381767" y="342143"/>
                  </a:lnTo>
                  <a:lnTo>
                    <a:pt x="4401492" y="338134"/>
                  </a:lnTo>
                  <a:lnTo>
                    <a:pt x="4417644" y="327220"/>
                  </a:lnTo>
                  <a:lnTo>
                    <a:pt x="4428558" y="311067"/>
                  </a:lnTo>
                  <a:lnTo>
                    <a:pt x="4432567" y="29134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1067922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h="434975">
                  <a:moveTo>
                    <a:pt x="0" y="4344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10552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10425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11" y="10298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7743" y="1686090"/>
            <a:ext cx="4520452" cy="1034886"/>
            <a:chOff x="87743" y="1686089"/>
            <a:chExt cx="4483735" cy="991869"/>
          </a:xfrm>
        </p:grpSpPr>
        <p:sp>
          <p:nvSpPr>
            <p:cNvPr id="17" name="object 17"/>
            <p:cNvSpPr/>
            <p:nvPr/>
          </p:nvSpPr>
          <p:spPr>
            <a:xfrm>
              <a:off x="87743" y="1686089"/>
              <a:ext cx="4432935" cy="175895"/>
            </a:xfrm>
            <a:custGeom>
              <a:avLst/>
              <a:gdLst/>
              <a:ahLst/>
              <a:cxnLst/>
              <a:rect l="l" t="t" r="r" b="b"/>
              <a:pathLst>
                <a:path w="4432935" h="175894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635"/>
                  </a:lnTo>
                  <a:lnTo>
                    <a:pt x="4432567" y="17563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744" y="1849069"/>
              <a:ext cx="4432566" cy="5060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8544" y="2576169"/>
              <a:ext cx="101600" cy="1016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9344" y="2563469"/>
              <a:ext cx="4381715" cy="1143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1" y="1730336"/>
              <a:ext cx="50749" cy="84583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743" y="1893351"/>
              <a:ext cx="4432935" cy="734060"/>
            </a:xfrm>
            <a:custGeom>
              <a:avLst/>
              <a:gdLst/>
              <a:ahLst/>
              <a:cxnLst/>
              <a:rect l="l" t="t" r="r" b="b"/>
              <a:pathLst>
                <a:path w="4432935" h="734060">
                  <a:moveTo>
                    <a:pt x="4432567" y="0"/>
                  </a:moveTo>
                  <a:lnTo>
                    <a:pt x="0" y="0"/>
                  </a:lnTo>
                  <a:lnTo>
                    <a:pt x="0" y="682818"/>
                  </a:lnTo>
                  <a:lnTo>
                    <a:pt x="4008" y="702542"/>
                  </a:lnTo>
                  <a:lnTo>
                    <a:pt x="14922" y="718695"/>
                  </a:lnTo>
                  <a:lnTo>
                    <a:pt x="31075" y="729609"/>
                  </a:lnTo>
                  <a:lnTo>
                    <a:pt x="50800" y="733618"/>
                  </a:lnTo>
                  <a:lnTo>
                    <a:pt x="4381767" y="733618"/>
                  </a:lnTo>
                  <a:lnTo>
                    <a:pt x="4401492" y="729609"/>
                  </a:lnTo>
                  <a:lnTo>
                    <a:pt x="4417644" y="718695"/>
                  </a:lnTo>
                  <a:lnTo>
                    <a:pt x="4428558" y="702542"/>
                  </a:lnTo>
                  <a:lnTo>
                    <a:pt x="4432567" y="682818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768422"/>
              <a:ext cx="0" cy="827405"/>
            </a:xfrm>
            <a:custGeom>
              <a:avLst/>
              <a:gdLst/>
              <a:ahLst/>
              <a:cxnLst/>
              <a:rect l="l" t="t" r="r" b="b"/>
              <a:pathLst>
                <a:path h="827405">
                  <a:moveTo>
                    <a:pt x="0" y="8267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7557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7430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11" y="17303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9557" y="1969706"/>
              <a:ext cx="76809" cy="7680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9557" y="2349284"/>
              <a:ext cx="76809" cy="7680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21665" y="935069"/>
            <a:ext cx="4360545" cy="199349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Definition</a:t>
            </a:r>
            <a:endParaRPr sz="1000" dirty="0">
              <a:latin typeface="Arial"/>
              <a:cs typeface="Arial"/>
            </a:endParaRPr>
          </a:p>
          <a:p>
            <a:pPr marL="16510" marR="191770" indent="-4445">
              <a:lnSpc>
                <a:spcPct val="100000"/>
              </a:lnSpc>
              <a:spcBef>
                <a:spcPts val="325"/>
              </a:spcBef>
            </a:pPr>
            <a:r>
              <a:rPr sz="1000" spc="-5" dirty="0">
                <a:latin typeface="Arial"/>
                <a:cs typeface="Arial"/>
              </a:rPr>
              <a:t>A distributed system is a collection </a:t>
            </a:r>
            <a:r>
              <a:rPr sz="1000" spc="-5" dirty="0" smtClean="0">
                <a:latin typeface="Arial"/>
                <a:cs typeface="Arial"/>
              </a:rPr>
              <a:t>of</a:t>
            </a:r>
            <a:r>
              <a:rPr lang="en-US" sz="1000" spc="-5" dirty="0" smtClean="0">
                <a:latin typeface="Arial"/>
                <a:cs typeface="Arial"/>
              </a:rPr>
              <a:t> </a:t>
            </a:r>
            <a:r>
              <a:rPr sz="1000" spc="-5" dirty="0" smtClean="0">
                <a:solidFill>
                  <a:srgbClr val="FA0000"/>
                </a:solidFill>
                <a:latin typeface="Arial"/>
                <a:cs typeface="Arial"/>
              </a:rPr>
              <a:t>autonomous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computing </a:t>
            </a:r>
            <a:r>
              <a:rPr sz="1000" spc="-5" dirty="0" smtClean="0">
                <a:solidFill>
                  <a:srgbClr val="FA0000"/>
                </a:solidFill>
                <a:latin typeface="Arial"/>
                <a:cs typeface="Arial"/>
              </a:rPr>
              <a:t>elements</a:t>
            </a:r>
            <a:r>
              <a:rPr lang="en-US" sz="1000" spc="-5" dirty="0" smtClean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 smtClean="0">
                <a:latin typeface="Arial"/>
                <a:cs typeface="Arial"/>
              </a:rPr>
              <a:t>that  </a:t>
            </a:r>
            <a:r>
              <a:rPr sz="1000" spc="-5" dirty="0">
                <a:latin typeface="Arial"/>
                <a:cs typeface="Arial"/>
              </a:rPr>
              <a:t>appears to its users as a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single coherent system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Characteristic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 features</a:t>
            </a:r>
            <a:endParaRPr sz="1000" dirty="0">
              <a:latin typeface="Arial"/>
              <a:cs typeface="Arial"/>
            </a:endParaRPr>
          </a:p>
          <a:p>
            <a:pPr marL="293370" marR="273050">
              <a:lnSpc>
                <a:spcPct val="100000"/>
              </a:lnSpc>
              <a:spcBef>
                <a:spcPts val="625"/>
              </a:spcBef>
            </a:pPr>
            <a:r>
              <a:rPr sz="1000" spc="-10" dirty="0">
                <a:latin typeface="Arial"/>
                <a:cs typeface="Arial"/>
              </a:rPr>
              <a:t>Autonomous </a:t>
            </a:r>
            <a:r>
              <a:rPr sz="1000" spc="-5" dirty="0">
                <a:latin typeface="Arial"/>
                <a:cs typeface="Arial"/>
              </a:rPr>
              <a:t>computing elements, also </a:t>
            </a:r>
            <a:r>
              <a:rPr sz="1000" spc="-10" dirty="0">
                <a:latin typeface="Arial"/>
                <a:cs typeface="Arial"/>
              </a:rPr>
              <a:t>referred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spc="-5" dirty="0" smtClean="0">
                <a:latin typeface="Arial"/>
                <a:cs typeface="Arial"/>
              </a:rPr>
              <a:t>as</a:t>
            </a:r>
            <a:r>
              <a:rPr lang="en-US" sz="1000" spc="-5" dirty="0" smtClean="0">
                <a:latin typeface="Arial"/>
                <a:cs typeface="Arial"/>
              </a:rPr>
              <a:t> </a:t>
            </a:r>
            <a:r>
              <a:rPr sz="1000" spc="-5" dirty="0" smtClean="0">
                <a:solidFill>
                  <a:srgbClr val="FA0000"/>
                </a:solidFill>
                <a:latin typeface="Arial"/>
                <a:cs typeface="Arial"/>
              </a:rPr>
              <a:t>nodes</a:t>
            </a:r>
            <a:r>
              <a:rPr sz="1000" spc="-5" dirty="0">
                <a:latin typeface="Arial"/>
                <a:cs typeface="Arial"/>
              </a:rPr>
              <a:t>, be </a:t>
            </a:r>
            <a:r>
              <a:rPr sz="1000" spc="-10" dirty="0">
                <a:latin typeface="Arial"/>
                <a:cs typeface="Arial"/>
              </a:rPr>
              <a:t>they  </a:t>
            </a:r>
            <a:r>
              <a:rPr sz="1000" spc="-5" dirty="0">
                <a:latin typeface="Arial"/>
                <a:cs typeface="Arial"/>
              </a:rPr>
              <a:t>hardware </a:t>
            </a:r>
            <a:r>
              <a:rPr sz="1000" spc="-10" dirty="0">
                <a:latin typeface="Arial"/>
                <a:cs typeface="Arial"/>
              </a:rPr>
              <a:t>devices </a:t>
            </a:r>
            <a:r>
              <a:rPr sz="1000" spc="-5" dirty="0">
                <a:latin typeface="Arial"/>
                <a:cs typeface="Arial"/>
              </a:rPr>
              <a:t>or software processes.</a:t>
            </a:r>
            <a:endParaRPr sz="1000" dirty="0">
              <a:latin typeface="Arial"/>
              <a:cs typeface="Arial"/>
            </a:endParaRPr>
          </a:p>
          <a:p>
            <a:pPr marL="293370">
              <a:lnSpc>
                <a:spcPts val="1200"/>
              </a:lnSpc>
              <a:spcBef>
                <a:spcPts val="585"/>
              </a:spcBef>
            </a:pPr>
            <a:r>
              <a:rPr sz="1000" spc="-15" dirty="0">
                <a:latin typeface="Arial"/>
                <a:cs typeface="Arial"/>
              </a:rPr>
              <a:t>Single coherent system: users or applications perceive a single system</a:t>
            </a:r>
            <a:r>
              <a:rPr sz="1000" spc="200" dirty="0">
                <a:latin typeface="Arial"/>
                <a:cs typeface="Arial"/>
              </a:rPr>
              <a:t> </a:t>
            </a:r>
            <a:r>
              <a:rPr sz="1000" i="1" spc="240" dirty="0">
                <a:latin typeface="DejaVu Sans Condensed"/>
                <a:cs typeface="DejaVu Sans Condensed"/>
              </a:rPr>
              <a:t>⇒</a:t>
            </a:r>
            <a:endParaRPr sz="1000" dirty="0">
              <a:latin typeface="DejaVu Sans Condensed"/>
              <a:cs typeface="DejaVu Sans Condensed"/>
            </a:endParaRPr>
          </a:p>
          <a:p>
            <a:pPr marL="293370">
              <a:lnSpc>
                <a:spcPts val="1200"/>
              </a:lnSpc>
            </a:pPr>
            <a:r>
              <a:rPr sz="1000" spc="-5" dirty="0">
                <a:latin typeface="Arial"/>
                <a:cs typeface="Arial"/>
              </a:rPr>
              <a:t>nodes need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 smtClean="0">
                <a:latin typeface="Arial"/>
                <a:cs typeface="Arial"/>
              </a:rPr>
              <a:t>to</a:t>
            </a:r>
            <a:r>
              <a:rPr lang="en-US" sz="1000" spc="-5" dirty="0" smtClean="0">
                <a:latin typeface="Arial"/>
                <a:cs typeface="Arial"/>
              </a:rPr>
              <a:t> </a:t>
            </a:r>
            <a:r>
              <a:rPr sz="1000" spc="-5" dirty="0" smtClean="0">
                <a:solidFill>
                  <a:srgbClr val="0000FA"/>
                </a:solidFill>
                <a:latin typeface="Arial"/>
                <a:cs typeface="Arial"/>
              </a:rPr>
              <a:t>collaborate</a:t>
            </a:r>
            <a:r>
              <a:rPr sz="1000" spc="-5" dirty="0" smtClean="0">
                <a:latin typeface="Arial"/>
                <a:cs typeface="Arial"/>
              </a:rPr>
              <a:t>.</a:t>
            </a:r>
            <a:endParaRPr lang="en-US" sz="1000" spc="-5" dirty="0" smtClean="0">
              <a:latin typeface="Arial"/>
              <a:cs typeface="Arial"/>
            </a:endParaRPr>
          </a:p>
          <a:p>
            <a:pPr marL="293370">
              <a:lnSpc>
                <a:spcPts val="1200"/>
              </a:lnSpc>
            </a:pPr>
            <a:endParaRPr lang="en-US" sz="1000" spc="-5" dirty="0" smtClean="0">
              <a:latin typeface="Arial"/>
              <a:cs typeface="Arial"/>
            </a:endParaRPr>
          </a:p>
          <a:p>
            <a:pPr marL="293370">
              <a:lnSpc>
                <a:spcPts val="1200"/>
              </a:lnSpc>
            </a:pPr>
            <a:r>
              <a:rPr lang="en-US" sz="1000" spc="-5" dirty="0" smtClean="0">
                <a:latin typeface="Arial"/>
                <a:cs typeface="Arial"/>
              </a:rPr>
              <a:t>Middle ware and distributed system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31" name="object 31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300563" y="3331252"/>
            <a:ext cx="2413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3</a:t>
            </a:fld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29815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What is a</a:t>
            </a:r>
            <a:r>
              <a:rPr sz="600" spc="6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system?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Characteristic 1: Collection of autonomous computing</a:t>
            </a:r>
            <a:r>
              <a:rPr sz="600" spc="1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elements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5" dirty="0"/>
              <a:t>Collection </a:t>
            </a:r>
            <a:r>
              <a:rPr spc="10" dirty="0"/>
              <a:t>of </a:t>
            </a:r>
            <a:r>
              <a:rPr spc="15" dirty="0"/>
              <a:t>autonomous</a:t>
            </a:r>
            <a:r>
              <a:rPr spc="-15" dirty="0"/>
              <a:t> </a:t>
            </a:r>
            <a:r>
              <a:rPr spc="15" dirty="0"/>
              <a:t>nodes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1034452"/>
            <a:ext cx="4483735" cy="605790"/>
            <a:chOff x="87743" y="1034452"/>
            <a:chExt cx="4483735" cy="605790"/>
          </a:xfrm>
        </p:grpSpPr>
        <p:sp>
          <p:nvSpPr>
            <p:cNvPr id="5" name="object 5"/>
            <p:cNvSpPr/>
            <p:nvPr/>
          </p:nvSpPr>
          <p:spPr>
            <a:xfrm>
              <a:off x="87743" y="1034452"/>
              <a:ext cx="4432935" cy="181610"/>
            </a:xfrm>
            <a:custGeom>
              <a:avLst/>
              <a:gdLst/>
              <a:ahLst/>
              <a:cxnLst/>
              <a:rect l="l" t="t" r="r" b="b"/>
              <a:pathLst>
                <a:path w="4432935" h="181609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200"/>
                  </a:lnTo>
                  <a:lnTo>
                    <a:pt x="4432567" y="181200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1202995"/>
              <a:ext cx="4432566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538617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525917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1078687"/>
              <a:ext cx="50749" cy="45993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1247274"/>
              <a:ext cx="4432935" cy="342265"/>
            </a:xfrm>
            <a:custGeom>
              <a:avLst/>
              <a:gdLst/>
              <a:ahLst/>
              <a:cxnLst/>
              <a:rect l="l" t="t" r="r" b="b"/>
              <a:pathLst>
                <a:path w="4432935" h="342265">
                  <a:moveTo>
                    <a:pt x="4432567" y="0"/>
                  </a:moveTo>
                  <a:lnTo>
                    <a:pt x="0" y="0"/>
                  </a:lnTo>
                  <a:lnTo>
                    <a:pt x="0" y="291343"/>
                  </a:lnTo>
                  <a:lnTo>
                    <a:pt x="4008" y="311067"/>
                  </a:lnTo>
                  <a:lnTo>
                    <a:pt x="14922" y="327220"/>
                  </a:lnTo>
                  <a:lnTo>
                    <a:pt x="31075" y="338134"/>
                  </a:lnTo>
                  <a:lnTo>
                    <a:pt x="50800" y="342143"/>
                  </a:lnTo>
                  <a:lnTo>
                    <a:pt x="4381767" y="342143"/>
                  </a:lnTo>
                  <a:lnTo>
                    <a:pt x="4401492" y="338134"/>
                  </a:lnTo>
                  <a:lnTo>
                    <a:pt x="4417644" y="327220"/>
                  </a:lnTo>
                  <a:lnTo>
                    <a:pt x="4428558" y="311067"/>
                  </a:lnTo>
                  <a:lnTo>
                    <a:pt x="4432567" y="29134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1116779"/>
              <a:ext cx="0" cy="441325"/>
            </a:xfrm>
            <a:custGeom>
              <a:avLst/>
              <a:gdLst/>
              <a:ahLst/>
              <a:cxnLst/>
              <a:rect l="l" t="t" r="r" b="b"/>
              <a:pathLst>
                <a:path h="441325">
                  <a:moveTo>
                    <a:pt x="0" y="4408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11040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10913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10786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7744" y="1654175"/>
            <a:ext cx="4454120" cy="1326578"/>
            <a:chOff x="87743" y="1741347"/>
            <a:chExt cx="4483735" cy="863600"/>
          </a:xfrm>
        </p:grpSpPr>
        <p:sp>
          <p:nvSpPr>
            <p:cNvPr id="16" name="object 16"/>
            <p:cNvSpPr/>
            <p:nvPr/>
          </p:nvSpPr>
          <p:spPr>
            <a:xfrm>
              <a:off x="87743" y="1741347"/>
              <a:ext cx="4432935" cy="175895"/>
            </a:xfrm>
            <a:custGeom>
              <a:avLst/>
              <a:gdLst/>
              <a:ahLst/>
              <a:cxnLst/>
              <a:rect l="l" t="t" r="r" b="b"/>
              <a:pathLst>
                <a:path w="4432935" h="175894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635"/>
                  </a:lnTo>
                  <a:lnTo>
                    <a:pt x="4432567" y="17563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744" y="1904327"/>
              <a:ext cx="4432566" cy="506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544" y="2502865"/>
              <a:ext cx="101600" cy="101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344" y="2490165"/>
              <a:ext cx="4381715" cy="1143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1" y="1785582"/>
              <a:ext cx="50749" cy="71728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43" y="1948599"/>
              <a:ext cx="4432935" cy="605155"/>
            </a:xfrm>
            <a:custGeom>
              <a:avLst/>
              <a:gdLst/>
              <a:ahLst/>
              <a:cxnLst/>
              <a:rect l="l" t="t" r="r" b="b"/>
              <a:pathLst>
                <a:path w="4432935" h="605155">
                  <a:moveTo>
                    <a:pt x="4432567" y="0"/>
                  </a:moveTo>
                  <a:lnTo>
                    <a:pt x="0" y="0"/>
                  </a:lnTo>
                  <a:lnTo>
                    <a:pt x="0" y="554266"/>
                  </a:lnTo>
                  <a:lnTo>
                    <a:pt x="4008" y="573990"/>
                  </a:lnTo>
                  <a:lnTo>
                    <a:pt x="14922" y="590143"/>
                  </a:lnTo>
                  <a:lnTo>
                    <a:pt x="31075" y="601057"/>
                  </a:lnTo>
                  <a:lnTo>
                    <a:pt x="50800" y="605066"/>
                  </a:lnTo>
                  <a:lnTo>
                    <a:pt x="4381767" y="605066"/>
                  </a:lnTo>
                  <a:lnTo>
                    <a:pt x="4401492" y="601057"/>
                  </a:lnTo>
                  <a:lnTo>
                    <a:pt x="4417644" y="590143"/>
                  </a:lnTo>
                  <a:lnTo>
                    <a:pt x="4428558" y="573990"/>
                  </a:lnTo>
                  <a:lnTo>
                    <a:pt x="4432567" y="55426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1" y="1823669"/>
              <a:ext cx="0" cy="698500"/>
            </a:xfrm>
            <a:custGeom>
              <a:avLst/>
              <a:gdLst/>
              <a:ahLst/>
              <a:cxnLst/>
              <a:rect l="l" t="t" r="r" b="b"/>
              <a:pathLst>
                <a:path h="698500">
                  <a:moveTo>
                    <a:pt x="0" y="69824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81096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79826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78556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9557" y="2023948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9557" y="2251697"/>
              <a:ext cx="76809" cy="7680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5844" y="975531"/>
            <a:ext cx="4380230" cy="178253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Independent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behavior</a:t>
            </a:r>
            <a:endParaRPr sz="10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85"/>
              </a:spcBef>
            </a:pPr>
            <a:r>
              <a:rPr sz="1000" spc="-15" dirty="0">
                <a:latin typeface="Arial"/>
                <a:cs typeface="Arial"/>
              </a:rPr>
              <a:t>Each node </a:t>
            </a:r>
            <a:r>
              <a:rPr sz="1000" spc="-10" dirty="0">
                <a:latin typeface="Arial"/>
                <a:cs typeface="Arial"/>
              </a:rPr>
              <a:t>is </a:t>
            </a:r>
            <a:r>
              <a:rPr sz="1000" spc="-15" dirty="0">
                <a:latin typeface="Arial"/>
                <a:cs typeface="Arial"/>
              </a:rPr>
              <a:t>autonomous and </a:t>
            </a:r>
            <a:r>
              <a:rPr sz="1000" spc="-10" dirty="0">
                <a:latin typeface="Arial"/>
                <a:cs typeface="Arial"/>
              </a:rPr>
              <a:t>will thus </a:t>
            </a:r>
            <a:r>
              <a:rPr sz="1000" spc="-25" dirty="0">
                <a:latin typeface="Arial"/>
                <a:cs typeface="Arial"/>
              </a:rPr>
              <a:t>have </a:t>
            </a:r>
            <a:r>
              <a:rPr sz="1000" spc="-15" dirty="0" smtClean="0">
                <a:latin typeface="Arial"/>
                <a:cs typeface="Arial"/>
              </a:rPr>
              <a:t>its</a:t>
            </a:r>
            <a:r>
              <a:rPr lang="en-US" sz="1000" spc="-15" dirty="0" smtClean="0">
                <a:latin typeface="Arial"/>
                <a:cs typeface="Arial"/>
              </a:rPr>
              <a:t> </a:t>
            </a:r>
            <a:r>
              <a:rPr sz="1000" spc="-15" dirty="0" smtClean="0">
                <a:solidFill>
                  <a:srgbClr val="0000FA"/>
                </a:solidFill>
                <a:latin typeface="Arial"/>
                <a:cs typeface="Arial"/>
              </a:rPr>
              <a:t>own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notion of time</a:t>
            </a:r>
            <a:r>
              <a:rPr sz="1000" spc="-10" dirty="0">
                <a:latin typeface="Arial"/>
                <a:cs typeface="Arial"/>
              </a:rPr>
              <a:t>: there is </a:t>
            </a:r>
            <a:r>
              <a:rPr sz="1000" spc="-15" dirty="0">
                <a:latin typeface="Arial"/>
                <a:cs typeface="Arial"/>
              </a:rPr>
              <a:t>no  </a:t>
            </a:r>
            <a:r>
              <a:rPr sz="1000" spc="-10" dirty="0">
                <a:solidFill>
                  <a:srgbClr val="FA0000"/>
                </a:solidFill>
                <a:latin typeface="Arial"/>
                <a:cs typeface="Arial"/>
              </a:rPr>
              <a:t>global </a:t>
            </a:r>
            <a:r>
              <a:rPr sz="1000" spc="-15" dirty="0">
                <a:solidFill>
                  <a:srgbClr val="FA0000"/>
                </a:solidFill>
                <a:latin typeface="Arial"/>
                <a:cs typeface="Arial"/>
              </a:rPr>
              <a:t>clock</a:t>
            </a:r>
            <a:r>
              <a:rPr sz="1000" spc="-15" dirty="0">
                <a:latin typeface="Arial"/>
                <a:cs typeface="Arial"/>
              </a:rPr>
              <a:t>. Leads </a:t>
            </a:r>
            <a:r>
              <a:rPr sz="1000" spc="-10" dirty="0">
                <a:latin typeface="Arial"/>
                <a:cs typeface="Arial"/>
              </a:rPr>
              <a:t>to </a:t>
            </a:r>
            <a:r>
              <a:rPr sz="1000" spc="-15" dirty="0">
                <a:latin typeface="Arial"/>
                <a:cs typeface="Arial"/>
              </a:rPr>
              <a:t>fundamental </a:t>
            </a:r>
            <a:r>
              <a:rPr sz="1000" spc="-10" dirty="0">
                <a:latin typeface="Arial"/>
                <a:cs typeface="Arial"/>
              </a:rPr>
              <a:t>synchronization </a:t>
            </a:r>
            <a:r>
              <a:rPr sz="1000" spc="-15" dirty="0">
                <a:latin typeface="Arial"/>
                <a:cs typeface="Arial"/>
              </a:rPr>
              <a:t>and </a:t>
            </a:r>
            <a:r>
              <a:rPr sz="1000" spc="-10" dirty="0">
                <a:latin typeface="Arial"/>
                <a:cs typeface="Arial"/>
              </a:rPr>
              <a:t>coordination</a:t>
            </a:r>
            <a:r>
              <a:rPr sz="1000" spc="12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problems.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Collection of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nodes</a:t>
            </a:r>
            <a:endParaRPr sz="10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615"/>
              </a:spcBef>
            </a:pPr>
            <a:r>
              <a:rPr sz="1000" spc="-10" dirty="0">
                <a:latin typeface="Arial"/>
                <a:cs typeface="Arial"/>
              </a:rPr>
              <a:t>How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spc="-5" dirty="0" smtClean="0">
                <a:latin typeface="Arial"/>
                <a:cs typeface="Arial"/>
              </a:rPr>
              <a:t>manage</a:t>
            </a:r>
            <a:r>
              <a:rPr lang="en-US" sz="1000" spc="-5" dirty="0" smtClean="0">
                <a:latin typeface="Arial"/>
                <a:cs typeface="Arial"/>
              </a:rPr>
              <a:t> </a:t>
            </a:r>
            <a:r>
              <a:rPr sz="1000" spc="-5" dirty="0" smtClean="0">
                <a:solidFill>
                  <a:srgbClr val="FA0000"/>
                </a:solidFill>
                <a:latin typeface="Arial"/>
                <a:cs typeface="Arial"/>
              </a:rPr>
              <a:t>group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membership</a:t>
            </a:r>
            <a:r>
              <a:rPr sz="1000" spc="-5" dirty="0" smtClean="0">
                <a:latin typeface="Arial"/>
                <a:cs typeface="Arial"/>
              </a:rPr>
              <a:t>?</a:t>
            </a:r>
            <a:endParaRPr lang="en-US" sz="1000" spc="-5" dirty="0" smtClean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615"/>
              </a:spcBef>
            </a:pPr>
            <a:r>
              <a:rPr lang="en-US" sz="1000" spc="-5" dirty="0">
                <a:latin typeface="Arial"/>
                <a:cs typeface="Arial"/>
              </a:rPr>
              <a:t>	</a:t>
            </a:r>
            <a:r>
              <a:rPr lang="en-US" sz="1000" spc="-5" dirty="0" smtClean="0">
                <a:latin typeface="Arial"/>
                <a:cs typeface="Arial"/>
              </a:rPr>
              <a:t>open and closed group</a:t>
            </a:r>
            <a:endParaRPr sz="1000" dirty="0">
              <a:latin typeface="Arial"/>
              <a:cs typeface="Arial"/>
            </a:endParaRPr>
          </a:p>
          <a:p>
            <a:pPr marL="285115" marR="334645" indent="3810">
              <a:lnSpc>
                <a:spcPct val="100000"/>
              </a:lnSpc>
              <a:spcBef>
                <a:spcPts val="595"/>
              </a:spcBef>
            </a:pPr>
            <a:r>
              <a:rPr sz="1000" spc="-10" dirty="0">
                <a:latin typeface="Arial"/>
                <a:cs typeface="Arial"/>
              </a:rPr>
              <a:t>How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spc="-10" dirty="0">
                <a:latin typeface="Arial"/>
                <a:cs typeface="Arial"/>
              </a:rPr>
              <a:t>know </a:t>
            </a:r>
            <a:r>
              <a:rPr sz="1000" spc="-5" dirty="0">
                <a:latin typeface="Arial"/>
                <a:cs typeface="Arial"/>
              </a:rPr>
              <a:t>that </a:t>
            </a:r>
            <a:r>
              <a:rPr sz="1000" spc="-10" dirty="0">
                <a:latin typeface="Arial"/>
                <a:cs typeface="Arial"/>
              </a:rPr>
              <a:t>you </a:t>
            </a:r>
            <a:r>
              <a:rPr sz="1000" spc="-5" dirty="0">
                <a:latin typeface="Arial"/>
                <a:cs typeface="Arial"/>
              </a:rPr>
              <a:t>are indeed communicating with </a:t>
            </a:r>
            <a:r>
              <a:rPr sz="1000" spc="-5" dirty="0" smtClean="0">
                <a:latin typeface="Arial"/>
                <a:cs typeface="Arial"/>
              </a:rPr>
              <a:t>an</a:t>
            </a:r>
            <a:r>
              <a:rPr lang="en-US" sz="1000" spc="-5" dirty="0" smtClean="0">
                <a:latin typeface="Arial"/>
                <a:cs typeface="Arial"/>
              </a:rPr>
              <a:t> </a:t>
            </a:r>
            <a:r>
              <a:rPr sz="1000" spc="-5" dirty="0" smtClean="0">
                <a:solidFill>
                  <a:srgbClr val="0000FA"/>
                </a:solidFill>
                <a:latin typeface="Arial"/>
                <a:cs typeface="Arial"/>
              </a:rPr>
              <a:t>authorized 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(non)member</a:t>
            </a:r>
            <a:r>
              <a:rPr sz="1000" spc="-5" dirty="0">
                <a:latin typeface="Arial"/>
                <a:cs typeface="Arial"/>
              </a:rPr>
              <a:t>?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30" name="object 30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00563" y="3331252"/>
            <a:ext cx="2413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4</a:t>
            </a:fld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29815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What is a</a:t>
            </a:r>
            <a:r>
              <a:rPr sz="600" spc="6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system?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Characteristic 1: Collection of autonomous computing</a:t>
            </a:r>
            <a:r>
              <a:rPr sz="600" spc="10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elements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5" dirty="0"/>
              <a:t>Organization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863332"/>
            <a:ext cx="4483735" cy="758190"/>
            <a:chOff x="87743" y="863332"/>
            <a:chExt cx="4483735" cy="758190"/>
          </a:xfrm>
        </p:grpSpPr>
        <p:sp>
          <p:nvSpPr>
            <p:cNvPr id="5" name="object 5"/>
            <p:cNvSpPr/>
            <p:nvPr/>
          </p:nvSpPr>
          <p:spPr>
            <a:xfrm>
              <a:off x="87743" y="863332"/>
              <a:ext cx="4432935" cy="184150"/>
            </a:xfrm>
            <a:custGeom>
              <a:avLst/>
              <a:gdLst/>
              <a:ahLst/>
              <a:cxnLst/>
              <a:rect l="l" t="t" r="r" b="b"/>
              <a:pathLst>
                <a:path w="4432935" h="1841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731"/>
                  </a:lnTo>
                  <a:lnTo>
                    <a:pt x="4432567" y="183731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1034414"/>
              <a:ext cx="4432566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519783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507083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907580"/>
              <a:ext cx="50749" cy="61220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1078697"/>
              <a:ext cx="4432935" cy="492125"/>
            </a:xfrm>
            <a:custGeom>
              <a:avLst/>
              <a:gdLst/>
              <a:ahLst/>
              <a:cxnLst/>
              <a:rect l="l" t="t" r="r" b="b"/>
              <a:pathLst>
                <a:path w="4432935" h="492125">
                  <a:moveTo>
                    <a:pt x="4432567" y="0"/>
                  </a:moveTo>
                  <a:lnTo>
                    <a:pt x="0" y="0"/>
                  </a:lnTo>
                  <a:lnTo>
                    <a:pt x="0" y="441086"/>
                  </a:lnTo>
                  <a:lnTo>
                    <a:pt x="4008" y="460810"/>
                  </a:lnTo>
                  <a:lnTo>
                    <a:pt x="14922" y="476963"/>
                  </a:lnTo>
                  <a:lnTo>
                    <a:pt x="31075" y="487878"/>
                  </a:lnTo>
                  <a:lnTo>
                    <a:pt x="50800" y="491886"/>
                  </a:lnTo>
                  <a:lnTo>
                    <a:pt x="4381767" y="491886"/>
                  </a:lnTo>
                  <a:lnTo>
                    <a:pt x="4401492" y="487878"/>
                  </a:lnTo>
                  <a:lnTo>
                    <a:pt x="4417644" y="476963"/>
                  </a:lnTo>
                  <a:lnTo>
                    <a:pt x="4428558" y="460810"/>
                  </a:lnTo>
                  <a:lnTo>
                    <a:pt x="4432567" y="44108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945671"/>
              <a:ext cx="0" cy="593725"/>
            </a:xfrm>
            <a:custGeom>
              <a:avLst/>
              <a:gdLst/>
              <a:ahLst/>
              <a:cxnLst/>
              <a:rect l="l" t="t" r="r" b="b"/>
              <a:pathLst>
                <a:path h="593725">
                  <a:moveTo>
                    <a:pt x="0" y="59316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9329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9202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9075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7743" y="1722513"/>
            <a:ext cx="4483735" cy="1139190"/>
            <a:chOff x="87743" y="1722513"/>
            <a:chExt cx="4483735" cy="1139190"/>
          </a:xfrm>
        </p:grpSpPr>
        <p:sp>
          <p:nvSpPr>
            <p:cNvPr id="16" name="object 16"/>
            <p:cNvSpPr/>
            <p:nvPr/>
          </p:nvSpPr>
          <p:spPr>
            <a:xfrm>
              <a:off x="87743" y="1722513"/>
              <a:ext cx="4432935" cy="184150"/>
            </a:xfrm>
            <a:custGeom>
              <a:avLst/>
              <a:gdLst/>
              <a:ahLst/>
              <a:cxnLst/>
              <a:rect l="l" t="t" r="r" b="b"/>
              <a:pathLst>
                <a:path w="4432935" h="1841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731"/>
                  </a:lnTo>
                  <a:lnTo>
                    <a:pt x="4432567" y="183731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744" y="1893582"/>
              <a:ext cx="4432566" cy="506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544" y="2759545"/>
              <a:ext cx="101600" cy="101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344" y="2746844"/>
              <a:ext cx="4381715" cy="1143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1" y="1766747"/>
              <a:ext cx="50749" cy="99279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43" y="1937863"/>
              <a:ext cx="4432935" cy="872490"/>
            </a:xfrm>
            <a:custGeom>
              <a:avLst/>
              <a:gdLst/>
              <a:ahLst/>
              <a:cxnLst/>
              <a:rect l="l" t="t" r="r" b="b"/>
              <a:pathLst>
                <a:path w="4432935" h="872489">
                  <a:moveTo>
                    <a:pt x="4432567" y="0"/>
                  </a:moveTo>
                  <a:lnTo>
                    <a:pt x="0" y="0"/>
                  </a:lnTo>
                  <a:lnTo>
                    <a:pt x="0" y="821681"/>
                  </a:lnTo>
                  <a:lnTo>
                    <a:pt x="4008" y="841405"/>
                  </a:lnTo>
                  <a:lnTo>
                    <a:pt x="14922" y="857558"/>
                  </a:lnTo>
                  <a:lnTo>
                    <a:pt x="31075" y="868472"/>
                  </a:lnTo>
                  <a:lnTo>
                    <a:pt x="50800" y="872481"/>
                  </a:lnTo>
                  <a:lnTo>
                    <a:pt x="4381767" y="872481"/>
                  </a:lnTo>
                  <a:lnTo>
                    <a:pt x="4401492" y="868472"/>
                  </a:lnTo>
                  <a:lnTo>
                    <a:pt x="4417644" y="857558"/>
                  </a:lnTo>
                  <a:lnTo>
                    <a:pt x="4428558" y="841405"/>
                  </a:lnTo>
                  <a:lnTo>
                    <a:pt x="4432567" y="82168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1" y="1804837"/>
              <a:ext cx="0" cy="974090"/>
            </a:xfrm>
            <a:custGeom>
              <a:avLst/>
              <a:gdLst/>
              <a:ahLst/>
              <a:cxnLst/>
              <a:rect l="l" t="t" r="r" b="b"/>
              <a:pathLst>
                <a:path h="974089">
                  <a:moveTo>
                    <a:pt x="0" y="9737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7921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7794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7667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480"/>
              </a:spcBef>
            </a:pPr>
            <a:r>
              <a:rPr spc="-10" dirty="0">
                <a:solidFill>
                  <a:srgbClr val="04064C"/>
                </a:solidFill>
              </a:rPr>
              <a:t>Overlay </a:t>
            </a:r>
            <a:r>
              <a:rPr spc="-5" dirty="0">
                <a:solidFill>
                  <a:srgbClr val="04064C"/>
                </a:solidFill>
              </a:rPr>
              <a:t>network</a:t>
            </a:r>
          </a:p>
          <a:p>
            <a:pPr marL="27305" marR="5080">
              <a:lnSpc>
                <a:spcPct val="100000"/>
              </a:lnSpc>
              <a:spcBef>
                <a:spcPts val="380"/>
              </a:spcBef>
            </a:pPr>
            <a:r>
              <a:rPr spc="-15" dirty="0"/>
              <a:t>Each node </a:t>
            </a:r>
            <a:r>
              <a:rPr spc="-10" dirty="0"/>
              <a:t>in the collection </a:t>
            </a:r>
            <a:r>
              <a:rPr spc="-15" dirty="0"/>
              <a:t>communicates </a:t>
            </a:r>
            <a:r>
              <a:rPr spc="-10" dirty="0"/>
              <a:t>only with other </a:t>
            </a:r>
            <a:r>
              <a:rPr spc="-15" dirty="0"/>
              <a:t>nodes </a:t>
            </a:r>
            <a:r>
              <a:rPr spc="-10" dirty="0"/>
              <a:t>in the system,  </a:t>
            </a:r>
            <a:r>
              <a:rPr spc="-5" dirty="0"/>
              <a:t>its</a:t>
            </a:r>
            <a:r>
              <a:rPr spc="-5" dirty="0">
                <a:solidFill>
                  <a:srgbClr val="FA0000"/>
                </a:solidFill>
              </a:rPr>
              <a:t>neighbors</a:t>
            </a:r>
            <a:r>
              <a:rPr spc="-5" dirty="0"/>
              <a:t>. The set of neighbors </a:t>
            </a:r>
            <a:r>
              <a:rPr spc="-15" dirty="0"/>
              <a:t>may </a:t>
            </a:r>
            <a:r>
              <a:rPr spc="-5" dirty="0"/>
              <a:t>be dynamic, or </a:t>
            </a:r>
            <a:r>
              <a:rPr spc="-15" dirty="0"/>
              <a:t>may </a:t>
            </a:r>
            <a:r>
              <a:rPr spc="-20" dirty="0"/>
              <a:t>even </a:t>
            </a:r>
            <a:r>
              <a:rPr spc="-5" dirty="0"/>
              <a:t>be </a:t>
            </a:r>
            <a:r>
              <a:rPr spc="-10" dirty="0"/>
              <a:t>known  </a:t>
            </a:r>
            <a:r>
              <a:rPr spc="-5" dirty="0"/>
              <a:t>only implicitly (i.e., requires a lookup).</a:t>
            </a:r>
          </a:p>
          <a:p>
            <a:pPr marL="8890">
              <a:lnSpc>
                <a:spcPct val="100000"/>
              </a:lnSpc>
              <a:spcBef>
                <a:spcPts val="30"/>
              </a:spcBef>
            </a:pPr>
            <a:endParaRPr sz="1350" dirty="0"/>
          </a:p>
          <a:p>
            <a:pPr marL="27305">
              <a:lnSpc>
                <a:spcPct val="100000"/>
              </a:lnSpc>
              <a:spcBef>
                <a:spcPts val="5"/>
              </a:spcBef>
            </a:pPr>
            <a:r>
              <a:rPr spc="-10" dirty="0">
                <a:solidFill>
                  <a:srgbClr val="04064C"/>
                </a:solidFill>
              </a:rPr>
              <a:t>Overlay </a:t>
            </a:r>
            <a:r>
              <a:rPr spc="-5" dirty="0">
                <a:solidFill>
                  <a:srgbClr val="04064C"/>
                </a:solidFill>
              </a:rPr>
              <a:t>types</a:t>
            </a:r>
          </a:p>
          <a:p>
            <a:pPr marL="21590">
              <a:lnSpc>
                <a:spcPct val="100000"/>
              </a:lnSpc>
              <a:spcBef>
                <a:spcPts val="385"/>
              </a:spcBef>
            </a:pPr>
            <a:r>
              <a:rPr spc="-10" dirty="0"/>
              <a:t>Well-known example </a:t>
            </a:r>
            <a:r>
              <a:rPr spc="-5" dirty="0"/>
              <a:t>of </a:t>
            </a:r>
            <a:r>
              <a:rPr spc="-15" dirty="0"/>
              <a:t>overlay </a:t>
            </a:r>
            <a:r>
              <a:rPr spc="-5" dirty="0"/>
              <a:t>networks:</a:t>
            </a:r>
            <a:r>
              <a:rPr spc="-5" dirty="0">
                <a:solidFill>
                  <a:srgbClr val="FA0000"/>
                </a:solidFill>
              </a:rPr>
              <a:t>peer-to-peer</a:t>
            </a:r>
            <a:r>
              <a:rPr spc="30" dirty="0">
                <a:solidFill>
                  <a:srgbClr val="FA0000"/>
                </a:solidFill>
              </a:rPr>
              <a:t> </a:t>
            </a:r>
            <a:r>
              <a:rPr spc="-5" dirty="0">
                <a:solidFill>
                  <a:srgbClr val="FA0000"/>
                </a:solidFill>
              </a:rPr>
              <a:t>systems</a:t>
            </a:r>
            <a:r>
              <a:rPr spc="-5" dirty="0"/>
              <a:t>.</a:t>
            </a:r>
          </a:p>
          <a:p>
            <a:pPr marL="286385" marR="252095" indent="-259079">
              <a:lnSpc>
                <a:spcPct val="100000"/>
              </a:lnSpc>
              <a:spcBef>
                <a:spcPts val="595"/>
              </a:spcBef>
            </a:pPr>
            <a:r>
              <a:rPr spc="-5" dirty="0">
                <a:solidFill>
                  <a:srgbClr val="0000FA"/>
                </a:solidFill>
              </a:rPr>
              <a:t>Structured</a:t>
            </a:r>
            <a:r>
              <a:rPr spc="-5" dirty="0">
                <a:solidFill>
                  <a:srgbClr val="04064C"/>
                </a:solidFill>
              </a:rPr>
              <a:t>:</a:t>
            </a:r>
            <a:r>
              <a:rPr spc="-5" dirty="0"/>
              <a:t>each node has a</a:t>
            </a:r>
            <a:r>
              <a:rPr spc="-5" dirty="0">
                <a:solidFill>
                  <a:srgbClr val="0000FA"/>
                </a:solidFill>
              </a:rPr>
              <a:t>well-defined set of neighbors</a:t>
            </a:r>
            <a:r>
              <a:rPr spc="-5" dirty="0"/>
              <a:t>with whom it can  communicate (tree,</a:t>
            </a:r>
            <a:r>
              <a:rPr spc="-10" dirty="0"/>
              <a:t> </a:t>
            </a:r>
            <a:r>
              <a:rPr dirty="0"/>
              <a:t>ring).</a:t>
            </a:r>
          </a:p>
          <a:p>
            <a:pPr marL="286385" marR="262890" indent="-259079">
              <a:lnSpc>
                <a:spcPts val="1200"/>
              </a:lnSpc>
              <a:spcBef>
                <a:spcPts val="30"/>
              </a:spcBef>
            </a:pPr>
            <a:r>
              <a:rPr spc="-5" dirty="0">
                <a:solidFill>
                  <a:srgbClr val="0000FA"/>
                </a:solidFill>
              </a:rPr>
              <a:t>Unstructured</a:t>
            </a:r>
            <a:r>
              <a:rPr spc="-5" dirty="0">
                <a:solidFill>
                  <a:srgbClr val="04064C"/>
                </a:solidFill>
              </a:rPr>
              <a:t>:</a:t>
            </a:r>
            <a:r>
              <a:rPr spc="-5" dirty="0"/>
              <a:t>each node has references to</a:t>
            </a:r>
            <a:r>
              <a:rPr spc="-5" dirty="0">
                <a:solidFill>
                  <a:srgbClr val="0000FA"/>
                </a:solidFill>
              </a:rPr>
              <a:t>randomly selected other nodes  </a:t>
            </a:r>
            <a:r>
              <a:rPr spc="-5" dirty="0"/>
              <a:t>from the</a:t>
            </a:r>
            <a:r>
              <a:rPr spc="-10" dirty="0"/>
              <a:t> </a:t>
            </a:r>
            <a:r>
              <a:rPr spc="-5" dirty="0" smtClean="0"/>
              <a:t>system</a:t>
            </a:r>
            <a:r>
              <a:rPr lang="en-US" spc="-5" dirty="0" smtClean="0"/>
              <a:t> (mesh)</a:t>
            </a:r>
            <a:r>
              <a:rPr spc="-5" dirty="0" smtClean="0"/>
              <a:t>.</a:t>
            </a:r>
            <a:endParaRPr spc="-5" dirty="0"/>
          </a:p>
        </p:txBody>
      </p:sp>
      <p:grpSp>
        <p:nvGrpSpPr>
          <p:cNvPr id="27" name="object 27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28" name="object 28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00563" y="3331252"/>
            <a:ext cx="2413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</a:t>
            </a:fld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8544" y="524503"/>
            <a:ext cx="3427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Commonly practiced organization: overlay networks</a:t>
            </a:r>
            <a:endParaRPr lang="en-US" sz="1200" dirty="0"/>
          </a:p>
        </p:txBody>
      </p:sp>
      <p:sp>
        <p:nvSpPr>
          <p:cNvPr id="3072" name="TextBox 3071"/>
          <p:cNvSpPr txBox="1"/>
          <p:nvPr/>
        </p:nvSpPr>
        <p:spPr>
          <a:xfrm>
            <a:off x="1325841" y="2865302"/>
            <a:ext cx="2046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Com link must never be down</a:t>
            </a:r>
          </a:p>
          <a:p>
            <a:pPr algn="ctr"/>
            <a:r>
              <a:rPr lang="en-US" sz="1200" dirty="0" smtClean="0"/>
              <a:t>Overlay network- P2P Com</a:t>
            </a:r>
            <a:endParaRPr lang="en-US" sz="12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9753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What is a</a:t>
            </a:r>
            <a:r>
              <a:rPr sz="600" spc="6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system?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Characteristic 2: Single coherent</a:t>
            </a:r>
            <a:r>
              <a:rPr sz="600" spc="5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5" dirty="0"/>
              <a:t>Coherent</a:t>
            </a:r>
            <a:r>
              <a:rPr dirty="0"/>
              <a:t> </a:t>
            </a:r>
            <a:r>
              <a:rPr spc="15" dirty="0"/>
              <a:t>system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630707"/>
            <a:ext cx="4483735" cy="597535"/>
            <a:chOff x="87743" y="630707"/>
            <a:chExt cx="4483735" cy="597535"/>
          </a:xfrm>
        </p:grpSpPr>
        <p:sp>
          <p:nvSpPr>
            <p:cNvPr id="5" name="object 5"/>
            <p:cNvSpPr/>
            <p:nvPr/>
          </p:nvSpPr>
          <p:spPr>
            <a:xfrm>
              <a:off x="87743" y="630707"/>
              <a:ext cx="4432935" cy="173990"/>
            </a:xfrm>
            <a:custGeom>
              <a:avLst/>
              <a:gdLst/>
              <a:ahLst/>
              <a:cxnLst/>
              <a:rect l="l" t="t" r="r" b="b"/>
              <a:pathLst>
                <a:path w="4432935" h="17399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3799"/>
                  </a:lnTo>
                  <a:lnTo>
                    <a:pt x="4432567" y="173799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791857"/>
              <a:ext cx="4432566" cy="5060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126401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113701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674941"/>
              <a:ext cx="50749" cy="45145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836135"/>
              <a:ext cx="4432935" cy="341630"/>
            </a:xfrm>
            <a:custGeom>
              <a:avLst/>
              <a:gdLst/>
              <a:ahLst/>
              <a:cxnLst/>
              <a:rect l="l" t="t" r="r" b="b"/>
              <a:pathLst>
                <a:path w="4432935" h="341630">
                  <a:moveTo>
                    <a:pt x="4432567" y="0"/>
                  </a:moveTo>
                  <a:lnTo>
                    <a:pt x="0" y="0"/>
                  </a:lnTo>
                  <a:lnTo>
                    <a:pt x="0" y="290266"/>
                  </a:lnTo>
                  <a:lnTo>
                    <a:pt x="4008" y="309990"/>
                  </a:lnTo>
                  <a:lnTo>
                    <a:pt x="14922" y="326143"/>
                  </a:lnTo>
                  <a:lnTo>
                    <a:pt x="31075" y="337058"/>
                  </a:lnTo>
                  <a:lnTo>
                    <a:pt x="50800" y="341066"/>
                  </a:lnTo>
                  <a:lnTo>
                    <a:pt x="4381767" y="341066"/>
                  </a:lnTo>
                  <a:lnTo>
                    <a:pt x="4401492" y="337058"/>
                  </a:lnTo>
                  <a:lnTo>
                    <a:pt x="4417644" y="326143"/>
                  </a:lnTo>
                  <a:lnTo>
                    <a:pt x="4428558" y="309990"/>
                  </a:lnTo>
                  <a:lnTo>
                    <a:pt x="4432567" y="29026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713040"/>
              <a:ext cx="0" cy="432434"/>
            </a:xfrm>
            <a:custGeom>
              <a:avLst/>
              <a:gdLst/>
              <a:ahLst/>
              <a:cxnLst/>
              <a:rect l="l" t="t" r="r" b="b"/>
              <a:pathLst>
                <a:path h="432434">
                  <a:moveTo>
                    <a:pt x="0" y="4324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7003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6876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6749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7743" y="1329130"/>
            <a:ext cx="4483735" cy="1021715"/>
            <a:chOff x="87743" y="1329130"/>
            <a:chExt cx="4483735" cy="1021715"/>
          </a:xfrm>
        </p:grpSpPr>
        <p:sp>
          <p:nvSpPr>
            <p:cNvPr id="16" name="object 16"/>
            <p:cNvSpPr/>
            <p:nvPr/>
          </p:nvSpPr>
          <p:spPr>
            <a:xfrm>
              <a:off x="87743" y="1329130"/>
              <a:ext cx="4432935" cy="181610"/>
            </a:xfrm>
            <a:custGeom>
              <a:avLst/>
              <a:gdLst/>
              <a:ahLst/>
              <a:cxnLst/>
              <a:rect l="l" t="t" r="r" b="b"/>
              <a:pathLst>
                <a:path w="4432935" h="181609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200"/>
                  </a:lnTo>
                  <a:lnTo>
                    <a:pt x="4432567" y="181200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F9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744" y="1497673"/>
              <a:ext cx="4432566" cy="506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544" y="2248738"/>
              <a:ext cx="101600" cy="1016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344" y="2236038"/>
              <a:ext cx="4381715" cy="1143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1" y="1373365"/>
              <a:ext cx="50749" cy="8753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43" y="1541943"/>
              <a:ext cx="4432935" cy="758190"/>
            </a:xfrm>
            <a:custGeom>
              <a:avLst/>
              <a:gdLst/>
              <a:ahLst/>
              <a:cxnLst/>
              <a:rect l="l" t="t" r="r" b="b"/>
              <a:pathLst>
                <a:path w="4432935" h="758189">
                  <a:moveTo>
                    <a:pt x="4432567" y="0"/>
                  </a:moveTo>
                  <a:lnTo>
                    <a:pt x="0" y="0"/>
                  </a:lnTo>
                  <a:lnTo>
                    <a:pt x="0" y="706794"/>
                  </a:lnTo>
                  <a:lnTo>
                    <a:pt x="4008" y="726519"/>
                  </a:lnTo>
                  <a:lnTo>
                    <a:pt x="14922" y="742672"/>
                  </a:lnTo>
                  <a:lnTo>
                    <a:pt x="31075" y="753586"/>
                  </a:lnTo>
                  <a:lnTo>
                    <a:pt x="50800" y="757594"/>
                  </a:lnTo>
                  <a:lnTo>
                    <a:pt x="4381767" y="757594"/>
                  </a:lnTo>
                  <a:lnTo>
                    <a:pt x="4401492" y="753586"/>
                  </a:lnTo>
                  <a:lnTo>
                    <a:pt x="4417644" y="742672"/>
                  </a:lnTo>
                  <a:lnTo>
                    <a:pt x="4428558" y="726519"/>
                  </a:lnTo>
                  <a:lnTo>
                    <a:pt x="4432567" y="706794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CFE6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1" y="1411448"/>
              <a:ext cx="0" cy="856615"/>
            </a:xfrm>
            <a:custGeom>
              <a:avLst/>
              <a:gdLst/>
              <a:ahLst/>
              <a:cxnLst/>
              <a:rect l="l" t="t" r="r" b="b"/>
              <a:pathLst>
                <a:path h="856614">
                  <a:moveTo>
                    <a:pt x="0" y="8563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39874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38604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37334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9557" y="1579333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9557" y="1731162"/>
              <a:ext cx="76809" cy="7680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9557" y="1882990"/>
              <a:ext cx="76809" cy="7680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7743" y="2451468"/>
            <a:ext cx="4483735" cy="758825"/>
            <a:chOff x="87743" y="2451468"/>
            <a:chExt cx="4483735" cy="758825"/>
          </a:xfrm>
        </p:grpSpPr>
        <p:sp>
          <p:nvSpPr>
            <p:cNvPr id="30" name="object 30"/>
            <p:cNvSpPr/>
            <p:nvPr/>
          </p:nvSpPr>
          <p:spPr>
            <a:xfrm>
              <a:off x="87743" y="2451468"/>
              <a:ext cx="4432935" cy="184150"/>
            </a:xfrm>
            <a:custGeom>
              <a:avLst/>
              <a:gdLst/>
              <a:ahLst/>
              <a:cxnLst/>
              <a:rect l="l" t="t" r="r" b="b"/>
              <a:pathLst>
                <a:path w="4432935" h="1841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985"/>
                  </a:lnTo>
                  <a:lnTo>
                    <a:pt x="4432567" y="18398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744" y="2622791"/>
              <a:ext cx="4432566" cy="5060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8544" y="3108477"/>
              <a:ext cx="101600" cy="1016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344" y="3095777"/>
              <a:ext cx="4381715" cy="1143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11" y="2495702"/>
              <a:ext cx="50749" cy="61277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743" y="2667073"/>
              <a:ext cx="4432935" cy="492759"/>
            </a:xfrm>
            <a:custGeom>
              <a:avLst/>
              <a:gdLst/>
              <a:ahLst/>
              <a:cxnLst/>
              <a:rect l="l" t="t" r="r" b="b"/>
              <a:pathLst>
                <a:path w="4432935" h="492760">
                  <a:moveTo>
                    <a:pt x="4432567" y="0"/>
                  </a:moveTo>
                  <a:lnTo>
                    <a:pt x="0" y="0"/>
                  </a:lnTo>
                  <a:lnTo>
                    <a:pt x="0" y="441403"/>
                  </a:lnTo>
                  <a:lnTo>
                    <a:pt x="4008" y="461128"/>
                  </a:lnTo>
                  <a:lnTo>
                    <a:pt x="14922" y="477281"/>
                  </a:lnTo>
                  <a:lnTo>
                    <a:pt x="31075" y="488195"/>
                  </a:lnTo>
                  <a:lnTo>
                    <a:pt x="50800" y="492204"/>
                  </a:lnTo>
                  <a:lnTo>
                    <a:pt x="4381767" y="492204"/>
                  </a:lnTo>
                  <a:lnTo>
                    <a:pt x="4401492" y="488195"/>
                  </a:lnTo>
                  <a:lnTo>
                    <a:pt x="4417644" y="477281"/>
                  </a:lnTo>
                  <a:lnTo>
                    <a:pt x="4428558" y="461128"/>
                  </a:lnTo>
                  <a:lnTo>
                    <a:pt x="4432567" y="44140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11" y="2533793"/>
              <a:ext cx="0" cy="594360"/>
            </a:xfrm>
            <a:custGeom>
              <a:avLst/>
              <a:gdLst/>
              <a:ahLst/>
              <a:cxnLst/>
              <a:rect l="l" t="t" r="r" b="b"/>
              <a:pathLst>
                <a:path h="594360">
                  <a:moveTo>
                    <a:pt x="0" y="5937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11" y="252109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20311" y="250839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20311" y="249569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21920" y="579177"/>
            <a:ext cx="4377690" cy="25731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Essence</a:t>
            </a:r>
            <a:endParaRPr sz="1000" dirty="0">
              <a:latin typeface="Arial"/>
              <a:cs typeface="Arial"/>
            </a:endParaRPr>
          </a:p>
          <a:p>
            <a:pPr marL="16510" marR="5080" indent="-4445">
              <a:lnSpc>
                <a:spcPct val="100000"/>
              </a:lnSpc>
              <a:spcBef>
                <a:spcPts val="325"/>
              </a:spcBef>
            </a:pPr>
            <a:r>
              <a:rPr sz="1000" spc="-15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collection of </a:t>
            </a:r>
            <a:r>
              <a:rPr sz="1000" spc="-15" dirty="0">
                <a:latin typeface="Arial"/>
                <a:cs typeface="Arial"/>
              </a:rPr>
              <a:t>nodes </a:t>
            </a:r>
            <a:r>
              <a:rPr sz="1000" spc="-10" dirty="0">
                <a:latin typeface="Arial"/>
                <a:cs typeface="Arial"/>
              </a:rPr>
              <a:t>as </a:t>
            </a:r>
            <a:r>
              <a:rPr sz="1000" spc="-15" dirty="0">
                <a:latin typeface="Arial"/>
                <a:cs typeface="Arial"/>
              </a:rPr>
              <a:t>a </a:t>
            </a:r>
            <a:r>
              <a:rPr sz="1000" spc="-10" dirty="0">
                <a:latin typeface="Arial"/>
                <a:cs typeface="Arial"/>
              </a:rPr>
              <a:t>whole </a:t>
            </a:r>
            <a:r>
              <a:rPr sz="1000" spc="-15" dirty="0">
                <a:latin typeface="Arial"/>
                <a:cs typeface="Arial"/>
              </a:rPr>
              <a:t>operates </a:t>
            </a:r>
            <a:r>
              <a:rPr sz="1000" spc="-10" dirty="0">
                <a:latin typeface="Arial"/>
                <a:cs typeface="Arial"/>
              </a:rPr>
              <a:t>the </a:t>
            </a:r>
            <a:r>
              <a:rPr sz="1000" spc="-15" dirty="0">
                <a:latin typeface="Arial"/>
                <a:cs typeface="Arial"/>
              </a:rPr>
              <a:t>same, no </a:t>
            </a:r>
            <a:r>
              <a:rPr sz="1000" spc="-10" dirty="0">
                <a:latin typeface="Arial"/>
                <a:cs typeface="Arial"/>
              </a:rPr>
              <a:t>matter </a:t>
            </a:r>
            <a:r>
              <a:rPr sz="1000" spc="-15" dirty="0">
                <a:latin typeface="Arial"/>
                <a:cs typeface="Arial"/>
              </a:rPr>
              <a:t>where, when, 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spc="-10" dirty="0">
                <a:latin typeface="Arial"/>
                <a:cs typeface="Arial"/>
              </a:rPr>
              <a:t>how </a:t>
            </a:r>
            <a:r>
              <a:rPr sz="1000" spc="-5" dirty="0">
                <a:latin typeface="Arial"/>
                <a:cs typeface="Arial"/>
              </a:rPr>
              <a:t>interaction between a user and the system </a:t>
            </a:r>
            <a:r>
              <a:rPr sz="1000" spc="-10" dirty="0">
                <a:latin typeface="Arial"/>
                <a:cs typeface="Arial"/>
              </a:rPr>
              <a:t>takes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place.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Examples</a:t>
            </a:r>
            <a:endParaRPr sz="1000" dirty="0">
              <a:latin typeface="Arial"/>
              <a:cs typeface="Arial"/>
            </a:endParaRPr>
          </a:p>
          <a:p>
            <a:pPr marL="293370" marR="394335">
              <a:lnSpc>
                <a:spcPct val="100000"/>
              </a:lnSpc>
              <a:spcBef>
                <a:spcPts val="375"/>
              </a:spcBef>
            </a:pPr>
            <a:r>
              <a:rPr sz="1000" spc="-5" dirty="0">
                <a:latin typeface="Arial"/>
                <a:cs typeface="Arial"/>
              </a:rPr>
              <a:t>An end user cannot tell where a computation is taking place  Where data is </a:t>
            </a:r>
            <a:r>
              <a:rPr sz="1000" spc="-10" dirty="0">
                <a:latin typeface="Arial"/>
                <a:cs typeface="Arial"/>
              </a:rPr>
              <a:t>exactly </a:t>
            </a:r>
            <a:r>
              <a:rPr sz="1000" spc="-5" dirty="0">
                <a:latin typeface="Arial"/>
                <a:cs typeface="Arial"/>
              </a:rPr>
              <a:t>stored should be </a:t>
            </a:r>
            <a:r>
              <a:rPr sz="1000" spc="-10" dirty="0">
                <a:latin typeface="Arial"/>
                <a:cs typeface="Arial"/>
              </a:rPr>
              <a:t>irrelevant </a:t>
            </a:r>
            <a:r>
              <a:rPr sz="1000" spc="-5" dirty="0">
                <a:latin typeface="Arial"/>
                <a:cs typeface="Arial"/>
              </a:rPr>
              <a:t>to an application  If or not data has been replicated is completely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hidden</a:t>
            </a:r>
            <a:endParaRPr sz="10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85"/>
              </a:spcBef>
            </a:pPr>
            <a:r>
              <a:rPr sz="1000" spc="-15" dirty="0">
                <a:latin typeface="Arial"/>
                <a:cs typeface="Arial"/>
              </a:rPr>
              <a:t>Keyword </a:t>
            </a:r>
            <a:r>
              <a:rPr sz="1000" spc="-5" dirty="0" smtClean="0">
                <a:latin typeface="Arial"/>
                <a:cs typeface="Arial"/>
              </a:rPr>
              <a:t>is</a:t>
            </a:r>
            <a:r>
              <a:rPr lang="en-US" sz="1000" spc="-5" dirty="0" smtClean="0">
                <a:latin typeface="Arial"/>
                <a:cs typeface="Arial"/>
              </a:rPr>
              <a:t> </a:t>
            </a:r>
            <a:r>
              <a:rPr sz="1000" spc="-5" dirty="0" smtClean="0">
                <a:solidFill>
                  <a:srgbClr val="FA0000"/>
                </a:solidFill>
                <a:latin typeface="Arial"/>
                <a:cs typeface="Arial"/>
              </a:rPr>
              <a:t>distribution</a:t>
            </a:r>
            <a:r>
              <a:rPr sz="1000" dirty="0" smtClean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transparency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The snag: </a:t>
            </a:r>
            <a:r>
              <a:rPr sz="1000" dirty="0">
                <a:solidFill>
                  <a:srgbClr val="04064C"/>
                </a:solidFill>
                <a:latin typeface="Arial"/>
                <a:cs typeface="Arial"/>
              </a:rPr>
              <a:t>partial</a:t>
            </a:r>
            <a:r>
              <a:rPr sz="1000" spc="5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failures</a:t>
            </a:r>
            <a:endParaRPr sz="1000" dirty="0">
              <a:latin typeface="Arial"/>
              <a:cs typeface="Arial"/>
            </a:endParaRPr>
          </a:p>
          <a:p>
            <a:pPr marL="16510" marR="93980">
              <a:lnSpc>
                <a:spcPct val="100000"/>
              </a:lnSpc>
              <a:spcBef>
                <a:spcPts val="395"/>
              </a:spcBef>
            </a:pPr>
            <a:r>
              <a:rPr sz="1000" spc="-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is </a:t>
            </a:r>
            <a:r>
              <a:rPr sz="1000" spc="-15" dirty="0">
                <a:latin typeface="Arial"/>
                <a:cs typeface="Arial"/>
              </a:rPr>
              <a:t>inevitable </a:t>
            </a:r>
            <a:r>
              <a:rPr sz="1000" spc="-10" dirty="0">
                <a:latin typeface="Arial"/>
                <a:cs typeface="Arial"/>
              </a:rPr>
              <a:t>that at </a:t>
            </a:r>
            <a:r>
              <a:rPr sz="1000" spc="-20" dirty="0">
                <a:latin typeface="Arial"/>
                <a:cs typeface="Arial"/>
              </a:rPr>
              <a:t>any </a:t>
            </a:r>
            <a:r>
              <a:rPr sz="1000" spc="-10" dirty="0" smtClean="0">
                <a:latin typeface="Arial"/>
                <a:cs typeface="Arial"/>
              </a:rPr>
              <a:t>time</a:t>
            </a:r>
            <a:r>
              <a:rPr lang="en-US" sz="1000" spc="-10" dirty="0" smtClean="0">
                <a:latin typeface="Arial"/>
                <a:cs typeface="Arial"/>
              </a:rPr>
              <a:t> </a:t>
            </a:r>
            <a:r>
              <a:rPr sz="1000" spc="-10" dirty="0" smtClean="0">
                <a:solidFill>
                  <a:srgbClr val="FA0000"/>
                </a:solidFill>
                <a:latin typeface="Arial"/>
                <a:cs typeface="Arial"/>
              </a:rPr>
              <a:t>only </a:t>
            </a:r>
            <a:r>
              <a:rPr sz="1000" spc="-15" dirty="0">
                <a:solidFill>
                  <a:srgbClr val="FA0000"/>
                </a:solidFill>
                <a:latin typeface="Arial"/>
                <a:cs typeface="Arial"/>
              </a:rPr>
              <a:t>a </a:t>
            </a:r>
            <a:r>
              <a:rPr sz="1000" spc="-5" dirty="0" smtClean="0">
                <a:solidFill>
                  <a:srgbClr val="FA0000"/>
                </a:solidFill>
                <a:latin typeface="Arial"/>
                <a:cs typeface="Arial"/>
              </a:rPr>
              <a:t>part</a:t>
            </a:r>
            <a:r>
              <a:rPr lang="en-US" sz="1000" spc="-5" dirty="0" smtClean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 smtClean="0">
                <a:latin typeface="Arial"/>
                <a:cs typeface="Arial"/>
              </a:rPr>
              <a:t>of </a:t>
            </a:r>
            <a:r>
              <a:rPr sz="1000" spc="-10" dirty="0">
                <a:latin typeface="Arial"/>
                <a:cs typeface="Arial"/>
              </a:rPr>
              <a:t>the distributed system </a:t>
            </a:r>
            <a:r>
              <a:rPr sz="1000" spc="-15" dirty="0">
                <a:latin typeface="Arial"/>
                <a:cs typeface="Arial"/>
              </a:rPr>
              <a:t>fails. </a:t>
            </a:r>
            <a:r>
              <a:rPr sz="1000" spc="-10" dirty="0">
                <a:latin typeface="Arial"/>
                <a:cs typeface="Arial"/>
              </a:rPr>
              <a:t>Hiding  </a:t>
            </a:r>
            <a:r>
              <a:rPr sz="1000" dirty="0">
                <a:latin typeface="Arial"/>
                <a:cs typeface="Arial"/>
              </a:rPr>
              <a:t>partial </a:t>
            </a:r>
            <a:r>
              <a:rPr sz="1000" spc="-10" dirty="0">
                <a:latin typeface="Arial"/>
                <a:cs typeface="Arial"/>
              </a:rPr>
              <a:t>failures </a:t>
            </a:r>
            <a:r>
              <a:rPr sz="1000" spc="-5" dirty="0">
                <a:latin typeface="Arial"/>
                <a:cs typeface="Arial"/>
              </a:rPr>
              <a:t>and their recovery is often very difficult and in general  impossible 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hide.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42" name="object 42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300563" y="3331252"/>
            <a:ext cx="2413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6</a:t>
            </a:fld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58185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What is a</a:t>
            </a:r>
            <a:r>
              <a:rPr sz="600" spc="6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system?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Middleware and distributed</a:t>
            </a:r>
            <a:r>
              <a:rPr sz="600" spc="-1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0" dirty="0"/>
              <a:t>Middleware: </a:t>
            </a:r>
            <a:r>
              <a:rPr spc="15" dirty="0"/>
              <a:t>the </a:t>
            </a:r>
            <a:r>
              <a:rPr spc="25" dirty="0"/>
              <a:t>OS </a:t>
            </a:r>
            <a:r>
              <a:rPr spc="10" dirty="0"/>
              <a:t>of distributed</a:t>
            </a:r>
            <a:r>
              <a:rPr spc="55" dirty="0"/>
              <a:t> </a:t>
            </a:r>
            <a:r>
              <a:rPr spc="15" dirty="0"/>
              <a:t>systems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16163" y="1011497"/>
            <a:ext cx="3178175" cy="1026794"/>
            <a:chOff x="716163" y="1011497"/>
            <a:chExt cx="3178175" cy="1026794"/>
          </a:xfrm>
        </p:grpSpPr>
        <p:sp>
          <p:nvSpPr>
            <p:cNvPr id="5" name="object 5"/>
            <p:cNvSpPr/>
            <p:nvPr/>
          </p:nvSpPr>
          <p:spPr>
            <a:xfrm>
              <a:off x="721561" y="1016894"/>
              <a:ext cx="657860" cy="1016000"/>
            </a:xfrm>
            <a:custGeom>
              <a:avLst/>
              <a:gdLst/>
              <a:ahLst/>
              <a:cxnLst/>
              <a:rect l="l" t="t" r="r" b="b"/>
              <a:pathLst>
                <a:path w="657860" h="1016000">
                  <a:moveTo>
                    <a:pt x="657358" y="0"/>
                  </a:moveTo>
                  <a:lnTo>
                    <a:pt x="0" y="0"/>
                  </a:lnTo>
                  <a:lnTo>
                    <a:pt x="0" y="1015917"/>
                  </a:lnTo>
                  <a:lnTo>
                    <a:pt x="657358" y="1015917"/>
                  </a:lnTo>
                  <a:lnTo>
                    <a:pt x="657358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1561" y="1016894"/>
              <a:ext cx="657860" cy="1016000"/>
            </a:xfrm>
            <a:custGeom>
              <a:avLst/>
              <a:gdLst/>
              <a:ahLst/>
              <a:cxnLst/>
              <a:rect l="l" t="t" r="r" b="b"/>
              <a:pathLst>
                <a:path w="657860" h="1016000">
                  <a:moveTo>
                    <a:pt x="0" y="1015917"/>
                  </a:moveTo>
                  <a:lnTo>
                    <a:pt x="657358" y="1015917"/>
                  </a:lnTo>
                  <a:lnTo>
                    <a:pt x="657358" y="0"/>
                  </a:lnTo>
                  <a:lnTo>
                    <a:pt x="0" y="0"/>
                  </a:lnTo>
                  <a:lnTo>
                    <a:pt x="0" y="1015917"/>
                  </a:lnTo>
                  <a:close/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58188" y="1016901"/>
              <a:ext cx="657860" cy="1016000"/>
            </a:xfrm>
            <a:custGeom>
              <a:avLst/>
              <a:gdLst/>
              <a:ahLst/>
              <a:cxnLst/>
              <a:rect l="l" t="t" r="r" b="b"/>
              <a:pathLst>
                <a:path w="657860" h="1016000">
                  <a:moveTo>
                    <a:pt x="657364" y="717118"/>
                  </a:moveTo>
                  <a:lnTo>
                    <a:pt x="0" y="717118"/>
                  </a:lnTo>
                  <a:lnTo>
                    <a:pt x="0" y="1015911"/>
                  </a:lnTo>
                  <a:lnTo>
                    <a:pt x="657364" y="1015911"/>
                  </a:lnTo>
                  <a:lnTo>
                    <a:pt x="657364" y="717118"/>
                  </a:lnTo>
                  <a:close/>
                </a:path>
                <a:path w="657860" h="1016000">
                  <a:moveTo>
                    <a:pt x="657364" y="0"/>
                  </a:moveTo>
                  <a:lnTo>
                    <a:pt x="0" y="0"/>
                  </a:lnTo>
                  <a:lnTo>
                    <a:pt x="0" y="478078"/>
                  </a:lnTo>
                  <a:lnTo>
                    <a:pt x="657364" y="478078"/>
                  </a:lnTo>
                  <a:lnTo>
                    <a:pt x="657364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58198" y="1016894"/>
              <a:ext cx="657860" cy="1016000"/>
            </a:xfrm>
            <a:custGeom>
              <a:avLst/>
              <a:gdLst/>
              <a:ahLst/>
              <a:cxnLst/>
              <a:rect l="l" t="t" r="r" b="b"/>
              <a:pathLst>
                <a:path w="657860" h="1016000">
                  <a:moveTo>
                    <a:pt x="0" y="1015917"/>
                  </a:moveTo>
                  <a:lnTo>
                    <a:pt x="657358" y="1015917"/>
                  </a:lnTo>
                  <a:lnTo>
                    <a:pt x="657358" y="0"/>
                  </a:lnTo>
                  <a:lnTo>
                    <a:pt x="0" y="0"/>
                  </a:lnTo>
                  <a:lnTo>
                    <a:pt x="0" y="1015917"/>
                  </a:lnTo>
                  <a:close/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94826" y="1016901"/>
              <a:ext cx="657860" cy="1016000"/>
            </a:xfrm>
            <a:custGeom>
              <a:avLst/>
              <a:gdLst/>
              <a:ahLst/>
              <a:cxnLst/>
              <a:rect l="l" t="t" r="r" b="b"/>
              <a:pathLst>
                <a:path w="657860" h="1016000">
                  <a:moveTo>
                    <a:pt x="657364" y="717118"/>
                  </a:moveTo>
                  <a:lnTo>
                    <a:pt x="0" y="717118"/>
                  </a:lnTo>
                  <a:lnTo>
                    <a:pt x="0" y="1015911"/>
                  </a:lnTo>
                  <a:lnTo>
                    <a:pt x="657364" y="1015911"/>
                  </a:lnTo>
                  <a:lnTo>
                    <a:pt x="657364" y="717118"/>
                  </a:lnTo>
                  <a:close/>
                </a:path>
                <a:path w="657860" h="1016000">
                  <a:moveTo>
                    <a:pt x="657364" y="0"/>
                  </a:moveTo>
                  <a:lnTo>
                    <a:pt x="0" y="0"/>
                  </a:lnTo>
                  <a:lnTo>
                    <a:pt x="0" y="478078"/>
                  </a:lnTo>
                  <a:lnTo>
                    <a:pt x="657364" y="478078"/>
                  </a:lnTo>
                  <a:lnTo>
                    <a:pt x="657364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94838" y="1016894"/>
              <a:ext cx="657860" cy="1016000"/>
            </a:xfrm>
            <a:custGeom>
              <a:avLst/>
              <a:gdLst/>
              <a:ahLst/>
              <a:cxnLst/>
              <a:rect l="l" t="t" r="r" b="b"/>
              <a:pathLst>
                <a:path w="657860" h="1016000">
                  <a:moveTo>
                    <a:pt x="0" y="1015917"/>
                  </a:moveTo>
                  <a:lnTo>
                    <a:pt x="657363" y="1015917"/>
                  </a:lnTo>
                  <a:lnTo>
                    <a:pt x="657363" y="0"/>
                  </a:lnTo>
                  <a:lnTo>
                    <a:pt x="0" y="0"/>
                  </a:lnTo>
                  <a:lnTo>
                    <a:pt x="0" y="1015917"/>
                  </a:lnTo>
                  <a:close/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31477" y="1016894"/>
              <a:ext cx="657860" cy="1016000"/>
            </a:xfrm>
            <a:custGeom>
              <a:avLst/>
              <a:gdLst/>
              <a:ahLst/>
              <a:cxnLst/>
              <a:rect l="l" t="t" r="r" b="b"/>
              <a:pathLst>
                <a:path w="657860" h="1016000">
                  <a:moveTo>
                    <a:pt x="657358" y="0"/>
                  </a:moveTo>
                  <a:lnTo>
                    <a:pt x="0" y="0"/>
                  </a:lnTo>
                  <a:lnTo>
                    <a:pt x="0" y="1015917"/>
                  </a:lnTo>
                  <a:lnTo>
                    <a:pt x="657358" y="1015917"/>
                  </a:lnTo>
                  <a:lnTo>
                    <a:pt x="657358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31477" y="1016894"/>
              <a:ext cx="657860" cy="1016000"/>
            </a:xfrm>
            <a:custGeom>
              <a:avLst/>
              <a:gdLst/>
              <a:ahLst/>
              <a:cxnLst/>
              <a:rect l="l" t="t" r="r" b="b"/>
              <a:pathLst>
                <a:path w="657860" h="1016000">
                  <a:moveTo>
                    <a:pt x="0" y="1015917"/>
                  </a:moveTo>
                  <a:lnTo>
                    <a:pt x="657358" y="1015917"/>
                  </a:lnTo>
                  <a:lnTo>
                    <a:pt x="657358" y="0"/>
                  </a:lnTo>
                  <a:lnTo>
                    <a:pt x="0" y="0"/>
                  </a:lnTo>
                  <a:lnTo>
                    <a:pt x="0" y="1015917"/>
                  </a:lnTo>
                  <a:close/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1319" y="1793773"/>
            <a:ext cx="537845" cy="179705"/>
          </a:xfrm>
          <a:prstGeom prst="rect">
            <a:avLst/>
          </a:prstGeom>
          <a:solidFill>
            <a:srgbClr val="FFFFFF"/>
          </a:solidFill>
          <a:ln w="5270">
            <a:solidFill>
              <a:srgbClr val="231F2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28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Local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OS</a:t>
            </a:r>
            <a:r>
              <a:rPr sz="65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27918" y="1793773"/>
            <a:ext cx="528320" cy="179705"/>
          </a:xfrm>
          <a:prstGeom prst="rect">
            <a:avLst/>
          </a:prstGeom>
          <a:solidFill>
            <a:srgbClr val="FFFFFF"/>
          </a:solidFill>
          <a:ln w="5270">
            <a:solidFill>
              <a:srgbClr val="231F2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30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Local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OS</a:t>
            </a:r>
            <a:r>
              <a:rPr sz="65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54605" y="1793773"/>
            <a:ext cx="537845" cy="179705"/>
          </a:xfrm>
          <a:prstGeom prst="rect">
            <a:avLst/>
          </a:prstGeom>
          <a:solidFill>
            <a:srgbClr val="FFFFFF"/>
          </a:solidFill>
          <a:ln w="5270">
            <a:solidFill>
              <a:srgbClr val="231F2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30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Local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OS</a:t>
            </a:r>
            <a:r>
              <a:rPr sz="65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1234" y="1793773"/>
            <a:ext cx="537845" cy="179705"/>
          </a:xfrm>
          <a:prstGeom prst="rect">
            <a:avLst/>
          </a:prstGeom>
          <a:solidFill>
            <a:srgbClr val="FFFFFF"/>
          </a:solidFill>
          <a:ln w="5270">
            <a:solidFill>
              <a:srgbClr val="231F2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30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Local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OS</a:t>
            </a:r>
            <a:r>
              <a:rPr sz="65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15100" y="1073795"/>
            <a:ext cx="1380490" cy="304800"/>
            <a:chOff x="1615100" y="1073795"/>
            <a:chExt cx="1380490" cy="304800"/>
          </a:xfrm>
        </p:grpSpPr>
        <p:sp>
          <p:nvSpPr>
            <p:cNvPr id="18" name="object 18"/>
            <p:cNvSpPr/>
            <p:nvPr/>
          </p:nvSpPr>
          <p:spPr>
            <a:xfrm>
              <a:off x="1617958" y="1076652"/>
              <a:ext cx="1374775" cy="299085"/>
            </a:xfrm>
            <a:custGeom>
              <a:avLst/>
              <a:gdLst/>
              <a:ahLst/>
              <a:cxnLst/>
              <a:rect l="l" t="t" r="r" b="b"/>
              <a:pathLst>
                <a:path w="1374775" h="299084">
                  <a:moveTo>
                    <a:pt x="1374483" y="0"/>
                  </a:moveTo>
                  <a:lnTo>
                    <a:pt x="0" y="0"/>
                  </a:lnTo>
                  <a:lnTo>
                    <a:pt x="0" y="298800"/>
                  </a:lnTo>
                  <a:lnTo>
                    <a:pt x="1374483" y="298800"/>
                  </a:lnTo>
                  <a:lnTo>
                    <a:pt x="1374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17958" y="1076652"/>
              <a:ext cx="1374775" cy="299085"/>
            </a:xfrm>
            <a:custGeom>
              <a:avLst/>
              <a:gdLst/>
              <a:ahLst/>
              <a:cxnLst/>
              <a:rect l="l" t="t" r="r" b="b"/>
              <a:pathLst>
                <a:path w="1374775" h="299084">
                  <a:moveTo>
                    <a:pt x="0" y="298800"/>
                  </a:moveTo>
                  <a:lnTo>
                    <a:pt x="1374483" y="298800"/>
                  </a:lnTo>
                  <a:lnTo>
                    <a:pt x="1374483" y="0"/>
                  </a:lnTo>
                  <a:lnTo>
                    <a:pt x="0" y="0"/>
                  </a:lnTo>
                  <a:lnTo>
                    <a:pt x="0" y="298800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81319" y="1076652"/>
            <a:ext cx="537845" cy="299085"/>
          </a:xfrm>
          <a:prstGeom prst="rect">
            <a:avLst/>
          </a:prstGeom>
          <a:solidFill>
            <a:srgbClr val="FFFFFF"/>
          </a:solidFill>
          <a:ln w="5270">
            <a:solidFill>
              <a:srgbClr val="231F2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70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Appl.</a:t>
            </a:r>
            <a:r>
              <a:rPr sz="65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23722" y="1167058"/>
            <a:ext cx="51752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Application</a:t>
            </a:r>
            <a:r>
              <a:rPr sz="65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91234" y="1076652"/>
            <a:ext cx="537845" cy="299085"/>
          </a:xfrm>
          <a:prstGeom prst="rect">
            <a:avLst/>
          </a:prstGeom>
          <a:solidFill>
            <a:srgbClr val="FFFFFF"/>
          </a:solidFill>
          <a:ln w="5270">
            <a:solidFill>
              <a:srgbClr val="231F2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70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Appl.</a:t>
            </a:r>
            <a:r>
              <a:rPr sz="65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78462" y="1432353"/>
            <a:ext cx="3053715" cy="304800"/>
            <a:chOff x="778462" y="1432353"/>
            <a:chExt cx="3053715" cy="304800"/>
          </a:xfrm>
        </p:grpSpPr>
        <p:sp>
          <p:nvSpPr>
            <p:cNvPr id="24" name="object 24"/>
            <p:cNvSpPr/>
            <p:nvPr/>
          </p:nvSpPr>
          <p:spPr>
            <a:xfrm>
              <a:off x="781319" y="1494973"/>
              <a:ext cx="3048000" cy="239395"/>
            </a:xfrm>
            <a:custGeom>
              <a:avLst/>
              <a:gdLst/>
              <a:ahLst/>
              <a:cxnLst/>
              <a:rect l="l" t="t" r="r" b="b"/>
              <a:pathLst>
                <a:path w="3048000" h="239394">
                  <a:moveTo>
                    <a:pt x="3047761" y="0"/>
                  </a:moveTo>
                  <a:lnTo>
                    <a:pt x="0" y="0"/>
                  </a:lnTo>
                  <a:lnTo>
                    <a:pt x="0" y="239038"/>
                  </a:lnTo>
                  <a:lnTo>
                    <a:pt x="3047761" y="239038"/>
                  </a:lnTo>
                  <a:lnTo>
                    <a:pt x="3047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81319" y="1494973"/>
              <a:ext cx="3048000" cy="239395"/>
            </a:xfrm>
            <a:custGeom>
              <a:avLst/>
              <a:gdLst/>
              <a:ahLst/>
              <a:cxnLst/>
              <a:rect l="l" t="t" r="r" b="b"/>
              <a:pathLst>
                <a:path w="3048000" h="239394">
                  <a:moveTo>
                    <a:pt x="0" y="239038"/>
                  </a:moveTo>
                  <a:lnTo>
                    <a:pt x="3047761" y="239038"/>
                  </a:lnTo>
                  <a:lnTo>
                    <a:pt x="3047761" y="0"/>
                  </a:lnTo>
                  <a:lnTo>
                    <a:pt x="0" y="0"/>
                  </a:lnTo>
                  <a:lnTo>
                    <a:pt x="0" y="239038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1390" y="1435210"/>
              <a:ext cx="478155" cy="60325"/>
            </a:xfrm>
            <a:custGeom>
              <a:avLst/>
              <a:gdLst/>
              <a:ahLst/>
              <a:cxnLst/>
              <a:rect l="l" t="t" r="r" b="b"/>
              <a:pathLst>
                <a:path w="478155" h="60325">
                  <a:moveTo>
                    <a:pt x="478079" y="0"/>
                  </a:moveTo>
                  <a:lnTo>
                    <a:pt x="0" y="0"/>
                  </a:lnTo>
                  <a:lnTo>
                    <a:pt x="0" y="59762"/>
                  </a:lnTo>
                  <a:lnTo>
                    <a:pt x="478079" y="59762"/>
                  </a:lnTo>
                  <a:lnTo>
                    <a:pt x="478079" y="0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1390" y="1435210"/>
              <a:ext cx="478155" cy="60325"/>
            </a:xfrm>
            <a:custGeom>
              <a:avLst/>
              <a:gdLst/>
              <a:ahLst/>
              <a:cxnLst/>
              <a:rect l="l" t="t" r="r" b="b"/>
              <a:pathLst>
                <a:path w="478155" h="60325">
                  <a:moveTo>
                    <a:pt x="0" y="59762"/>
                  </a:moveTo>
                  <a:lnTo>
                    <a:pt x="478079" y="59762"/>
                  </a:lnTo>
                  <a:lnTo>
                    <a:pt x="478079" y="0"/>
                  </a:lnTo>
                  <a:lnTo>
                    <a:pt x="0" y="0"/>
                  </a:lnTo>
                  <a:lnTo>
                    <a:pt x="0" y="59762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47839" y="1435210"/>
              <a:ext cx="478155" cy="60325"/>
            </a:xfrm>
            <a:custGeom>
              <a:avLst/>
              <a:gdLst/>
              <a:ahLst/>
              <a:cxnLst/>
              <a:rect l="l" t="t" r="r" b="b"/>
              <a:pathLst>
                <a:path w="478155" h="60325">
                  <a:moveTo>
                    <a:pt x="478079" y="0"/>
                  </a:moveTo>
                  <a:lnTo>
                    <a:pt x="0" y="0"/>
                  </a:lnTo>
                  <a:lnTo>
                    <a:pt x="0" y="59762"/>
                  </a:lnTo>
                  <a:lnTo>
                    <a:pt x="478079" y="59762"/>
                  </a:lnTo>
                  <a:lnTo>
                    <a:pt x="478079" y="0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47839" y="1435210"/>
              <a:ext cx="478155" cy="60325"/>
            </a:xfrm>
            <a:custGeom>
              <a:avLst/>
              <a:gdLst/>
              <a:ahLst/>
              <a:cxnLst/>
              <a:rect l="l" t="t" r="r" b="b"/>
              <a:pathLst>
                <a:path w="478155" h="60325">
                  <a:moveTo>
                    <a:pt x="0" y="59762"/>
                  </a:moveTo>
                  <a:lnTo>
                    <a:pt x="478079" y="59762"/>
                  </a:lnTo>
                  <a:lnTo>
                    <a:pt x="478079" y="0"/>
                  </a:lnTo>
                  <a:lnTo>
                    <a:pt x="0" y="0"/>
                  </a:lnTo>
                  <a:lnTo>
                    <a:pt x="0" y="59762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84289" y="1435210"/>
              <a:ext cx="478155" cy="60325"/>
            </a:xfrm>
            <a:custGeom>
              <a:avLst/>
              <a:gdLst/>
              <a:ahLst/>
              <a:cxnLst/>
              <a:rect l="l" t="t" r="r" b="b"/>
              <a:pathLst>
                <a:path w="478155" h="60325">
                  <a:moveTo>
                    <a:pt x="478079" y="0"/>
                  </a:moveTo>
                  <a:lnTo>
                    <a:pt x="0" y="0"/>
                  </a:lnTo>
                  <a:lnTo>
                    <a:pt x="0" y="59762"/>
                  </a:lnTo>
                  <a:lnTo>
                    <a:pt x="478079" y="59762"/>
                  </a:lnTo>
                  <a:lnTo>
                    <a:pt x="478079" y="0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84289" y="1435210"/>
              <a:ext cx="478155" cy="60325"/>
            </a:xfrm>
            <a:custGeom>
              <a:avLst/>
              <a:gdLst/>
              <a:ahLst/>
              <a:cxnLst/>
              <a:rect l="l" t="t" r="r" b="b"/>
              <a:pathLst>
                <a:path w="478155" h="60325">
                  <a:moveTo>
                    <a:pt x="0" y="59762"/>
                  </a:moveTo>
                  <a:lnTo>
                    <a:pt x="478079" y="59762"/>
                  </a:lnTo>
                  <a:lnTo>
                    <a:pt x="478079" y="0"/>
                  </a:lnTo>
                  <a:lnTo>
                    <a:pt x="0" y="0"/>
                  </a:lnTo>
                  <a:lnTo>
                    <a:pt x="0" y="59762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20738" y="1435210"/>
              <a:ext cx="478155" cy="60325"/>
            </a:xfrm>
            <a:custGeom>
              <a:avLst/>
              <a:gdLst/>
              <a:ahLst/>
              <a:cxnLst/>
              <a:rect l="l" t="t" r="r" b="b"/>
              <a:pathLst>
                <a:path w="478154" h="60325">
                  <a:moveTo>
                    <a:pt x="478079" y="0"/>
                  </a:moveTo>
                  <a:lnTo>
                    <a:pt x="0" y="0"/>
                  </a:lnTo>
                  <a:lnTo>
                    <a:pt x="0" y="59762"/>
                  </a:lnTo>
                  <a:lnTo>
                    <a:pt x="478079" y="59762"/>
                  </a:lnTo>
                  <a:lnTo>
                    <a:pt x="478079" y="0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20738" y="1435210"/>
              <a:ext cx="478155" cy="60325"/>
            </a:xfrm>
            <a:custGeom>
              <a:avLst/>
              <a:gdLst/>
              <a:ahLst/>
              <a:cxnLst/>
              <a:rect l="l" t="t" r="r" b="b"/>
              <a:pathLst>
                <a:path w="478154" h="60325">
                  <a:moveTo>
                    <a:pt x="0" y="59762"/>
                  </a:moveTo>
                  <a:lnTo>
                    <a:pt x="478079" y="59762"/>
                  </a:lnTo>
                  <a:lnTo>
                    <a:pt x="478079" y="0"/>
                  </a:lnTo>
                  <a:lnTo>
                    <a:pt x="0" y="0"/>
                  </a:lnTo>
                  <a:lnTo>
                    <a:pt x="0" y="59762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507823" y="1548980"/>
            <a:ext cx="144081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Distributed-system layer</a:t>
            </a:r>
            <a:r>
              <a:rPr sz="65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(middleware)</a:t>
            </a:r>
            <a:endParaRPr sz="6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71930" y="839534"/>
            <a:ext cx="4660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Computer</a:t>
            </a:r>
            <a:r>
              <a:rPr sz="65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08725" y="839534"/>
            <a:ext cx="4660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Computer</a:t>
            </a:r>
            <a:r>
              <a:rPr sz="65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8347" y="659061"/>
            <a:ext cx="1303020" cy="307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Same interface</a:t>
            </a:r>
            <a:r>
              <a:rPr sz="65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everywhere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848994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Computer 1	Computer</a:t>
            </a:r>
            <a:r>
              <a:rPr sz="65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41077" y="805101"/>
            <a:ext cx="2928620" cy="1358265"/>
            <a:chOff x="841077" y="805101"/>
            <a:chExt cx="2928620" cy="1358265"/>
          </a:xfrm>
        </p:grpSpPr>
        <p:sp>
          <p:nvSpPr>
            <p:cNvPr id="39" name="object 39"/>
            <p:cNvSpPr/>
            <p:nvPr/>
          </p:nvSpPr>
          <p:spPr>
            <a:xfrm>
              <a:off x="1319157" y="807737"/>
              <a:ext cx="149860" cy="628015"/>
            </a:xfrm>
            <a:custGeom>
              <a:avLst/>
              <a:gdLst/>
              <a:ahLst/>
              <a:cxnLst/>
              <a:rect l="l" t="t" r="r" b="b"/>
              <a:pathLst>
                <a:path w="149859" h="628015">
                  <a:moveTo>
                    <a:pt x="149401" y="0"/>
                  </a:moveTo>
                  <a:lnTo>
                    <a:pt x="126057" y="287125"/>
                  </a:lnTo>
                  <a:lnTo>
                    <a:pt x="74700" y="481810"/>
                  </a:lnTo>
                  <a:lnTo>
                    <a:pt x="23344" y="592458"/>
                  </a:lnTo>
                  <a:lnTo>
                    <a:pt x="0" y="627474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95230" y="1386385"/>
              <a:ext cx="72102" cy="7754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468559" y="807737"/>
              <a:ext cx="149860" cy="628015"/>
            </a:xfrm>
            <a:custGeom>
              <a:avLst/>
              <a:gdLst/>
              <a:ahLst/>
              <a:cxnLst/>
              <a:rect l="l" t="t" r="r" b="b"/>
              <a:pathLst>
                <a:path w="149859" h="628015">
                  <a:moveTo>
                    <a:pt x="0" y="0"/>
                  </a:moveTo>
                  <a:lnTo>
                    <a:pt x="23343" y="287125"/>
                  </a:lnTo>
                  <a:lnTo>
                    <a:pt x="74699" y="481810"/>
                  </a:lnTo>
                  <a:lnTo>
                    <a:pt x="126055" y="592458"/>
                  </a:lnTo>
                  <a:lnTo>
                    <a:pt x="149398" y="627474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69782" y="1386385"/>
              <a:ext cx="72106" cy="7754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41077" y="2032812"/>
              <a:ext cx="2928620" cy="121285"/>
            </a:xfrm>
            <a:custGeom>
              <a:avLst/>
              <a:gdLst/>
              <a:ahLst/>
              <a:cxnLst/>
              <a:rect l="l" t="t" r="r" b="b"/>
              <a:pathLst>
                <a:path w="2928620" h="121285">
                  <a:moveTo>
                    <a:pt x="209160" y="0"/>
                  </a:moveTo>
                  <a:lnTo>
                    <a:pt x="209160" y="119520"/>
                  </a:lnTo>
                </a:path>
                <a:path w="2928620" h="121285">
                  <a:moveTo>
                    <a:pt x="1045799" y="0"/>
                  </a:moveTo>
                  <a:lnTo>
                    <a:pt x="1045799" y="119520"/>
                  </a:lnTo>
                </a:path>
                <a:path w="2928620" h="121285">
                  <a:moveTo>
                    <a:pt x="1882439" y="1205"/>
                  </a:moveTo>
                  <a:lnTo>
                    <a:pt x="1882439" y="120727"/>
                  </a:lnTo>
                </a:path>
                <a:path w="2928620" h="121285">
                  <a:moveTo>
                    <a:pt x="2719078" y="0"/>
                  </a:moveTo>
                  <a:lnTo>
                    <a:pt x="2719078" y="119520"/>
                  </a:lnTo>
                </a:path>
                <a:path w="2928620" h="121285">
                  <a:moveTo>
                    <a:pt x="0" y="119520"/>
                  </a:moveTo>
                  <a:lnTo>
                    <a:pt x="418321" y="119520"/>
                  </a:lnTo>
                </a:path>
                <a:path w="2928620" h="121285">
                  <a:moveTo>
                    <a:pt x="836642" y="119524"/>
                  </a:moveTo>
                  <a:lnTo>
                    <a:pt x="1254954" y="119524"/>
                  </a:lnTo>
                </a:path>
                <a:path w="2928620" h="121285">
                  <a:moveTo>
                    <a:pt x="1673284" y="119524"/>
                  </a:moveTo>
                  <a:lnTo>
                    <a:pt x="2091604" y="119524"/>
                  </a:lnTo>
                </a:path>
                <a:path w="2928620" h="121285">
                  <a:moveTo>
                    <a:pt x="2509923" y="119524"/>
                  </a:moveTo>
                  <a:lnTo>
                    <a:pt x="2928243" y="119524"/>
                  </a:lnTo>
                </a:path>
              </a:pathLst>
            </a:custGeom>
            <a:ln w="210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32682" y="2152328"/>
              <a:ext cx="418465" cy="0"/>
            </a:xfrm>
            <a:custGeom>
              <a:avLst/>
              <a:gdLst/>
              <a:ahLst/>
              <a:cxnLst/>
              <a:rect l="l" t="t" r="r" b="b"/>
              <a:pathLst>
                <a:path w="418464">
                  <a:moveTo>
                    <a:pt x="0" y="0"/>
                  </a:moveTo>
                  <a:lnTo>
                    <a:pt x="418319" y="0"/>
                  </a:lnTo>
                </a:path>
              </a:pathLst>
            </a:custGeom>
            <a:ln w="21083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59399" y="2152328"/>
              <a:ext cx="1255395" cy="0"/>
            </a:xfrm>
            <a:custGeom>
              <a:avLst/>
              <a:gdLst/>
              <a:ahLst/>
              <a:cxnLst/>
              <a:rect l="l" t="t" r="r" b="b"/>
              <a:pathLst>
                <a:path w="1255395">
                  <a:moveTo>
                    <a:pt x="0" y="4"/>
                  </a:moveTo>
                  <a:lnTo>
                    <a:pt x="418320" y="4"/>
                  </a:lnTo>
                </a:path>
                <a:path w="1255395">
                  <a:moveTo>
                    <a:pt x="836632" y="0"/>
                  </a:moveTo>
                  <a:lnTo>
                    <a:pt x="1254962" y="0"/>
                  </a:lnTo>
                </a:path>
              </a:pathLst>
            </a:custGeom>
            <a:ln w="21083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398058" y="2182980"/>
            <a:ext cx="3346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Network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7743" y="2385821"/>
            <a:ext cx="4483735" cy="598170"/>
            <a:chOff x="87743" y="2385821"/>
            <a:chExt cx="4483735" cy="598170"/>
          </a:xfrm>
        </p:grpSpPr>
        <p:sp>
          <p:nvSpPr>
            <p:cNvPr id="48" name="object 48"/>
            <p:cNvSpPr/>
            <p:nvPr/>
          </p:nvSpPr>
          <p:spPr>
            <a:xfrm>
              <a:off x="87743" y="2385821"/>
              <a:ext cx="4432935" cy="173990"/>
            </a:xfrm>
            <a:custGeom>
              <a:avLst/>
              <a:gdLst/>
              <a:ahLst/>
              <a:cxnLst/>
              <a:rect l="l" t="t" r="r" b="b"/>
              <a:pathLst>
                <a:path w="4432935" h="173989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3799"/>
                  </a:lnTo>
                  <a:lnTo>
                    <a:pt x="4432567" y="173799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7744" y="2546959"/>
              <a:ext cx="4432566" cy="5060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8544" y="2882328"/>
              <a:ext cx="101600" cy="1016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9344" y="2869628"/>
              <a:ext cx="4381715" cy="1143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520311" y="2430056"/>
              <a:ext cx="50749" cy="4522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7743" y="2591238"/>
              <a:ext cx="4432935" cy="342265"/>
            </a:xfrm>
            <a:custGeom>
              <a:avLst/>
              <a:gdLst/>
              <a:ahLst/>
              <a:cxnLst/>
              <a:rect l="l" t="t" r="r" b="b"/>
              <a:pathLst>
                <a:path w="4432935" h="342264">
                  <a:moveTo>
                    <a:pt x="4432567" y="0"/>
                  </a:moveTo>
                  <a:lnTo>
                    <a:pt x="0" y="0"/>
                  </a:lnTo>
                  <a:lnTo>
                    <a:pt x="0" y="291090"/>
                  </a:lnTo>
                  <a:lnTo>
                    <a:pt x="4008" y="310815"/>
                  </a:lnTo>
                  <a:lnTo>
                    <a:pt x="14922" y="326968"/>
                  </a:lnTo>
                  <a:lnTo>
                    <a:pt x="31075" y="337882"/>
                  </a:lnTo>
                  <a:lnTo>
                    <a:pt x="50800" y="341890"/>
                  </a:lnTo>
                  <a:lnTo>
                    <a:pt x="4381767" y="341890"/>
                  </a:lnTo>
                  <a:lnTo>
                    <a:pt x="4401492" y="337882"/>
                  </a:lnTo>
                  <a:lnTo>
                    <a:pt x="4417644" y="326968"/>
                  </a:lnTo>
                  <a:lnTo>
                    <a:pt x="4428558" y="310815"/>
                  </a:lnTo>
                  <a:lnTo>
                    <a:pt x="4432567" y="29109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20311" y="2468144"/>
              <a:ext cx="0" cy="433705"/>
            </a:xfrm>
            <a:custGeom>
              <a:avLst/>
              <a:gdLst/>
              <a:ahLst/>
              <a:cxnLst/>
              <a:rect l="l" t="t" r="r" b="b"/>
              <a:pathLst>
                <a:path h="433705">
                  <a:moveTo>
                    <a:pt x="0" y="4332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520311" y="24554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520311" y="24427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520311" y="24300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19900" y="2333479"/>
            <a:ext cx="4333240" cy="5664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What does it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contain?</a:t>
            </a:r>
            <a:endParaRPr sz="1000" dirty="0">
              <a:latin typeface="Arial"/>
              <a:cs typeface="Arial"/>
            </a:endParaRPr>
          </a:p>
          <a:p>
            <a:pPr marL="18415" marR="5080">
              <a:lnSpc>
                <a:spcPct val="100000"/>
              </a:lnSpc>
              <a:spcBef>
                <a:spcPts val="330"/>
              </a:spcBef>
            </a:pPr>
            <a:r>
              <a:rPr sz="1000" spc="-5" dirty="0">
                <a:latin typeface="Arial"/>
                <a:cs typeface="Arial"/>
              </a:rPr>
              <a:t>Commonly used components and functions that need not be implemented </a:t>
            </a:r>
            <a:r>
              <a:rPr sz="1000" spc="-15" dirty="0">
                <a:latin typeface="Arial"/>
                <a:cs typeface="Arial"/>
              </a:rPr>
              <a:t>by  </a:t>
            </a:r>
            <a:r>
              <a:rPr sz="1000" spc="-5" dirty="0">
                <a:latin typeface="Arial"/>
                <a:cs typeface="Arial"/>
              </a:rPr>
              <a:t>applications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separately.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60" name="object 60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300563" y="3331252"/>
            <a:ext cx="2413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7</a:t>
            </a:fld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" y="129032"/>
            <a:ext cx="4610100" cy="215444"/>
          </a:xfrm>
        </p:spPr>
        <p:txBody>
          <a:bodyPr/>
          <a:lstStyle/>
          <a:p>
            <a:r>
              <a:rPr lang="en-US" spc="10" dirty="0"/>
              <a:t>Middleware: </a:t>
            </a:r>
            <a:r>
              <a:rPr lang="en-US" spc="15" dirty="0"/>
              <a:t>the </a:t>
            </a:r>
            <a:r>
              <a:rPr lang="en-US" spc="25" dirty="0"/>
              <a:t>OS </a:t>
            </a:r>
            <a:r>
              <a:rPr lang="en-US" spc="10" dirty="0"/>
              <a:t>of distributed</a:t>
            </a:r>
            <a:r>
              <a:rPr lang="en-US" spc="55" dirty="0"/>
              <a:t> </a:t>
            </a:r>
            <a:r>
              <a:rPr lang="en-US" spc="15" dirty="0"/>
              <a:t>systems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209" y="892175"/>
            <a:ext cx="4388891" cy="846386"/>
          </a:xfrm>
        </p:spPr>
        <p:txBody>
          <a:bodyPr/>
          <a:lstStyle/>
          <a:p>
            <a:r>
              <a:rPr lang="en-US" sz="1100" dirty="0" smtClean="0"/>
              <a:t>Services:</a:t>
            </a:r>
          </a:p>
          <a:p>
            <a:pPr marL="228600" indent="-228600">
              <a:buAutoNum type="arabicPeriod"/>
            </a:pPr>
            <a:r>
              <a:rPr lang="en-US" sz="1100" dirty="0" smtClean="0"/>
              <a:t>Facilitates for inter application communication</a:t>
            </a:r>
          </a:p>
          <a:p>
            <a:pPr marL="228600" indent="-228600">
              <a:buAutoNum type="arabicPeriod"/>
            </a:pPr>
            <a:r>
              <a:rPr lang="en-US" sz="1100" dirty="0" smtClean="0"/>
              <a:t>Security services</a:t>
            </a:r>
          </a:p>
          <a:p>
            <a:pPr marL="228600" indent="-228600">
              <a:buAutoNum type="arabicPeriod"/>
            </a:pPr>
            <a:r>
              <a:rPr lang="en-US" sz="1100" dirty="0" smtClean="0"/>
              <a:t>Accounting services</a:t>
            </a:r>
          </a:p>
          <a:p>
            <a:pPr marL="228600" indent="-228600">
              <a:buAutoNum type="arabicPeriod"/>
            </a:pPr>
            <a:r>
              <a:rPr lang="en-US" sz="1100" dirty="0" smtClean="0"/>
              <a:t>Masking of any recovery from failure</a:t>
            </a:r>
            <a:endParaRPr lang="en-US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247650" y="2286260"/>
            <a:ext cx="4038600" cy="7386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The main difference with their OS equivalents is that middleware services are offered in a networked manner</a:t>
            </a:r>
            <a:endParaRPr lang="en-US" sz="1400" dirty="0"/>
          </a:p>
        </p:txBody>
      </p:sp>
      <p:sp>
        <p:nvSpPr>
          <p:cNvPr id="6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58185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What is a</a:t>
            </a:r>
            <a:r>
              <a:rPr sz="600" spc="6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system?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Middleware and distributed</a:t>
            </a:r>
            <a:r>
              <a:rPr sz="600" spc="-1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1592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9032"/>
            <a:ext cx="4610100" cy="215444"/>
          </a:xfrm>
        </p:spPr>
        <p:txBody>
          <a:bodyPr/>
          <a:lstStyle/>
          <a:p>
            <a:r>
              <a:rPr lang="en-US" dirty="0"/>
              <a:t>Middleware: the OS of distributed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04" y="806558"/>
            <a:ext cx="4388891" cy="2031325"/>
          </a:xfrm>
          <a:solidFill>
            <a:srgbClr val="FFC000"/>
          </a:solidFill>
        </p:spPr>
        <p:txBody>
          <a:bodyPr/>
          <a:lstStyle/>
          <a:p>
            <a:r>
              <a:rPr lang="en-US" sz="1200" dirty="0" smtClean="0"/>
              <a:t>Middle ware can also be viewed as container of commonly used components and functions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FF0000"/>
                </a:solidFill>
              </a:rPr>
              <a:t>Communications</a:t>
            </a:r>
            <a:r>
              <a:rPr lang="en-US" sz="1200" dirty="0" smtClean="0"/>
              <a:t>: Common Com service is Remote procedure call (RPC)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FF0000"/>
                </a:solidFill>
              </a:rPr>
              <a:t>Transactions</a:t>
            </a:r>
            <a:r>
              <a:rPr lang="en-US" sz="1200" dirty="0" smtClean="0"/>
              <a:t>: Make use of multiple services which are distributed amongst all computers. All or nothing is called atomic transaction.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FF0000"/>
                </a:solidFill>
              </a:rPr>
              <a:t>Service composition</a:t>
            </a:r>
            <a:r>
              <a:rPr lang="en-US" sz="1200" dirty="0" smtClean="0"/>
              <a:t>: Compound applications (joining in two or more applications) Web services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FF0000"/>
                </a:solidFill>
              </a:rPr>
              <a:t>Reliability</a:t>
            </a:r>
            <a:r>
              <a:rPr lang="en-US" sz="1200" dirty="0" smtClean="0"/>
              <a:t>: one of major challenges regarding distributed environment.</a:t>
            </a:r>
          </a:p>
        </p:txBody>
      </p:sp>
      <p:sp>
        <p:nvSpPr>
          <p:cNvPr id="5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58185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What is a</a:t>
            </a:r>
            <a:r>
              <a:rPr sz="600" spc="6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system?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Middleware and distributed</a:t>
            </a:r>
            <a:r>
              <a:rPr sz="600" spc="-1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7373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92201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600" spc="-2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2303995" y="0"/>
                </a:moveTo>
                <a:lnTo>
                  <a:pt x="0" y="0"/>
                </a:lnTo>
                <a:lnTo>
                  <a:pt x="0" y="129032"/>
                </a:lnTo>
                <a:lnTo>
                  <a:pt x="2303995" y="129032"/>
                </a:lnTo>
                <a:lnTo>
                  <a:pt x="2303995" y="0"/>
                </a:lnTo>
                <a:close/>
              </a:path>
            </a:pathLst>
          </a:custGeom>
          <a:solidFill>
            <a:srgbClr val="FCC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z="1400" spc="20" dirty="0">
                <a:solidFill>
                  <a:srgbClr val="04064C"/>
                </a:solidFill>
                <a:latin typeface="Arial"/>
                <a:cs typeface="Arial"/>
              </a:rPr>
              <a:t>What </a:t>
            </a:r>
            <a:r>
              <a:rPr sz="1400" spc="15" dirty="0">
                <a:solidFill>
                  <a:srgbClr val="04064C"/>
                </a:solidFill>
                <a:latin typeface="Arial"/>
                <a:cs typeface="Arial"/>
              </a:rPr>
              <a:t>do </a:t>
            </a:r>
            <a:r>
              <a:rPr sz="1400" spc="10" dirty="0">
                <a:solidFill>
                  <a:srgbClr val="04064C"/>
                </a:solidFill>
                <a:latin typeface="Arial"/>
                <a:cs typeface="Arial"/>
              </a:rPr>
              <a:t>we want to</a:t>
            </a:r>
            <a:r>
              <a:rPr sz="1400" spc="-4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4064C"/>
                </a:solidFill>
                <a:latin typeface="Arial"/>
                <a:cs typeface="Arial"/>
              </a:rPr>
              <a:t>achieve?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1259865"/>
            <a:ext cx="4483735" cy="1006475"/>
            <a:chOff x="87743" y="1259865"/>
            <a:chExt cx="4483735" cy="1006475"/>
          </a:xfrm>
          <a:solidFill>
            <a:srgbClr val="FFC000"/>
          </a:solidFill>
        </p:grpSpPr>
        <p:sp>
          <p:nvSpPr>
            <p:cNvPr id="6" name="object 6"/>
            <p:cNvSpPr/>
            <p:nvPr/>
          </p:nvSpPr>
          <p:spPr>
            <a:xfrm>
              <a:off x="87743" y="125986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2164740"/>
              <a:ext cx="101600" cy="101600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2152040"/>
              <a:ext cx="4381715" cy="114300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1310424"/>
              <a:ext cx="50749" cy="854316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1304278"/>
              <a:ext cx="4432935" cy="911860"/>
            </a:xfrm>
            <a:custGeom>
              <a:avLst/>
              <a:gdLst/>
              <a:ahLst/>
              <a:cxnLst/>
              <a:rect l="l" t="t" r="r" b="b"/>
              <a:pathLst>
                <a:path w="4432935" h="911860">
                  <a:moveTo>
                    <a:pt x="4432567" y="0"/>
                  </a:moveTo>
                  <a:lnTo>
                    <a:pt x="0" y="0"/>
                  </a:lnTo>
                  <a:lnTo>
                    <a:pt x="0" y="860461"/>
                  </a:lnTo>
                  <a:lnTo>
                    <a:pt x="4008" y="880186"/>
                  </a:lnTo>
                  <a:lnTo>
                    <a:pt x="14922" y="896339"/>
                  </a:lnTo>
                  <a:lnTo>
                    <a:pt x="31075" y="907253"/>
                  </a:lnTo>
                  <a:lnTo>
                    <a:pt x="50800" y="911262"/>
                  </a:lnTo>
                  <a:lnTo>
                    <a:pt x="4381767" y="911262"/>
                  </a:lnTo>
                  <a:lnTo>
                    <a:pt x="4401492" y="907253"/>
                  </a:lnTo>
                  <a:lnTo>
                    <a:pt x="4417644" y="896339"/>
                  </a:lnTo>
                  <a:lnTo>
                    <a:pt x="4428558" y="880186"/>
                  </a:lnTo>
                  <a:lnTo>
                    <a:pt x="4432567" y="860461"/>
                  </a:lnTo>
                  <a:lnTo>
                    <a:pt x="44325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1348515"/>
              <a:ext cx="0" cy="835660"/>
            </a:xfrm>
            <a:custGeom>
              <a:avLst/>
              <a:gdLst/>
              <a:ahLst/>
              <a:cxnLst/>
              <a:rect l="l" t="t" r="r" b="b"/>
              <a:pathLst>
                <a:path h="835660">
                  <a:moveTo>
                    <a:pt x="0" y="835274"/>
                  </a:moveTo>
                  <a:lnTo>
                    <a:pt x="0" y="0"/>
                  </a:lnTo>
                </a:path>
              </a:pathLst>
            </a:custGeom>
            <a:grpFill/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13358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grpFill/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13231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grpFill/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13104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grpFill/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57" y="1381467"/>
              <a:ext cx="76809" cy="76809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557" y="1609217"/>
              <a:ext cx="76809" cy="76809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9557" y="1836953"/>
              <a:ext cx="76809" cy="76809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9557" y="2064702"/>
              <a:ext cx="76809" cy="76809"/>
            </a:xfrm>
            <a:prstGeom prst="rect">
              <a:avLst/>
            </a:pr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2932" y="1245660"/>
            <a:ext cx="1657350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4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Support </a:t>
            </a:r>
            <a:r>
              <a:rPr sz="1000" spc="-5" dirty="0">
                <a:latin typeface="Arial"/>
                <a:cs typeface="Arial"/>
              </a:rPr>
              <a:t>sharing of resources  Distribution transparency  Openness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000" spc="-5" dirty="0">
                <a:latin typeface="Arial"/>
                <a:cs typeface="Arial"/>
              </a:rPr>
              <a:t>Scalability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21" name="object 21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300563" y="3331252"/>
            <a:ext cx="2413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10</a:t>
            </a:fld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03929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Supporting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resource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sharing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5" dirty="0"/>
              <a:t>Sharing</a:t>
            </a:r>
            <a:r>
              <a:rPr dirty="0"/>
              <a:t> </a:t>
            </a:r>
            <a:r>
              <a:rPr spc="15" dirty="0"/>
              <a:t>resources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946213"/>
            <a:ext cx="4483735" cy="912494"/>
            <a:chOff x="87743" y="946213"/>
            <a:chExt cx="4483735" cy="912494"/>
          </a:xfrm>
        </p:grpSpPr>
        <p:sp>
          <p:nvSpPr>
            <p:cNvPr id="5" name="object 5"/>
            <p:cNvSpPr/>
            <p:nvPr/>
          </p:nvSpPr>
          <p:spPr>
            <a:xfrm>
              <a:off x="87743" y="946213"/>
              <a:ext cx="4432935" cy="183515"/>
            </a:xfrm>
            <a:custGeom>
              <a:avLst/>
              <a:gdLst/>
              <a:ahLst/>
              <a:cxnLst/>
              <a:rect l="l" t="t" r="r" b="b"/>
              <a:pathLst>
                <a:path w="4432935" h="183515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3036"/>
                  </a:lnTo>
                  <a:lnTo>
                    <a:pt x="4432567" y="183036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F9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1116596"/>
              <a:ext cx="4432566" cy="5060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756702"/>
              <a:ext cx="101600" cy="1016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744002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990447"/>
              <a:ext cx="50749" cy="76625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1160870"/>
              <a:ext cx="4432935" cy="647065"/>
            </a:xfrm>
            <a:custGeom>
              <a:avLst/>
              <a:gdLst/>
              <a:ahLst/>
              <a:cxnLst/>
              <a:rect l="l" t="t" r="r" b="b"/>
              <a:pathLst>
                <a:path w="4432935" h="647064">
                  <a:moveTo>
                    <a:pt x="4432567" y="0"/>
                  </a:moveTo>
                  <a:lnTo>
                    <a:pt x="0" y="0"/>
                  </a:lnTo>
                  <a:lnTo>
                    <a:pt x="0" y="595831"/>
                  </a:lnTo>
                  <a:lnTo>
                    <a:pt x="4008" y="615556"/>
                  </a:lnTo>
                  <a:lnTo>
                    <a:pt x="14922" y="631709"/>
                  </a:lnTo>
                  <a:lnTo>
                    <a:pt x="31075" y="642623"/>
                  </a:lnTo>
                  <a:lnTo>
                    <a:pt x="50800" y="646632"/>
                  </a:lnTo>
                  <a:lnTo>
                    <a:pt x="4381767" y="646632"/>
                  </a:lnTo>
                  <a:lnTo>
                    <a:pt x="4401492" y="642623"/>
                  </a:lnTo>
                  <a:lnTo>
                    <a:pt x="4417644" y="631709"/>
                  </a:lnTo>
                  <a:lnTo>
                    <a:pt x="4428558" y="615556"/>
                  </a:lnTo>
                  <a:lnTo>
                    <a:pt x="4432567" y="59583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CFE6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1028540"/>
              <a:ext cx="0" cy="747395"/>
            </a:xfrm>
            <a:custGeom>
              <a:avLst/>
              <a:gdLst/>
              <a:ahLst/>
              <a:cxnLst/>
              <a:rect l="l" t="t" r="r" b="b"/>
              <a:pathLst>
                <a:path h="747394">
                  <a:moveTo>
                    <a:pt x="0" y="7472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10158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10031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9904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57" y="1200086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557" y="1351927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9557" y="1503756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9557" y="1655584"/>
              <a:ext cx="76809" cy="7680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7743" y="1959431"/>
            <a:ext cx="4483735" cy="777875"/>
            <a:chOff x="87743" y="1959431"/>
            <a:chExt cx="4483735" cy="777875"/>
          </a:xfrm>
        </p:grpSpPr>
        <p:sp>
          <p:nvSpPr>
            <p:cNvPr id="20" name="object 20"/>
            <p:cNvSpPr/>
            <p:nvPr/>
          </p:nvSpPr>
          <p:spPr>
            <a:xfrm>
              <a:off x="87743" y="1959431"/>
              <a:ext cx="4432935" cy="175895"/>
            </a:xfrm>
            <a:custGeom>
              <a:avLst/>
              <a:gdLst/>
              <a:ahLst/>
              <a:cxnLst/>
              <a:rect l="l" t="t" r="r" b="b"/>
              <a:pathLst>
                <a:path w="4432935" h="175894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635"/>
                  </a:lnTo>
                  <a:lnTo>
                    <a:pt x="4432567" y="17563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44" y="2122411"/>
              <a:ext cx="4432566" cy="5060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8544" y="2635224"/>
              <a:ext cx="101600" cy="10160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9344" y="2622524"/>
              <a:ext cx="4381715" cy="11430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2003666"/>
              <a:ext cx="50749" cy="63155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743" y="2166681"/>
              <a:ext cx="4432935" cy="519430"/>
            </a:xfrm>
            <a:custGeom>
              <a:avLst/>
              <a:gdLst/>
              <a:ahLst/>
              <a:cxnLst/>
              <a:rect l="l" t="t" r="r" b="b"/>
              <a:pathLst>
                <a:path w="4432935" h="519430">
                  <a:moveTo>
                    <a:pt x="4432567" y="0"/>
                  </a:moveTo>
                  <a:lnTo>
                    <a:pt x="0" y="0"/>
                  </a:lnTo>
                  <a:lnTo>
                    <a:pt x="0" y="468543"/>
                  </a:lnTo>
                  <a:lnTo>
                    <a:pt x="4008" y="488268"/>
                  </a:lnTo>
                  <a:lnTo>
                    <a:pt x="14922" y="504421"/>
                  </a:lnTo>
                  <a:lnTo>
                    <a:pt x="31075" y="515335"/>
                  </a:lnTo>
                  <a:lnTo>
                    <a:pt x="50800" y="519344"/>
                  </a:lnTo>
                  <a:lnTo>
                    <a:pt x="4381767" y="519344"/>
                  </a:lnTo>
                  <a:lnTo>
                    <a:pt x="4401492" y="515335"/>
                  </a:lnTo>
                  <a:lnTo>
                    <a:pt x="4417644" y="504421"/>
                  </a:lnTo>
                  <a:lnTo>
                    <a:pt x="4428558" y="488268"/>
                  </a:lnTo>
                  <a:lnTo>
                    <a:pt x="4432567" y="46854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11" y="2041751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h="612775">
                  <a:moveTo>
                    <a:pt x="0" y="6125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11" y="202905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11" y="201635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0311" y="200365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1665" y="888282"/>
            <a:ext cx="3615054" cy="176339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90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Canonical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 examples</a:t>
            </a:r>
            <a:endParaRPr sz="1000" dirty="0">
              <a:latin typeface="Arial"/>
              <a:cs typeface="Arial"/>
            </a:endParaRPr>
          </a:p>
          <a:p>
            <a:pPr marL="293370">
              <a:lnSpc>
                <a:spcPts val="1200"/>
              </a:lnSpc>
              <a:spcBef>
                <a:spcPts val="390"/>
              </a:spcBef>
            </a:pPr>
            <a:r>
              <a:rPr sz="1000" spc="-5" dirty="0">
                <a:latin typeface="Arial"/>
                <a:cs typeface="Arial"/>
              </a:rPr>
              <a:t>Cloud-based shared storage 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files</a:t>
            </a:r>
            <a:endParaRPr sz="1000" dirty="0">
              <a:latin typeface="Arial"/>
              <a:cs typeface="Arial"/>
            </a:endParaRPr>
          </a:p>
          <a:p>
            <a:pPr marL="293370">
              <a:lnSpc>
                <a:spcPts val="1195"/>
              </a:lnSpc>
            </a:pPr>
            <a:r>
              <a:rPr sz="1000" spc="-10" dirty="0">
                <a:latin typeface="Arial"/>
                <a:cs typeface="Arial"/>
              </a:rPr>
              <a:t>Peer-to-peer </a:t>
            </a:r>
            <a:r>
              <a:rPr sz="1000" spc="-5" dirty="0">
                <a:latin typeface="Arial"/>
                <a:cs typeface="Arial"/>
              </a:rPr>
              <a:t>assisted multimedia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streaming</a:t>
            </a:r>
            <a:endParaRPr sz="1000" dirty="0">
              <a:latin typeface="Arial"/>
              <a:cs typeface="Arial"/>
            </a:endParaRPr>
          </a:p>
          <a:p>
            <a:pPr marL="293370" marR="5080">
              <a:lnSpc>
                <a:spcPts val="1200"/>
              </a:lnSpc>
              <a:spcBef>
                <a:spcPts val="35"/>
              </a:spcBef>
            </a:pPr>
            <a:r>
              <a:rPr sz="1000" spc="-5" dirty="0">
                <a:latin typeface="Arial"/>
                <a:cs typeface="Arial"/>
              </a:rPr>
              <a:t>Shared mail </a:t>
            </a:r>
            <a:r>
              <a:rPr sz="1000" dirty="0">
                <a:latin typeface="Arial"/>
                <a:cs typeface="Arial"/>
              </a:rPr>
              <a:t>services </a:t>
            </a:r>
            <a:r>
              <a:rPr sz="1000" spc="-5" dirty="0">
                <a:latin typeface="Arial"/>
                <a:cs typeface="Arial"/>
              </a:rPr>
              <a:t>(think of outsourced mail systems)  Shared </a:t>
            </a:r>
            <a:r>
              <a:rPr sz="1000" spc="-15" dirty="0">
                <a:latin typeface="Arial"/>
                <a:cs typeface="Arial"/>
              </a:rPr>
              <a:t>Web </a:t>
            </a:r>
            <a:r>
              <a:rPr sz="1000" spc="-5" dirty="0">
                <a:latin typeface="Arial"/>
                <a:cs typeface="Arial"/>
              </a:rPr>
              <a:t>hosting (think of content distribution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networks)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Observation</a:t>
            </a:r>
            <a:endParaRPr sz="1000" dirty="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615"/>
              </a:spcBef>
            </a:pPr>
            <a:r>
              <a:rPr sz="1000" i="1" spc="-5" dirty="0">
                <a:latin typeface="Arial"/>
                <a:cs typeface="Arial"/>
              </a:rPr>
              <a:t>“The network is the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computer”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(quote from John </a:t>
            </a:r>
            <a:r>
              <a:rPr sz="1000" spc="-10" dirty="0">
                <a:latin typeface="Arial"/>
                <a:cs typeface="Arial"/>
              </a:rPr>
              <a:t>Gage, </a:t>
            </a:r>
            <a:r>
              <a:rPr sz="1000" spc="-5" dirty="0">
                <a:latin typeface="Arial"/>
                <a:cs typeface="Arial"/>
              </a:rPr>
              <a:t>then at Sun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Microsystems)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32" name="object 32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300563" y="3331252"/>
            <a:ext cx="2413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11</a:t>
            </a:fld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4554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Making distribution transparent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0" dirty="0"/>
              <a:t>Distribution</a:t>
            </a:r>
            <a:r>
              <a:rPr dirty="0"/>
              <a:t> </a:t>
            </a:r>
            <a:r>
              <a:rPr spc="15" dirty="0"/>
              <a:t>transparency</a:t>
            </a:r>
          </a:p>
        </p:txBody>
      </p:sp>
      <p:sp>
        <p:nvSpPr>
          <p:cNvPr id="4" name="object 4"/>
          <p:cNvSpPr/>
          <p:nvPr/>
        </p:nvSpPr>
        <p:spPr>
          <a:xfrm>
            <a:off x="87743" y="788402"/>
            <a:ext cx="4432935" cy="182245"/>
          </a:xfrm>
          <a:custGeom>
            <a:avLst/>
            <a:gdLst/>
            <a:ahLst/>
            <a:cxnLst/>
            <a:rect l="l" t="t" r="r" b="b"/>
            <a:pathLst>
              <a:path w="4432935" h="182244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1896"/>
                </a:lnTo>
                <a:lnTo>
                  <a:pt x="4432567" y="181896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FCBB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1920" y="778692"/>
            <a:ext cx="354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25" dirty="0">
                <a:solidFill>
                  <a:srgbClr val="04064C"/>
                </a:solidFill>
                <a:latin typeface="Arial"/>
                <a:cs typeface="Arial"/>
              </a:rPr>
              <a:t>T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ypes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832624"/>
            <a:ext cx="4520452" cy="2350750"/>
            <a:chOff x="87743" y="832624"/>
            <a:chExt cx="4483735" cy="2141220"/>
          </a:xfrm>
        </p:grpSpPr>
        <p:sp>
          <p:nvSpPr>
            <p:cNvPr id="7" name="object 7"/>
            <p:cNvSpPr/>
            <p:nvPr/>
          </p:nvSpPr>
          <p:spPr>
            <a:xfrm>
              <a:off x="87744" y="957643"/>
              <a:ext cx="4432566" cy="5060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8544" y="2871940"/>
              <a:ext cx="101600" cy="1016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9344" y="2859239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1" y="832637"/>
              <a:ext cx="50749" cy="203930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743" y="1001915"/>
              <a:ext cx="4432935" cy="1920875"/>
            </a:xfrm>
            <a:custGeom>
              <a:avLst/>
              <a:gdLst/>
              <a:ahLst/>
              <a:cxnLst/>
              <a:rect l="l" t="t" r="r" b="b"/>
              <a:pathLst>
                <a:path w="4432935" h="1920875">
                  <a:moveTo>
                    <a:pt x="4432567" y="0"/>
                  </a:moveTo>
                  <a:lnTo>
                    <a:pt x="0" y="0"/>
                  </a:lnTo>
                  <a:lnTo>
                    <a:pt x="0" y="1870024"/>
                  </a:lnTo>
                  <a:lnTo>
                    <a:pt x="4008" y="1889748"/>
                  </a:lnTo>
                  <a:lnTo>
                    <a:pt x="14922" y="1905901"/>
                  </a:lnTo>
                  <a:lnTo>
                    <a:pt x="31075" y="1916816"/>
                  </a:lnTo>
                  <a:lnTo>
                    <a:pt x="50800" y="1920824"/>
                  </a:lnTo>
                  <a:lnTo>
                    <a:pt x="4381767" y="1920824"/>
                  </a:lnTo>
                  <a:lnTo>
                    <a:pt x="4401492" y="1916816"/>
                  </a:lnTo>
                  <a:lnTo>
                    <a:pt x="4417644" y="1905901"/>
                  </a:lnTo>
                  <a:lnTo>
                    <a:pt x="4428558" y="1889748"/>
                  </a:lnTo>
                  <a:lnTo>
                    <a:pt x="4432567" y="1870024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870724"/>
              <a:ext cx="0" cy="2020570"/>
            </a:xfrm>
            <a:custGeom>
              <a:avLst/>
              <a:gdLst/>
              <a:ahLst/>
              <a:cxnLst/>
              <a:rect l="l" t="t" r="r" b="b"/>
              <a:pathLst>
                <a:path h="2020570">
                  <a:moveTo>
                    <a:pt x="0" y="202026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8580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8453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11" y="8326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271125"/>
              </p:ext>
            </p:extLst>
          </p:nvPr>
        </p:nvGraphicFramePr>
        <p:xfrm>
          <a:off x="250266" y="1027239"/>
          <a:ext cx="4102100" cy="20840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765"/>
                <a:gridCol w="3188335"/>
              </a:tblGrid>
              <a:tr h="179031"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15" dirty="0">
                          <a:solidFill>
                            <a:srgbClr val="0000FA"/>
                          </a:solidFill>
                          <a:latin typeface="Arial"/>
                          <a:cs typeface="Arial"/>
                        </a:rPr>
                        <a:t>Transparency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solidFill>
                            <a:srgbClr val="0000FA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873">
                <a:tc>
                  <a:txBody>
                    <a:bodyPr/>
                    <a:lstStyle/>
                    <a:p>
                      <a:pPr marL="78105">
                        <a:lnSpc>
                          <a:spcPts val="1195"/>
                        </a:lnSpc>
                      </a:pPr>
                      <a:r>
                        <a:rPr sz="1000" spc="-5" dirty="0">
                          <a:solidFill>
                            <a:srgbClr val="FA0000"/>
                          </a:solidFill>
                          <a:latin typeface="Arial"/>
                          <a:cs typeface="Arial"/>
                        </a:rPr>
                        <a:t>Access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245745">
                        <a:lnSpc>
                          <a:spcPts val="1200"/>
                        </a:lnSpc>
                        <a:spcBef>
                          <a:spcPts val="35"/>
                        </a:spcBef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Hide differences in data representation and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how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an  object is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 smtClean="0">
                          <a:latin typeface="Arial"/>
                          <a:cs typeface="Arial"/>
                        </a:rPr>
                        <a:t>accessed</a:t>
                      </a:r>
                      <a:r>
                        <a:rPr lang="en-US" sz="1000" spc="-5" dirty="0" smtClean="0">
                          <a:latin typeface="Arial"/>
                          <a:cs typeface="Arial"/>
                        </a:rPr>
                        <a:t>- </a:t>
                      </a:r>
                      <a:r>
                        <a:rPr lang="en-US" sz="1000" u="sng" spc="-5" dirty="0" smtClean="0">
                          <a:latin typeface="Arial"/>
                          <a:cs typeface="Arial"/>
                        </a:rPr>
                        <a:t>hiding differences in data representation</a:t>
                      </a:r>
                      <a:r>
                        <a:rPr lang="en-US" sz="1000" spc="-5" dirty="0" smtClean="0">
                          <a:latin typeface="Arial"/>
                          <a:cs typeface="Arial"/>
                        </a:rPr>
                        <a:t>.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072"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solidFill>
                            <a:srgbClr val="FA0000"/>
                          </a:solidFill>
                          <a:latin typeface="Arial"/>
                          <a:cs typeface="Arial"/>
                        </a:rPr>
                        <a:t>Location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Hide where an object is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 smtClean="0">
                          <a:latin typeface="Arial"/>
                          <a:cs typeface="Arial"/>
                        </a:rPr>
                        <a:t>located</a:t>
                      </a:r>
                      <a:r>
                        <a:rPr lang="en-US" sz="1000" spc="-5" dirty="0" smtClean="0">
                          <a:latin typeface="Arial"/>
                          <a:cs typeface="Arial"/>
                        </a:rPr>
                        <a:t>.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900"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solidFill>
                            <a:srgbClr val="FA0000"/>
                          </a:solidFill>
                          <a:latin typeface="Arial"/>
                          <a:cs typeface="Arial"/>
                        </a:rPr>
                        <a:t>Relocation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Hide that an object 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may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moved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to another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location</a:t>
                      </a:r>
                      <a:endParaRPr sz="1000" dirty="0">
                        <a:latin typeface="Arial"/>
                        <a:cs typeface="Arial"/>
                      </a:endParaRPr>
                    </a:p>
                    <a:p>
                      <a:pPr marL="73660">
                        <a:lnSpc>
                          <a:spcPts val="1200"/>
                        </a:lnSpc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while in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 smtClean="0">
                          <a:latin typeface="Arial"/>
                          <a:cs typeface="Arial"/>
                        </a:rPr>
                        <a:t>use</a:t>
                      </a:r>
                      <a:r>
                        <a:rPr lang="en-US" sz="1000" spc="-5" dirty="0" smtClean="0">
                          <a:latin typeface="Arial"/>
                          <a:cs typeface="Arial"/>
                        </a:rPr>
                        <a:t>- </a:t>
                      </a:r>
                      <a:r>
                        <a:rPr lang="en-US" sz="1000" u="sng" spc="-5" dirty="0" smtClean="0">
                          <a:latin typeface="Arial"/>
                          <a:cs typeface="Arial"/>
                        </a:rPr>
                        <a:t>main feature of cloud computing</a:t>
                      </a:r>
                      <a:endParaRPr sz="1000" u="sng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084"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solidFill>
                            <a:srgbClr val="FA0000"/>
                          </a:solidFill>
                          <a:latin typeface="Arial"/>
                          <a:cs typeface="Arial"/>
                        </a:rPr>
                        <a:t>Migration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Hide that an object 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may move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to another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 smtClean="0">
                          <a:latin typeface="Arial"/>
                          <a:cs typeface="Arial"/>
                        </a:rPr>
                        <a:t>location</a:t>
                      </a:r>
                      <a:r>
                        <a:rPr lang="en-US" sz="1000" spc="-5" dirty="0" smtClean="0">
                          <a:latin typeface="Arial"/>
                          <a:cs typeface="Arial"/>
                        </a:rPr>
                        <a:t>- mobility of an object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072"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solidFill>
                            <a:srgbClr val="FA0000"/>
                          </a:solidFill>
                          <a:latin typeface="Arial"/>
                          <a:cs typeface="Arial"/>
                        </a:rPr>
                        <a:t>Replication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Hide that an object is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replicated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3900"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solidFill>
                            <a:srgbClr val="FA0000"/>
                          </a:solidFill>
                          <a:latin typeface="Arial"/>
                          <a:cs typeface="Arial"/>
                        </a:rPr>
                        <a:t>Concurrency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Hide that an object 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may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be shared 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15" dirty="0">
                          <a:latin typeface="Arial"/>
                          <a:cs typeface="Arial"/>
                        </a:rPr>
                        <a:t>several</a:t>
                      </a:r>
                      <a:endParaRPr sz="1000" dirty="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ts val="1200"/>
                        </a:lnSpc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independent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users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072"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10" dirty="0">
                          <a:solidFill>
                            <a:srgbClr val="FA0000"/>
                          </a:solidFill>
                          <a:latin typeface="Arial"/>
                          <a:cs typeface="Arial"/>
                        </a:rPr>
                        <a:t>Failure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40"/>
                        </a:lnSpc>
                      </a:pPr>
                      <a:r>
                        <a:rPr sz="1000" spc="-5" dirty="0">
                          <a:latin typeface="Arial"/>
                          <a:cs typeface="Arial"/>
                        </a:rPr>
                        <a:t>Hide the </a:t>
                      </a:r>
                      <a:r>
                        <a:rPr sz="1000" spc="-10" dirty="0">
                          <a:latin typeface="Arial"/>
                          <a:cs typeface="Arial"/>
                        </a:rPr>
                        <a:t>failure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and recovery of an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object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18" name="object 18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700" y="3331252"/>
            <a:ext cx="115443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Types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of distribution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transparency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00563" y="3331252"/>
            <a:ext cx="2413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12</a:t>
            </a:fld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8544" y="396166"/>
            <a:ext cx="4376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Hide the fact that its processes and resources are physically distributed</a:t>
            </a:r>
          </a:p>
          <a:p>
            <a:pPr algn="ctr"/>
            <a:r>
              <a:rPr lang="en-US" sz="1100" dirty="0" smtClean="0"/>
              <a:t>Provide abstraction</a:t>
            </a:r>
            <a:endParaRPr lang="en-US" sz="11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69385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Being</a:t>
            </a:r>
            <a:r>
              <a:rPr sz="600" spc="-1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scalable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5" dirty="0"/>
              <a:t>Scale </a:t>
            </a:r>
            <a:r>
              <a:rPr spc="10" dirty="0"/>
              <a:t>in distributed</a:t>
            </a:r>
            <a:r>
              <a:rPr spc="-15" dirty="0"/>
              <a:t> </a:t>
            </a:r>
            <a:r>
              <a:rPr spc="15" dirty="0"/>
              <a:t>systems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661479"/>
            <a:ext cx="4483735" cy="600710"/>
            <a:chOff x="87743" y="661479"/>
            <a:chExt cx="4483735" cy="600710"/>
          </a:xfrm>
        </p:grpSpPr>
        <p:sp>
          <p:nvSpPr>
            <p:cNvPr id="5" name="object 5"/>
            <p:cNvSpPr/>
            <p:nvPr/>
          </p:nvSpPr>
          <p:spPr>
            <a:xfrm>
              <a:off x="87743" y="661479"/>
              <a:ext cx="4432935" cy="175895"/>
            </a:xfrm>
            <a:custGeom>
              <a:avLst/>
              <a:gdLst/>
              <a:ahLst/>
              <a:cxnLst/>
              <a:rect l="l" t="t" r="r" b="b"/>
              <a:pathLst>
                <a:path w="4432935" h="175894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635"/>
                  </a:lnTo>
                  <a:lnTo>
                    <a:pt x="4432567" y="17563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824458"/>
              <a:ext cx="4432566" cy="5060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160081"/>
              <a:ext cx="101600" cy="1016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147381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705713"/>
              <a:ext cx="50749" cy="45436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868738"/>
              <a:ext cx="4432935" cy="342265"/>
            </a:xfrm>
            <a:custGeom>
              <a:avLst/>
              <a:gdLst/>
              <a:ahLst/>
              <a:cxnLst/>
              <a:rect l="l" t="t" r="r" b="b"/>
              <a:pathLst>
                <a:path w="4432935" h="342265">
                  <a:moveTo>
                    <a:pt x="4432567" y="0"/>
                  </a:moveTo>
                  <a:lnTo>
                    <a:pt x="0" y="0"/>
                  </a:lnTo>
                  <a:lnTo>
                    <a:pt x="0" y="291343"/>
                  </a:lnTo>
                  <a:lnTo>
                    <a:pt x="4008" y="311067"/>
                  </a:lnTo>
                  <a:lnTo>
                    <a:pt x="14922" y="327220"/>
                  </a:lnTo>
                  <a:lnTo>
                    <a:pt x="31075" y="338134"/>
                  </a:lnTo>
                  <a:lnTo>
                    <a:pt x="50800" y="342143"/>
                  </a:lnTo>
                  <a:lnTo>
                    <a:pt x="4381767" y="342143"/>
                  </a:lnTo>
                  <a:lnTo>
                    <a:pt x="4401492" y="338134"/>
                  </a:lnTo>
                  <a:lnTo>
                    <a:pt x="4417644" y="327220"/>
                  </a:lnTo>
                  <a:lnTo>
                    <a:pt x="4428558" y="311067"/>
                  </a:lnTo>
                  <a:lnTo>
                    <a:pt x="4432567" y="29134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743808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h="435609">
                  <a:moveTo>
                    <a:pt x="0" y="43532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7311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7184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7057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7743" y="1362811"/>
            <a:ext cx="4483735" cy="947419"/>
            <a:chOff x="87743" y="1362811"/>
            <a:chExt cx="4483735" cy="947419"/>
          </a:xfrm>
        </p:grpSpPr>
        <p:sp>
          <p:nvSpPr>
            <p:cNvPr id="16" name="object 16"/>
            <p:cNvSpPr/>
            <p:nvPr/>
          </p:nvSpPr>
          <p:spPr>
            <a:xfrm>
              <a:off x="87743" y="1362811"/>
              <a:ext cx="4432935" cy="181610"/>
            </a:xfrm>
            <a:custGeom>
              <a:avLst/>
              <a:gdLst/>
              <a:ahLst/>
              <a:cxnLst/>
              <a:rect l="l" t="t" r="r" b="b"/>
              <a:pathLst>
                <a:path w="4432935" h="181609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200"/>
                  </a:lnTo>
                  <a:lnTo>
                    <a:pt x="4432567" y="181200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744" y="1531353"/>
              <a:ext cx="4432566" cy="506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544" y="2208339"/>
              <a:ext cx="101600" cy="1016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344" y="2195639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1" y="1407045"/>
              <a:ext cx="50749" cy="80129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43" y="1575625"/>
              <a:ext cx="4432935" cy="683895"/>
            </a:xfrm>
            <a:custGeom>
              <a:avLst/>
              <a:gdLst/>
              <a:ahLst/>
              <a:cxnLst/>
              <a:rect l="l" t="t" r="r" b="b"/>
              <a:pathLst>
                <a:path w="4432935" h="683894">
                  <a:moveTo>
                    <a:pt x="4432567" y="0"/>
                  </a:moveTo>
                  <a:lnTo>
                    <a:pt x="0" y="0"/>
                  </a:lnTo>
                  <a:lnTo>
                    <a:pt x="0" y="632713"/>
                  </a:lnTo>
                  <a:lnTo>
                    <a:pt x="4008" y="652438"/>
                  </a:lnTo>
                  <a:lnTo>
                    <a:pt x="14922" y="668591"/>
                  </a:lnTo>
                  <a:lnTo>
                    <a:pt x="31075" y="679505"/>
                  </a:lnTo>
                  <a:lnTo>
                    <a:pt x="50800" y="683514"/>
                  </a:lnTo>
                  <a:lnTo>
                    <a:pt x="4381767" y="683514"/>
                  </a:lnTo>
                  <a:lnTo>
                    <a:pt x="4401492" y="679505"/>
                  </a:lnTo>
                  <a:lnTo>
                    <a:pt x="4417644" y="668591"/>
                  </a:lnTo>
                  <a:lnTo>
                    <a:pt x="4428558" y="652438"/>
                  </a:lnTo>
                  <a:lnTo>
                    <a:pt x="4432567" y="63271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1" y="1445130"/>
              <a:ext cx="0" cy="782320"/>
            </a:xfrm>
            <a:custGeom>
              <a:avLst/>
              <a:gdLst/>
              <a:ahLst/>
              <a:cxnLst/>
              <a:rect l="l" t="t" r="r" b="b"/>
              <a:pathLst>
                <a:path h="782319">
                  <a:moveTo>
                    <a:pt x="0" y="7822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4324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4197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4070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9557" y="1652803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9557" y="1880552"/>
              <a:ext cx="76809" cy="7680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9557" y="2108301"/>
              <a:ext cx="76809" cy="7680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7743" y="2411069"/>
            <a:ext cx="4483735" cy="753110"/>
            <a:chOff x="87743" y="2411069"/>
            <a:chExt cx="4483735" cy="753110"/>
          </a:xfrm>
        </p:grpSpPr>
        <p:sp>
          <p:nvSpPr>
            <p:cNvPr id="30" name="object 30"/>
            <p:cNvSpPr/>
            <p:nvPr/>
          </p:nvSpPr>
          <p:spPr>
            <a:xfrm>
              <a:off x="87743" y="2411069"/>
              <a:ext cx="4432935" cy="175895"/>
            </a:xfrm>
            <a:custGeom>
              <a:avLst/>
              <a:gdLst/>
              <a:ahLst/>
              <a:cxnLst/>
              <a:rect l="l" t="t" r="r" b="b"/>
              <a:pathLst>
                <a:path w="4432935" h="175894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635"/>
                  </a:lnTo>
                  <a:lnTo>
                    <a:pt x="4432567" y="17563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6666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744" y="2574048"/>
              <a:ext cx="4432566" cy="5060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8544" y="3062325"/>
              <a:ext cx="101600" cy="1016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344" y="3049625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11" y="2455303"/>
              <a:ext cx="50749" cy="60702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743" y="2618326"/>
              <a:ext cx="4432935" cy="495300"/>
            </a:xfrm>
            <a:custGeom>
              <a:avLst/>
              <a:gdLst/>
              <a:ahLst/>
              <a:cxnLst/>
              <a:rect l="l" t="t" r="r" b="b"/>
              <a:pathLst>
                <a:path w="4432935" h="495300">
                  <a:moveTo>
                    <a:pt x="4432567" y="0"/>
                  </a:moveTo>
                  <a:lnTo>
                    <a:pt x="0" y="0"/>
                  </a:lnTo>
                  <a:lnTo>
                    <a:pt x="0" y="443999"/>
                  </a:lnTo>
                  <a:lnTo>
                    <a:pt x="4008" y="463724"/>
                  </a:lnTo>
                  <a:lnTo>
                    <a:pt x="14922" y="479877"/>
                  </a:lnTo>
                  <a:lnTo>
                    <a:pt x="31075" y="490791"/>
                  </a:lnTo>
                  <a:lnTo>
                    <a:pt x="50800" y="494800"/>
                  </a:lnTo>
                  <a:lnTo>
                    <a:pt x="4381767" y="494800"/>
                  </a:lnTo>
                  <a:lnTo>
                    <a:pt x="4401492" y="490791"/>
                  </a:lnTo>
                  <a:lnTo>
                    <a:pt x="4417644" y="479877"/>
                  </a:lnTo>
                  <a:lnTo>
                    <a:pt x="4428558" y="463724"/>
                  </a:lnTo>
                  <a:lnTo>
                    <a:pt x="4432567" y="44399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D8D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11" y="2493396"/>
              <a:ext cx="0" cy="588010"/>
            </a:xfrm>
            <a:custGeom>
              <a:avLst/>
              <a:gdLst/>
              <a:ahLst/>
              <a:cxnLst/>
              <a:rect l="l" t="t" r="r" b="b"/>
              <a:pathLst>
                <a:path h="588010">
                  <a:moveTo>
                    <a:pt x="0" y="58797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11" y="248069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20311" y="246799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20311" y="245529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13195" y="611778"/>
            <a:ext cx="4342130" cy="24669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Observation</a:t>
            </a:r>
            <a:endParaRPr sz="1000" dirty="0">
              <a:latin typeface="Arial"/>
              <a:cs typeface="Arial"/>
            </a:endParaRPr>
          </a:p>
          <a:p>
            <a:pPr marL="12700" marR="288290" indent="12065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latin typeface="Arial"/>
                <a:cs typeface="Arial"/>
              </a:rPr>
              <a:t>Many developers </a:t>
            </a:r>
            <a:r>
              <a:rPr sz="1000" spc="-5" dirty="0">
                <a:latin typeface="Arial"/>
                <a:cs typeface="Arial"/>
              </a:rPr>
              <a:t>of </a:t>
            </a:r>
            <a:r>
              <a:rPr sz="1000" dirty="0">
                <a:latin typeface="Arial"/>
                <a:cs typeface="Arial"/>
              </a:rPr>
              <a:t>modern </a:t>
            </a:r>
            <a:r>
              <a:rPr sz="1000" spc="-5" dirty="0">
                <a:latin typeface="Arial"/>
                <a:cs typeface="Arial"/>
              </a:rPr>
              <a:t>distributed systems easily use the adjective  “scalable” without making clear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why</a:t>
            </a:r>
            <a:r>
              <a:rPr sz="1000" spc="-5" dirty="0">
                <a:latin typeface="Arial"/>
                <a:cs typeface="Arial"/>
              </a:rPr>
              <a:t>their system actually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scales.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 dirty="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At least three</a:t>
            </a:r>
            <a:r>
              <a:rPr sz="1000" spc="-1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components</a:t>
            </a:r>
            <a:endParaRPr sz="1000" dirty="0">
              <a:latin typeface="Arial"/>
              <a:cs typeface="Arial"/>
            </a:endParaRPr>
          </a:p>
          <a:p>
            <a:pPr marL="302260" marR="672465">
              <a:lnSpc>
                <a:spcPct val="1494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Number of users and/or processes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(size scalability)  </a:t>
            </a:r>
            <a:r>
              <a:rPr sz="1000" spc="-5" dirty="0">
                <a:latin typeface="Arial"/>
                <a:cs typeface="Arial"/>
              </a:rPr>
              <a:t>Maximum distance between nodes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(geographical scalability)  </a:t>
            </a:r>
            <a:r>
              <a:rPr sz="1000" spc="-5" dirty="0">
                <a:latin typeface="Arial"/>
                <a:cs typeface="Arial"/>
              </a:rPr>
              <a:t>Number of administrative domains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(administrative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scalability)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 dirty="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Observation</a:t>
            </a:r>
            <a:endParaRPr sz="1000" dirty="0">
              <a:latin typeface="Arial"/>
              <a:cs typeface="Arial"/>
            </a:endParaRPr>
          </a:p>
          <a:p>
            <a:pPr marL="24765" marR="5080">
              <a:lnSpc>
                <a:spcPct val="100000"/>
              </a:lnSpc>
              <a:spcBef>
                <a:spcPts val="334"/>
              </a:spcBef>
            </a:pPr>
            <a:r>
              <a:rPr sz="1000" spc="-5" dirty="0">
                <a:latin typeface="Arial"/>
                <a:cs typeface="Arial"/>
              </a:rPr>
              <a:t>Most systems account </a:t>
            </a:r>
            <a:r>
              <a:rPr sz="1000" spc="-25" dirty="0">
                <a:latin typeface="Arial"/>
                <a:cs typeface="Arial"/>
              </a:rPr>
              <a:t>only, </a:t>
            </a:r>
            <a:r>
              <a:rPr sz="1000" spc="-5" dirty="0">
                <a:latin typeface="Arial"/>
                <a:cs typeface="Arial"/>
              </a:rPr>
              <a:t>to a </a:t>
            </a:r>
            <a:r>
              <a:rPr sz="1000" dirty="0">
                <a:latin typeface="Arial"/>
                <a:cs typeface="Arial"/>
              </a:rPr>
              <a:t>certain </a:t>
            </a:r>
            <a:r>
              <a:rPr sz="1000" spc="-10" dirty="0">
                <a:latin typeface="Arial"/>
                <a:cs typeface="Arial"/>
              </a:rPr>
              <a:t>extent, </a:t>
            </a: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10" dirty="0">
                <a:latin typeface="Arial"/>
                <a:cs typeface="Arial"/>
              </a:rPr>
              <a:t>size scalability. </a:t>
            </a:r>
            <a:r>
              <a:rPr sz="1000" spc="-5" dirty="0">
                <a:latin typeface="Arial"/>
                <a:cs typeface="Arial"/>
              </a:rPr>
              <a:t>Often a  solution: multiple powerful servers operating independently in parallel. </a:t>
            </a:r>
            <a:r>
              <a:rPr sz="1000" spc="-45" dirty="0">
                <a:latin typeface="Arial"/>
                <a:cs typeface="Arial"/>
              </a:rPr>
              <a:t>Today,  </a:t>
            </a:r>
            <a:r>
              <a:rPr sz="1000" spc="-5" dirty="0">
                <a:latin typeface="Arial"/>
                <a:cs typeface="Arial"/>
              </a:rPr>
              <a:t>the challenge still lies in geographical and administrative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scalability.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42" name="object 42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6700" y="3331252"/>
            <a:ext cx="77216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7" action="ppaction://hlinksldjump"/>
              </a:rPr>
              <a:t>Scalability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17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7" action="ppaction://hlinksldjump"/>
              </a:rPr>
              <a:t>dimensions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15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69385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Being</a:t>
            </a:r>
            <a:r>
              <a:rPr sz="600" spc="-1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scalable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0" dirty="0"/>
              <a:t>Size</a:t>
            </a:r>
            <a:r>
              <a:rPr dirty="0"/>
              <a:t> </a:t>
            </a:r>
            <a:r>
              <a:rPr spc="10" dirty="0"/>
              <a:t>scalability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1292910"/>
            <a:ext cx="4483735" cy="923925"/>
            <a:chOff x="87743" y="1292910"/>
            <a:chExt cx="4483735" cy="923925"/>
          </a:xfrm>
        </p:grpSpPr>
        <p:sp>
          <p:nvSpPr>
            <p:cNvPr id="5" name="object 5"/>
            <p:cNvSpPr/>
            <p:nvPr/>
          </p:nvSpPr>
          <p:spPr>
            <a:xfrm>
              <a:off x="87743" y="1292910"/>
              <a:ext cx="4432935" cy="183515"/>
            </a:xfrm>
            <a:custGeom>
              <a:avLst/>
              <a:gdLst/>
              <a:ahLst/>
              <a:cxnLst/>
              <a:rect l="l" t="t" r="r" b="b"/>
              <a:pathLst>
                <a:path w="4432935" h="183515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908"/>
                  </a:lnTo>
                  <a:lnTo>
                    <a:pt x="4432567" y="182908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1463167"/>
              <a:ext cx="4432566" cy="5060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2115172"/>
              <a:ext cx="101600" cy="1016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2102472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1337157"/>
              <a:ext cx="50749" cy="77801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1507448"/>
              <a:ext cx="4432935" cy="659130"/>
            </a:xfrm>
            <a:custGeom>
              <a:avLst/>
              <a:gdLst/>
              <a:ahLst/>
              <a:cxnLst/>
              <a:rect l="l" t="t" r="r" b="b"/>
              <a:pathLst>
                <a:path w="4432935" h="659130">
                  <a:moveTo>
                    <a:pt x="4432567" y="0"/>
                  </a:moveTo>
                  <a:lnTo>
                    <a:pt x="0" y="0"/>
                  </a:lnTo>
                  <a:lnTo>
                    <a:pt x="0" y="607724"/>
                  </a:lnTo>
                  <a:lnTo>
                    <a:pt x="4008" y="627448"/>
                  </a:lnTo>
                  <a:lnTo>
                    <a:pt x="14922" y="643601"/>
                  </a:lnTo>
                  <a:lnTo>
                    <a:pt x="31075" y="654516"/>
                  </a:lnTo>
                  <a:lnTo>
                    <a:pt x="50800" y="658524"/>
                  </a:lnTo>
                  <a:lnTo>
                    <a:pt x="4381767" y="658524"/>
                  </a:lnTo>
                  <a:lnTo>
                    <a:pt x="4401492" y="654516"/>
                  </a:lnTo>
                  <a:lnTo>
                    <a:pt x="4417644" y="643601"/>
                  </a:lnTo>
                  <a:lnTo>
                    <a:pt x="4428558" y="627448"/>
                  </a:lnTo>
                  <a:lnTo>
                    <a:pt x="4432567" y="607724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1375244"/>
              <a:ext cx="0" cy="759460"/>
            </a:xfrm>
            <a:custGeom>
              <a:avLst/>
              <a:gdLst/>
              <a:ahLst/>
              <a:cxnLst/>
              <a:rect l="l" t="t" r="r" b="b"/>
              <a:pathLst>
                <a:path h="759460">
                  <a:moveTo>
                    <a:pt x="0" y="7589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13625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13498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13371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57" y="1584629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557" y="1812379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9557" y="2040115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1662" rIns="0" bIns="0" rtlCol="0">
            <a:spAutoFit/>
          </a:bodyPr>
          <a:lstStyle/>
          <a:p>
            <a:pPr marL="304800" marR="878840" indent="-277495">
              <a:lnSpc>
                <a:spcPct val="157800"/>
              </a:lnSpc>
              <a:spcBef>
                <a:spcPts val="100"/>
              </a:spcBef>
            </a:pPr>
            <a:r>
              <a:rPr spc="-5" dirty="0">
                <a:solidFill>
                  <a:srgbClr val="04064C"/>
                </a:solidFill>
              </a:rPr>
              <a:t>Root causes </a:t>
            </a:r>
            <a:r>
              <a:rPr spc="-15" dirty="0">
                <a:solidFill>
                  <a:srgbClr val="04064C"/>
                </a:solidFill>
              </a:rPr>
              <a:t>for </a:t>
            </a:r>
            <a:r>
              <a:rPr spc="-5" dirty="0">
                <a:solidFill>
                  <a:srgbClr val="04064C"/>
                </a:solidFill>
              </a:rPr>
              <a:t>scalability problems with centralized solutions  </a:t>
            </a:r>
            <a:r>
              <a:rPr spc="-5" dirty="0"/>
              <a:t>The computational </a:t>
            </a:r>
            <a:r>
              <a:rPr spc="-15" dirty="0"/>
              <a:t>capacity, </a:t>
            </a:r>
            <a:r>
              <a:rPr spc="-5" dirty="0"/>
              <a:t>limited </a:t>
            </a:r>
            <a:r>
              <a:rPr spc="-15" dirty="0"/>
              <a:t>by </a:t>
            </a:r>
            <a:r>
              <a:rPr spc="-5" dirty="0"/>
              <a:t>the</a:t>
            </a:r>
            <a:r>
              <a:rPr spc="20" dirty="0"/>
              <a:t> </a:t>
            </a:r>
            <a:r>
              <a:rPr spc="-5" dirty="0"/>
              <a:t>CPUs</a:t>
            </a:r>
          </a:p>
          <a:p>
            <a:pPr marL="304800" marR="5080">
              <a:lnSpc>
                <a:spcPct val="149400"/>
              </a:lnSpc>
            </a:pPr>
            <a:r>
              <a:rPr spc="-10" dirty="0"/>
              <a:t>The storage </a:t>
            </a:r>
            <a:r>
              <a:rPr spc="-20" dirty="0"/>
              <a:t>capacity, </a:t>
            </a:r>
            <a:r>
              <a:rPr spc="-10" dirty="0"/>
              <a:t>including the </a:t>
            </a:r>
            <a:r>
              <a:rPr spc="-15" dirty="0"/>
              <a:t>transfer </a:t>
            </a:r>
            <a:r>
              <a:rPr spc="-10" dirty="0"/>
              <a:t>rate between </a:t>
            </a:r>
            <a:r>
              <a:rPr spc="-15" dirty="0"/>
              <a:t>CPUs </a:t>
            </a:r>
            <a:r>
              <a:rPr spc="-10" dirty="0"/>
              <a:t>and disks  </a:t>
            </a:r>
            <a:r>
              <a:rPr spc="-5" dirty="0"/>
              <a:t>The network between the user and the centralized </a:t>
            </a:r>
            <a:r>
              <a:rPr dirty="0"/>
              <a:t>service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20" name="object 20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6700" y="3331252"/>
            <a:ext cx="77216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0" action="ppaction://hlinksldjump"/>
              </a:rPr>
              <a:t>Scalability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0" action="ppaction://hlinksldjump"/>
              </a:rPr>
              <a:t>dimensions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16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69385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Being</a:t>
            </a:r>
            <a:r>
              <a:rPr sz="600" spc="-1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scalable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0" dirty="0"/>
              <a:t>Problems </a:t>
            </a:r>
            <a:r>
              <a:rPr spc="15" dirty="0"/>
              <a:t>with </a:t>
            </a:r>
            <a:r>
              <a:rPr spc="10" dirty="0"/>
              <a:t>geographical</a:t>
            </a:r>
            <a:r>
              <a:rPr spc="-10" dirty="0"/>
              <a:t> </a:t>
            </a:r>
            <a:r>
              <a:rPr spc="10" dirty="0"/>
              <a:t>scalability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1046873"/>
            <a:ext cx="4483735" cy="1539240"/>
            <a:chOff x="87743" y="1046873"/>
            <a:chExt cx="4483735" cy="1539240"/>
          </a:xfrm>
        </p:grpSpPr>
        <p:sp>
          <p:nvSpPr>
            <p:cNvPr id="5" name="object 5"/>
            <p:cNvSpPr/>
            <p:nvPr/>
          </p:nvSpPr>
          <p:spPr>
            <a:xfrm>
              <a:off x="87743" y="1046873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8544" y="2484234"/>
              <a:ext cx="101600" cy="101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344" y="2471534"/>
              <a:ext cx="4381715" cy="1143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1" y="1097432"/>
              <a:ext cx="50749" cy="138680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43" y="1091285"/>
              <a:ext cx="4432935" cy="1443990"/>
            </a:xfrm>
            <a:custGeom>
              <a:avLst/>
              <a:gdLst/>
              <a:ahLst/>
              <a:cxnLst/>
              <a:rect l="l" t="t" r="r" b="b"/>
              <a:pathLst>
                <a:path w="4432935" h="1443989">
                  <a:moveTo>
                    <a:pt x="4432567" y="0"/>
                  </a:moveTo>
                  <a:lnTo>
                    <a:pt x="0" y="0"/>
                  </a:lnTo>
                  <a:lnTo>
                    <a:pt x="0" y="1392948"/>
                  </a:lnTo>
                  <a:lnTo>
                    <a:pt x="4008" y="1412673"/>
                  </a:lnTo>
                  <a:lnTo>
                    <a:pt x="14922" y="1428826"/>
                  </a:lnTo>
                  <a:lnTo>
                    <a:pt x="31075" y="1439740"/>
                  </a:lnTo>
                  <a:lnTo>
                    <a:pt x="50800" y="1443749"/>
                  </a:lnTo>
                  <a:lnTo>
                    <a:pt x="4381767" y="1443749"/>
                  </a:lnTo>
                  <a:lnTo>
                    <a:pt x="4401492" y="1439740"/>
                  </a:lnTo>
                  <a:lnTo>
                    <a:pt x="4417644" y="1428826"/>
                  </a:lnTo>
                  <a:lnTo>
                    <a:pt x="4428558" y="1412673"/>
                  </a:lnTo>
                  <a:lnTo>
                    <a:pt x="4432567" y="1392948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1" y="1135519"/>
              <a:ext cx="0" cy="1367790"/>
            </a:xfrm>
            <a:custGeom>
              <a:avLst/>
              <a:gdLst/>
              <a:ahLst/>
              <a:cxnLst/>
              <a:rect l="l" t="t" r="r" b="b"/>
              <a:pathLst>
                <a:path h="1367789">
                  <a:moveTo>
                    <a:pt x="0" y="136776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11228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11101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10974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9557" y="1168476"/>
              <a:ext cx="76809" cy="768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9557" y="1699882"/>
              <a:ext cx="76809" cy="768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557" y="2079459"/>
              <a:ext cx="76809" cy="7680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4094" rIns="0" bIns="0" rtlCol="0">
            <a:spAutoFit/>
          </a:bodyPr>
          <a:lstStyle/>
          <a:p>
            <a:pPr marL="3048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Cannot simply go from LAN to </a:t>
            </a:r>
            <a:r>
              <a:rPr spc="-15" dirty="0"/>
              <a:t>WAN: </a:t>
            </a:r>
            <a:r>
              <a:rPr spc="-10" dirty="0"/>
              <a:t>many </a:t>
            </a:r>
            <a:r>
              <a:rPr spc="-5" dirty="0"/>
              <a:t>distributed systems assume  </a:t>
            </a:r>
            <a:r>
              <a:rPr spc="-5" dirty="0">
                <a:solidFill>
                  <a:srgbClr val="FA0000"/>
                </a:solidFill>
              </a:rPr>
              <a:t>synchronous client-server interactions</a:t>
            </a:r>
            <a:r>
              <a:rPr spc="-5" dirty="0"/>
              <a:t>: client sends request and </a:t>
            </a:r>
            <a:r>
              <a:rPr spc="-10" dirty="0"/>
              <a:t>waits </a:t>
            </a:r>
            <a:r>
              <a:rPr spc="-15" dirty="0"/>
              <a:t>for  </a:t>
            </a:r>
            <a:r>
              <a:rPr spc="-5" dirty="0"/>
              <a:t>an </a:t>
            </a:r>
            <a:r>
              <a:rPr spc="-10" dirty="0"/>
              <a:t>answer.</a:t>
            </a:r>
            <a:r>
              <a:rPr spc="-10" dirty="0">
                <a:solidFill>
                  <a:srgbClr val="0000FA"/>
                </a:solidFill>
              </a:rPr>
              <a:t>Latency</a:t>
            </a:r>
            <a:r>
              <a:rPr spc="-10" dirty="0"/>
              <a:t>may </a:t>
            </a:r>
            <a:r>
              <a:rPr spc="-5" dirty="0"/>
              <a:t>easily prohibit this scheme.</a:t>
            </a:r>
          </a:p>
          <a:p>
            <a:pPr marL="304800" marR="41910">
              <a:lnSpc>
                <a:spcPct val="100000"/>
              </a:lnSpc>
              <a:spcBef>
                <a:spcPts val="585"/>
              </a:spcBef>
            </a:pPr>
            <a:r>
              <a:rPr spc="-30" dirty="0"/>
              <a:t>WAN </a:t>
            </a:r>
            <a:r>
              <a:rPr spc="-5" dirty="0"/>
              <a:t>links </a:t>
            </a:r>
            <a:r>
              <a:rPr spc="-10" dirty="0"/>
              <a:t>are often inherently</a:t>
            </a:r>
            <a:r>
              <a:rPr spc="-10" dirty="0">
                <a:solidFill>
                  <a:srgbClr val="0000FA"/>
                </a:solidFill>
              </a:rPr>
              <a:t>unreliable</a:t>
            </a:r>
            <a:r>
              <a:rPr spc="-10" dirty="0"/>
              <a:t>: simply moving streaming video  </a:t>
            </a:r>
            <a:r>
              <a:rPr spc="-5" dirty="0"/>
              <a:t>from LAN to </a:t>
            </a:r>
            <a:r>
              <a:rPr spc="-20" dirty="0"/>
              <a:t>WAN </a:t>
            </a:r>
            <a:r>
              <a:rPr spc="-5" dirty="0"/>
              <a:t>is bound to</a:t>
            </a:r>
            <a:r>
              <a:rPr spc="5" dirty="0"/>
              <a:t> </a:t>
            </a:r>
            <a:r>
              <a:rPr spc="-10" dirty="0"/>
              <a:t>fail.</a:t>
            </a:r>
          </a:p>
          <a:p>
            <a:pPr marL="304800" marR="107314">
              <a:lnSpc>
                <a:spcPct val="100000"/>
              </a:lnSpc>
              <a:spcBef>
                <a:spcPts val="590"/>
              </a:spcBef>
            </a:pPr>
            <a:r>
              <a:rPr spc="-10" dirty="0">
                <a:solidFill>
                  <a:srgbClr val="0000FA"/>
                </a:solidFill>
              </a:rPr>
              <a:t>Lack </a:t>
            </a:r>
            <a:r>
              <a:rPr spc="-5" dirty="0">
                <a:solidFill>
                  <a:srgbClr val="0000FA"/>
                </a:solidFill>
              </a:rPr>
              <a:t>of multipoint communication</a:t>
            </a:r>
            <a:r>
              <a:rPr spc="-5" dirty="0"/>
              <a:t>, so that a simple search broadcast  </a:t>
            </a:r>
            <a:r>
              <a:rPr spc="-10" dirty="0"/>
              <a:t>cannot </a:t>
            </a:r>
            <a:r>
              <a:rPr spc="-15" dirty="0"/>
              <a:t>be </a:t>
            </a:r>
            <a:r>
              <a:rPr spc="-20" dirty="0"/>
              <a:t>deployed. </a:t>
            </a:r>
            <a:r>
              <a:rPr spc="-10" dirty="0"/>
              <a:t>Solution is to </a:t>
            </a:r>
            <a:r>
              <a:rPr spc="-20" dirty="0"/>
              <a:t>develop </a:t>
            </a:r>
            <a:r>
              <a:rPr spc="-10" dirty="0"/>
              <a:t>separate</a:t>
            </a:r>
            <a:r>
              <a:rPr spc="-10" dirty="0">
                <a:solidFill>
                  <a:srgbClr val="FA0000"/>
                </a:solidFill>
              </a:rPr>
              <a:t>naming</a:t>
            </a:r>
            <a:r>
              <a:rPr spc="-10" dirty="0"/>
              <a:t>and</a:t>
            </a:r>
            <a:r>
              <a:rPr spc="-10" dirty="0">
                <a:solidFill>
                  <a:srgbClr val="FA0000"/>
                </a:solidFill>
              </a:rPr>
              <a:t>directory  </a:t>
            </a:r>
            <a:r>
              <a:rPr spc="-5" dirty="0">
                <a:solidFill>
                  <a:srgbClr val="FA0000"/>
                </a:solidFill>
              </a:rPr>
              <a:t>services</a:t>
            </a:r>
            <a:r>
              <a:rPr spc="-5" dirty="0"/>
              <a:t>(having their </a:t>
            </a:r>
            <a:r>
              <a:rPr spc="-10" dirty="0"/>
              <a:t>own </a:t>
            </a:r>
            <a:r>
              <a:rPr spc="-5" dirty="0"/>
              <a:t>scalability</a:t>
            </a:r>
            <a:r>
              <a:rPr dirty="0"/>
              <a:t> </a:t>
            </a:r>
            <a:r>
              <a:rPr spc="-5" dirty="0"/>
              <a:t>problems).</a:t>
            </a:r>
          </a:p>
        </p:txBody>
      </p:sp>
      <p:grpSp>
        <p:nvGrpSpPr>
          <p:cNvPr id="18" name="object 18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19" name="object 19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6700" y="3331252"/>
            <a:ext cx="77216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0" action="ppaction://hlinksldjump"/>
              </a:rPr>
              <a:t>Scalability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0" action="ppaction://hlinksldjump"/>
              </a:rPr>
              <a:t>dimensions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20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69385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Being</a:t>
            </a:r>
            <a:r>
              <a:rPr sz="600" spc="-1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scalable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10" dirty="0"/>
              <a:t>Problems </a:t>
            </a:r>
            <a:r>
              <a:rPr spc="15" dirty="0"/>
              <a:t>with </a:t>
            </a:r>
            <a:r>
              <a:rPr spc="10" dirty="0"/>
              <a:t>administrative</a:t>
            </a:r>
            <a:r>
              <a:rPr spc="-15" dirty="0"/>
              <a:t> </a:t>
            </a:r>
            <a:r>
              <a:rPr spc="10" dirty="0"/>
              <a:t>scalability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561123"/>
            <a:ext cx="4483735" cy="598170"/>
            <a:chOff x="87743" y="561123"/>
            <a:chExt cx="4483735" cy="598170"/>
          </a:xfrm>
        </p:grpSpPr>
        <p:sp>
          <p:nvSpPr>
            <p:cNvPr id="5" name="object 5"/>
            <p:cNvSpPr/>
            <p:nvPr/>
          </p:nvSpPr>
          <p:spPr>
            <a:xfrm>
              <a:off x="87743" y="561123"/>
              <a:ext cx="4432935" cy="173990"/>
            </a:xfrm>
            <a:custGeom>
              <a:avLst/>
              <a:gdLst/>
              <a:ahLst/>
              <a:cxnLst/>
              <a:rect l="l" t="t" r="r" b="b"/>
              <a:pathLst>
                <a:path w="4432935" h="17399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3799"/>
                  </a:lnTo>
                  <a:lnTo>
                    <a:pt x="4432567" y="173799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722274"/>
              <a:ext cx="4432566" cy="5060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057643"/>
              <a:ext cx="101600" cy="1016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044943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605370"/>
              <a:ext cx="50749" cy="4522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766553"/>
              <a:ext cx="4432935" cy="342265"/>
            </a:xfrm>
            <a:custGeom>
              <a:avLst/>
              <a:gdLst/>
              <a:ahLst/>
              <a:cxnLst/>
              <a:rect l="l" t="t" r="r" b="b"/>
              <a:pathLst>
                <a:path w="4432935" h="342265">
                  <a:moveTo>
                    <a:pt x="4432567" y="0"/>
                  </a:moveTo>
                  <a:lnTo>
                    <a:pt x="0" y="0"/>
                  </a:lnTo>
                  <a:lnTo>
                    <a:pt x="0" y="291090"/>
                  </a:lnTo>
                  <a:lnTo>
                    <a:pt x="4008" y="310815"/>
                  </a:lnTo>
                  <a:lnTo>
                    <a:pt x="14922" y="326968"/>
                  </a:lnTo>
                  <a:lnTo>
                    <a:pt x="31075" y="337882"/>
                  </a:lnTo>
                  <a:lnTo>
                    <a:pt x="50800" y="341890"/>
                  </a:lnTo>
                  <a:lnTo>
                    <a:pt x="4381767" y="341890"/>
                  </a:lnTo>
                  <a:lnTo>
                    <a:pt x="4401492" y="337882"/>
                  </a:lnTo>
                  <a:lnTo>
                    <a:pt x="4417644" y="326968"/>
                  </a:lnTo>
                  <a:lnTo>
                    <a:pt x="4428558" y="310815"/>
                  </a:lnTo>
                  <a:lnTo>
                    <a:pt x="4432567" y="29109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643459"/>
              <a:ext cx="0" cy="433705"/>
            </a:xfrm>
            <a:custGeom>
              <a:avLst/>
              <a:gdLst/>
              <a:ahLst/>
              <a:cxnLst/>
              <a:rect l="l" t="t" r="r" b="b"/>
              <a:pathLst>
                <a:path h="433705">
                  <a:moveTo>
                    <a:pt x="0" y="4332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6307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6180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6053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7743" y="1222412"/>
            <a:ext cx="4483735" cy="1024255"/>
            <a:chOff x="87743" y="1222412"/>
            <a:chExt cx="4483735" cy="1024255"/>
          </a:xfrm>
        </p:grpSpPr>
        <p:sp>
          <p:nvSpPr>
            <p:cNvPr id="16" name="object 16"/>
            <p:cNvSpPr/>
            <p:nvPr/>
          </p:nvSpPr>
          <p:spPr>
            <a:xfrm>
              <a:off x="87743" y="1222412"/>
              <a:ext cx="4432935" cy="181610"/>
            </a:xfrm>
            <a:custGeom>
              <a:avLst/>
              <a:gdLst/>
              <a:ahLst/>
              <a:cxnLst/>
              <a:rect l="l" t="t" r="r" b="b"/>
              <a:pathLst>
                <a:path w="4432935" h="181609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200"/>
                  </a:lnTo>
                  <a:lnTo>
                    <a:pt x="4432567" y="181200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F9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744" y="1390954"/>
              <a:ext cx="4432566" cy="506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544" y="2144941"/>
              <a:ext cx="101600" cy="1016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344" y="2132241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1" y="1266647"/>
              <a:ext cx="50749" cy="87829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43" y="1435234"/>
              <a:ext cx="4432935" cy="760730"/>
            </a:xfrm>
            <a:custGeom>
              <a:avLst/>
              <a:gdLst/>
              <a:ahLst/>
              <a:cxnLst/>
              <a:rect l="l" t="t" r="r" b="b"/>
              <a:pathLst>
                <a:path w="4432935" h="760730">
                  <a:moveTo>
                    <a:pt x="4432567" y="0"/>
                  </a:moveTo>
                  <a:lnTo>
                    <a:pt x="0" y="0"/>
                  </a:lnTo>
                  <a:lnTo>
                    <a:pt x="0" y="709706"/>
                  </a:lnTo>
                  <a:lnTo>
                    <a:pt x="4008" y="729431"/>
                  </a:lnTo>
                  <a:lnTo>
                    <a:pt x="14922" y="745584"/>
                  </a:lnTo>
                  <a:lnTo>
                    <a:pt x="31075" y="756498"/>
                  </a:lnTo>
                  <a:lnTo>
                    <a:pt x="50800" y="760506"/>
                  </a:lnTo>
                  <a:lnTo>
                    <a:pt x="4381767" y="760506"/>
                  </a:lnTo>
                  <a:lnTo>
                    <a:pt x="4401492" y="756498"/>
                  </a:lnTo>
                  <a:lnTo>
                    <a:pt x="4417644" y="745584"/>
                  </a:lnTo>
                  <a:lnTo>
                    <a:pt x="4428558" y="729431"/>
                  </a:lnTo>
                  <a:lnTo>
                    <a:pt x="4432567" y="70970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CFE6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1" y="1304739"/>
              <a:ext cx="0" cy="859790"/>
            </a:xfrm>
            <a:custGeom>
              <a:avLst/>
              <a:gdLst/>
              <a:ahLst/>
              <a:cxnLst/>
              <a:rect l="l" t="t" r="r" b="b"/>
              <a:pathLst>
                <a:path h="859789">
                  <a:moveTo>
                    <a:pt x="0" y="85925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29203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27933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26663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9557" y="1512417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9557" y="1891995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87743" y="2309710"/>
            <a:ext cx="4483735" cy="997585"/>
            <a:chOff x="87743" y="2309710"/>
            <a:chExt cx="4483735" cy="997585"/>
          </a:xfrm>
        </p:grpSpPr>
        <p:sp>
          <p:nvSpPr>
            <p:cNvPr id="29" name="object 29"/>
            <p:cNvSpPr/>
            <p:nvPr/>
          </p:nvSpPr>
          <p:spPr>
            <a:xfrm>
              <a:off x="87743" y="2309710"/>
              <a:ext cx="4432935" cy="181610"/>
            </a:xfrm>
            <a:custGeom>
              <a:avLst/>
              <a:gdLst/>
              <a:ahLst/>
              <a:cxnLst/>
              <a:rect l="l" t="t" r="r" b="b"/>
              <a:pathLst>
                <a:path w="4432935" h="18161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1200"/>
                  </a:lnTo>
                  <a:lnTo>
                    <a:pt x="4432567" y="181200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6666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744" y="2478252"/>
              <a:ext cx="4432566" cy="5060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8544" y="3205340"/>
              <a:ext cx="101600" cy="10160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9344" y="3192640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11" y="2353945"/>
              <a:ext cx="50749" cy="85139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743" y="2522522"/>
              <a:ext cx="4432935" cy="734060"/>
            </a:xfrm>
            <a:custGeom>
              <a:avLst/>
              <a:gdLst/>
              <a:ahLst/>
              <a:cxnLst/>
              <a:rect l="l" t="t" r="r" b="b"/>
              <a:pathLst>
                <a:path w="4432935" h="734060">
                  <a:moveTo>
                    <a:pt x="4432567" y="0"/>
                  </a:moveTo>
                  <a:lnTo>
                    <a:pt x="0" y="0"/>
                  </a:lnTo>
                  <a:lnTo>
                    <a:pt x="0" y="682818"/>
                  </a:lnTo>
                  <a:lnTo>
                    <a:pt x="4008" y="702542"/>
                  </a:lnTo>
                  <a:lnTo>
                    <a:pt x="14922" y="718695"/>
                  </a:lnTo>
                  <a:lnTo>
                    <a:pt x="31075" y="729609"/>
                  </a:lnTo>
                  <a:lnTo>
                    <a:pt x="50800" y="733618"/>
                  </a:lnTo>
                  <a:lnTo>
                    <a:pt x="4381767" y="733618"/>
                  </a:lnTo>
                  <a:lnTo>
                    <a:pt x="4401492" y="729609"/>
                  </a:lnTo>
                  <a:lnTo>
                    <a:pt x="4417644" y="718695"/>
                  </a:lnTo>
                  <a:lnTo>
                    <a:pt x="4428558" y="702542"/>
                  </a:lnTo>
                  <a:lnTo>
                    <a:pt x="4432567" y="682818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D8D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11" y="2392027"/>
              <a:ext cx="0" cy="832485"/>
            </a:xfrm>
            <a:custGeom>
              <a:avLst/>
              <a:gdLst/>
              <a:ahLst/>
              <a:cxnLst/>
              <a:rect l="l" t="t" r="r" b="b"/>
              <a:pathLst>
                <a:path h="832485">
                  <a:moveTo>
                    <a:pt x="0" y="83236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11" y="23793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11" y="23666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20311" y="23539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9557" y="2560929"/>
              <a:ext cx="76809" cy="7680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9557" y="2712758"/>
              <a:ext cx="76809" cy="7680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9557" y="2864586"/>
              <a:ext cx="76809" cy="7680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25844" y="508768"/>
            <a:ext cx="4321810" cy="27393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30"/>
              </a:spcBef>
            </a:pPr>
            <a:r>
              <a:rPr sz="1000" spc="-5" dirty="0">
                <a:latin typeface="Arial"/>
                <a:cs typeface="Arial"/>
              </a:rPr>
              <a:t>Conflicting policies </a:t>
            </a:r>
            <a:r>
              <a:rPr sz="1000" dirty="0">
                <a:latin typeface="Arial"/>
                <a:cs typeface="Arial"/>
              </a:rPr>
              <a:t>concerning </a:t>
            </a:r>
            <a:r>
              <a:rPr sz="1000" spc="-5" dirty="0">
                <a:latin typeface="Arial"/>
                <a:cs typeface="Arial"/>
              </a:rPr>
              <a:t>usage (and thus </a:t>
            </a:r>
            <a:r>
              <a:rPr sz="1000" spc="-10" dirty="0">
                <a:latin typeface="Arial"/>
                <a:cs typeface="Arial"/>
              </a:rPr>
              <a:t>payment), </a:t>
            </a:r>
            <a:r>
              <a:rPr sz="1000" spc="-5" dirty="0">
                <a:latin typeface="Arial"/>
                <a:cs typeface="Arial"/>
              </a:rPr>
              <a:t>management, and  security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Examples</a:t>
            </a:r>
            <a:endParaRPr sz="1000">
              <a:latin typeface="Arial"/>
              <a:cs typeface="Arial"/>
            </a:endParaRPr>
          </a:p>
          <a:p>
            <a:pPr marL="289560" marR="313690">
              <a:lnSpc>
                <a:spcPct val="100000"/>
              </a:lnSpc>
              <a:spcBef>
                <a:spcPts val="685"/>
              </a:spcBef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Computational grids</a:t>
            </a:r>
            <a:r>
              <a:rPr sz="1000" spc="-5" dirty="0">
                <a:latin typeface="Arial"/>
                <a:cs typeface="Arial"/>
              </a:rPr>
              <a:t>: share </a:t>
            </a:r>
            <a:r>
              <a:rPr sz="1000" spc="-10" dirty="0">
                <a:latin typeface="Arial"/>
                <a:cs typeface="Arial"/>
              </a:rPr>
              <a:t>expensive </a:t>
            </a:r>
            <a:r>
              <a:rPr sz="1000" spc="-5" dirty="0">
                <a:latin typeface="Arial"/>
                <a:cs typeface="Arial"/>
              </a:rPr>
              <a:t>resources between different  domains.</a:t>
            </a:r>
            <a:endParaRPr sz="1000">
              <a:latin typeface="Arial"/>
              <a:cs typeface="Arial"/>
            </a:endParaRPr>
          </a:p>
          <a:p>
            <a:pPr marL="289560" marR="236854">
              <a:lnSpc>
                <a:spcPct val="100000"/>
              </a:lnSpc>
              <a:spcBef>
                <a:spcPts val="590"/>
              </a:spcBef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Shared equipment</a:t>
            </a:r>
            <a:r>
              <a:rPr sz="1000" spc="-5" dirty="0">
                <a:latin typeface="Arial"/>
                <a:cs typeface="Arial"/>
              </a:rPr>
              <a:t>: </a:t>
            </a:r>
            <a:r>
              <a:rPr sz="1000" spc="-10" dirty="0">
                <a:latin typeface="Arial"/>
                <a:cs typeface="Arial"/>
              </a:rPr>
              <a:t>how </a:t>
            </a:r>
            <a:r>
              <a:rPr sz="1000" spc="-5" dirty="0">
                <a:latin typeface="Arial"/>
                <a:cs typeface="Arial"/>
              </a:rPr>
              <a:t>to control, manage, and use a shared radio  telescope constructed as large-scale shared sensor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network?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Exception: </a:t>
            </a:r>
            <a:r>
              <a:rPr sz="1000" spc="-15" dirty="0">
                <a:solidFill>
                  <a:srgbClr val="04064C"/>
                </a:solidFill>
                <a:latin typeface="Arial"/>
                <a:cs typeface="Arial"/>
              </a:rPr>
              <a:t>several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peer-to-peer</a:t>
            </a:r>
            <a:r>
              <a:rPr sz="1000" spc="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networks</a:t>
            </a:r>
            <a:endParaRPr sz="1000">
              <a:latin typeface="Arial"/>
              <a:cs typeface="Arial"/>
            </a:endParaRPr>
          </a:p>
          <a:p>
            <a:pPr marL="289560" marR="1331595">
              <a:lnSpc>
                <a:spcPct val="100000"/>
              </a:lnSpc>
              <a:spcBef>
                <a:spcPts val="380"/>
              </a:spcBef>
            </a:pPr>
            <a:r>
              <a:rPr sz="1000" spc="-5" dirty="0">
                <a:latin typeface="Arial"/>
                <a:cs typeface="Arial"/>
              </a:rPr>
              <a:t>File-sharing systems (based, e.g., on </a:t>
            </a:r>
            <a:r>
              <a:rPr sz="1000" spc="-15" dirty="0">
                <a:latin typeface="Arial"/>
                <a:cs typeface="Arial"/>
              </a:rPr>
              <a:t>BitTorrent)  </a:t>
            </a:r>
            <a:r>
              <a:rPr sz="1000" spc="-10" dirty="0">
                <a:latin typeface="Arial"/>
                <a:cs typeface="Arial"/>
              </a:rPr>
              <a:t>Peer-to-peer </a:t>
            </a:r>
            <a:r>
              <a:rPr sz="1000" spc="-5" dirty="0">
                <a:latin typeface="Arial"/>
                <a:cs typeface="Arial"/>
              </a:rPr>
              <a:t>telephony (Skype)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ts val="1190"/>
              </a:lnSpc>
            </a:pPr>
            <a:r>
              <a:rPr sz="1000" spc="-10" dirty="0">
                <a:latin typeface="Arial"/>
                <a:cs typeface="Arial"/>
              </a:rPr>
              <a:t>Peer-assisted </a:t>
            </a:r>
            <a:r>
              <a:rPr sz="1000" spc="-5" dirty="0">
                <a:latin typeface="Arial"/>
                <a:cs typeface="Arial"/>
              </a:rPr>
              <a:t>audio streaming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(Spotify)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000" spc="-5" dirty="0">
                <a:latin typeface="Arial"/>
                <a:cs typeface="Arial"/>
              </a:rPr>
              <a:t>Note: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end users</a:t>
            </a:r>
            <a:r>
              <a:rPr sz="1000" spc="-5" dirty="0">
                <a:latin typeface="Arial"/>
                <a:cs typeface="Arial"/>
              </a:rPr>
              <a:t>collaborate and not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administrative entities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44" name="object 44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2303995" y="129031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6700" y="3331252"/>
            <a:ext cx="77216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7" action="ppaction://hlinksldjump"/>
              </a:rPr>
              <a:t>Scalability</a:t>
            </a:r>
            <a:r>
              <a:rPr sz="600" spc="-20" dirty="0">
                <a:solidFill>
                  <a:srgbClr val="04064C"/>
                </a:solidFill>
                <a:latin typeface="Arial"/>
                <a:cs typeface="Arial"/>
                <a:hlinkClick r:id="rId17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17" action="ppaction://hlinksldjump"/>
              </a:rPr>
              <a:t>dimensions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21 /</a:t>
            </a:r>
            <a:r>
              <a:rPr spc="-70" dirty="0"/>
              <a:t> </a:t>
            </a:r>
            <a:r>
              <a:rPr spc="-5" dirty="0"/>
              <a:t>56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541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40530" algn="l"/>
              </a:tabLst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2" action="ppaction://hlinksldjump"/>
              </a:rPr>
              <a:t>Introduction: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15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600" spc="10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  <a:hlinkClick r:id="rId4" action="ppaction://hlinksldjump"/>
              </a:rPr>
              <a:t>Pitfalls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9032"/>
            <a:ext cx="4608195" cy="321945"/>
          </a:xfrm>
          <a:prstGeom prst="rect">
            <a:avLst/>
          </a:prstGeom>
          <a:solidFill>
            <a:srgbClr val="FFE600"/>
          </a:solidFill>
        </p:spPr>
        <p:txBody>
          <a:bodyPr vert="horz" wrap="square" lIns="0" tIns="6223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490"/>
              </a:spcBef>
            </a:pPr>
            <a:r>
              <a:rPr spc="5" dirty="0"/>
              <a:t>Developing </a:t>
            </a:r>
            <a:r>
              <a:rPr spc="10" dirty="0"/>
              <a:t>distributed </a:t>
            </a:r>
            <a:r>
              <a:rPr spc="15" dirty="0"/>
              <a:t>systems:</a:t>
            </a:r>
            <a:r>
              <a:rPr spc="95" dirty="0"/>
              <a:t> </a:t>
            </a:r>
            <a:r>
              <a:rPr spc="5" dirty="0"/>
              <a:t>Pitfalls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743" y="563003"/>
            <a:ext cx="4483735" cy="599440"/>
            <a:chOff x="87743" y="563003"/>
            <a:chExt cx="4483735" cy="599440"/>
          </a:xfrm>
        </p:grpSpPr>
        <p:sp>
          <p:nvSpPr>
            <p:cNvPr id="5" name="object 5"/>
            <p:cNvSpPr/>
            <p:nvPr/>
          </p:nvSpPr>
          <p:spPr>
            <a:xfrm>
              <a:off x="87743" y="563003"/>
              <a:ext cx="4432935" cy="175895"/>
            </a:xfrm>
            <a:custGeom>
              <a:avLst/>
              <a:gdLst/>
              <a:ahLst/>
              <a:cxnLst/>
              <a:rect l="l" t="t" r="r" b="b"/>
              <a:pathLst>
                <a:path w="4432935" h="175895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635"/>
                  </a:lnTo>
                  <a:lnTo>
                    <a:pt x="4432567" y="175635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4" y="725982"/>
              <a:ext cx="4432566" cy="5060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8544" y="1060589"/>
              <a:ext cx="101600" cy="1016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44" y="1047889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1" y="607237"/>
              <a:ext cx="50749" cy="4533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43" y="770258"/>
              <a:ext cx="4432935" cy="341630"/>
            </a:xfrm>
            <a:custGeom>
              <a:avLst/>
              <a:gdLst/>
              <a:ahLst/>
              <a:cxnLst/>
              <a:rect l="l" t="t" r="r" b="b"/>
              <a:pathLst>
                <a:path w="4432935" h="341630">
                  <a:moveTo>
                    <a:pt x="4432567" y="0"/>
                  </a:moveTo>
                  <a:lnTo>
                    <a:pt x="0" y="0"/>
                  </a:lnTo>
                  <a:lnTo>
                    <a:pt x="0" y="290330"/>
                  </a:lnTo>
                  <a:lnTo>
                    <a:pt x="4008" y="310055"/>
                  </a:lnTo>
                  <a:lnTo>
                    <a:pt x="14922" y="326208"/>
                  </a:lnTo>
                  <a:lnTo>
                    <a:pt x="31075" y="337122"/>
                  </a:lnTo>
                  <a:lnTo>
                    <a:pt x="50800" y="341131"/>
                  </a:lnTo>
                  <a:lnTo>
                    <a:pt x="4381767" y="341131"/>
                  </a:lnTo>
                  <a:lnTo>
                    <a:pt x="4401492" y="337122"/>
                  </a:lnTo>
                  <a:lnTo>
                    <a:pt x="4417644" y="326208"/>
                  </a:lnTo>
                  <a:lnTo>
                    <a:pt x="4428558" y="310055"/>
                  </a:lnTo>
                  <a:lnTo>
                    <a:pt x="4432567" y="29033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1" y="645329"/>
              <a:ext cx="0" cy="434340"/>
            </a:xfrm>
            <a:custGeom>
              <a:avLst/>
              <a:gdLst/>
              <a:ahLst/>
              <a:cxnLst/>
              <a:rect l="l" t="t" r="r" b="b"/>
              <a:pathLst>
                <a:path h="434340">
                  <a:moveTo>
                    <a:pt x="0" y="4343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1" y="6326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1" y="6199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1" y="6072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7743" y="1196975"/>
            <a:ext cx="4483735" cy="2060575"/>
            <a:chOff x="87743" y="1228165"/>
            <a:chExt cx="4483735" cy="2060575"/>
          </a:xfrm>
        </p:grpSpPr>
        <p:sp>
          <p:nvSpPr>
            <p:cNvPr id="16" name="object 16"/>
            <p:cNvSpPr/>
            <p:nvPr/>
          </p:nvSpPr>
          <p:spPr>
            <a:xfrm>
              <a:off x="87743" y="1228165"/>
              <a:ext cx="4432935" cy="182245"/>
            </a:xfrm>
            <a:custGeom>
              <a:avLst/>
              <a:gdLst/>
              <a:ahLst/>
              <a:cxnLst/>
              <a:rect l="l" t="t" r="r" b="b"/>
              <a:pathLst>
                <a:path w="4432935" h="182244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2213"/>
                  </a:lnTo>
                  <a:lnTo>
                    <a:pt x="4432567" y="182213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744" y="1397723"/>
              <a:ext cx="4432566" cy="5060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8544" y="3186620"/>
              <a:ext cx="101600" cy="1016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344" y="3173920"/>
              <a:ext cx="4381715" cy="114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1" y="1272400"/>
              <a:ext cx="50749" cy="191422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43" y="1441983"/>
              <a:ext cx="4432935" cy="1795780"/>
            </a:xfrm>
            <a:custGeom>
              <a:avLst/>
              <a:gdLst/>
              <a:ahLst/>
              <a:cxnLst/>
              <a:rect l="l" t="t" r="r" b="b"/>
              <a:pathLst>
                <a:path w="4432935" h="1795780">
                  <a:moveTo>
                    <a:pt x="4432567" y="0"/>
                  </a:moveTo>
                  <a:lnTo>
                    <a:pt x="0" y="0"/>
                  </a:lnTo>
                  <a:lnTo>
                    <a:pt x="0" y="1744637"/>
                  </a:lnTo>
                  <a:lnTo>
                    <a:pt x="4008" y="1764361"/>
                  </a:lnTo>
                  <a:lnTo>
                    <a:pt x="14922" y="1780514"/>
                  </a:lnTo>
                  <a:lnTo>
                    <a:pt x="31075" y="1791428"/>
                  </a:lnTo>
                  <a:lnTo>
                    <a:pt x="50800" y="1795437"/>
                  </a:lnTo>
                  <a:lnTo>
                    <a:pt x="4381767" y="1795437"/>
                  </a:lnTo>
                  <a:lnTo>
                    <a:pt x="4401492" y="1791428"/>
                  </a:lnTo>
                  <a:lnTo>
                    <a:pt x="4417644" y="1780514"/>
                  </a:lnTo>
                  <a:lnTo>
                    <a:pt x="4428558" y="1764361"/>
                  </a:lnTo>
                  <a:lnTo>
                    <a:pt x="4432567" y="1744637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1" y="1310475"/>
              <a:ext cx="0" cy="1895475"/>
            </a:xfrm>
            <a:custGeom>
              <a:avLst/>
              <a:gdLst/>
              <a:ahLst/>
              <a:cxnLst/>
              <a:rect l="l" t="t" r="r" b="b"/>
              <a:pathLst>
                <a:path h="1895475">
                  <a:moveTo>
                    <a:pt x="0" y="18951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1" y="12977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1" y="12850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11" y="12723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9557" y="1517345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9557" y="1745081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9557" y="1972830"/>
              <a:ext cx="76809" cy="7680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9557" y="2200579"/>
              <a:ext cx="76809" cy="7680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9557" y="2428329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9557" y="2656065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9557" y="2883814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9557" y="3111563"/>
              <a:ext cx="76809" cy="768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5844" y="514318"/>
            <a:ext cx="4191000" cy="27146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Observation</a:t>
            </a:r>
            <a:endParaRPr sz="10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20"/>
              </a:spcBef>
            </a:pPr>
            <a:r>
              <a:rPr sz="1000" spc="-10" dirty="0">
                <a:latin typeface="Arial"/>
                <a:cs typeface="Arial"/>
              </a:rPr>
              <a:t>Many </a:t>
            </a:r>
            <a:r>
              <a:rPr sz="1000" spc="-5" dirty="0">
                <a:latin typeface="Arial"/>
                <a:cs typeface="Arial"/>
              </a:rPr>
              <a:t>distributed systems are needlessly </a:t>
            </a:r>
            <a:r>
              <a:rPr sz="1000" spc="-10" dirty="0">
                <a:latin typeface="Arial"/>
                <a:cs typeface="Arial"/>
              </a:rPr>
              <a:t>complex </a:t>
            </a:r>
            <a:r>
              <a:rPr sz="1000" spc="-5" dirty="0">
                <a:latin typeface="Arial"/>
                <a:cs typeface="Arial"/>
              </a:rPr>
              <a:t>caused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5" dirty="0">
                <a:latin typeface="Arial"/>
                <a:cs typeface="Arial"/>
              </a:rPr>
              <a:t>mistakes that  required patching later on. </a:t>
            </a:r>
            <a:r>
              <a:rPr sz="1000" spc="-10" dirty="0">
                <a:latin typeface="Arial"/>
                <a:cs typeface="Arial"/>
              </a:rPr>
              <a:t>Many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false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assumptions</a:t>
            </a:r>
            <a:r>
              <a:rPr sz="1000" spc="-5" dirty="0">
                <a:latin typeface="Arial"/>
                <a:cs typeface="Arial"/>
              </a:rPr>
              <a:t>are often</a:t>
            </a:r>
            <a:r>
              <a:rPr sz="1000" spc="9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made.</a:t>
            </a:r>
            <a:endParaRPr sz="1000" dirty="0">
              <a:latin typeface="Arial"/>
              <a:cs typeface="Arial"/>
            </a:endParaRPr>
          </a:p>
          <a:p>
            <a:pPr marL="289560" marR="2059939" indent="-277495">
              <a:lnSpc>
                <a:spcPct val="156200"/>
              </a:lnSpc>
              <a:spcBef>
                <a:spcPts val="640"/>
              </a:spcBef>
            </a:pPr>
            <a:r>
              <a:rPr sz="1000" spc="-15" dirty="0">
                <a:solidFill>
                  <a:srgbClr val="04064C"/>
                </a:solidFill>
                <a:latin typeface="Arial"/>
                <a:cs typeface="Arial"/>
              </a:rPr>
              <a:t>False </a:t>
            </a:r>
            <a:r>
              <a:rPr sz="1000" spc="-5" dirty="0">
                <a:solidFill>
                  <a:srgbClr val="04064C"/>
                </a:solidFill>
                <a:latin typeface="Arial"/>
                <a:cs typeface="Arial"/>
              </a:rPr>
              <a:t>(and often hidden) assumptions  </a:t>
            </a:r>
            <a:r>
              <a:rPr sz="1000" spc="-5" dirty="0">
                <a:latin typeface="Arial"/>
                <a:cs typeface="Arial"/>
              </a:rPr>
              <a:t>The network 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reliable</a:t>
            </a:r>
            <a:endParaRPr sz="10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590"/>
              </a:spcBef>
            </a:pPr>
            <a:r>
              <a:rPr sz="1000" spc="-5" dirty="0">
                <a:latin typeface="Arial"/>
                <a:cs typeface="Arial"/>
              </a:rPr>
              <a:t>The network 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secure</a:t>
            </a:r>
            <a:endParaRPr sz="1000" dirty="0">
              <a:latin typeface="Arial"/>
              <a:cs typeface="Arial"/>
            </a:endParaRPr>
          </a:p>
          <a:p>
            <a:pPr marL="289560" marR="2190750">
              <a:lnSpc>
                <a:spcPct val="149400"/>
              </a:lnSpc>
            </a:pPr>
            <a:r>
              <a:rPr sz="1000" spc="-5" dirty="0">
                <a:latin typeface="Arial"/>
                <a:cs typeface="Arial"/>
              </a:rPr>
              <a:t>The network is homogeneous  The topology does not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change  Latency is</a:t>
            </a:r>
            <a:r>
              <a:rPr sz="1000" spc="-10" dirty="0">
                <a:latin typeface="Arial"/>
                <a:cs typeface="Arial"/>
              </a:rPr>
              <a:t> zero</a:t>
            </a:r>
            <a:endParaRPr sz="1000" dirty="0">
              <a:latin typeface="Arial"/>
              <a:cs typeface="Arial"/>
            </a:endParaRPr>
          </a:p>
          <a:p>
            <a:pPr marL="289560" marR="2425065">
              <a:lnSpc>
                <a:spcPct val="149400"/>
              </a:lnSpc>
            </a:pPr>
            <a:r>
              <a:rPr sz="1000" spc="-5" dirty="0">
                <a:latin typeface="Arial"/>
                <a:cs typeface="Arial"/>
              </a:rPr>
              <a:t>Bandwidth is infinite  </a:t>
            </a:r>
            <a:r>
              <a:rPr sz="1000" spc="-15" dirty="0">
                <a:latin typeface="Arial"/>
                <a:cs typeface="Arial"/>
              </a:rPr>
              <a:t>Transport </a:t>
            </a:r>
            <a:r>
              <a:rPr sz="1000" spc="-5" dirty="0">
                <a:latin typeface="Arial"/>
                <a:cs typeface="Arial"/>
              </a:rPr>
              <a:t>cost is </a:t>
            </a:r>
            <a:r>
              <a:rPr sz="1000" spc="-10" dirty="0">
                <a:latin typeface="Arial"/>
                <a:cs typeface="Arial"/>
              </a:rPr>
              <a:t>zero  </a:t>
            </a:r>
            <a:r>
              <a:rPr sz="1000" spc="-5" dirty="0">
                <a:latin typeface="Arial"/>
                <a:cs typeface="Arial"/>
              </a:rPr>
              <a:t>There is one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administrator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0" y="3326968"/>
            <a:ext cx="4608195" cy="129539"/>
            <a:chOff x="0" y="3326968"/>
            <a:chExt cx="4608195" cy="129539"/>
          </a:xfrm>
        </p:grpSpPr>
        <p:sp>
          <p:nvSpPr>
            <p:cNvPr id="36" name="object 36"/>
            <p:cNvSpPr/>
            <p:nvPr/>
          </p:nvSpPr>
          <p:spPr>
            <a:xfrm>
              <a:off x="0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03995" y="3326968"/>
              <a:ext cx="2304415" cy="129539"/>
            </a:xfrm>
            <a:custGeom>
              <a:avLst/>
              <a:gdLst/>
              <a:ahLst/>
              <a:cxnLst/>
              <a:rect l="l" t="t" r="r" b="b"/>
              <a:pathLst>
                <a:path w="2304415" h="129539">
                  <a:moveTo>
                    <a:pt x="2303995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2303995" y="129032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C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27 /</a:t>
            </a:r>
            <a:r>
              <a:rPr sz="600" spc="-70" dirty="0">
                <a:solidFill>
                  <a:srgbClr val="04064C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04064C"/>
                </a:solidFill>
                <a:latin typeface="Arial"/>
                <a:cs typeface="Arial"/>
              </a:rPr>
              <a:t>56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</TotalTime>
  <Words>1191</Words>
  <Application>Microsoft Office PowerPoint</Application>
  <PresentationFormat>Custom</PresentationFormat>
  <Paragraphs>181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DejaVu Sans Condensed</vt:lpstr>
      <vt:lpstr>Times New Roman</vt:lpstr>
      <vt:lpstr>Office Theme</vt:lpstr>
      <vt:lpstr>PowerPoint Presentation</vt:lpstr>
      <vt:lpstr>PowerPoint Presentation</vt:lpstr>
      <vt:lpstr>Distributed System</vt:lpstr>
      <vt:lpstr>Collection of autonomous nodes</vt:lpstr>
      <vt:lpstr>Organization</vt:lpstr>
      <vt:lpstr>Coherent system</vt:lpstr>
      <vt:lpstr>Middleware: the OS of distributed systems</vt:lpstr>
      <vt:lpstr>Middleware: the OS of distributed systems</vt:lpstr>
      <vt:lpstr>Middleware: the OS of distributed systems</vt:lpstr>
      <vt:lpstr>PowerPoint Presentation</vt:lpstr>
      <vt:lpstr>Sharing resources</vt:lpstr>
      <vt:lpstr>Distribution transparency</vt:lpstr>
      <vt:lpstr>Scale in distributed systems</vt:lpstr>
      <vt:lpstr>Size scalability</vt:lpstr>
      <vt:lpstr>Problems with geographical scalability</vt:lpstr>
      <vt:lpstr>Problems with administrative scalability</vt:lpstr>
      <vt:lpstr>Developing distributed systems: Pitfalls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(3rd Edition)</dc:title>
  <dc:creator>Dr. Danish Mahmood</dc:creator>
  <cp:lastModifiedBy>hp</cp:lastModifiedBy>
  <cp:revision>24</cp:revision>
  <dcterms:created xsi:type="dcterms:W3CDTF">2021-10-07T08:48:26Z</dcterms:created>
  <dcterms:modified xsi:type="dcterms:W3CDTF">2026-02-25T15:45:09Z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2017-02-25T00:00:00Z</vt:filetime>
  </property>
  <property fmtid="{D5CDD505-2E9C-101B-9397-08002B2CF9AE}" pid="3" name="Creator">
    <vt:lpwstr>LaTeX with Beamer class version 3.36</vt:lpwstr>
  </property>
  <property fmtid="{D5CDD505-2E9C-101B-9397-08002B2CF9AE}" pid="4" name="LastSaved">
    <vt:filetime>2021-10-07T00:00:00Z</vt:filetime>
  </property>
</Properties>
</file>