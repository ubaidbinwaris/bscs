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329" r:id="rId2"/>
    <p:sldId id="327" r:id="rId3"/>
    <p:sldId id="257" r:id="rId4"/>
    <p:sldId id="258" r:id="rId5"/>
    <p:sldId id="259" r:id="rId6"/>
    <p:sldId id="261" r:id="rId7"/>
    <p:sldId id="266" r:id="rId8"/>
    <p:sldId id="276" r:id="rId9"/>
    <p:sldId id="277" r:id="rId10"/>
    <p:sldId id="278" r:id="rId11"/>
    <p:sldId id="279" r:id="rId12"/>
    <p:sldId id="264" r:id="rId13"/>
    <p:sldId id="263" r:id="rId14"/>
    <p:sldId id="272" r:id="rId15"/>
    <p:sldId id="274" r:id="rId16"/>
    <p:sldId id="275" r:id="rId17"/>
    <p:sldId id="284" r:id="rId18"/>
    <p:sldId id="281" r:id="rId19"/>
    <p:sldId id="287" r:id="rId20"/>
    <p:sldId id="298" r:id="rId21"/>
    <p:sldId id="300" r:id="rId22"/>
    <p:sldId id="294" r:id="rId23"/>
    <p:sldId id="295" r:id="rId24"/>
    <p:sldId id="309" r:id="rId25"/>
    <p:sldId id="326" r:id="rId26"/>
    <p:sldId id="311" r:id="rId27"/>
    <p:sldId id="312" r:id="rId28"/>
    <p:sldId id="313" r:id="rId29"/>
    <p:sldId id="314" r:id="rId30"/>
    <p:sldId id="315" r:id="rId31"/>
    <p:sldId id="316" r:id="rId32"/>
    <p:sldId id="317" r:id="rId33"/>
    <p:sldId id="318" r:id="rId34"/>
    <p:sldId id="319" r:id="rId35"/>
    <p:sldId id="32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5501" autoAdjust="0"/>
  </p:normalViewPr>
  <p:slideViewPr>
    <p:cSldViewPr snapToGrid="0">
      <p:cViewPr varScale="1">
        <p:scale>
          <a:sx n="69" d="100"/>
          <a:sy n="69" d="100"/>
        </p:scale>
        <p:origin x="5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2CED5-826C-4503-BEF3-66649340DB0C}" type="datetimeFigureOut">
              <a:rPr lang="en-US" smtClean="0"/>
              <a:t>2/22/2026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F5640-6820-42E9-A83E-D817F995E533}" type="slidenum">
              <a:rPr lang="en-US" smtClean="0"/>
              <a:t>‹#›</a:t>
            </a:fld>
            <a:endParaRPr lang="en-US"/>
          </a:p>
        </p:txBody>
      </p:sp>
    </p:spTree>
    <p:extLst>
      <p:ext uri="{BB962C8B-B14F-4D97-AF65-F5344CB8AC3E}">
        <p14:creationId xmlns:p14="http://schemas.microsoft.com/office/powerpoint/2010/main" val="1719060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8442609-8E10-4714-812A-5F53BDF1BAB9}" type="slidenum">
              <a:rPr lang="en-US" altLang="en-US" smtClean="0"/>
              <a:pPr/>
              <a:t>27</a:t>
            </a:fld>
            <a:endParaRPr lang="en-US" altLang="en-US"/>
          </a:p>
        </p:txBody>
      </p:sp>
      <p:sp>
        <p:nvSpPr>
          <p:cNvPr id="25603" name="Rectangle 2"/>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a:latin typeface="Arial" panose="020B0604020202020204" pitchFamily="34" charset="0"/>
            </a:endParaRPr>
          </a:p>
        </p:txBody>
      </p:sp>
      <p:sp>
        <p:nvSpPr>
          <p:cNvPr id="25604" name="Rectangle 3"/>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2492884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A329BD7-7348-4886-846C-C19426917A07}" type="slidenum">
              <a:rPr lang="en-US" altLang="en-US" smtClean="0"/>
              <a:pPr/>
              <a:t>28</a:t>
            </a:fld>
            <a:endParaRPr lang="en-US" altLang="en-US"/>
          </a:p>
        </p:txBody>
      </p:sp>
      <p:sp>
        <p:nvSpPr>
          <p:cNvPr id="27651" name="Rectangle 2"/>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a:latin typeface="Arial" panose="020B0604020202020204" pitchFamily="34" charset="0"/>
            </a:endParaRPr>
          </a:p>
        </p:txBody>
      </p:sp>
      <p:sp>
        <p:nvSpPr>
          <p:cNvPr id="27652" name="Rectangle 3"/>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642560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B032C84-1763-4AB7-9623-BD1D1D433E1D}"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B1A2A-451B-42DB-8A96-163473797838}" type="slidenum">
              <a:rPr lang="en-US" smtClean="0"/>
              <a:t>‹#›</a:t>
            </a:fld>
            <a:endParaRPr lang="en-US"/>
          </a:p>
        </p:txBody>
      </p:sp>
    </p:spTree>
    <p:extLst>
      <p:ext uri="{BB962C8B-B14F-4D97-AF65-F5344CB8AC3E}">
        <p14:creationId xmlns:p14="http://schemas.microsoft.com/office/powerpoint/2010/main" val="2397485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032C84-1763-4AB7-9623-BD1D1D433E1D}"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B1A2A-451B-42DB-8A96-163473797838}" type="slidenum">
              <a:rPr lang="en-US" smtClean="0"/>
              <a:t>‹#›</a:t>
            </a:fld>
            <a:endParaRPr lang="en-US"/>
          </a:p>
        </p:txBody>
      </p:sp>
    </p:spTree>
    <p:extLst>
      <p:ext uri="{BB962C8B-B14F-4D97-AF65-F5344CB8AC3E}">
        <p14:creationId xmlns:p14="http://schemas.microsoft.com/office/powerpoint/2010/main" val="1969566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032C84-1763-4AB7-9623-BD1D1D433E1D}"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B1A2A-451B-42DB-8A96-163473797838}" type="slidenum">
              <a:rPr lang="en-US" smtClean="0"/>
              <a:t>‹#›</a:t>
            </a:fld>
            <a:endParaRPr lang="en-US"/>
          </a:p>
        </p:txBody>
      </p:sp>
    </p:spTree>
    <p:extLst>
      <p:ext uri="{BB962C8B-B14F-4D97-AF65-F5344CB8AC3E}">
        <p14:creationId xmlns:p14="http://schemas.microsoft.com/office/powerpoint/2010/main" val="2000395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B032C84-1763-4AB7-9623-BD1D1D433E1D}"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DB1A2A-451B-42DB-8A96-163473797838}" type="slidenum">
              <a:rPr lang="en-US" smtClean="0"/>
              <a:t>‹#›</a:t>
            </a:fld>
            <a:endParaRPr lang="en-US"/>
          </a:p>
        </p:txBody>
      </p:sp>
    </p:spTree>
    <p:extLst>
      <p:ext uri="{BB962C8B-B14F-4D97-AF65-F5344CB8AC3E}">
        <p14:creationId xmlns:p14="http://schemas.microsoft.com/office/powerpoint/2010/main" val="2005625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B032C84-1763-4AB7-9623-BD1D1D433E1D}"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DB1A2A-451B-42DB-8A96-163473797838}" type="slidenum">
              <a:rPr lang="en-US" smtClean="0"/>
              <a:t>‹#›</a:t>
            </a:fld>
            <a:endParaRPr lang="en-US"/>
          </a:p>
        </p:txBody>
      </p:sp>
    </p:spTree>
    <p:extLst>
      <p:ext uri="{BB962C8B-B14F-4D97-AF65-F5344CB8AC3E}">
        <p14:creationId xmlns:p14="http://schemas.microsoft.com/office/powerpoint/2010/main" val="770824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B032C84-1763-4AB7-9623-BD1D1D433E1D}"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DB1A2A-451B-42DB-8A96-163473797838}" type="slidenum">
              <a:rPr lang="en-US" smtClean="0"/>
              <a:t>‹#›</a:t>
            </a:fld>
            <a:endParaRPr lang="en-US"/>
          </a:p>
        </p:txBody>
      </p:sp>
    </p:spTree>
    <p:extLst>
      <p:ext uri="{BB962C8B-B14F-4D97-AF65-F5344CB8AC3E}">
        <p14:creationId xmlns:p14="http://schemas.microsoft.com/office/powerpoint/2010/main" val="221535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032C84-1763-4AB7-9623-BD1D1D433E1D}"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DB1A2A-451B-42DB-8A96-163473797838}" type="slidenum">
              <a:rPr lang="en-US" smtClean="0"/>
              <a:t>‹#›</a:t>
            </a:fld>
            <a:endParaRPr lang="en-US"/>
          </a:p>
        </p:txBody>
      </p:sp>
    </p:spTree>
    <p:extLst>
      <p:ext uri="{BB962C8B-B14F-4D97-AF65-F5344CB8AC3E}">
        <p14:creationId xmlns:p14="http://schemas.microsoft.com/office/powerpoint/2010/main" val="2509394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032C84-1763-4AB7-9623-BD1D1D433E1D}"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DB1A2A-451B-42DB-8A96-163473797838}" type="slidenum">
              <a:rPr lang="en-US" smtClean="0"/>
              <a:t>‹#›</a:t>
            </a:fld>
            <a:endParaRPr lang="en-US"/>
          </a:p>
        </p:txBody>
      </p:sp>
    </p:spTree>
    <p:extLst>
      <p:ext uri="{BB962C8B-B14F-4D97-AF65-F5344CB8AC3E}">
        <p14:creationId xmlns:p14="http://schemas.microsoft.com/office/powerpoint/2010/main" val="776347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032C84-1763-4AB7-9623-BD1D1D433E1D}"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DB1A2A-451B-42DB-8A96-163473797838}" type="slidenum">
              <a:rPr lang="en-US" smtClean="0"/>
              <a:t>‹#›</a:t>
            </a:fld>
            <a:endParaRPr lang="en-US"/>
          </a:p>
        </p:txBody>
      </p:sp>
    </p:spTree>
    <p:extLst>
      <p:ext uri="{BB962C8B-B14F-4D97-AF65-F5344CB8AC3E}">
        <p14:creationId xmlns:p14="http://schemas.microsoft.com/office/powerpoint/2010/main" val="1815098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032C84-1763-4AB7-9623-BD1D1D433E1D}"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B1A2A-451B-42DB-8A96-163473797838}" type="slidenum">
              <a:rPr lang="en-US" smtClean="0"/>
              <a:t>‹#›</a:t>
            </a:fld>
            <a:endParaRPr lang="en-US"/>
          </a:p>
        </p:txBody>
      </p:sp>
    </p:spTree>
    <p:extLst>
      <p:ext uri="{BB962C8B-B14F-4D97-AF65-F5344CB8AC3E}">
        <p14:creationId xmlns:p14="http://schemas.microsoft.com/office/powerpoint/2010/main" val="1960956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032C84-1763-4AB7-9623-BD1D1D433E1D}"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B1A2A-451B-42DB-8A96-163473797838}" type="slidenum">
              <a:rPr lang="en-US" smtClean="0"/>
              <a:t>‹#›</a:t>
            </a:fld>
            <a:endParaRPr lang="en-US"/>
          </a:p>
        </p:txBody>
      </p:sp>
    </p:spTree>
    <p:extLst>
      <p:ext uri="{BB962C8B-B14F-4D97-AF65-F5344CB8AC3E}">
        <p14:creationId xmlns:p14="http://schemas.microsoft.com/office/powerpoint/2010/main" val="2132454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032C84-1763-4AB7-9623-BD1D1D433E1D}" type="datetimeFigureOut">
              <a:rPr lang="en-US" smtClean="0"/>
              <a:t>2/22/2026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DB1A2A-451B-42DB-8A96-163473797838}" type="slidenum">
              <a:rPr lang="en-US" smtClean="0"/>
              <a:t>‹#›</a:t>
            </a:fld>
            <a:endParaRPr lang="en-US"/>
          </a:p>
        </p:txBody>
      </p:sp>
    </p:spTree>
    <p:extLst>
      <p:ext uri="{BB962C8B-B14F-4D97-AF65-F5344CB8AC3E}">
        <p14:creationId xmlns:p14="http://schemas.microsoft.com/office/powerpoint/2010/main" val="37638344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cacm.acm.org/magazines/2017/1/211094-exponential-laws-of-computing-growth/fulltext"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4294967295"/>
          </p:nvPr>
        </p:nvSpPr>
        <p:spPr>
          <a:xfrm>
            <a:off x="2898536" y="3840481"/>
            <a:ext cx="6394928" cy="1714499"/>
          </a:xfrm>
          <a:prstGeom prst="rect">
            <a:avLst/>
          </a:prstGeom>
        </p:spPr>
        <p:txBody>
          <a:bodyPr/>
          <a:lstStyle/>
          <a:p>
            <a:endParaRPr lang="en-US"/>
          </a:p>
        </p:txBody>
      </p:sp>
      <p:pic>
        <p:nvPicPr>
          <p:cNvPr id="2050" name="Picture 2" descr="500+ Cloud Computing Pictures [HD] | Download Free Images on Unsplas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8195" y="255697"/>
            <a:ext cx="9135611" cy="660230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528195" y="294012"/>
            <a:ext cx="8830751" cy="1378198"/>
          </a:xfrm>
          <a:prstGeom prst="rect">
            <a:avLst/>
          </a:prstGeom>
          <a:noFill/>
        </p:spPr>
        <p:txBody>
          <a:bodyPr wrap="none" rtlCol="0">
            <a:spAutoFit/>
          </a:bodyPr>
          <a:lstStyle/>
          <a:p>
            <a:r>
              <a:rPr lang="en-US" sz="4756" dirty="0">
                <a:solidFill>
                  <a:schemeClr val="tx2">
                    <a:lumMod val="40000"/>
                    <a:lumOff val="60000"/>
                  </a:schemeClr>
                </a:solidFill>
              </a:rPr>
              <a:t>Parallel and Distributed Computing</a:t>
            </a:r>
          </a:p>
          <a:p>
            <a:r>
              <a:rPr lang="en-US" sz="3600" dirty="0">
                <a:solidFill>
                  <a:srgbClr val="FFC000"/>
                </a:solidFill>
              </a:rPr>
              <a:t>1. Introduction to domain</a:t>
            </a:r>
          </a:p>
        </p:txBody>
      </p:sp>
    </p:spTree>
    <p:extLst>
      <p:ext uri="{BB962C8B-B14F-4D97-AF65-F5344CB8AC3E}">
        <p14:creationId xmlns:p14="http://schemas.microsoft.com/office/powerpoint/2010/main" val="2630513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outline</a:t>
            </a:r>
          </a:p>
        </p:txBody>
      </p:sp>
      <p:sp>
        <p:nvSpPr>
          <p:cNvPr id="3" name="Content Placeholder 2"/>
          <p:cNvSpPr>
            <a:spLocks noGrp="1"/>
          </p:cNvSpPr>
          <p:nvPr>
            <p:ph idx="1"/>
          </p:nvPr>
        </p:nvSpPr>
        <p:spPr>
          <a:xfrm>
            <a:off x="838200" y="1825625"/>
            <a:ext cx="6621379" cy="4351338"/>
          </a:xfrm>
        </p:spPr>
        <p:txBody>
          <a:bodyPr>
            <a:normAutofit fontScale="70000" lnSpcReduction="20000"/>
          </a:bodyPr>
          <a:lstStyle/>
          <a:p>
            <a:r>
              <a:rPr lang="en-US" dirty="0"/>
              <a:t>Introduction to domain, terminologies, technologies</a:t>
            </a:r>
          </a:p>
          <a:p>
            <a:r>
              <a:rPr lang="en-US" dirty="0"/>
              <a:t>Architectures </a:t>
            </a:r>
          </a:p>
          <a:p>
            <a:r>
              <a:rPr lang="en-US" dirty="0"/>
              <a:t>Processes  </a:t>
            </a:r>
          </a:p>
          <a:p>
            <a:r>
              <a:rPr lang="en-US" dirty="0"/>
              <a:t>Communications</a:t>
            </a:r>
          </a:p>
          <a:p>
            <a:r>
              <a:rPr lang="en-US" dirty="0"/>
              <a:t>Naming and coordination</a:t>
            </a:r>
          </a:p>
          <a:p>
            <a:r>
              <a:rPr lang="en-US" dirty="0"/>
              <a:t>Consistency and replication</a:t>
            </a:r>
          </a:p>
          <a:p>
            <a:r>
              <a:rPr lang="en-US" dirty="0"/>
              <a:t>Clusters and grids for parallel computing</a:t>
            </a:r>
          </a:p>
          <a:p>
            <a:r>
              <a:rPr lang="en-US" dirty="0"/>
              <a:t>Cloud platform</a:t>
            </a:r>
          </a:p>
          <a:p>
            <a:r>
              <a:rPr lang="en-US" dirty="0"/>
              <a:t>Service oriented architectures for distributed computing</a:t>
            </a:r>
          </a:p>
          <a:p>
            <a:r>
              <a:rPr lang="en-US" dirty="0"/>
              <a:t>Hands on Distributed systems- Hadoop and Spark</a:t>
            </a:r>
          </a:p>
          <a:p>
            <a:pPr lvl="1"/>
            <a:r>
              <a:rPr lang="en-US" dirty="0"/>
              <a:t>Data bricks</a:t>
            </a:r>
          </a:p>
          <a:p>
            <a:pPr lvl="1"/>
            <a:r>
              <a:rPr lang="en-US" dirty="0"/>
              <a:t>AWS</a:t>
            </a:r>
          </a:p>
          <a:p>
            <a:pPr lvl="1"/>
            <a:r>
              <a:rPr lang="en-US" dirty="0"/>
              <a:t>Google </a:t>
            </a:r>
            <a:r>
              <a:rPr lang="en-US" dirty="0" err="1"/>
              <a:t>colab</a:t>
            </a:r>
            <a:endParaRPr lang="en-US" dirty="0"/>
          </a:p>
        </p:txBody>
      </p:sp>
      <p:sp>
        <p:nvSpPr>
          <p:cNvPr id="4" name="TextBox 3"/>
          <p:cNvSpPr txBox="1"/>
          <p:nvPr/>
        </p:nvSpPr>
        <p:spPr>
          <a:xfrm rot="1140003">
            <a:off x="5664496" y="3395055"/>
            <a:ext cx="6420732" cy="646331"/>
          </a:xfrm>
          <a:prstGeom prst="rect">
            <a:avLst/>
          </a:prstGeom>
          <a:solidFill>
            <a:schemeClr val="accent1">
              <a:lumMod val="20000"/>
              <a:lumOff val="80000"/>
            </a:schemeClr>
          </a:solidFill>
        </p:spPr>
        <p:txBody>
          <a:bodyPr wrap="none" rtlCol="0">
            <a:spAutoFit/>
          </a:bodyPr>
          <a:lstStyle/>
          <a:p>
            <a:r>
              <a:rPr lang="en-US" dirty="0"/>
              <a:t>Get ready for</a:t>
            </a:r>
          </a:p>
          <a:p>
            <a:r>
              <a:rPr lang="en-US" dirty="0"/>
              <a:t>4 quizzes and 4 assignments, mid term and final term examinations</a:t>
            </a:r>
          </a:p>
        </p:txBody>
      </p:sp>
      <p:sp>
        <p:nvSpPr>
          <p:cNvPr id="5" name="TextBox 4"/>
          <p:cNvSpPr txBox="1"/>
          <p:nvPr/>
        </p:nvSpPr>
        <p:spPr>
          <a:xfrm rot="20283167">
            <a:off x="6286723" y="5355040"/>
            <a:ext cx="4460965" cy="369332"/>
          </a:xfrm>
          <a:prstGeom prst="rect">
            <a:avLst/>
          </a:prstGeom>
          <a:solidFill>
            <a:srgbClr val="FF0000"/>
          </a:solidFill>
        </p:spPr>
        <p:txBody>
          <a:bodyPr wrap="none" rtlCol="0">
            <a:spAutoFit/>
          </a:bodyPr>
          <a:lstStyle/>
          <a:p>
            <a:r>
              <a:rPr lang="en-US" dirty="0">
                <a:solidFill>
                  <a:schemeClr val="accent4">
                    <a:lumMod val="60000"/>
                    <a:lumOff val="40000"/>
                  </a:schemeClr>
                </a:solidFill>
              </a:rPr>
              <a:t>1 quiz and 1 assignment will be unannounced</a:t>
            </a:r>
          </a:p>
        </p:txBody>
      </p:sp>
    </p:spTree>
    <p:extLst>
      <p:ext uri="{BB962C8B-B14F-4D97-AF65-F5344CB8AC3E}">
        <p14:creationId xmlns:p14="http://schemas.microsoft.com/office/powerpoint/2010/main" val="952352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524" y="365125"/>
            <a:ext cx="10515600" cy="1325563"/>
          </a:xfrm>
        </p:spPr>
        <p:txBody>
          <a:bodyPr/>
          <a:lstStyle/>
          <a:p>
            <a:r>
              <a:rPr lang="en-US" dirty="0"/>
              <a:t>Text Books</a:t>
            </a:r>
          </a:p>
        </p:txBody>
      </p:sp>
      <p:pic>
        <p:nvPicPr>
          <p:cNvPr id="4" name="Picture 3"/>
          <p:cNvPicPr>
            <a:picLocks noChangeAspect="1"/>
          </p:cNvPicPr>
          <p:nvPr/>
        </p:nvPicPr>
        <p:blipFill>
          <a:blip r:embed="rId2"/>
          <a:stretch>
            <a:fillRect/>
          </a:stretch>
        </p:blipFill>
        <p:spPr>
          <a:xfrm>
            <a:off x="3543300" y="857250"/>
            <a:ext cx="3886633" cy="5829300"/>
          </a:xfrm>
          <a:prstGeom prst="rect">
            <a:avLst/>
          </a:prstGeom>
        </p:spPr>
      </p:pic>
      <p:pic>
        <p:nvPicPr>
          <p:cNvPr id="5" name="Picture 4"/>
          <p:cNvPicPr>
            <a:picLocks noChangeAspect="1"/>
          </p:cNvPicPr>
          <p:nvPr/>
        </p:nvPicPr>
        <p:blipFill>
          <a:blip r:embed="rId3"/>
          <a:stretch>
            <a:fillRect/>
          </a:stretch>
        </p:blipFill>
        <p:spPr>
          <a:xfrm>
            <a:off x="7668490" y="828675"/>
            <a:ext cx="4343399" cy="5886450"/>
          </a:xfrm>
          <a:prstGeom prst="rect">
            <a:avLst/>
          </a:prstGeom>
        </p:spPr>
      </p:pic>
    </p:spTree>
    <p:extLst>
      <p:ext uri="{BB962C8B-B14F-4D97-AF65-F5344CB8AC3E}">
        <p14:creationId xmlns:p14="http://schemas.microsoft.com/office/powerpoint/2010/main" val="914047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Computing?</a:t>
            </a:r>
          </a:p>
        </p:txBody>
      </p:sp>
      <p:sp>
        <p:nvSpPr>
          <p:cNvPr id="4" name="Title 1"/>
          <p:cNvSpPr txBox="1">
            <a:spLocks/>
          </p:cNvSpPr>
          <p:nvPr/>
        </p:nvSpPr>
        <p:spPr>
          <a:xfrm>
            <a:off x="917863" y="156700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Why it becomes important?</a:t>
            </a:r>
          </a:p>
        </p:txBody>
      </p:sp>
      <p:sp>
        <p:nvSpPr>
          <p:cNvPr id="5" name="Title 1"/>
          <p:cNvSpPr txBox="1">
            <a:spLocks/>
          </p:cNvSpPr>
          <p:nvPr/>
        </p:nvSpPr>
        <p:spPr>
          <a:xfrm>
            <a:off x="838200" y="276889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Why is its need constantly increasing?</a:t>
            </a:r>
          </a:p>
        </p:txBody>
      </p:sp>
      <p:sp>
        <p:nvSpPr>
          <p:cNvPr id="6" name="Title 1"/>
          <p:cNvSpPr txBox="1">
            <a:spLocks/>
          </p:cNvSpPr>
          <p:nvPr/>
        </p:nvSpPr>
        <p:spPr>
          <a:xfrm>
            <a:off x="838200" y="409445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What the world has been doing in this regard?</a:t>
            </a:r>
          </a:p>
        </p:txBody>
      </p:sp>
    </p:spTree>
    <p:extLst>
      <p:ext uri="{BB962C8B-B14F-4D97-AF65-F5344CB8AC3E}">
        <p14:creationId xmlns:p14="http://schemas.microsoft.com/office/powerpoint/2010/main" val="1210741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Scalable computing---Over the internet</a:t>
            </a:r>
          </a:p>
        </p:txBody>
      </p:sp>
      <p:sp>
        <p:nvSpPr>
          <p:cNvPr id="3" name="Content Placeholder 2"/>
          <p:cNvSpPr>
            <a:spLocks noGrp="1"/>
          </p:cNvSpPr>
          <p:nvPr>
            <p:ph idx="1"/>
          </p:nvPr>
        </p:nvSpPr>
        <p:spPr/>
        <p:txBody>
          <a:bodyPr>
            <a:normAutofit/>
          </a:bodyPr>
          <a:lstStyle/>
          <a:p>
            <a:r>
              <a:rPr lang="en-US" dirty="0"/>
              <a:t>Over the past 60 years, computing technology has undergone a series of platform and environment changes. </a:t>
            </a:r>
          </a:p>
          <a:p>
            <a:pPr lvl="1"/>
            <a:r>
              <a:rPr lang="en-US" dirty="0"/>
              <a:t>evolutionary changes in machine architecture, operating system platform, network connectivity, and application workload. </a:t>
            </a:r>
          </a:p>
          <a:p>
            <a:r>
              <a:rPr lang="en-US" dirty="0"/>
              <a:t>Instead of using a centralized computer to solve computational problems, </a:t>
            </a:r>
          </a:p>
          <a:p>
            <a:pPr lvl="1"/>
            <a:r>
              <a:rPr lang="en-US" dirty="0"/>
              <a:t>a parallel and distributed computing system uses multiple computers to solve large-scale problems over the Internet. </a:t>
            </a:r>
          </a:p>
          <a:p>
            <a:r>
              <a:rPr lang="en-US" dirty="0"/>
              <a:t>Thus, distributed computing becomes data-intensive and network-centric. </a:t>
            </a:r>
          </a:p>
          <a:p>
            <a:endParaRPr lang="en-US" dirty="0"/>
          </a:p>
        </p:txBody>
      </p:sp>
    </p:spTree>
    <p:extLst>
      <p:ext uri="{BB962C8B-B14F-4D97-AF65-F5344CB8AC3E}">
        <p14:creationId xmlns:p14="http://schemas.microsoft.com/office/powerpoint/2010/main" val="401787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Parallel Processing?</a:t>
            </a:r>
            <a:br>
              <a:rPr lang="en-US" dirty="0"/>
            </a:br>
            <a:r>
              <a:rPr lang="en-US" dirty="0"/>
              <a:t>The Age of Internet Computing</a:t>
            </a:r>
          </a:p>
        </p:txBody>
      </p:sp>
      <p:sp>
        <p:nvSpPr>
          <p:cNvPr id="3" name="Content Placeholder 2"/>
          <p:cNvSpPr>
            <a:spLocks noGrp="1"/>
          </p:cNvSpPr>
          <p:nvPr>
            <p:ph idx="1"/>
          </p:nvPr>
        </p:nvSpPr>
        <p:spPr>
          <a:xfrm>
            <a:off x="730266" y="5295013"/>
            <a:ext cx="10515600" cy="1381679"/>
          </a:xfrm>
          <a:solidFill>
            <a:srgbClr val="92D050"/>
          </a:solidFill>
        </p:spPr>
        <p:txBody>
          <a:bodyPr>
            <a:normAutofit fontScale="92500"/>
          </a:bodyPr>
          <a:lstStyle/>
          <a:p>
            <a:pPr marL="0" indent="0" algn="just">
              <a:buNone/>
            </a:pPr>
            <a:r>
              <a:rPr lang="en-US" dirty="0"/>
              <a:t>We have to upgrade data centers using fast servers, storage systems, and high-bandwidth networks. The purpose is to advance network-based computing and web services with the emerging new technologies.</a:t>
            </a:r>
          </a:p>
        </p:txBody>
      </p:sp>
      <p:sp>
        <p:nvSpPr>
          <p:cNvPr id="5" name="TextBox 4"/>
          <p:cNvSpPr txBox="1"/>
          <p:nvPr/>
        </p:nvSpPr>
        <p:spPr>
          <a:xfrm>
            <a:off x="2817628" y="1828786"/>
            <a:ext cx="5640062" cy="1200329"/>
          </a:xfrm>
          <a:prstGeom prst="rect">
            <a:avLst/>
          </a:prstGeom>
          <a:solidFill>
            <a:schemeClr val="tx2">
              <a:lumMod val="40000"/>
              <a:lumOff val="60000"/>
            </a:schemeClr>
          </a:solidFill>
        </p:spPr>
        <p:txBody>
          <a:bodyPr wrap="square" rtlCol="0">
            <a:spAutoFit/>
          </a:bodyPr>
          <a:lstStyle/>
          <a:p>
            <a:pPr algn="just"/>
            <a:r>
              <a:rPr lang="en-US" dirty="0"/>
              <a:t>Billions of people use the Internet every day. As a result, supercomputer sites and large data centers must provide high-performance computing services to huge numbers of Internet users concurrently.</a:t>
            </a:r>
          </a:p>
        </p:txBody>
      </p:sp>
      <p:sp>
        <p:nvSpPr>
          <p:cNvPr id="6" name="TextBox 5"/>
          <p:cNvSpPr txBox="1"/>
          <p:nvPr/>
        </p:nvSpPr>
        <p:spPr>
          <a:xfrm>
            <a:off x="1935124" y="3444212"/>
            <a:ext cx="7893233" cy="1477328"/>
          </a:xfrm>
          <a:prstGeom prst="rect">
            <a:avLst/>
          </a:prstGeom>
          <a:solidFill>
            <a:schemeClr val="accent4">
              <a:lumMod val="60000"/>
              <a:lumOff val="40000"/>
            </a:schemeClr>
          </a:solidFill>
        </p:spPr>
        <p:txBody>
          <a:bodyPr wrap="square" rtlCol="0">
            <a:spAutoFit/>
          </a:bodyPr>
          <a:lstStyle/>
          <a:p>
            <a:pPr algn="just"/>
            <a:r>
              <a:rPr lang="en-US" dirty="0"/>
              <a:t>Because of this high demand, the </a:t>
            </a:r>
            <a:r>
              <a:rPr lang="en-US" dirty="0" err="1"/>
              <a:t>Linpack</a:t>
            </a:r>
            <a:r>
              <a:rPr lang="en-US" dirty="0"/>
              <a:t> Benchmark for high-performance computing (HPC) applications is no longer optimal for measuring system performance. </a:t>
            </a:r>
          </a:p>
          <a:p>
            <a:pPr algn="just"/>
            <a:r>
              <a:rPr lang="en-US" dirty="0"/>
              <a:t>The emergence of computing clouds instead demands high-throughput computing (HTC) systems built with parallel and distributed computing technologies </a:t>
            </a:r>
          </a:p>
        </p:txBody>
      </p:sp>
    </p:spTree>
    <p:extLst>
      <p:ext uri="{BB962C8B-B14F-4D97-AF65-F5344CB8AC3E}">
        <p14:creationId xmlns:p14="http://schemas.microsoft.com/office/powerpoint/2010/main" val="3285855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Quotes for parallel processing</a:t>
            </a:r>
          </a:p>
        </p:txBody>
      </p:sp>
      <p:sp>
        <p:nvSpPr>
          <p:cNvPr id="4" name="Text Box 3"/>
          <p:cNvSpPr txBox="1">
            <a:spLocks noGrp="1" noChangeArrowheads="1"/>
          </p:cNvSpPr>
          <p:nvPr>
            <p:ph idx="1"/>
          </p:nvPr>
        </p:nvSpPr>
        <p:spPr bwMode="auto">
          <a:xfrm>
            <a:off x="838200" y="1825625"/>
            <a:ext cx="10515600" cy="4745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90000"/>
              </a:lnSpc>
              <a:spcBef>
                <a:spcPct val="0"/>
              </a:spcBef>
              <a:buFontTx/>
              <a:buNone/>
            </a:pPr>
            <a:r>
              <a:rPr lang="en-US" altLang="en-US" sz="2400" dirty="0"/>
              <a:t>“There are 3 rules to follow when parallelizing large codes. Unfortunately, no one knows what these rules are.” </a:t>
            </a:r>
          </a:p>
          <a:p>
            <a:pPr eaLnBrk="1" hangingPunct="1">
              <a:lnSpc>
                <a:spcPct val="90000"/>
              </a:lnSpc>
              <a:spcBef>
                <a:spcPct val="0"/>
              </a:spcBef>
              <a:buFontTx/>
              <a:buNone/>
            </a:pPr>
            <a:r>
              <a:rPr lang="en-US" altLang="en-US" sz="2400" dirty="0"/>
              <a:t>~ </a:t>
            </a:r>
            <a:r>
              <a:rPr lang="en-US" altLang="en-US" sz="2400" dirty="0">
                <a:solidFill>
                  <a:srgbClr val="00B0F0"/>
                </a:solidFill>
              </a:rPr>
              <a:t>Gary </a:t>
            </a:r>
            <a:r>
              <a:rPr lang="en-US" altLang="en-US" sz="2400" dirty="0" err="1">
                <a:solidFill>
                  <a:srgbClr val="00B0F0"/>
                </a:solidFill>
              </a:rPr>
              <a:t>Montry</a:t>
            </a:r>
            <a:r>
              <a:rPr lang="en-US" altLang="en-US" sz="2400" dirty="0">
                <a:solidFill>
                  <a:srgbClr val="00B0F0"/>
                </a:solidFill>
              </a:rPr>
              <a:t> </a:t>
            </a:r>
          </a:p>
          <a:p>
            <a:pPr eaLnBrk="1" hangingPunct="1">
              <a:lnSpc>
                <a:spcPct val="90000"/>
              </a:lnSpc>
              <a:spcBef>
                <a:spcPct val="0"/>
              </a:spcBef>
              <a:buFontTx/>
              <a:buNone/>
            </a:pPr>
            <a:endParaRPr lang="en-US" altLang="en-US" sz="1600" dirty="0"/>
          </a:p>
          <a:p>
            <a:pPr eaLnBrk="1" hangingPunct="1">
              <a:lnSpc>
                <a:spcPct val="90000"/>
              </a:lnSpc>
              <a:spcBef>
                <a:spcPct val="0"/>
              </a:spcBef>
              <a:buFontTx/>
              <a:buNone/>
            </a:pPr>
            <a:r>
              <a:rPr lang="en-US" altLang="en-US" sz="2400" dirty="0"/>
              <a:t>“The wall is there. We probably won’t have any more products without multicore processors but we see a lot of problems in parallel programming.” ~ </a:t>
            </a:r>
            <a:r>
              <a:rPr lang="en-US" altLang="en-US" sz="2400" dirty="0">
                <a:solidFill>
                  <a:srgbClr val="00B0F0"/>
                </a:solidFill>
              </a:rPr>
              <a:t>Alex </a:t>
            </a:r>
            <a:r>
              <a:rPr lang="en-US" altLang="en-US" sz="2400" dirty="0" err="1">
                <a:solidFill>
                  <a:srgbClr val="00B0F0"/>
                </a:solidFill>
              </a:rPr>
              <a:t>Bachmutsky</a:t>
            </a:r>
            <a:endParaRPr lang="en-US" altLang="en-US" sz="2400" dirty="0">
              <a:solidFill>
                <a:srgbClr val="00B0F0"/>
              </a:solidFill>
            </a:endParaRPr>
          </a:p>
          <a:p>
            <a:pPr eaLnBrk="1" hangingPunct="1">
              <a:lnSpc>
                <a:spcPct val="90000"/>
              </a:lnSpc>
              <a:spcBef>
                <a:spcPct val="0"/>
              </a:spcBef>
              <a:buFontTx/>
              <a:buNone/>
            </a:pPr>
            <a:endParaRPr lang="en-US" altLang="en-US" sz="1600" dirty="0"/>
          </a:p>
          <a:p>
            <a:pPr eaLnBrk="1" hangingPunct="1">
              <a:lnSpc>
                <a:spcPct val="90000"/>
              </a:lnSpc>
              <a:spcBef>
                <a:spcPct val="0"/>
              </a:spcBef>
              <a:buFontTx/>
              <a:buNone/>
            </a:pPr>
            <a:r>
              <a:rPr lang="en-US" altLang="en-US" sz="2400" dirty="0"/>
              <a:t>“We can solve the software crisis in parallel computing, but only if we work from the algorithm down to the hardware — not the traditional hardware-first mentality.”    ~ </a:t>
            </a:r>
            <a:r>
              <a:rPr lang="en-US" altLang="en-US" sz="2400" dirty="0">
                <a:solidFill>
                  <a:srgbClr val="00B0F0"/>
                </a:solidFill>
              </a:rPr>
              <a:t>Tim Mattson</a:t>
            </a:r>
          </a:p>
          <a:p>
            <a:pPr eaLnBrk="1" hangingPunct="1">
              <a:lnSpc>
                <a:spcPct val="90000"/>
              </a:lnSpc>
              <a:spcBef>
                <a:spcPct val="0"/>
              </a:spcBef>
              <a:buFontTx/>
              <a:buNone/>
            </a:pPr>
            <a:endParaRPr lang="en-US" altLang="en-US" sz="1600" dirty="0"/>
          </a:p>
          <a:p>
            <a:pPr eaLnBrk="1" hangingPunct="1">
              <a:lnSpc>
                <a:spcPct val="90000"/>
              </a:lnSpc>
              <a:spcBef>
                <a:spcPct val="0"/>
              </a:spcBef>
              <a:buFontTx/>
              <a:buNone/>
            </a:pPr>
            <a:r>
              <a:rPr lang="en-US" altLang="en-US" sz="2400" dirty="0"/>
              <a:t>“The processor industry is adding more and more cores, but nobody knows how to program those things. I mean, two, yeah; four, not really; eight, forget it.” ~ </a:t>
            </a:r>
            <a:r>
              <a:rPr lang="en-US" altLang="en-US" sz="2400" dirty="0">
                <a:solidFill>
                  <a:srgbClr val="00B0F0"/>
                </a:solidFill>
              </a:rPr>
              <a:t>Steve Jobs</a:t>
            </a:r>
            <a:endParaRPr lang="en-US" altLang="en-US" sz="2000" dirty="0">
              <a:solidFill>
                <a:srgbClr val="00B0F0"/>
              </a:solidFill>
            </a:endParaRPr>
          </a:p>
        </p:txBody>
      </p:sp>
    </p:spTree>
    <p:extLst>
      <p:ext uri="{BB962C8B-B14F-4D97-AF65-F5344CB8AC3E}">
        <p14:creationId xmlns:p14="http://schemas.microsoft.com/office/powerpoint/2010/main" val="31716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Computing Paradigms Terminology</a:t>
            </a:r>
          </a:p>
        </p:txBody>
      </p:sp>
      <p:sp>
        <p:nvSpPr>
          <p:cNvPr id="4" name="TextBox 3"/>
          <p:cNvSpPr txBox="1"/>
          <p:nvPr/>
        </p:nvSpPr>
        <p:spPr>
          <a:xfrm>
            <a:off x="650076" y="1790474"/>
            <a:ext cx="8244542" cy="1754326"/>
          </a:xfrm>
          <a:prstGeom prst="rect">
            <a:avLst/>
          </a:prstGeom>
          <a:solidFill>
            <a:schemeClr val="bg1">
              <a:lumMod val="95000"/>
            </a:schemeClr>
          </a:solidFill>
        </p:spPr>
        <p:txBody>
          <a:bodyPr wrap="square" rtlCol="0">
            <a:spAutoFit/>
          </a:bodyPr>
          <a:lstStyle/>
          <a:p>
            <a:pPr algn="ctr"/>
            <a:r>
              <a:rPr lang="en-US" b="1" dirty="0">
                <a:solidFill>
                  <a:schemeClr val="accent2">
                    <a:lumMod val="75000"/>
                  </a:schemeClr>
                </a:solidFill>
              </a:rPr>
              <a:t>Centralized computing </a:t>
            </a:r>
          </a:p>
          <a:p>
            <a:pPr algn="just"/>
            <a:r>
              <a:rPr lang="en-US" dirty="0"/>
              <a:t>This is a computing paradigm by which all computer resources are centralized in one physical system. </a:t>
            </a:r>
            <a:r>
              <a:rPr lang="en-US" u="sng" dirty="0"/>
              <a:t>All resources </a:t>
            </a:r>
            <a:r>
              <a:rPr lang="en-US" dirty="0"/>
              <a:t>(processors, memory, and storage) are </a:t>
            </a:r>
            <a:r>
              <a:rPr lang="en-US" u="sng" dirty="0"/>
              <a:t>fully shared and tightly coupled </a:t>
            </a:r>
            <a:r>
              <a:rPr lang="en-US" dirty="0"/>
              <a:t>within one integrated OS. Many data centers and supercomputers are centralized systems, but they are used in parallel, distributed, and cloud computing applications.</a:t>
            </a:r>
          </a:p>
        </p:txBody>
      </p:sp>
      <p:sp>
        <p:nvSpPr>
          <p:cNvPr id="5" name="TextBox 4"/>
          <p:cNvSpPr txBox="1"/>
          <p:nvPr/>
        </p:nvSpPr>
        <p:spPr>
          <a:xfrm>
            <a:off x="3707220" y="4058081"/>
            <a:ext cx="8484780" cy="2308324"/>
          </a:xfrm>
          <a:prstGeom prst="rect">
            <a:avLst/>
          </a:prstGeom>
          <a:solidFill>
            <a:schemeClr val="accent1">
              <a:lumMod val="20000"/>
              <a:lumOff val="80000"/>
            </a:schemeClr>
          </a:solidFill>
        </p:spPr>
        <p:txBody>
          <a:bodyPr wrap="square" rtlCol="0">
            <a:spAutoFit/>
          </a:bodyPr>
          <a:lstStyle/>
          <a:p>
            <a:pPr algn="ctr"/>
            <a:r>
              <a:rPr lang="en-US" b="1" dirty="0">
                <a:solidFill>
                  <a:schemeClr val="accent2">
                    <a:lumMod val="75000"/>
                  </a:schemeClr>
                </a:solidFill>
              </a:rPr>
              <a:t>Parallel computing </a:t>
            </a:r>
          </a:p>
          <a:p>
            <a:pPr algn="just"/>
            <a:r>
              <a:rPr lang="en-US" dirty="0"/>
              <a:t>In parallel computing, all processors are </a:t>
            </a:r>
            <a:r>
              <a:rPr lang="en-US" u="sng" dirty="0"/>
              <a:t>either tightly coupled with centralized shared memory or loosely coupled with distributed memory</a:t>
            </a:r>
            <a:r>
              <a:rPr lang="en-US" dirty="0"/>
              <a:t>. Some authors refer to this discipline as parallel processing. </a:t>
            </a:r>
            <a:r>
              <a:rPr lang="en-US" u="sng" dirty="0"/>
              <a:t>Inter-processor communication is accomplished through shared memory or via message passing</a:t>
            </a:r>
            <a:r>
              <a:rPr lang="en-US" dirty="0"/>
              <a:t>. A computer system capable of parallel computing is commonly known as a </a:t>
            </a:r>
            <a:r>
              <a:rPr lang="en-US" u="sng" dirty="0"/>
              <a:t>parallel computer</a:t>
            </a:r>
            <a:r>
              <a:rPr lang="en-US" dirty="0"/>
              <a:t>. Programs running in a parallel computer are called </a:t>
            </a:r>
            <a:r>
              <a:rPr lang="en-US" u="sng" dirty="0"/>
              <a:t>parallel programs</a:t>
            </a:r>
            <a:r>
              <a:rPr lang="en-US" dirty="0"/>
              <a:t>. The process of writing parallel programs is often referred to as </a:t>
            </a:r>
            <a:r>
              <a:rPr lang="en-US" u="sng" dirty="0"/>
              <a:t>parallel programming </a:t>
            </a:r>
            <a:r>
              <a:rPr lang="en-US" dirty="0"/>
              <a:t>.</a:t>
            </a:r>
          </a:p>
        </p:txBody>
      </p:sp>
      <p:sp>
        <p:nvSpPr>
          <p:cNvPr id="8" name="TextBox 7"/>
          <p:cNvSpPr txBox="1"/>
          <p:nvPr/>
        </p:nvSpPr>
        <p:spPr>
          <a:xfrm>
            <a:off x="10956597" y="38428"/>
            <a:ext cx="1235403" cy="1200329"/>
          </a:xfrm>
          <a:prstGeom prst="rect">
            <a:avLst/>
          </a:prstGeom>
          <a:solidFill>
            <a:schemeClr val="bg1">
              <a:lumMod val="85000"/>
            </a:schemeClr>
          </a:solidFill>
        </p:spPr>
        <p:txBody>
          <a:bodyPr wrap="none" rtlCol="0">
            <a:spAutoFit/>
          </a:bodyPr>
          <a:lstStyle/>
          <a:p>
            <a:r>
              <a:rPr lang="en-US" dirty="0"/>
              <a:t>Centralized</a:t>
            </a:r>
          </a:p>
          <a:p>
            <a:r>
              <a:rPr lang="en-US" dirty="0"/>
              <a:t>Parallel</a:t>
            </a:r>
          </a:p>
          <a:p>
            <a:r>
              <a:rPr lang="en-US" dirty="0"/>
              <a:t>Distributed</a:t>
            </a:r>
          </a:p>
          <a:p>
            <a:r>
              <a:rPr lang="en-US" dirty="0"/>
              <a:t>Cloud</a:t>
            </a:r>
          </a:p>
        </p:txBody>
      </p:sp>
      <p:pic>
        <p:nvPicPr>
          <p:cNvPr id="1026" name="Picture 2" descr="The general structure of centralized distributed computing applications.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3889" y="1345801"/>
            <a:ext cx="3221470" cy="24981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rallel Computer Architecture - Model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57" y="4200211"/>
            <a:ext cx="3354800" cy="2024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749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Computing Paradigms Distinction</a:t>
            </a:r>
          </a:p>
        </p:txBody>
      </p:sp>
      <p:sp>
        <p:nvSpPr>
          <p:cNvPr id="4" name="Content Placeholder 2"/>
          <p:cNvSpPr txBox="1">
            <a:spLocks/>
          </p:cNvSpPr>
          <p:nvPr/>
        </p:nvSpPr>
        <p:spPr>
          <a:xfrm>
            <a:off x="455750" y="4360074"/>
            <a:ext cx="7077659" cy="1791344"/>
          </a:xfrm>
          <a:prstGeom prst="rect">
            <a:avLst/>
          </a:prstGeom>
          <a:solidFill>
            <a:schemeClr val="accent1">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dirty="0">
                <a:solidFill>
                  <a:schemeClr val="accent2">
                    <a:lumMod val="75000"/>
                  </a:schemeClr>
                </a:solidFill>
              </a:rPr>
              <a:t>Cloud computing </a:t>
            </a:r>
          </a:p>
          <a:p>
            <a:pPr marL="0" indent="0" algn="just">
              <a:buFont typeface="Arial" panose="020B0604020202020204" pitchFamily="34" charset="0"/>
              <a:buNone/>
            </a:pPr>
            <a:r>
              <a:rPr lang="en-US" sz="1800" dirty="0"/>
              <a:t>An Internet cloud of resources can be either a </a:t>
            </a:r>
            <a:r>
              <a:rPr lang="en-US" sz="1800" u="sng" dirty="0"/>
              <a:t>centralized or a distributed computing </a:t>
            </a:r>
            <a:r>
              <a:rPr lang="en-US" sz="1800" dirty="0"/>
              <a:t>system. The cloud applies parallel or distributed computing, or both. Clouds can be built with </a:t>
            </a:r>
            <a:r>
              <a:rPr lang="en-US" sz="1800" u="sng" dirty="0"/>
              <a:t>physical or virtualized resources over large data centers </a:t>
            </a:r>
            <a:r>
              <a:rPr lang="en-US" sz="1800" dirty="0"/>
              <a:t>that are centralized or distributed. Some authors consider cloud computing to be a form of </a:t>
            </a:r>
            <a:r>
              <a:rPr lang="en-US" sz="1800" u="sng" dirty="0"/>
              <a:t>utility computing or service computing</a:t>
            </a:r>
            <a:r>
              <a:rPr lang="en-US" sz="1800" dirty="0"/>
              <a:t>.</a:t>
            </a:r>
          </a:p>
        </p:txBody>
      </p:sp>
      <p:sp>
        <p:nvSpPr>
          <p:cNvPr id="5" name="TextBox 4"/>
          <p:cNvSpPr txBox="1"/>
          <p:nvPr/>
        </p:nvSpPr>
        <p:spPr>
          <a:xfrm>
            <a:off x="455750" y="1854191"/>
            <a:ext cx="11079126" cy="1508105"/>
          </a:xfrm>
          <a:prstGeom prst="rect">
            <a:avLst/>
          </a:prstGeom>
          <a:solidFill>
            <a:schemeClr val="bg1">
              <a:lumMod val="95000"/>
            </a:schemeClr>
          </a:solidFill>
        </p:spPr>
        <p:txBody>
          <a:bodyPr wrap="square" rtlCol="0">
            <a:spAutoFit/>
          </a:bodyPr>
          <a:lstStyle/>
          <a:p>
            <a:pPr algn="ctr"/>
            <a:r>
              <a:rPr lang="en-US" sz="2000" b="1" dirty="0">
                <a:solidFill>
                  <a:schemeClr val="accent2">
                    <a:lumMod val="75000"/>
                  </a:schemeClr>
                </a:solidFill>
              </a:rPr>
              <a:t>Distributed computing </a:t>
            </a:r>
          </a:p>
          <a:p>
            <a:pPr algn="just"/>
            <a:r>
              <a:rPr lang="en-US" dirty="0"/>
              <a:t>A distributed system consists of multiple </a:t>
            </a:r>
            <a:r>
              <a:rPr lang="en-US" u="sng" dirty="0"/>
              <a:t>autonomous computers</a:t>
            </a:r>
            <a:r>
              <a:rPr lang="en-US" dirty="0"/>
              <a:t>, each having its own </a:t>
            </a:r>
            <a:r>
              <a:rPr lang="en-US" u="sng" dirty="0"/>
              <a:t>private memory, communicating through a computer network</a:t>
            </a:r>
            <a:r>
              <a:rPr lang="en-US" dirty="0"/>
              <a:t>. Information exchange in a distributed system is accomplished through message passing. A computer program that runs in a distributed system is known as a </a:t>
            </a:r>
            <a:r>
              <a:rPr lang="en-US" u="sng" dirty="0"/>
              <a:t>distributed program</a:t>
            </a:r>
            <a:r>
              <a:rPr lang="en-US" dirty="0"/>
              <a:t>. The process of writing distributed programs is referred to as </a:t>
            </a:r>
            <a:r>
              <a:rPr lang="en-US" u="sng" dirty="0"/>
              <a:t>distributed programming.</a:t>
            </a:r>
          </a:p>
        </p:txBody>
      </p:sp>
      <p:sp>
        <p:nvSpPr>
          <p:cNvPr id="6" name="TextBox 5"/>
          <p:cNvSpPr txBox="1"/>
          <p:nvPr/>
        </p:nvSpPr>
        <p:spPr>
          <a:xfrm>
            <a:off x="9952557" y="259773"/>
            <a:ext cx="1235403" cy="1200329"/>
          </a:xfrm>
          <a:prstGeom prst="rect">
            <a:avLst/>
          </a:prstGeom>
          <a:noFill/>
        </p:spPr>
        <p:txBody>
          <a:bodyPr wrap="none" rtlCol="0">
            <a:spAutoFit/>
          </a:bodyPr>
          <a:lstStyle/>
          <a:p>
            <a:r>
              <a:rPr lang="en-US" dirty="0"/>
              <a:t>Centralized</a:t>
            </a:r>
          </a:p>
          <a:p>
            <a:r>
              <a:rPr lang="en-US" dirty="0"/>
              <a:t>Parallel</a:t>
            </a:r>
          </a:p>
          <a:p>
            <a:r>
              <a:rPr lang="en-US" dirty="0"/>
              <a:t>Distributed</a:t>
            </a:r>
          </a:p>
          <a:p>
            <a:r>
              <a:rPr lang="en-US" dirty="0"/>
              <a:t>Cloud</a:t>
            </a:r>
          </a:p>
        </p:txBody>
      </p:sp>
      <p:pic>
        <p:nvPicPr>
          <p:cNvPr id="4100" name="Picture 4" descr="Generic Cloud Computing Architecture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6507" y="3449782"/>
            <a:ext cx="4478371" cy="3408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904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Fully Distributed System</a:t>
            </a:r>
          </a:p>
        </p:txBody>
      </p:sp>
      <p:pic>
        <p:nvPicPr>
          <p:cNvPr id="4" name="Content Placeholder 3"/>
          <p:cNvPicPr>
            <a:picLocks noGrp="1" noChangeAspect="1"/>
          </p:cNvPicPr>
          <p:nvPr>
            <p:ph idx="1"/>
          </p:nvPr>
        </p:nvPicPr>
        <p:blipFill>
          <a:blip r:embed="rId2"/>
          <a:stretch>
            <a:fillRect/>
          </a:stretch>
        </p:blipFill>
        <p:spPr>
          <a:xfrm>
            <a:off x="6284570" y="1139819"/>
            <a:ext cx="5524903" cy="4351338"/>
          </a:xfrm>
          <a:prstGeom prst="rect">
            <a:avLst/>
          </a:prstGeom>
        </p:spPr>
      </p:pic>
      <p:sp>
        <p:nvSpPr>
          <p:cNvPr id="5" name="TextBox 4"/>
          <p:cNvSpPr txBox="1"/>
          <p:nvPr/>
        </p:nvSpPr>
        <p:spPr>
          <a:xfrm>
            <a:off x="301337" y="1503504"/>
            <a:ext cx="5900105" cy="4216539"/>
          </a:xfrm>
          <a:prstGeom prst="rect">
            <a:avLst/>
          </a:prstGeom>
          <a:solidFill>
            <a:schemeClr val="tx2">
              <a:lumMod val="20000"/>
              <a:lumOff val="80000"/>
            </a:schemeClr>
          </a:solidFill>
        </p:spPr>
        <p:txBody>
          <a:bodyPr wrap="square" rtlCol="0">
            <a:spAutoFit/>
          </a:bodyPr>
          <a:lstStyle/>
          <a:p>
            <a:pPr marL="101600" indent="-101600"/>
            <a:r>
              <a:rPr lang="en-US" altLang="zh-TW" dirty="0"/>
              <a:t>Systems involve </a:t>
            </a:r>
            <a:r>
              <a:rPr lang="en-US" altLang="zh-TW" dirty="0">
                <a:solidFill>
                  <a:schemeClr val="accent2">
                    <a:lumMod val="75000"/>
                  </a:schemeClr>
                </a:solidFill>
              </a:rPr>
              <a:t>hardware</a:t>
            </a:r>
            <a:r>
              <a:rPr lang="en-US" altLang="zh-TW" dirty="0"/>
              <a:t> (processors), </a:t>
            </a:r>
            <a:r>
              <a:rPr lang="en-US" altLang="zh-TW" dirty="0">
                <a:solidFill>
                  <a:schemeClr val="accent2">
                    <a:lumMod val="75000"/>
                  </a:schemeClr>
                </a:solidFill>
              </a:rPr>
              <a:t>application and system software</a:t>
            </a:r>
            <a:r>
              <a:rPr lang="en-US" altLang="zh-TW" dirty="0"/>
              <a:t> (control) and </a:t>
            </a:r>
            <a:r>
              <a:rPr lang="en-US" altLang="zh-TW" dirty="0">
                <a:solidFill>
                  <a:schemeClr val="accent2">
                    <a:lumMod val="75000"/>
                  </a:schemeClr>
                </a:solidFill>
              </a:rPr>
              <a:t>application and system information</a:t>
            </a:r>
            <a:r>
              <a:rPr lang="en-US" altLang="zh-TW" dirty="0"/>
              <a:t> (data).</a:t>
            </a:r>
          </a:p>
          <a:p>
            <a:pPr marL="101600" indent="-101600"/>
            <a:r>
              <a:rPr lang="en-US" altLang="zh-TW" dirty="0"/>
              <a:t>Which of these dimensions have to be distributed for the system to be a distributed system?</a:t>
            </a:r>
          </a:p>
          <a:p>
            <a:pPr marL="576263" lvl="1" indent="-119063">
              <a:buFont typeface="Arial" panose="020B0604020202020204" pitchFamily="34" charset="0"/>
              <a:buChar char="–"/>
            </a:pPr>
            <a:r>
              <a:rPr lang="en-US" altLang="zh-TW" dirty="0"/>
              <a:t>Full </a:t>
            </a:r>
            <a:r>
              <a:rPr lang="en-US" altLang="zh-TW" u="sng" dirty="0"/>
              <a:t>hardware decentralization </a:t>
            </a:r>
            <a:r>
              <a:rPr lang="en-US" altLang="zh-TW" dirty="0"/>
              <a:t>includes multiple heterogeneous control units (as opposed to a single control unit with multiple processors and multiple homogeneous control units).</a:t>
            </a:r>
          </a:p>
          <a:p>
            <a:pPr marL="576263" lvl="1" indent="-119063">
              <a:buFont typeface="Arial" panose="020B0604020202020204" pitchFamily="34" charset="0"/>
              <a:buChar char="–"/>
            </a:pPr>
            <a:r>
              <a:rPr lang="en-US" altLang="zh-TW" dirty="0"/>
              <a:t>Control must be provided by </a:t>
            </a:r>
            <a:r>
              <a:rPr lang="en-US" altLang="zh-TW" u="sng" dirty="0"/>
              <a:t>multiple units cooperating with each other rather</a:t>
            </a:r>
            <a:r>
              <a:rPr lang="en-US" altLang="zh-TW" dirty="0"/>
              <a:t> than in a master-slave relationship</a:t>
            </a:r>
          </a:p>
          <a:p>
            <a:pPr marL="576263" lvl="1" indent="-119063">
              <a:buFont typeface="Arial" panose="020B0604020202020204" pitchFamily="34" charset="0"/>
              <a:buChar char="–"/>
            </a:pPr>
            <a:r>
              <a:rPr lang="en-US" altLang="zh-TW" dirty="0"/>
              <a:t>Data must be </a:t>
            </a:r>
            <a:r>
              <a:rPr lang="en-US" altLang="zh-TW" u="sng" dirty="0"/>
              <a:t>partitioned and/or replicated</a:t>
            </a:r>
            <a:r>
              <a:rPr lang="en-US" altLang="zh-TW" dirty="0"/>
              <a:t>, each part with its own local directory.</a:t>
            </a:r>
          </a:p>
          <a:p>
            <a:endParaRPr lang="en-US" sz="1600" dirty="0"/>
          </a:p>
        </p:txBody>
      </p:sp>
      <p:sp>
        <p:nvSpPr>
          <p:cNvPr id="6" name="TextBox 5"/>
          <p:cNvSpPr txBox="1"/>
          <p:nvPr/>
        </p:nvSpPr>
        <p:spPr>
          <a:xfrm>
            <a:off x="935183" y="6156035"/>
            <a:ext cx="10581570" cy="646331"/>
          </a:xfrm>
          <a:prstGeom prst="rect">
            <a:avLst/>
          </a:prstGeom>
          <a:solidFill>
            <a:schemeClr val="bg1">
              <a:lumMod val="85000"/>
            </a:schemeClr>
          </a:solidFill>
        </p:spPr>
        <p:txBody>
          <a:bodyPr wrap="square" rtlCol="0">
            <a:spAutoFit/>
          </a:bodyPr>
          <a:lstStyle/>
          <a:p>
            <a:pPr algn="ctr"/>
            <a:r>
              <a:rPr lang="en-US" altLang="zh-TW" dirty="0">
                <a:latin typeface="Arial" panose="020B0604020202020204" pitchFamily="34" charset="0"/>
                <a:ea typeface="PMingLiU" panose="02020500000000000000" pitchFamily="18" charset="-120"/>
              </a:rPr>
              <a:t>definition is too restrictive in our opinion. Techniques of distributed system construction should also be employed if only a single dimension is decentralized.</a:t>
            </a:r>
          </a:p>
        </p:txBody>
      </p:sp>
    </p:spTree>
    <p:extLst>
      <p:ext uri="{BB962C8B-B14F-4D97-AF65-F5344CB8AC3E}">
        <p14:creationId xmlns:p14="http://schemas.microsoft.com/office/powerpoint/2010/main" val="1869177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126" name="Picture 6" descr="https://static.packt-cdn.com/products/9781787126992/graphics/Insert-Image_07_0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9372" y="83034"/>
            <a:ext cx="8068863" cy="6774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96291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HPC and HTC</a:t>
            </a:r>
          </a:p>
        </p:txBody>
      </p:sp>
      <p:sp>
        <p:nvSpPr>
          <p:cNvPr id="3" name="Content Placeholder 2"/>
          <p:cNvSpPr>
            <a:spLocks noGrp="1"/>
          </p:cNvSpPr>
          <p:nvPr>
            <p:ph idx="1"/>
          </p:nvPr>
        </p:nvSpPr>
        <p:spPr>
          <a:xfrm>
            <a:off x="516082" y="1607416"/>
            <a:ext cx="5323609" cy="3910157"/>
          </a:xfrm>
        </p:spPr>
        <p:txBody>
          <a:bodyPr>
            <a:normAutofit lnSpcReduction="10000"/>
          </a:bodyPr>
          <a:lstStyle/>
          <a:p>
            <a:r>
              <a:rPr lang="en-US" dirty="0">
                <a:solidFill>
                  <a:srgbClr val="00B0F0"/>
                </a:solidFill>
              </a:rPr>
              <a:t>High performance computing </a:t>
            </a:r>
          </a:p>
          <a:p>
            <a:pPr lvl="1"/>
            <a:r>
              <a:rPr lang="en-US" dirty="0"/>
              <a:t>measured by </a:t>
            </a:r>
            <a:r>
              <a:rPr lang="en-US" dirty="0">
                <a:effectLst>
                  <a:outerShdw blurRad="38100" dist="38100" dir="2700000" algn="tl">
                    <a:srgbClr val="000000">
                      <a:alpha val="43137"/>
                    </a:srgbClr>
                  </a:outerShdw>
                </a:effectLst>
              </a:rPr>
              <a:t>floating-point speed</a:t>
            </a:r>
            <a:r>
              <a:rPr lang="en-US" dirty="0"/>
              <a:t> in </a:t>
            </a:r>
            <a:r>
              <a:rPr lang="en-US" dirty="0" err="1"/>
              <a:t>Linpack</a:t>
            </a:r>
            <a:r>
              <a:rPr lang="en-US" dirty="0"/>
              <a:t> benchmark results. </a:t>
            </a:r>
          </a:p>
          <a:p>
            <a:pPr lvl="1"/>
            <a:r>
              <a:rPr lang="en-US" dirty="0"/>
              <a:t>However, the number of supercomputer users is limited to less than 10% of all computer users. </a:t>
            </a:r>
          </a:p>
          <a:p>
            <a:pPr lvl="1"/>
            <a:r>
              <a:rPr lang="en-US" dirty="0"/>
              <a:t>Today, the majority of computer users are using desktop computers or large servers when they conduct Internet searches and market-driven computing tasks.</a:t>
            </a:r>
          </a:p>
        </p:txBody>
      </p:sp>
      <p:sp>
        <p:nvSpPr>
          <p:cNvPr id="4" name="Content Placeholder 2"/>
          <p:cNvSpPr txBox="1">
            <a:spLocks/>
          </p:cNvSpPr>
          <p:nvPr/>
        </p:nvSpPr>
        <p:spPr>
          <a:xfrm>
            <a:off x="5839691" y="1562822"/>
            <a:ext cx="5323609" cy="35287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B0F0"/>
                </a:solidFill>
              </a:rPr>
              <a:t>High Throughput computing </a:t>
            </a:r>
          </a:p>
          <a:p>
            <a:pPr lvl="1"/>
            <a:r>
              <a:rPr lang="en-US" dirty="0"/>
              <a:t>pays more attention to high-flux computing. The main application for high-flux computing is in Internet searches and web services.</a:t>
            </a:r>
          </a:p>
          <a:p>
            <a:pPr lvl="1"/>
            <a:r>
              <a:rPr lang="en-US" dirty="0"/>
              <a:t>The performance goal thus shifts to </a:t>
            </a:r>
            <a:r>
              <a:rPr lang="en-US" dirty="0">
                <a:effectLst>
                  <a:outerShdw blurRad="38100" dist="38100" dir="2700000" algn="tl">
                    <a:srgbClr val="000000">
                      <a:alpha val="43137"/>
                    </a:srgbClr>
                  </a:outerShdw>
                </a:effectLst>
              </a:rPr>
              <a:t>measure high throughput </a:t>
            </a:r>
            <a:r>
              <a:rPr lang="en-US" dirty="0"/>
              <a:t>or the number of tasks completed per unit of time. </a:t>
            </a:r>
          </a:p>
        </p:txBody>
      </p:sp>
      <p:sp>
        <p:nvSpPr>
          <p:cNvPr id="5" name="TextBox 4"/>
          <p:cNvSpPr txBox="1"/>
          <p:nvPr/>
        </p:nvSpPr>
        <p:spPr>
          <a:xfrm>
            <a:off x="716973" y="5851463"/>
            <a:ext cx="10636828" cy="646331"/>
          </a:xfrm>
          <a:prstGeom prst="rect">
            <a:avLst/>
          </a:prstGeom>
          <a:solidFill>
            <a:srgbClr val="92D050"/>
          </a:solidFill>
        </p:spPr>
        <p:txBody>
          <a:bodyPr wrap="square" rtlCol="0">
            <a:spAutoFit/>
          </a:bodyPr>
          <a:lstStyle/>
          <a:p>
            <a:r>
              <a:rPr lang="en-US" dirty="0"/>
              <a:t>HTC technology needs to not only improve in terms of batch processing speed, but also address the acute problems of cost, energy savings, security, and reliability at many data and enterprise computing centers. </a:t>
            </a:r>
          </a:p>
        </p:txBody>
      </p:sp>
    </p:spTree>
    <p:extLst>
      <p:ext uri="{BB962C8B-B14F-4D97-AF65-F5344CB8AC3E}">
        <p14:creationId xmlns:p14="http://schemas.microsoft.com/office/powerpoint/2010/main" val="1362096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HTC Vs HPC</a:t>
            </a:r>
          </a:p>
        </p:txBody>
      </p:sp>
      <p:pic>
        <p:nvPicPr>
          <p:cNvPr id="4" name="Content Placeholder 3"/>
          <p:cNvPicPr>
            <a:picLocks noGrp="1" noChangeAspect="1"/>
          </p:cNvPicPr>
          <p:nvPr>
            <p:ph idx="1"/>
          </p:nvPr>
        </p:nvPicPr>
        <p:blipFill>
          <a:blip r:embed="rId2"/>
          <a:stretch>
            <a:fillRect/>
          </a:stretch>
        </p:blipFill>
        <p:spPr>
          <a:xfrm>
            <a:off x="4347214" y="104582"/>
            <a:ext cx="6768642" cy="4835862"/>
          </a:xfrm>
          <a:prstGeom prst="rect">
            <a:avLst/>
          </a:prstGeom>
        </p:spPr>
      </p:pic>
      <p:sp>
        <p:nvSpPr>
          <p:cNvPr id="5" name="TextBox 4"/>
          <p:cNvSpPr txBox="1"/>
          <p:nvPr/>
        </p:nvSpPr>
        <p:spPr>
          <a:xfrm>
            <a:off x="290946" y="5122719"/>
            <a:ext cx="10824910" cy="1477328"/>
          </a:xfrm>
          <a:prstGeom prst="rect">
            <a:avLst/>
          </a:prstGeom>
          <a:solidFill>
            <a:schemeClr val="bg1">
              <a:lumMod val="85000"/>
            </a:schemeClr>
          </a:solidFill>
        </p:spPr>
        <p:txBody>
          <a:bodyPr wrap="square" rtlCol="0">
            <a:spAutoFit/>
          </a:bodyPr>
          <a:lstStyle/>
          <a:p>
            <a:r>
              <a:rPr lang="en-US" dirty="0"/>
              <a:t>Figure 1.1 illustrates the evolution of HPC and HTC systems. On the HPC side, supercomputers (massively parallel processors or MPPs) are gradually replaced by clusters of cooperative computers out of a desire to share computing resources. The cluster is often a collection of homogeneous compute nodes that are physically connected in close range to one another. </a:t>
            </a:r>
          </a:p>
          <a:p>
            <a:r>
              <a:rPr lang="en-US" dirty="0">
                <a:solidFill>
                  <a:schemeClr val="accent5">
                    <a:lumMod val="75000"/>
                  </a:schemeClr>
                </a:solidFill>
              </a:rPr>
              <a:t>(Distributed and cloud computing – from parallel processing to internet of things)</a:t>
            </a:r>
          </a:p>
        </p:txBody>
      </p:sp>
      <p:sp>
        <p:nvSpPr>
          <p:cNvPr id="6" name="Content Placeholder 2"/>
          <p:cNvSpPr txBox="1">
            <a:spLocks/>
          </p:cNvSpPr>
          <p:nvPr/>
        </p:nvSpPr>
        <p:spPr>
          <a:xfrm>
            <a:off x="207819" y="1812492"/>
            <a:ext cx="4270663" cy="3006148"/>
          </a:xfrm>
          <a:prstGeom prst="rect">
            <a:avLst/>
          </a:prstGeom>
          <a:solidFill>
            <a:schemeClr val="bg1">
              <a:lumMod val="95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800" dirty="0">
                <a:solidFill>
                  <a:schemeClr val="accent2">
                    <a:lumMod val="75000"/>
                  </a:schemeClr>
                </a:solidFill>
              </a:rPr>
              <a:t>New Computing Paradigms</a:t>
            </a:r>
          </a:p>
          <a:p>
            <a:r>
              <a:rPr lang="en-US" dirty="0"/>
              <a:t>With the introduction of SOA, </a:t>
            </a:r>
            <a:r>
              <a:rPr lang="en-US" dirty="0">
                <a:solidFill>
                  <a:srgbClr val="00B0F0"/>
                </a:solidFill>
              </a:rPr>
              <a:t>Web 2.0 </a:t>
            </a:r>
            <a:r>
              <a:rPr lang="en-US" dirty="0"/>
              <a:t>services become available. </a:t>
            </a:r>
          </a:p>
          <a:p>
            <a:r>
              <a:rPr lang="en-US" dirty="0"/>
              <a:t>Advances in virtualization make it possible to see the growth of </a:t>
            </a:r>
            <a:r>
              <a:rPr lang="en-US" dirty="0">
                <a:solidFill>
                  <a:srgbClr val="00B0F0"/>
                </a:solidFill>
              </a:rPr>
              <a:t>Internet clouds </a:t>
            </a:r>
            <a:r>
              <a:rPr lang="en-US" dirty="0"/>
              <a:t>as a new computing paradigm.</a:t>
            </a:r>
          </a:p>
          <a:p>
            <a:r>
              <a:rPr lang="en-US" dirty="0"/>
              <a:t>The maturity of radio-frequency identification (RFID), Global Positioning System (GPS), and sensor technologies has triggered the development of the </a:t>
            </a:r>
            <a:r>
              <a:rPr lang="en-US" dirty="0">
                <a:solidFill>
                  <a:srgbClr val="00B0F0"/>
                </a:solidFill>
              </a:rPr>
              <a:t>Internet of Things </a:t>
            </a:r>
            <a:r>
              <a:rPr lang="en-US" dirty="0"/>
              <a:t>(IoT). </a:t>
            </a:r>
          </a:p>
        </p:txBody>
      </p:sp>
    </p:spTree>
    <p:extLst>
      <p:ext uri="{BB962C8B-B14F-4D97-AF65-F5344CB8AC3E}">
        <p14:creationId xmlns:p14="http://schemas.microsoft.com/office/powerpoint/2010/main" val="1384227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Three walls of HPC</a:t>
            </a:r>
          </a:p>
        </p:txBody>
      </p:sp>
      <p:sp>
        <p:nvSpPr>
          <p:cNvPr id="4" name="Text Box 3"/>
          <p:cNvSpPr txBox="1">
            <a:spLocks noGrp="1" noChangeArrowheads="1"/>
          </p:cNvSpPr>
          <p:nvPr>
            <p:ph idx="1"/>
          </p:nvPr>
        </p:nvSpPr>
        <p:spPr bwMode="auto">
          <a:xfrm>
            <a:off x="400319" y="1325563"/>
            <a:ext cx="10515600"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FontTx/>
              <a:buNone/>
            </a:pPr>
            <a:r>
              <a:rPr lang="en-US" altLang="en-US" sz="2400" b="1" dirty="0">
                <a:solidFill>
                  <a:srgbClr val="FF0000"/>
                </a:solidFill>
              </a:rPr>
              <a:t>Memory-wall challenge:</a:t>
            </a:r>
          </a:p>
          <a:p>
            <a:pPr eaLnBrk="1" hangingPunct="1">
              <a:lnSpc>
                <a:spcPct val="100000"/>
              </a:lnSpc>
              <a:spcBef>
                <a:spcPct val="0"/>
              </a:spcBef>
              <a:buFontTx/>
              <a:buNone/>
            </a:pPr>
            <a:r>
              <a:rPr lang="en-US" altLang="en-US" sz="2400" dirty="0"/>
              <a:t>Memory already </a:t>
            </a:r>
            <a:r>
              <a:rPr lang="en-US" altLang="en-US" sz="2400" u="sng" dirty="0"/>
              <a:t>limits single-processor performance</a:t>
            </a:r>
            <a:r>
              <a:rPr lang="en-US" altLang="en-US" sz="2400" dirty="0"/>
              <a:t>. How can we design a memory system that </a:t>
            </a:r>
            <a:r>
              <a:rPr lang="en-US" altLang="en-US" sz="2400" u="sng" dirty="0"/>
              <a:t>provides a bandwidth of several terabytes/s </a:t>
            </a:r>
            <a:r>
              <a:rPr lang="en-US" altLang="en-US" sz="2400" dirty="0"/>
              <a:t>for data-intensive high-performance applications?</a:t>
            </a:r>
          </a:p>
          <a:p>
            <a:pPr eaLnBrk="1" hangingPunct="1">
              <a:lnSpc>
                <a:spcPct val="100000"/>
              </a:lnSpc>
              <a:spcBef>
                <a:spcPct val="0"/>
              </a:spcBef>
              <a:buFontTx/>
              <a:buNone/>
            </a:pPr>
            <a:endParaRPr lang="en-US" altLang="en-US" sz="1600" dirty="0"/>
          </a:p>
          <a:p>
            <a:pPr eaLnBrk="1" hangingPunct="1">
              <a:lnSpc>
                <a:spcPct val="100000"/>
              </a:lnSpc>
              <a:spcBef>
                <a:spcPct val="0"/>
              </a:spcBef>
              <a:buFontTx/>
              <a:buNone/>
            </a:pPr>
            <a:r>
              <a:rPr lang="en-US" altLang="en-US" sz="2400" b="1" dirty="0">
                <a:solidFill>
                  <a:srgbClr val="FF0000"/>
                </a:solidFill>
              </a:rPr>
              <a:t>Power-wall challenge:</a:t>
            </a:r>
          </a:p>
          <a:p>
            <a:pPr>
              <a:lnSpc>
                <a:spcPct val="100000"/>
              </a:lnSpc>
              <a:spcBef>
                <a:spcPct val="0"/>
              </a:spcBef>
              <a:buNone/>
            </a:pPr>
            <a:r>
              <a:rPr lang="en-US" altLang="en-US" sz="2400" dirty="0"/>
              <a:t>When there are </a:t>
            </a:r>
            <a:r>
              <a:rPr lang="en-US" altLang="en-US" sz="2400" u="sng" dirty="0"/>
              <a:t>millions of processing nodes</a:t>
            </a:r>
            <a:r>
              <a:rPr lang="en-US" altLang="en-US" sz="2400" dirty="0"/>
              <a:t>, </a:t>
            </a:r>
            <a:r>
              <a:rPr lang="en-US" altLang="en-US" sz="2400" u="sng" dirty="0"/>
              <a:t>each drawing a few watts </a:t>
            </a:r>
            <a:r>
              <a:rPr lang="en-US" altLang="en-US" sz="2400" dirty="0"/>
              <a:t>of power, we are faced with the energy bill and cooling challenges of MWs of power dissipation, even ignoring the power </a:t>
            </a:r>
            <a:r>
              <a:rPr lang="en-US" altLang="en-US" sz="2400" u="sng" dirty="0"/>
              <a:t>needs of the interconnection network and peripheral devices</a:t>
            </a:r>
          </a:p>
          <a:p>
            <a:pPr eaLnBrk="1" hangingPunct="1">
              <a:lnSpc>
                <a:spcPct val="100000"/>
              </a:lnSpc>
              <a:spcBef>
                <a:spcPct val="0"/>
              </a:spcBef>
              <a:buFontTx/>
              <a:buNone/>
            </a:pPr>
            <a:endParaRPr lang="en-US" altLang="en-US" sz="1600" dirty="0"/>
          </a:p>
          <a:p>
            <a:pPr eaLnBrk="1" hangingPunct="1">
              <a:lnSpc>
                <a:spcPct val="100000"/>
              </a:lnSpc>
              <a:spcBef>
                <a:spcPct val="0"/>
              </a:spcBef>
              <a:buFontTx/>
              <a:buNone/>
            </a:pPr>
            <a:r>
              <a:rPr lang="en-US" altLang="en-US" sz="2400" b="1" dirty="0">
                <a:solidFill>
                  <a:srgbClr val="FF0000"/>
                </a:solidFill>
              </a:rPr>
              <a:t>Reliability-wall challenge:</a:t>
            </a:r>
          </a:p>
          <a:p>
            <a:pPr>
              <a:lnSpc>
                <a:spcPct val="100000"/>
              </a:lnSpc>
              <a:spcBef>
                <a:spcPct val="0"/>
              </a:spcBef>
              <a:buNone/>
            </a:pPr>
            <a:r>
              <a:rPr lang="en-US" altLang="en-US" sz="2400" dirty="0"/>
              <a:t>Ensuring </a:t>
            </a:r>
            <a:r>
              <a:rPr lang="en-US" altLang="en-US" sz="2400" u="sng" dirty="0"/>
              <a:t>continuous and correct functioning of a system </a:t>
            </a:r>
            <a:r>
              <a:rPr lang="en-US" altLang="en-US" sz="2400" dirty="0"/>
              <a:t>with many </a:t>
            </a:r>
            <a:r>
              <a:rPr lang="en-US" altLang="en-US" sz="2400" u="sng" dirty="0"/>
              <a:t>thousands or even millions of processing nodes is non-trivial</a:t>
            </a:r>
            <a:r>
              <a:rPr lang="en-US" altLang="en-US" sz="2400" dirty="0"/>
              <a:t>, given that a few of the nodes are bound to malfunction at an given time</a:t>
            </a:r>
          </a:p>
        </p:txBody>
      </p:sp>
    </p:spTree>
    <p:extLst>
      <p:ext uri="{BB962C8B-B14F-4D97-AF65-F5344CB8AC3E}">
        <p14:creationId xmlns:p14="http://schemas.microsoft.com/office/powerpoint/2010/main" val="1689680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a:xfrm>
            <a:off x="831273" y="161925"/>
            <a:ext cx="4426527" cy="1143000"/>
          </a:xfrm>
        </p:spPr>
        <p:txBody>
          <a:bodyPr/>
          <a:lstStyle/>
          <a:p>
            <a:pPr algn="l" eaLnBrk="1" hangingPunct="1"/>
            <a:r>
              <a:rPr lang="en-US" altLang="en-US" sz="2800" dirty="0"/>
              <a:t>Power-Dissipation Challenge</a:t>
            </a:r>
          </a:p>
        </p:txBody>
      </p:sp>
      <p:sp>
        <p:nvSpPr>
          <p:cNvPr id="24582" name="Text Box 3"/>
          <p:cNvSpPr txBox="1">
            <a:spLocks noChangeArrowheads="1"/>
          </p:cNvSpPr>
          <p:nvPr/>
        </p:nvSpPr>
        <p:spPr bwMode="auto">
          <a:xfrm>
            <a:off x="831273" y="2357438"/>
            <a:ext cx="4483677"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en-US" altLang="en-US" sz="2400" b="1" dirty="0" err="1">
                <a:solidFill>
                  <a:srgbClr val="FF0000"/>
                </a:solidFill>
              </a:rPr>
              <a:t>Koomey’s</a:t>
            </a:r>
            <a:r>
              <a:rPr lang="en-US" altLang="en-US" sz="2400" b="1" dirty="0">
                <a:solidFill>
                  <a:srgbClr val="FF0000"/>
                </a:solidFill>
              </a:rPr>
              <a:t> Law: </a:t>
            </a:r>
          </a:p>
          <a:p>
            <a:pPr algn="just" eaLnBrk="1" hangingPunct="1">
              <a:spcBef>
                <a:spcPct val="0"/>
              </a:spcBef>
              <a:buFontTx/>
              <a:buNone/>
            </a:pPr>
            <a:r>
              <a:rPr lang="en-US" altLang="en-US" sz="2000" u="sng" dirty="0"/>
              <a:t>Exponential improvement in energy-efficient computing</a:t>
            </a:r>
            <a:r>
              <a:rPr lang="en-US" altLang="en-US" sz="2000" dirty="0"/>
              <a:t>, with computations performed per KWh doubling every 1.57 years</a:t>
            </a:r>
          </a:p>
        </p:txBody>
      </p:sp>
      <p:pic>
        <p:nvPicPr>
          <p:cNvPr id="24583" name="Picture 2"/>
          <p:cNvPicPr>
            <a:picLocks noChangeAspect="1" noChangeArrowheads="1"/>
          </p:cNvPicPr>
          <p:nvPr/>
        </p:nvPicPr>
        <p:blipFill>
          <a:blip r:embed="rId2">
            <a:extLst>
              <a:ext uri="{28A0092B-C50C-407E-A947-70E740481C1C}">
                <a14:useLocalDpi xmlns:a14="http://schemas.microsoft.com/office/drawing/2010/main" val="0"/>
              </a:ext>
            </a:extLst>
          </a:blip>
          <a:srcRect t="24445" b="8888"/>
          <a:stretch>
            <a:fillRect/>
          </a:stretch>
        </p:blipFill>
        <p:spPr bwMode="auto">
          <a:xfrm>
            <a:off x="5905501" y="161925"/>
            <a:ext cx="5618018" cy="665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Text Box 3"/>
          <p:cNvSpPr txBox="1">
            <a:spLocks noChangeArrowheads="1"/>
          </p:cNvSpPr>
          <p:nvPr/>
        </p:nvSpPr>
        <p:spPr bwMode="auto">
          <a:xfrm>
            <a:off x="869373" y="4467225"/>
            <a:ext cx="4426527"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effectLst>
                  <a:outerShdw blurRad="38100" dist="38100" dir="2700000" algn="tl">
                    <a:srgbClr val="000000">
                      <a:alpha val="43137"/>
                    </a:srgbClr>
                  </a:outerShdw>
                </a:effectLst>
              </a:rPr>
              <a:t>How long will </a:t>
            </a:r>
            <a:r>
              <a:rPr lang="en-US" altLang="en-US" sz="2000" dirty="0" err="1">
                <a:effectLst>
                  <a:outerShdw blurRad="38100" dist="38100" dir="2700000" algn="tl">
                    <a:srgbClr val="000000">
                      <a:alpha val="43137"/>
                    </a:srgbClr>
                  </a:outerShdw>
                </a:effectLst>
              </a:rPr>
              <a:t>Koomey’s</a:t>
            </a:r>
            <a:r>
              <a:rPr lang="en-US" altLang="en-US" sz="2000" dirty="0">
                <a:effectLst>
                  <a:outerShdw blurRad="38100" dist="38100" dir="2700000" algn="tl">
                    <a:srgbClr val="000000">
                      <a:alpha val="43137"/>
                    </a:srgbClr>
                  </a:outerShdw>
                </a:effectLst>
              </a:rPr>
              <a:t> law be in effect? It will come to an end, like Moore’s Law</a:t>
            </a:r>
          </a:p>
        </p:txBody>
      </p:sp>
      <p:sp>
        <p:nvSpPr>
          <p:cNvPr id="24585" name="Text Box 3"/>
          <p:cNvSpPr txBox="1">
            <a:spLocks noChangeArrowheads="1"/>
          </p:cNvSpPr>
          <p:nvPr/>
        </p:nvSpPr>
        <p:spPr bwMode="auto">
          <a:xfrm>
            <a:off x="879793" y="1262063"/>
            <a:ext cx="4225607" cy="10160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t>A challenge at both ends: </a:t>
            </a:r>
          </a:p>
          <a:p>
            <a:pPr eaLnBrk="1" hangingPunct="1">
              <a:spcBef>
                <a:spcPct val="0"/>
              </a:spcBef>
              <a:buFontTx/>
              <a:buNone/>
            </a:pPr>
            <a:r>
              <a:rPr lang="en-US" altLang="en-US" sz="2000" dirty="0"/>
              <a:t>- Supercomputers </a:t>
            </a:r>
          </a:p>
          <a:p>
            <a:pPr eaLnBrk="1" hangingPunct="1">
              <a:spcBef>
                <a:spcPct val="0"/>
              </a:spcBef>
              <a:buFontTx/>
              <a:buNone/>
            </a:pPr>
            <a:r>
              <a:rPr lang="en-US" altLang="en-US" sz="2000" dirty="0"/>
              <a:t>- Personal electronics</a:t>
            </a:r>
          </a:p>
        </p:txBody>
      </p:sp>
      <p:sp>
        <p:nvSpPr>
          <p:cNvPr id="24586" name="Text Box 3"/>
          <p:cNvSpPr txBox="1">
            <a:spLocks noChangeArrowheads="1"/>
          </p:cNvSpPr>
          <p:nvPr/>
        </p:nvSpPr>
        <p:spPr bwMode="auto">
          <a:xfrm>
            <a:off x="888423" y="5667375"/>
            <a:ext cx="442652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100">
                <a:solidFill>
                  <a:srgbClr val="002060"/>
                </a:solidFill>
                <a:hlinkClick r:id="rId3"/>
              </a:rPr>
              <a:t>https://cacm.acm.org/magazines/2017/1/211094-exponential-laws-of-computing-growth/fulltext</a:t>
            </a:r>
            <a:endParaRPr lang="en-US" altLang="en-US" sz="1100">
              <a:solidFill>
                <a:srgbClr val="002060"/>
              </a:solidFill>
            </a:endParaRPr>
          </a:p>
        </p:txBody>
      </p:sp>
    </p:spTree>
    <p:extLst>
      <p:ext uri="{BB962C8B-B14F-4D97-AF65-F5344CB8AC3E}">
        <p14:creationId xmlns:p14="http://schemas.microsoft.com/office/powerpoint/2010/main" val="1867021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964" y="454027"/>
            <a:ext cx="11485417" cy="2019011"/>
          </a:xfrm>
          <a:solidFill>
            <a:schemeClr val="bg1">
              <a:lumMod val="85000"/>
            </a:schemeClr>
          </a:solidFill>
        </p:spPr>
        <p:txBody>
          <a:bodyPr>
            <a:normAutofit fontScale="85000" lnSpcReduction="20000"/>
          </a:bodyPr>
          <a:lstStyle/>
          <a:p>
            <a:pPr marL="0" indent="0" algn="just">
              <a:buNone/>
            </a:pPr>
            <a:r>
              <a:rPr lang="en-US" sz="2600" dirty="0"/>
              <a:t>In the future, both </a:t>
            </a:r>
            <a:r>
              <a:rPr lang="en-US" sz="2600" u="sng" dirty="0"/>
              <a:t>HPC and HTC systems </a:t>
            </a:r>
            <a:r>
              <a:rPr lang="en-US" sz="2600" dirty="0"/>
              <a:t>will demand </a:t>
            </a:r>
            <a:r>
              <a:rPr lang="en-US" sz="2600" dirty="0">
                <a:effectLst>
                  <a:outerShdw blurRad="38100" dist="38100" dir="2700000" algn="tl">
                    <a:srgbClr val="000000">
                      <a:alpha val="43137"/>
                    </a:srgbClr>
                  </a:outerShdw>
                </a:effectLst>
              </a:rPr>
              <a:t>multicore or many-core processors </a:t>
            </a:r>
            <a:r>
              <a:rPr lang="en-US" sz="2600" dirty="0"/>
              <a:t>that can handle large numbers of computing threads per core. </a:t>
            </a:r>
            <a:r>
              <a:rPr lang="en-US" sz="2600" dirty="0">
                <a:solidFill>
                  <a:srgbClr val="FF0000"/>
                </a:solidFill>
              </a:rPr>
              <a:t>Both HPC and HTC systems emphasize parallelism and distributed computing</a:t>
            </a:r>
            <a:r>
              <a:rPr lang="en-US" sz="2600" dirty="0"/>
              <a:t>. </a:t>
            </a:r>
          </a:p>
          <a:p>
            <a:pPr marL="0" indent="0" algn="just">
              <a:buNone/>
            </a:pPr>
            <a:r>
              <a:rPr lang="en-US" sz="2600" dirty="0"/>
              <a:t>Future HPC and HTC systems must be able to satisfy this huge demand in computing power in terms of throughput, efficiency, scalability, and reliability. The system efficiency is decided by speed, programming, and energy factors (i.e., throughput per watt of energy consumed). Meeting these goals requires to yield the following design objectives:</a:t>
            </a:r>
          </a:p>
          <a:p>
            <a:pPr marL="0" indent="0">
              <a:buNone/>
            </a:pPr>
            <a:endParaRPr lang="en-US" dirty="0"/>
          </a:p>
        </p:txBody>
      </p:sp>
      <p:sp>
        <p:nvSpPr>
          <p:cNvPr id="4" name="TextBox 3"/>
          <p:cNvSpPr txBox="1"/>
          <p:nvPr/>
        </p:nvSpPr>
        <p:spPr>
          <a:xfrm>
            <a:off x="1101437" y="2857499"/>
            <a:ext cx="8951874" cy="3416320"/>
          </a:xfrm>
          <a:prstGeom prst="rect">
            <a:avLst/>
          </a:prstGeom>
          <a:solidFill>
            <a:schemeClr val="accent6">
              <a:lumMod val="40000"/>
              <a:lumOff val="60000"/>
            </a:schemeClr>
          </a:solidFill>
        </p:spPr>
        <p:txBody>
          <a:bodyPr wrap="none" rtlCol="0">
            <a:spAutoFit/>
          </a:bodyPr>
          <a:lstStyle/>
          <a:p>
            <a:r>
              <a:rPr lang="en-US" b="1" u="sng" dirty="0"/>
              <a:t>Efficiency</a:t>
            </a:r>
            <a:r>
              <a:rPr lang="en-US" dirty="0"/>
              <a:t> measures the </a:t>
            </a:r>
            <a:r>
              <a:rPr lang="en-US" u="sng" dirty="0"/>
              <a:t>utilization rate of resources in an execution model </a:t>
            </a:r>
            <a:r>
              <a:rPr lang="en-US" dirty="0"/>
              <a:t>by exploiting</a:t>
            </a:r>
          </a:p>
          <a:p>
            <a:r>
              <a:rPr lang="en-US" dirty="0"/>
              <a:t>massive parallelism in HPC. For HTC, efficiency is more closely related </a:t>
            </a:r>
            <a:r>
              <a:rPr lang="en-US" u="sng" dirty="0"/>
              <a:t>to job throughput, data</a:t>
            </a:r>
          </a:p>
          <a:p>
            <a:r>
              <a:rPr lang="en-US" u="sng" dirty="0"/>
              <a:t>access, storage, and power efficiency</a:t>
            </a:r>
            <a:r>
              <a:rPr lang="en-US" dirty="0"/>
              <a:t>.</a:t>
            </a:r>
          </a:p>
          <a:p>
            <a:r>
              <a:rPr lang="en-US" b="1" u="sng" dirty="0"/>
              <a:t>Dependability</a:t>
            </a:r>
            <a:r>
              <a:rPr lang="en-US" dirty="0"/>
              <a:t> measures the </a:t>
            </a:r>
            <a:r>
              <a:rPr lang="en-US" u="sng" dirty="0"/>
              <a:t>reliability and self-management from the chip to the system and</a:t>
            </a:r>
          </a:p>
          <a:p>
            <a:r>
              <a:rPr lang="en-US" u="sng" dirty="0"/>
              <a:t>application levels</a:t>
            </a:r>
            <a:r>
              <a:rPr lang="en-US" dirty="0"/>
              <a:t>. The purpose is to provide high-throughput service with Quality of Service</a:t>
            </a:r>
          </a:p>
          <a:p>
            <a:r>
              <a:rPr lang="en-US" dirty="0"/>
              <a:t>(</a:t>
            </a:r>
            <a:r>
              <a:rPr lang="en-US" dirty="0" err="1"/>
              <a:t>QoS</a:t>
            </a:r>
            <a:r>
              <a:rPr lang="en-US" dirty="0"/>
              <a:t>) assurance, even under failure conditions.</a:t>
            </a:r>
          </a:p>
          <a:p>
            <a:r>
              <a:rPr lang="en-US" b="1" u="sng" dirty="0"/>
              <a:t>Adaptation</a:t>
            </a:r>
            <a:r>
              <a:rPr lang="en-US" dirty="0"/>
              <a:t> in the programming model measures </a:t>
            </a:r>
            <a:r>
              <a:rPr lang="en-US" u="sng" dirty="0"/>
              <a:t>the ability to support billions of job requests</a:t>
            </a:r>
          </a:p>
          <a:p>
            <a:r>
              <a:rPr lang="en-US" dirty="0"/>
              <a:t>over massive data sets and virtualized cloud resources under various workload and service</a:t>
            </a:r>
          </a:p>
          <a:p>
            <a:r>
              <a:rPr lang="en-US" dirty="0"/>
              <a:t>models.</a:t>
            </a:r>
          </a:p>
          <a:p>
            <a:r>
              <a:rPr lang="en-US" b="1" u="sng" dirty="0"/>
              <a:t>Flexibility</a:t>
            </a:r>
            <a:r>
              <a:rPr lang="en-US" dirty="0"/>
              <a:t> in application deployment measures the </a:t>
            </a:r>
            <a:r>
              <a:rPr lang="en-US" u="sng" dirty="0"/>
              <a:t>ability of distributed systems to run well in</a:t>
            </a:r>
          </a:p>
          <a:p>
            <a:r>
              <a:rPr lang="en-US" u="sng" dirty="0"/>
              <a:t>both HPC (science and engineering) and HTC (business) applications</a:t>
            </a:r>
            <a:r>
              <a:rPr lang="en-US" dirty="0"/>
              <a:t>.</a:t>
            </a:r>
          </a:p>
          <a:p>
            <a:endParaRPr lang="en-US" dirty="0"/>
          </a:p>
        </p:txBody>
      </p:sp>
    </p:spTree>
    <p:extLst>
      <p:ext uri="{BB962C8B-B14F-4D97-AF65-F5344CB8AC3E}">
        <p14:creationId xmlns:p14="http://schemas.microsoft.com/office/powerpoint/2010/main" val="592061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Scalable Computing Trends and New Paradigms</a:t>
            </a:r>
          </a:p>
        </p:txBody>
      </p:sp>
      <p:sp>
        <p:nvSpPr>
          <p:cNvPr id="3" name="Content Placeholder 2"/>
          <p:cNvSpPr>
            <a:spLocks noGrp="1"/>
          </p:cNvSpPr>
          <p:nvPr>
            <p:ph idx="1"/>
          </p:nvPr>
        </p:nvSpPr>
        <p:spPr>
          <a:xfrm>
            <a:off x="3336851" y="2548639"/>
            <a:ext cx="5190460" cy="2140319"/>
          </a:xfrm>
          <a:solidFill>
            <a:schemeClr val="bg1">
              <a:lumMod val="95000"/>
            </a:schemeClr>
          </a:solidFill>
        </p:spPr>
        <p:txBody>
          <a:bodyPr>
            <a:normAutofit fontScale="92500"/>
          </a:bodyPr>
          <a:lstStyle/>
          <a:p>
            <a:pPr marL="514350" indent="-514350">
              <a:buFont typeface="+mj-lt"/>
              <a:buAutoNum type="arabicPeriod"/>
            </a:pPr>
            <a:r>
              <a:rPr lang="en-US" dirty="0"/>
              <a:t>Degree of parallelism</a:t>
            </a:r>
          </a:p>
          <a:p>
            <a:pPr marL="514350" indent="-514350">
              <a:buFont typeface="+mj-lt"/>
              <a:buAutoNum type="arabicPeriod"/>
            </a:pPr>
            <a:r>
              <a:rPr lang="en-US" dirty="0"/>
              <a:t>Innovative applications</a:t>
            </a:r>
          </a:p>
          <a:p>
            <a:pPr marL="514350" indent="-514350">
              <a:buFont typeface="+mj-lt"/>
              <a:buAutoNum type="arabicPeriod"/>
            </a:pPr>
            <a:r>
              <a:rPr lang="en-US" dirty="0"/>
              <a:t>Towards utility computing</a:t>
            </a:r>
          </a:p>
          <a:p>
            <a:pPr marL="514350" indent="-514350">
              <a:buFont typeface="+mj-lt"/>
              <a:buAutoNum type="arabicPeriod"/>
            </a:pPr>
            <a:r>
              <a:rPr lang="en-US" dirty="0"/>
              <a:t>Hype cycle of new technologies</a:t>
            </a:r>
          </a:p>
        </p:txBody>
      </p:sp>
    </p:spTree>
    <p:extLst>
      <p:ext uri="{BB962C8B-B14F-4D97-AF65-F5344CB8AC3E}">
        <p14:creationId xmlns:p14="http://schemas.microsoft.com/office/powerpoint/2010/main" val="1878809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Scalable Computing Trends and New Paradigms</a:t>
            </a:r>
          </a:p>
        </p:txBody>
      </p:sp>
      <p:sp>
        <p:nvSpPr>
          <p:cNvPr id="3" name="Content Placeholder 2"/>
          <p:cNvSpPr>
            <a:spLocks noGrp="1"/>
          </p:cNvSpPr>
          <p:nvPr>
            <p:ph idx="1"/>
          </p:nvPr>
        </p:nvSpPr>
        <p:spPr>
          <a:xfrm>
            <a:off x="838200" y="1825625"/>
            <a:ext cx="10515600" cy="3469389"/>
          </a:xfrm>
          <a:solidFill>
            <a:schemeClr val="bg1">
              <a:lumMod val="95000"/>
            </a:schemeClr>
          </a:solidFill>
        </p:spPr>
        <p:txBody>
          <a:bodyPr>
            <a:normAutofit fontScale="92500"/>
          </a:bodyPr>
          <a:lstStyle/>
          <a:p>
            <a:r>
              <a:rPr lang="en-US" dirty="0">
                <a:solidFill>
                  <a:schemeClr val="accent2">
                    <a:lumMod val="75000"/>
                  </a:schemeClr>
                </a:solidFill>
              </a:rPr>
              <a:t>Degree of parallelism</a:t>
            </a:r>
          </a:p>
          <a:p>
            <a:pPr lvl="1"/>
            <a:r>
              <a:rPr lang="en-US" dirty="0"/>
              <a:t>Bit-level parallelism (BLP) </a:t>
            </a:r>
            <a:r>
              <a:rPr lang="en-US" sz="1900" dirty="0"/>
              <a:t>– 50 years ago</a:t>
            </a:r>
          </a:p>
          <a:p>
            <a:pPr lvl="1"/>
            <a:r>
              <a:rPr lang="en-US" dirty="0"/>
              <a:t>Instruction-level parallelism (ILP) </a:t>
            </a:r>
            <a:r>
              <a:rPr lang="en-US" sz="1900" dirty="0"/>
              <a:t>- 8, 16, 32 and 64 bit CPUs</a:t>
            </a:r>
          </a:p>
          <a:p>
            <a:pPr lvl="2"/>
            <a:r>
              <a:rPr lang="en-US" dirty="0"/>
              <a:t>practiced ILP through pipelining, superscalar computing, VLIW (very long instruction word) architectures, and multithreading</a:t>
            </a:r>
          </a:p>
          <a:p>
            <a:pPr lvl="1"/>
            <a:r>
              <a:rPr lang="en-US" dirty="0"/>
              <a:t>Data-level parallelism (DLP) </a:t>
            </a:r>
            <a:r>
              <a:rPr lang="en-US" sz="1900" dirty="0"/>
              <a:t>was made popular through SIMD (single instruction, multiple data)</a:t>
            </a:r>
            <a:r>
              <a:rPr lang="en-US" dirty="0"/>
              <a:t> </a:t>
            </a:r>
          </a:p>
          <a:p>
            <a:pPr lvl="1"/>
            <a:r>
              <a:rPr lang="en-US" dirty="0"/>
              <a:t>Task-level parallelism (TLP) </a:t>
            </a:r>
            <a:r>
              <a:rPr lang="en-US" sz="1900" dirty="0"/>
              <a:t>used multicore processors and chip multiprocessors (CMPs)</a:t>
            </a:r>
            <a:endParaRPr lang="en-US" dirty="0"/>
          </a:p>
          <a:p>
            <a:pPr lvl="1"/>
            <a:r>
              <a:rPr lang="en-US" dirty="0"/>
              <a:t>Job- level parallelism (JLP) </a:t>
            </a:r>
            <a:r>
              <a:rPr lang="en-US" sz="1900" dirty="0"/>
              <a:t>using distributed computing paradigms</a:t>
            </a:r>
          </a:p>
          <a:p>
            <a:pPr lvl="2"/>
            <a:r>
              <a:rPr lang="en-US" dirty="0"/>
              <a:t>As we move from parallel processing to distributed processing, we will see an increase in computing granularity to job-level parallelism (JLP)</a:t>
            </a:r>
            <a:endParaRPr lang="en-US" sz="4400" dirty="0"/>
          </a:p>
        </p:txBody>
      </p:sp>
      <p:sp>
        <p:nvSpPr>
          <p:cNvPr id="4" name="TextBox 3"/>
          <p:cNvSpPr txBox="1"/>
          <p:nvPr/>
        </p:nvSpPr>
        <p:spPr>
          <a:xfrm>
            <a:off x="233916" y="5475214"/>
            <a:ext cx="11408735" cy="923330"/>
          </a:xfrm>
          <a:prstGeom prst="rect">
            <a:avLst/>
          </a:prstGeom>
          <a:solidFill>
            <a:schemeClr val="accent6">
              <a:lumMod val="40000"/>
              <a:lumOff val="60000"/>
            </a:schemeClr>
          </a:solidFill>
        </p:spPr>
        <p:txBody>
          <a:bodyPr wrap="square" rtlCol="0">
            <a:spAutoFit/>
          </a:bodyPr>
          <a:lstStyle/>
          <a:p>
            <a:pPr algn="ctr"/>
            <a:r>
              <a:rPr lang="en-US" dirty="0"/>
              <a:t>A modern processor explores all of the aforementioned parallelism types. In fact, BLP, ILP, and DLP are well supported by advances in hardware and compilers. However, </a:t>
            </a:r>
            <a:r>
              <a:rPr lang="en-US" dirty="0">
                <a:solidFill>
                  <a:schemeClr val="accent2">
                    <a:lumMod val="75000"/>
                  </a:schemeClr>
                </a:solidFill>
              </a:rPr>
              <a:t>TLP is far from being very successful due to difficulty in programming </a:t>
            </a:r>
            <a:r>
              <a:rPr lang="en-US" dirty="0"/>
              <a:t>and compilation of code for efficient execution on multicore CMPs. </a:t>
            </a:r>
          </a:p>
        </p:txBody>
      </p:sp>
      <p:sp>
        <p:nvSpPr>
          <p:cNvPr id="5" name="Content Placeholder 2"/>
          <p:cNvSpPr txBox="1">
            <a:spLocks/>
          </p:cNvSpPr>
          <p:nvPr/>
        </p:nvSpPr>
        <p:spPr>
          <a:xfrm>
            <a:off x="9841560" y="365125"/>
            <a:ext cx="2097594" cy="989794"/>
          </a:xfrm>
          <a:prstGeom prst="rect">
            <a:avLst/>
          </a:prstGeom>
          <a:solidFill>
            <a:schemeClr val="bg1">
              <a:lumMod val="95000"/>
            </a:schemeClr>
          </a:solidFill>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a:t>Degree of parallelism</a:t>
            </a:r>
          </a:p>
          <a:p>
            <a:pPr marL="514350" indent="-514350">
              <a:buFont typeface="+mj-lt"/>
              <a:buAutoNum type="arabicPeriod"/>
            </a:pPr>
            <a:r>
              <a:rPr lang="en-US"/>
              <a:t>Innovative applications</a:t>
            </a:r>
          </a:p>
          <a:p>
            <a:pPr marL="514350" indent="-514350">
              <a:buFont typeface="+mj-lt"/>
              <a:buAutoNum type="arabicPeriod"/>
            </a:pPr>
            <a:r>
              <a:rPr lang="en-US"/>
              <a:t>Towards utility computing</a:t>
            </a:r>
          </a:p>
          <a:p>
            <a:pPr marL="514350" indent="-514350">
              <a:buFont typeface="+mj-lt"/>
              <a:buAutoNum type="arabicPeriod"/>
            </a:pPr>
            <a:r>
              <a:rPr lang="en-US"/>
              <a:t>Hype cycle of new technologies</a:t>
            </a:r>
            <a:endParaRPr lang="en-US" dirty="0"/>
          </a:p>
        </p:txBody>
      </p:sp>
    </p:spTree>
    <p:extLst>
      <p:ext uri="{BB962C8B-B14F-4D97-AF65-F5344CB8AC3E}">
        <p14:creationId xmlns:p14="http://schemas.microsoft.com/office/powerpoint/2010/main" val="4134438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Physical Systems</a:t>
            </a:r>
          </a:p>
        </p:txBody>
      </p:sp>
      <p:sp>
        <p:nvSpPr>
          <p:cNvPr id="3" name="Content Placeholder 2"/>
          <p:cNvSpPr>
            <a:spLocks noGrp="1"/>
          </p:cNvSpPr>
          <p:nvPr>
            <p:ph idx="1"/>
          </p:nvPr>
        </p:nvSpPr>
        <p:spPr>
          <a:xfrm>
            <a:off x="838200" y="1825625"/>
            <a:ext cx="10515600" cy="2860675"/>
          </a:xfrm>
          <a:solidFill>
            <a:schemeClr val="bg1">
              <a:lumMod val="95000"/>
            </a:schemeClr>
          </a:solidFill>
        </p:spPr>
        <p:txBody>
          <a:bodyPr/>
          <a:lstStyle/>
          <a:p>
            <a:pPr algn="just"/>
            <a:r>
              <a:rPr lang="en-US" dirty="0"/>
              <a:t>A cyber-physical system (CPS) is the result of interaction between </a:t>
            </a:r>
            <a:r>
              <a:rPr lang="en-US" dirty="0">
                <a:effectLst>
                  <a:outerShdw blurRad="38100" dist="38100" dir="2700000" algn="tl">
                    <a:srgbClr val="000000">
                      <a:alpha val="43137"/>
                    </a:srgbClr>
                  </a:outerShdw>
                </a:effectLst>
              </a:rPr>
              <a:t>computational processes and the physical world</a:t>
            </a:r>
            <a:r>
              <a:rPr lang="en-US" dirty="0"/>
              <a:t>. A CPS integrates “cyber” (heterogeneous, asynchronous) with “physical” (concurrent and information-dense) objects. A CPS merges the “</a:t>
            </a:r>
            <a:r>
              <a:rPr lang="en-US" dirty="0">
                <a:solidFill>
                  <a:srgbClr val="FF0000"/>
                </a:solidFill>
              </a:rPr>
              <a:t>3C</a:t>
            </a:r>
            <a:r>
              <a:rPr lang="en-US" dirty="0"/>
              <a:t>” technologies of </a:t>
            </a:r>
            <a:r>
              <a:rPr lang="en-US" dirty="0">
                <a:solidFill>
                  <a:srgbClr val="FF0000"/>
                </a:solidFill>
              </a:rPr>
              <a:t>computation, communication, and control </a:t>
            </a:r>
            <a:r>
              <a:rPr lang="en-US" dirty="0"/>
              <a:t>into an intelligent closed feedback system between the physical world and the information world.</a:t>
            </a:r>
          </a:p>
        </p:txBody>
      </p:sp>
      <p:sp>
        <p:nvSpPr>
          <p:cNvPr id="4" name="Content Placeholder 2"/>
          <p:cNvSpPr txBox="1">
            <a:spLocks/>
          </p:cNvSpPr>
          <p:nvPr/>
        </p:nvSpPr>
        <p:spPr>
          <a:xfrm>
            <a:off x="9841560" y="365125"/>
            <a:ext cx="2097594" cy="989794"/>
          </a:xfrm>
          <a:prstGeom prst="rect">
            <a:avLst/>
          </a:prstGeom>
          <a:solidFill>
            <a:schemeClr val="bg1">
              <a:lumMod val="95000"/>
            </a:schemeClr>
          </a:solidFill>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a:t>Degree of parallelism</a:t>
            </a:r>
          </a:p>
          <a:p>
            <a:pPr marL="514350" indent="-514350">
              <a:buFont typeface="+mj-lt"/>
              <a:buAutoNum type="arabicPeriod"/>
            </a:pPr>
            <a:r>
              <a:rPr lang="en-US"/>
              <a:t>Innovative applications</a:t>
            </a:r>
          </a:p>
          <a:p>
            <a:pPr marL="514350" indent="-514350">
              <a:buFont typeface="+mj-lt"/>
              <a:buAutoNum type="arabicPeriod"/>
            </a:pPr>
            <a:r>
              <a:rPr lang="en-US"/>
              <a:t>Towards utility computing</a:t>
            </a:r>
          </a:p>
          <a:p>
            <a:pPr marL="514350" indent="-514350">
              <a:buFont typeface="+mj-lt"/>
              <a:buAutoNum type="arabicPeriod"/>
            </a:pPr>
            <a:r>
              <a:rPr lang="en-US"/>
              <a:t>Hype cycle of new technologies</a:t>
            </a:r>
            <a:endParaRPr lang="en-US" dirty="0"/>
          </a:p>
        </p:txBody>
      </p:sp>
    </p:spTree>
    <p:extLst>
      <p:ext uri="{BB962C8B-B14F-4D97-AF65-F5344CB8AC3E}">
        <p14:creationId xmlns:p14="http://schemas.microsoft.com/office/powerpoint/2010/main" val="1154015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GPU Computing</a:t>
            </a:r>
          </a:p>
        </p:txBody>
      </p:sp>
      <p:sp>
        <p:nvSpPr>
          <p:cNvPr id="3" name="Content Placeholder 2"/>
          <p:cNvSpPr>
            <a:spLocks noGrp="1"/>
          </p:cNvSpPr>
          <p:nvPr>
            <p:ph idx="1"/>
          </p:nvPr>
        </p:nvSpPr>
        <p:spPr/>
        <p:txBody>
          <a:bodyPr/>
          <a:lstStyle/>
          <a:p>
            <a:pPr algn="just"/>
            <a:r>
              <a:rPr lang="en-US" dirty="0"/>
              <a:t>How GPU works?</a:t>
            </a:r>
          </a:p>
          <a:p>
            <a:pPr lvl="1" algn="just"/>
            <a:r>
              <a:rPr lang="en-US" dirty="0"/>
              <a:t>parallel execution of </a:t>
            </a:r>
            <a:r>
              <a:rPr lang="en-US" dirty="0">
                <a:solidFill>
                  <a:srgbClr val="FF0000"/>
                </a:solidFill>
              </a:rPr>
              <a:t>floating-point operations concurrently</a:t>
            </a:r>
            <a:r>
              <a:rPr lang="en-US" dirty="0"/>
              <a:t>. The CPU is the conventional multicore processor with limited parallelism to exploit. The GPU has a many-core architecture that has hundreds of simple processing cores organized as multiprocessors. </a:t>
            </a:r>
          </a:p>
          <a:p>
            <a:pPr lvl="1" algn="just"/>
            <a:r>
              <a:rPr lang="en-US" dirty="0"/>
              <a:t>The CPU instructs the GPU to perform massive data processing. The </a:t>
            </a:r>
            <a:r>
              <a:rPr lang="en-US" dirty="0">
                <a:solidFill>
                  <a:srgbClr val="FF0000"/>
                </a:solidFill>
              </a:rPr>
              <a:t>bandwidth must be matched between the on-board main memory and the on-chip GPU memory</a:t>
            </a:r>
          </a:p>
        </p:txBody>
      </p:sp>
      <p:pic>
        <p:nvPicPr>
          <p:cNvPr id="5" name="Content Placeholder 3"/>
          <p:cNvPicPr>
            <a:picLocks noChangeAspect="1"/>
          </p:cNvPicPr>
          <p:nvPr/>
        </p:nvPicPr>
        <p:blipFill>
          <a:blip r:embed="rId2"/>
          <a:stretch>
            <a:fillRect/>
          </a:stretch>
        </p:blipFill>
        <p:spPr>
          <a:xfrm>
            <a:off x="5017114" y="4301837"/>
            <a:ext cx="6007507" cy="2473036"/>
          </a:xfrm>
          <a:prstGeom prst="rect">
            <a:avLst/>
          </a:prstGeom>
        </p:spPr>
      </p:pic>
    </p:spTree>
    <p:extLst>
      <p:ext uri="{BB962C8B-B14F-4D97-AF65-F5344CB8AC3E}">
        <p14:creationId xmlns:p14="http://schemas.microsoft.com/office/powerpoint/2010/main" val="980052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Memory, Storage, and Wide-Area Networking</a:t>
            </a:r>
          </a:p>
        </p:txBody>
      </p:sp>
      <p:sp>
        <p:nvSpPr>
          <p:cNvPr id="3" name="Content Placeholder 2"/>
          <p:cNvSpPr>
            <a:spLocks noGrp="1"/>
          </p:cNvSpPr>
          <p:nvPr>
            <p:ph idx="1"/>
          </p:nvPr>
        </p:nvSpPr>
        <p:spPr/>
        <p:txBody>
          <a:bodyPr>
            <a:normAutofit/>
          </a:bodyPr>
          <a:lstStyle/>
          <a:p>
            <a:r>
              <a:rPr lang="en-US" dirty="0"/>
              <a:t>Memory Technology</a:t>
            </a:r>
          </a:p>
          <a:p>
            <a:pPr lvl="1"/>
            <a:r>
              <a:rPr lang="en-US" dirty="0"/>
              <a:t>DRAM chip capacity from 16 KB in 1976 to 64 GB in 2011. </a:t>
            </a:r>
          </a:p>
          <a:p>
            <a:pPr lvl="1"/>
            <a:r>
              <a:rPr lang="en-US" dirty="0"/>
              <a:t>Memory wall problem persists ( Computing is getting more powerful w.r.t memory)</a:t>
            </a:r>
          </a:p>
          <a:p>
            <a:pPr lvl="1"/>
            <a:r>
              <a:rPr lang="en-US" dirty="0">
                <a:solidFill>
                  <a:srgbClr val="FF0000"/>
                </a:solidFill>
              </a:rPr>
              <a:t>Faster processor speed and larger memory capacity result in a wider gap between processors and memory. The memory wall may become even worse a problem limiting the CPU performance in the future.</a:t>
            </a:r>
          </a:p>
          <a:p>
            <a:r>
              <a:rPr lang="en-US" dirty="0"/>
              <a:t>Wide area Networking</a:t>
            </a:r>
          </a:p>
        </p:txBody>
      </p:sp>
      <p:sp>
        <p:nvSpPr>
          <p:cNvPr id="4" name="Content Placeholder 2"/>
          <p:cNvSpPr txBox="1">
            <a:spLocks/>
          </p:cNvSpPr>
          <p:nvPr/>
        </p:nvSpPr>
        <p:spPr>
          <a:xfrm>
            <a:off x="8963526" y="1027906"/>
            <a:ext cx="3228474" cy="1203341"/>
          </a:xfrm>
          <a:prstGeom prst="rect">
            <a:avLst/>
          </a:prstGeom>
          <a:solidFill>
            <a:schemeClr val="bg1">
              <a:lumMod val="95000"/>
            </a:schemeClr>
          </a:solidFill>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Multicore CPUs and Multithreading Technologies</a:t>
            </a:r>
          </a:p>
          <a:p>
            <a:pPr marL="0" indent="0">
              <a:buNone/>
            </a:pPr>
            <a:r>
              <a:rPr lang="en-US"/>
              <a:t>GPU computing </a:t>
            </a:r>
          </a:p>
          <a:p>
            <a:pPr marL="0" indent="0">
              <a:buNone/>
            </a:pPr>
            <a:r>
              <a:rPr lang="en-US"/>
              <a:t>Memory storage and WAN</a:t>
            </a:r>
          </a:p>
          <a:p>
            <a:pPr marL="0" indent="0">
              <a:buNone/>
            </a:pPr>
            <a:r>
              <a:rPr lang="en-US"/>
              <a:t>Virtual Machines and Virtualization Middleware</a:t>
            </a:r>
          </a:p>
          <a:p>
            <a:pPr marL="0" indent="0">
              <a:buNone/>
            </a:pPr>
            <a:r>
              <a:rPr lang="en-US"/>
              <a:t>Data Center Virtualization for Cloud Computing</a:t>
            </a:r>
            <a:endParaRPr lang="en-US" dirty="0"/>
          </a:p>
        </p:txBody>
      </p:sp>
    </p:spTree>
    <p:extLst>
      <p:ext uri="{BB962C8B-B14F-4D97-AF65-F5344CB8AC3E}">
        <p14:creationId xmlns:p14="http://schemas.microsoft.com/office/powerpoint/2010/main" val="1269551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1" y="365125"/>
            <a:ext cx="8440882" cy="1325563"/>
          </a:xfrm>
        </p:spPr>
        <p:txBody>
          <a:bodyPr>
            <a:normAutofit/>
          </a:bodyPr>
          <a:lstStyle/>
          <a:p>
            <a:r>
              <a:rPr lang="en-US" dirty="0"/>
              <a:t>4. Virtual Machines and Virtualization Middleware</a:t>
            </a:r>
          </a:p>
        </p:txBody>
      </p:sp>
      <p:sp>
        <p:nvSpPr>
          <p:cNvPr id="3" name="Content Placeholder 2"/>
          <p:cNvSpPr>
            <a:spLocks noGrp="1"/>
          </p:cNvSpPr>
          <p:nvPr>
            <p:ph idx="1"/>
          </p:nvPr>
        </p:nvSpPr>
        <p:spPr>
          <a:xfrm>
            <a:off x="838200" y="1825624"/>
            <a:ext cx="10515600" cy="2195657"/>
          </a:xfrm>
          <a:solidFill>
            <a:schemeClr val="bg1">
              <a:lumMod val="95000"/>
            </a:schemeClr>
          </a:solidFill>
        </p:spPr>
        <p:txBody>
          <a:bodyPr>
            <a:normAutofit lnSpcReduction="10000"/>
          </a:bodyPr>
          <a:lstStyle/>
          <a:p>
            <a:pPr marL="0" indent="0" algn="just">
              <a:buNone/>
            </a:pPr>
            <a:r>
              <a:rPr lang="en-US" sz="2400" dirty="0"/>
              <a:t>A conventional computer has a </a:t>
            </a:r>
            <a:r>
              <a:rPr lang="en-US" sz="2400" dirty="0">
                <a:solidFill>
                  <a:srgbClr val="FF0000"/>
                </a:solidFill>
              </a:rPr>
              <a:t>single OS image</a:t>
            </a:r>
            <a:r>
              <a:rPr lang="en-US" sz="2400" dirty="0"/>
              <a:t>. This offers a rigid architecture that </a:t>
            </a:r>
            <a:r>
              <a:rPr lang="en-US" sz="2400" dirty="0">
                <a:solidFill>
                  <a:srgbClr val="FF0000"/>
                </a:solidFill>
              </a:rPr>
              <a:t>tightly couples application software </a:t>
            </a:r>
            <a:r>
              <a:rPr lang="en-US" sz="2400" dirty="0"/>
              <a:t>to a </a:t>
            </a:r>
            <a:r>
              <a:rPr lang="en-US" sz="2400" dirty="0">
                <a:solidFill>
                  <a:srgbClr val="FF0000"/>
                </a:solidFill>
              </a:rPr>
              <a:t>specific hardware platform</a:t>
            </a:r>
            <a:r>
              <a:rPr lang="en-US" sz="2400" dirty="0"/>
              <a:t>. Some software running well on one machine may not be executable on another platform with a different instruction set under a fixed OS. </a:t>
            </a:r>
            <a:r>
              <a:rPr lang="en-US" sz="2400" dirty="0">
                <a:solidFill>
                  <a:srgbClr val="FF0000"/>
                </a:solidFill>
              </a:rPr>
              <a:t>Virtual machines (VMs) and Virtual machine manager (VMMs) offer novel solutions to underutilized resources, application inflexibility, software manageability, and security concerns in existing physical machines. </a:t>
            </a:r>
          </a:p>
        </p:txBody>
      </p:sp>
      <p:pic>
        <p:nvPicPr>
          <p:cNvPr id="4" name="Picture 3"/>
          <p:cNvPicPr>
            <a:picLocks noChangeAspect="1"/>
          </p:cNvPicPr>
          <p:nvPr/>
        </p:nvPicPr>
        <p:blipFill>
          <a:blip r:embed="rId2"/>
          <a:stretch>
            <a:fillRect/>
          </a:stretch>
        </p:blipFill>
        <p:spPr>
          <a:xfrm>
            <a:off x="2169536" y="4053468"/>
            <a:ext cx="6735474" cy="2804532"/>
          </a:xfrm>
          <a:prstGeom prst="rect">
            <a:avLst/>
          </a:prstGeom>
        </p:spPr>
      </p:pic>
      <p:sp>
        <p:nvSpPr>
          <p:cNvPr id="5" name="Content Placeholder 2"/>
          <p:cNvSpPr txBox="1">
            <a:spLocks/>
          </p:cNvSpPr>
          <p:nvPr/>
        </p:nvSpPr>
        <p:spPr>
          <a:xfrm>
            <a:off x="8963526" y="414839"/>
            <a:ext cx="3228474" cy="1203341"/>
          </a:xfrm>
          <a:prstGeom prst="rect">
            <a:avLst/>
          </a:prstGeom>
          <a:solidFill>
            <a:schemeClr val="bg1">
              <a:lumMod val="95000"/>
            </a:schemeClr>
          </a:solidFill>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Multicore CPUs and Multithreading Technologies</a:t>
            </a:r>
          </a:p>
          <a:p>
            <a:pPr marL="0" indent="0">
              <a:buNone/>
            </a:pPr>
            <a:r>
              <a:rPr lang="en-US"/>
              <a:t>GPU computing </a:t>
            </a:r>
          </a:p>
          <a:p>
            <a:pPr marL="0" indent="0">
              <a:buNone/>
            </a:pPr>
            <a:r>
              <a:rPr lang="en-US"/>
              <a:t>Memory storage and WAN</a:t>
            </a:r>
          </a:p>
          <a:p>
            <a:pPr marL="0" indent="0">
              <a:buNone/>
            </a:pPr>
            <a:r>
              <a:rPr lang="en-US"/>
              <a:t>Virtual Machines and Virtualization Middleware</a:t>
            </a:r>
          </a:p>
          <a:p>
            <a:pPr marL="0" indent="0">
              <a:buNone/>
            </a:pPr>
            <a:r>
              <a:rPr lang="en-US"/>
              <a:t>Data Center Virtualization for Cloud Computing</a:t>
            </a:r>
            <a:endParaRPr lang="en-US" dirty="0"/>
          </a:p>
        </p:txBody>
      </p:sp>
    </p:spTree>
    <p:extLst>
      <p:ext uri="{BB962C8B-B14F-4D97-AF65-F5344CB8AC3E}">
        <p14:creationId xmlns:p14="http://schemas.microsoft.com/office/powerpoint/2010/main" val="3005644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Data Center Virtualization for Cloud Computing</a:t>
            </a:r>
          </a:p>
        </p:txBody>
      </p:sp>
      <p:pic>
        <p:nvPicPr>
          <p:cNvPr id="4" name="Content Placeholder 3"/>
          <p:cNvPicPr>
            <a:picLocks noGrp="1" noChangeAspect="1"/>
          </p:cNvPicPr>
          <p:nvPr>
            <p:ph idx="1"/>
          </p:nvPr>
        </p:nvPicPr>
        <p:blipFill>
          <a:blip r:embed="rId2"/>
          <a:stretch>
            <a:fillRect/>
          </a:stretch>
        </p:blipFill>
        <p:spPr>
          <a:xfrm>
            <a:off x="4235126" y="1961070"/>
            <a:ext cx="7358567" cy="3955762"/>
          </a:xfrm>
          <a:prstGeom prst="rect">
            <a:avLst/>
          </a:prstGeom>
        </p:spPr>
      </p:pic>
      <p:sp>
        <p:nvSpPr>
          <p:cNvPr id="5" name="TextBox 4"/>
          <p:cNvSpPr txBox="1"/>
          <p:nvPr/>
        </p:nvSpPr>
        <p:spPr>
          <a:xfrm>
            <a:off x="5290293" y="6092216"/>
            <a:ext cx="5736699" cy="335756"/>
          </a:xfrm>
          <a:prstGeom prst="rect">
            <a:avLst/>
          </a:prstGeom>
          <a:solidFill>
            <a:schemeClr val="bg1">
              <a:lumMod val="85000"/>
            </a:schemeClr>
          </a:solidFill>
        </p:spPr>
        <p:txBody>
          <a:bodyPr wrap="none" rtlCol="0">
            <a:spAutoFit/>
          </a:bodyPr>
          <a:lstStyle/>
          <a:p>
            <a:r>
              <a:rPr lang="en-US" dirty="0"/>
              <a:t>Growth and cost breakdown of data centers over the years.</a:t>
            </a:r>
          </a:p>
        </p:txBody>
      </p:sp>
      <p:sp>
        <p:nvSpPr>
          <p:cNvPr id="3" name="TextBox 2"/>
          <p:cNvSpPr txBox="1"/>
          <p:nvPr/>
        </p:nvSpPr>
        <p:spPr>
          <a:xfrm>
            <a:off x="280442" y="1690688"/>
            <a:ext cx="4144514" cy="1569660"/>
          </a:xfrm>
          <a:prstGeom prst="rect">
            <a:avLst/>
          </a:prstGeom>
          <a:solidFill>
            <a:schemeClr val="accent1">
              <a:lumMod val="40000"/>
              <a:lumOff val="60000"/>
            </a:schemeClr>
          </a:solidFill>
        </p:spPr>
        <p:txBody>
          <a:bodyPr wrap="square" rtlCol="0">
            <a:spAutoFit/>
          </a:bodyPr>
          <a:lstStyle/>
          <a:p>
            <a:pPr marL="285750" indent="-285750">
              <a:buFont typeface="Arial" panose="020B0604020202020204" pitchFamily="34" charset="0"/>
              <a:buChar char="•"/>
            </a:pPr>
            <a:r>
              <a:rPr lang="en-US" sz="2400" dirty="0"/>
              <a:t>Data Center Growth and Cost Breakdown</a:t>
            </a:r>
          </a:p>
          <a:p>
            <a:pPr marL="285750" indent="-285750">
              <a:buFont typeface="Arial" panose="020B0604020202020204" pitchFamily="34" charset="0"/>
              <a:buChar char="•"/>
            </a:pPr>
            <a:r>
              <a:rPr lang="en-US" sz="2400" dirty="0"/>
              <a:t>Low Cost-Design Philosophy</a:t>
            </a:r>
          </a:p>
          <a:p>
            <a:pPr marL="285750" indent="-285750">
              <a:buFont typeface="Arial" panose="020B0604020202020204" pitchFamily="34" charset="0"/>
              <a:buChar char="•"/>
            </a:pPr>
            <a:r>
              <a:rPr lang="en-US" sz="2400" dirty="0"/>
              <a:t>Convergence of technologies</a:t>
            </a:r>
          </a:p>
        </p:txBody>
      </p:sp>
      <p:sp>
        <p:nvSpPr>
          <p:cNvPr id="6" name="TextBox 5"/>
          <p:cNvSpPr txBox="1"/>
          <p:nvPr/>
        </p:nvSpPr>
        <p:spPr>
          <a:xfrm>
            <a:off x="155863" y="4344948"/>
            <a:ext cx="4738255" cy="1661993"/>
          </a:xfrm>
          <a:prstGeom prst="rect">
            <a:avLst/>
          </a:prstGeom>
          <a:solidFill>
            <a:schemeClr val="bg2">
              <a:lumMod val="90000"/>
            </a:schemeClr>
          </a:solidFill>
        </p:spPr>
        <p:txBody>
          <a:bodyPr wrap="square" rtlCol="0">
            <a:spAutoFit/>
          </a:bodyPr>
          <a:lstStyle/>
          <a:p>
            <a:r>
              <a:rPr lang="en-US" dirty="0"/>
              <a:t>Cloud computing is enabled by the </a:t>
            </a:r>
            <a:r>
              <a:rPr lang="en-US" b="1" dirty="0">
                <a:solidFill>
                  <a:srgbClr val="FF0000"/>
                </a:solidFill>
              </a:rPr>
              <a:t>convergence of technologies</a:t>
            </a:r>
            <a:r>
              <a:rPr lang="en-US" dirty="0"/>
              <a:t> in four areas: </a:t>
            </a:r>
          </a:p>
          <a:p>
            <a:r>
              <a:rPr lang="en-US" sz="1600" dirty="0"/>
              <a:t>(1) hard- ware virtualization and multi-core chips, </a:t>
            </a:r>
          </a:p>
          <a:p>
            <a:r>
              <a:rPr lang="en-US" sz="1600" dirty="0"/>
              <a:t>(2) utility and grid computing, </a:t>
            </a:r>
          </a:p>
          <a:p>
            <a:r>
              <a:rPr lang="en-US" sz="1600" dirty="0"/>
              <a:t>(3) SOA, Web 2.0, and </a:t>
            </a:r>
          </a:p>
          <a:p>
            <a:r>
              <a:rPr lang="en-US" sz="1600" dirty="0"/>
              <a:t>(4) autonomic computing and data center automation</a:t>
            </a:r>
            <a:r>
              <a:rPr lang="en-US" dirty="0"/>
              <a:t>. </a:t>
            </a:r>
          </a:p>
        </p:txBody>
      </p:sp>
      <p:sp>
        <p:nvSpPr>
          <p:cNvPr id="7" name="Content Placeholder 2"/>
          <p:cNvSpPr txBox="1">
            <a:spLocks/>
          </p:cNvSpPr>
          <p:nvPr/>
        </p:nvSpPr>
        <p:spPr>
          <a:xfrm>
            <a:off x="8963526" y="1131814"/>
            <a:ext cx="3228474" cy="1203341"/>
          </a:xfrm>
          <a:prstGeom prst="rect">
            <a:avLst/>
          </a:prstGeom>
          <a:solidFill>
            <a:schemeClr val="bg1">
              <a:lumMod val="95000"/>
            </a:schemeClr>
          </a:solidFill>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Multicore CPUs and Multithreading Technologies</a:t>
            </a:r>
          </a:p>
          <a:p>
            <a:pPr marL="0" indent="0">
              <a:buNone/>
            </a:pPr>
            <a:r>
              <a:rPr lang="en-US"/>
              <a:t>GPU computing </a:t>
            </a:r>
          </a:p>
          <a:p>
            <a:pPr marL="0" indent="0">
              <a:buNone/>
            </a:pPr>
            <a:r>
              <a:rPr lang="en-US"/>
              <a:t>Memory storage and WAN</a:t>
            </a:r>
          </a:p>
          <a:p>
            <a:pPr marL="0" indent="0">
              <a:buNone/>
            </a:pPr>
            <a:r>
              <a:rPr lang="en-US"/>
              <a:t>Virtual Machines and Virtualization Middleware</a:t>
            </a:r>
          </a:p>
          <a:p>
            <a:pPr marL="0" indent="0">
              <a:buNone/>
            </a:pPr>
            <a:r>
              <a:rPr lang="en-US"/>
              <a:t>Data Center Virtualization for Cloud Computing</a:t>
            </a:r>
            <a:endParaRPr lang="en-US" dirty="0"/>
          </a:p>
        </p:txBody>
      </p:sp>
    </p:spTree>
    <p:extLst>
      <p:ext uri="{BB962C8B-B14F-4D97-AF65-F5344CB8AC3E}">
        <p14:creationId xmlns:p14="http://schemas.microsoft.com/office/powerpoint/2010/main" val="1356033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Metrics and Scalability analysis</a:t>
            </a:r>
          </a:p>
        </p:txBody>
      </p:sp>
      <p:sp>
        <p:nvSpPr>
          <p:cNvPr id="3" name="Content Placeholder 2"/>
          <p:cNvSpPr>
            <a:spLocks noGrp="1"/>
          </p:cNvSpPr>
          <p:nvPr>
            <p:ph idx="1"/>
          </p:nvPr>
        </p:nvSpPr>
        <p:spPr/>
        <p:txBody>
          <a:bodyPr>
            <a:normAutofit/>
          </a:bodyPr>
          <a:lstStyle/>
          <a:p>
            <a:r>
              <a:rPr lang="en-US" b="1" u="sng" dirty="0"/>
              <a:t>System throughput </a:t>
            </a:r>
            <a:r>
              <a:rPr lang="en-US" dirty="0"/>
              <a:t>is often measured in MIPS, </a:t>
            </a:r>
            <a:r>
              <a:rPr lang="en-US" dirty="0" err="1"/>
              <a:t>Tflops</a:t>
            </a:r>
            <a:r>
              <a:rPr lang="en-US" dirty="0"/>
              <a:t> (</a:t>
            </a:r>
            <a:r>
              <a:rPr lang="en-US" dirty="0" err="1"/>
              <a:t>tera</a:t>
            </a:r>
            <a:r>
              <a:rPr lang="en-US" dirty="0"/>
              <a:t> floating-point operations per second),</a:t>
            </a:r>
            <a:r>
              <a:rPr lang="en-US" dirty="0" err="1"/>
              <a:t>orTPS</a:t>
            </a:r>
            <a:r>
              <a:rPr lang="en-US" dirty="0"/>
              <a:t> (transactions per second). </a:t>
            </a:r>
          </a:p>
          <a:p>
            <a:r>
              <a:rPr lang="en-US" b="1" u="sng" dirty="0"/>
              <a:t>job response time</a:t>
            </a:r>
            <a:r>
              <a:rPr lang="en-US" dirty="0"/>
              <a:t> and </a:t>
            </a:r>
            <a:r>
              <a:rPr lang="en-US" b="1" u="sng" dirty="0"/>
              <a:t>network latency</a:t>
            </a:r>
            <a:r>
              <a:rPr lang="en-US" dirty="0"/>
              <a:t>. An interconnection network that has low latency and high bandwidth is preferred. </a:t>
            </a:r>
          </a:p>
          <a:p>
            <a:r>
              <a:rPr lang="en-US" b="1" u="sng" dirty="0"/>
              <a:t>Other metrics can be</a:t>
            </a:r>
          </a:p>
          <a:p>
            <a:pPr lvl="1"/>
            <a:r>
              <a:rPr lang="en-US" b="1" u="sng" dirty="0"/>
              <a:t>System overhead </a:t>
            </a:r>
            <a:r>
              <a:rPr lang="en-US" dirty="0"/>
              <a:t>is often attributed to OS boot time, compile time, I/O data rate, and the runtime support system used. </a:t>
            </a:r>
          </a:p>
          <a:p>
            <a:pPr lvl="1"/>
            <a:r>
              <a:rPr lang="en-US" b="1" u="sng" dirty="0" err="1"/>
              <a:t>QoS</a:t>
            </a:r>
            <a:r>
              <a:rPr lang="en-US" dirty="0"/>
              <a:t> for Internet and web services; and </a:t>
            </a:r>
          </a:p>
          <a:p>
            <a:pPr lvl="1"/>
            <a:r>
              <a:rPr lang="en-US" b="1" u="sng" dirty="0"/>
              <a:t>Security resilience</a:t>
            </a:r>
            <a:r>
              <a:rPr lang="en-US" dirty="0"/>
              <a:t> for system defense against network attacks.</a:t>
            </a:r>
          </a:p>
        </p:txBody>
      </p:sp>
    </p:spTree>
    <p:extLst>
      <p:ext uri="{BB962C8B-B14F-4D97-AF65-F5344CB8AC3E}">
        <p14:creationId xmlns:p14="http://schemas.microsoft.com/office/powerpoint/2010/main" val="2456209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Definitions </a:t>
            </a:r>
          </a:p>
        </p:txBody>
      </p:sp>
      <p:sp>
        <p:nvSpPr>
          <p:cNvPr id="4" name="Rectangle 3"/>
          <p:cNvSpPr>
            <a:spLocks noGrp="1" noChangeArrowheads="1"/>
          </p:cNvSpPr>
          <p:nvPr>
            <p:ph idx="1"/>
          </p:nvPr>
        </p:nvSpPr>
        <p:spPr>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ormAutofit/>
          </a:bodyPr>
          <a:lstStyle/>
          <a:p>
            <a:pPr>
              <a:lnSpc>
                <a:spcPct val="90000"/>
              </a:lnSpc>
              <a:defRPr/>
            </a:pPr>
            <a:r>
              <a:rPr lang="en-US" altLang="en-US" sz="2000" i="1" dirty="0"/>
              <a:t>Elapsed Time</a:t>
            </a:r>
          </a:p>
          <a:p>
            <a:pPr lvl="1">
              <a:lnSpc>
                <a:spcPct val="90000"/>
              </a:lnSpc>
              <a:defRPr/>
            </a:pPr>
            <a:r>
              <a:rPr lang="en-US" altLang="en-US" sz="1800" dirty="0"/>
              <a:t>counts everything (</a:t>
            </a:r>
            <a:r>
              <a:rPr lang="en-US" altLang="en-US" sz="1800" i="1" dirty="0"/>
              <a:t>disk and memory accesses, waiting for I/O, running other programs, etc.</a:t>
            </a:r>
            <a:r>
              <a:rPr lang="en-US" altLang="en-US" sz="1800" dirty="0"/>
              <a:t>) from start to finish</a:t>
            </a:r>
          </a:p>
          <a:p>
            <a:pPr lvl="1">
              <a:lnSpc>
                <a:spcPct val="90000"/>
              </a:lnSpc>
              <a:defRPr/>
            </a:pPr>
            <a:r>
              <a:rPr lang="en-US" altLang="en-US" sz="1800" dirty="0"/>
              <a:t>a useful number, but often not good for comparison purposes</a:t>
            </a:r>
            <a:endParaRPr lang="en-US" altLang="en-US" sz="1600" dirty="0">
              <a:latin typeface="Times New Roman" panose="02020603050405020304" pitchFamily="18" charset="0"/>
            </a:endParaRPr>
          </a:p>
          <a:p>
            <a:pPr>
              <a:lnSpc>
                <a:spcPct val="90000"/>
              </a:lnSpc>
              <a:buFont typeface="Wingdings" panose="05000000000000000000" pitchFamily="2" charset="2"/>
              <a:buNone/>
              <a:defRPr/>
            </a:pPr>
            <a:r>
              <a:rPr lang="en-US" altLang="en-US" sz="1800" dirty="0">
                <a:latin typeface="Times New Roman" panose="02020603050405020304" pitchFamily="18" charset="0"/>
              </a:rPr>
              <a:t>            elapsed time = CPU time + wait time (I/O, other programs, etc.)</a:t>
            </a:r>
          </a:p>
          <a:p>
            <a:pPr lvl="1">
              <a:lnSpc>
                <a:spcPct val="90000"/>
              </a:lnSpc>
              <a:buFont typeface="Wingdings" panose="05000000000000000000" pitchFamily="2" charset="2"/>
              <a:buNone/>
              <a:defRPr/>
            </a:pPr>
            <a:r>
              <a:rPr lang="en-US" altLang="en-US" sz="1800" dirty="0"/>
              <a:t>			</a:t>
            </a:r>
          </a:p>
          <a:p>
            <a:pPr>
              <a:lnSpc>
                <a:spcPct val="90000"/>
              </a:lnSpc>
              <a:defRPr/>
            </a:pPr>
            <a:r>
              <a:rPr lang="en-US" altLang="en-US" sz="2000" i="1" dirty="0"/>
              <a:t>CPU time</a:t>
            </a:r>
          </a:p>
          <a:p>
            <a:pPr lvl="1">
              <a:lnSpc>
                <a:spcPct val="90000"/>
              </a:lnSpc>
              <a:defRPr/>
            </a:pPr>
            <a:r>
              <a:rPr lang="en-US" altLang="en-US" sz="1800" dirty="0"/>
              <a:t>doesn't count waiting for I/O or time spent running other programs</a:t>
            </a:r>
          </a:p>
          <a:p>
            <a:pPr lvl="1">
              <a:lnSpc>
                <a:spcPct val="90000"/>
              </a:lnSpc>
              <a:defRPr/>
            </a:pPr>
            <a:r>
              <a:rPr lang="en-US" altLang="en-US" sz="1800" dirty="0"/>
              <a:t>can be divided into </a:t>
            </a:r>
            <a:r>
              <a:rPr lang="en-US" altLang="en-US" sz="1800" i="1" dirty="0"/>
              <a:t>user CPU time</a:t>
            </a:r>
            <a:r>
              <a:rPr lang="en-US" altLang="en-US" sz="1800" dirty="0"/>
              <a:t> and </a:t>
            </a:r>
            <a:r>
              <a:rPr lang="en-US" altLang="en-US" sz="1800" i="1" dirty="0"/>
              <a:t>system CPU time </a:t>
            </a:r>
            <a:r>
              <a:rPr lang="en-US" altLang="en-US" sz="1800" dirty="0"/>
              <a:t>(OS calls)</a:t>
            </a:r>
            <a:endParaRPr lang="en-US" altLang="en-US" sz="1800" i="1" dirty="0"/>
          </a:p>
          <a:p>
            <a:pPr>
              <a:lnSpc>
                <a:spcPct val="90000"/>
              </a:lnSpc>
              <a:buFont typeface="Wingdings" panose="05000000000000000000" pitchFamily="2" charset="2"/>
              <a:buNone/>
              <a:defRPr/>
            </a:pPr>
            <a:r>
              <a:rPr lang="en-US" altLang="en-US" sz="1800" dirty="0">
                <a:latin typeface="Times New Roman" panose="02020603050405020304" pitchFamily="18" charset="0"/>
              </a:rPr>
              <a:t>            CPU time = user CPU time + system CPU time   </a:t>
            </a:r>
          </a:p>
          <a:p>
            <a:pPr>
              <a:lnSpc>
                <a:spcPct val="90000"/>
              </a:lnSpc>
              <a:buFont typeface="Wingdings" panose="05000000000000000000" pitchFamily="2" charset="2"/>
              <a:buNone/>
              <a:defRPr/>
            </a:pPr>
            <a:r>
              <a:rPr lang="en-US" altLang="en-US" sz="1800" dirty="0">
                <a:latin typeface="Times New Roman" panose="02020603050405020304" pitchFamily="18" charset="0"/>
              </a:rPr>
              <a:t>       </a:t>
            </a:r>
            <a:r>
              <a:rPr lang="en-US" altLang="en-US" sz="1800" dirty="0">
                <a:latin typeface="Times New Roman" panose="02020603050405020304" pitchFamily="18" charset="0"/>
                <a:sym typeface="Symbol" panose="05050102010706020507" pitchFamily="18" charset="2"/>
              </a:rPr>
              <a:t></a:t>
            </a:r>
            <a:r>
              <a:rPr lang="en-US" altLang="en-US" sz="1800" dirty="0">
                <a:latin typeface="Times New Roman" panose="02020603050405020304" pitchFamily="18" charset="0"/>
              </a:rPr>
              <a:t> elapsed time = user CPU time + system CPU time + wait time</a:t>
            </a:r>
          </a:p>
        </p:txBody>
      </p:sp>
    </p:spTree>
    <p:extLst>
      <p:ext uri="{BB962C8B-B14F-4D97-AF65-F5344CB8AC3E}">
        <p14:creationId xmlns:p14="http://schemas.microsoft.com/office/powerpoint/2010/main" val="110216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65590"/>
            <a:ext cx="10515600" cy="719350"/>
          </a:xfrm>
        </p:spPr>
        <p:txBody>
          <a:bodyPr/>
          <a:lstStyle/>
          <a:p>
            <a:pPr>
              <a:defRPr/>
            </a:pPr>
            <a:r>
              <a:rPr lang="en-US" dirty="0"/>
              <a:t>Amdahl's Law</a:t>
            </a:r>
            <a:endParaRPr lang="en-GB" dirty="0"/>
          </a:p>
        </p:txBody>
      </p:sp>
      <p:sp>
        <p:nvSpPr>
          <p:cNvPr id="3" name="Content Placeholder 2"/>
          <p:cNvSpPr>
            <a:spLocks noGrp="1"/>
          </p:cNvSpPr>
          <p:nvPr>
            <p:ph idx="1"/>
          </p:nvPr>
        </p:nvSpPr>
        <p:spPr>
          <a:xfrm>
            <a:off x="838200" y="3526089"/>
            <a:ext cx="10515600" cy="2361364"/>
          </a:xfrm>
        </p:spPr>
        <p:txBody>
          <a:bodyPr/>
          <a:lstStyle/>
          <a:p>
            <a:pPr>
              <a:defRPr/>
            </a:pPr>
            <a:r>
              <a:rPr lang="en-GB" dirty="0">
                <a:effectLst/>
              </a:rPr>
              <a:t>In computer architecture, </a:t>
            </a:r>
            <a:r>
              <a:rPr lang="en-GB" b="1" dirty="0">
                <a:effectLst/>
              </a:rPr>
              <a:t>Amdahl's law</a:t>
            </a:r>
            <a:r>
              <a:rPr lang="en-GB" dirty="0">
                <a:effectLst/>
              </a:rPr>
              <a:t> (or </a:t>
            </a:r>
            <a:r>
              <a:rPr lang="en-GB" b="1" dirty="0">
                <a:effectLst/>
              </a:rPr>
              <a:t>Amdahl’s </a:t>
            </a:r>
            <a:r>
              <a:rPr lang="en-GB" dirty="0">
                <a:effectLst/>
              </a:rPr>
              <a:t>argument) is a formula which gives the </a:t>
            </a:r>
            <a:r>
              <a:rPr lang="en-GB" dirty="0">
                <a:solidFill>
                  <a:srgbClr val="FF0000"/>
                </a:solidFill>
                <a:effectLst/>
              </a:rPr>
              <a:t>theoretical speedup </a:t>
            </a:r>
            <a:r>
              <a:rPr lang="en-GB" dirty="0">
                <a:effectLst/>
              </a:rPr>
              <a:t>in latency of the execution of a task at </a:t>
            </a:r>
            <a:r>
              <a:rPr lang="en-GB" dirty="0">
                <a:solidFill>
                  <a:srgbClr val="FF0000"/>
                </a:solidFill>
                <a:effectLst/>
              </a:rPr>
              <a:t>fixed workload</a:t>
            </a:r>
            <a:r>
              <a:rPr lang="en-GB" dirty="0">
                <a:effectLst/>
              </a:rPr>
              <a:t> that can be expected of a system whose resources are improved.</a:t>
            </a:r>
            <a:endParaRPr lang="en-GB" dirty="0"/>
          </a:p>
        </p:txBody>
      </p:sp>
      <p:sp>
        <p:nvSpPr>
          <p:cNvPr id="4" name="Slide Number Placeholder 3"/>
          <p:cNvSpPr>
            <a:spLocks noGrp="1"/>
          </p:cNvSpPr>
          <p:nvPr>
            <p:ph type="sldNum" sz="quarter" idx="12"/>
          </p:nvPr>
        </p:nvSpPr>
        <p:spPr/>
        <p:txBody>
          <a:bodyPr/>
          <a:lstStyle/>
          <a:p>
            <a:pPr>
              <a:defRPr/>
            </a:pPr>
            <a:fld id="{D309E919-FE90-4206-9077-732C5885EDB4}" type="slidenum">
              <a:rPr lang="en-US" altLang="en-US" smtClean="0"/>
              <a:pPr>
                <a:defRPr/>
              </a:pPr>
              <a:t>26</a:t>
            </a:fld>
            <a:endParaRPr lang="en-US" altLang="en-US"/>
          </a:p>
        </p:txBody>
      </p:sp>
      <p:sp>
        <p:nvSpPr>
          <p:cNvPr id="5" name="Title 1"/>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Performance Metrics and Scalability analysis</a:t>
            </a:r>
            <a:endParaRPr lang="en-US" dirty="0"/>
          </a:p>
        </p:txBody>
      </p:sp>
    </p:spTree>
    <p:extLst>
      <p:ext uri="{BB962C8B-B14F-4D97-AF65-F5344CB8AC3E}">
        <p14:creationId xmlns:p14="http://schemas.microsoft.com/office/powerpoint/2010/main" val="2837819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a:xfrm>
            <a:off x="1389982" y="873253"/>
            <a:ext cx="9144000" cy="836613"/>
          </a:xfrm>
        </p:spPr>
        <p:txBody>
          <a:bodyPr vert="horz" lIns="90488" tIns="44450" rIns="90488" bIns="44450" rtlCol="0" anchor="ctr">
            <a:normAutofit/>
          </a:bodyPr>
          <a:lstStyle/>
          <a:p>
            <a:pPr eaLnBrk="1" hangingPunct="1">
              <a:defRPr/>
            </a:pPr>
            <a:r>
              <a:rPr lang="en-US" dirty="0"/>
              <a:t>Amdahl's Law</a:t>
            </a:r>
          </a:p>
        </p:txBody>
      </p:sp>
      <p:sp>
        <p:nvSpPr>
          <p:cNvPr id="24579" name="Rectangle 13"/>
          <p:cNvSpPr>
            <a:spLocks noGrp="1" noChangeArrowheads="1"/>
          </p:cNvSpPr>
          <p:nvPr>
            <p:ph type="body" idx="1"/>
          </p:nvPr>
        </p:nvSpPr>
        <p:spPr>
          <a:xfrm>
            <a:off x="58488" y="1840707"/>
            <a:ext cx="11806989" cy="1511300"/>
          </a:xfrm>
        </p:spPr>
        <p:txBody>
          <a:bodyPr/>
          <a:lstStyle/>
          <a:p>
            <a:pPr eaLnBrk="1" hangingPunct="1">
              <a:lnSpc>
                <a:spcPct val="90000"/>
              </a:lnSpc>
            </a:pPr>
            <a:r>
              <a:rPr lang="en-US" altLang="en-US" b="1" dirty="0">
                <a:effectLst/>
              </a:rPr>
              <a:t>Suppose that enhancement E accelerates a fraction F of the task by a factor S, and the remainder of the task is unaffected</a:t>
            </a:r>
          </a:p>
        </p:txBody>
      </p:sp>
      <p:grpSp>
        <p:nvGrpSpPr>
          <p:cNvPr id="24580" name="Group 30"/>
          <p:cNvGrpSpPr>
            <a:grpSpLocks/>
          </p:cNvGrpSpPr>
          <p:nvPr/>
        </p:nvGrpSpPr>
        <p:grpSpPr bwMode="auto">
          <a:xfrm>
            <a:off x="2063751" y="2636838"/>
            <a:ext cx="7656513" cy="3783012"/>
            <a:chOff x="340" y="1661"/>
            <a:chExt cx="4823" cy="2383"/>
          </a:xfrm>
        </p:grpSpPr>
        <p:grpSp>
          <p:nvGrpSpPr>
            <p:cNvPr id="24582" name="Group 19"/>
            <p:cNvGrpSpPr>
              <a:grpSpLocks/>
            </p:cNvGrpSpPr>
            <p:nvPr/>
          </p:nvGrpSpPr>
          <p:grpSpPr bwMode="auto">
            <a:xfrm>
              <a:off x="476" y="2341"/>
              <a:ext cx="4445" cy="635"/>
              <a:chOff x="476" y="2296"/>
              <a:chExt cx="4445" cy="635"/>
            </a:xfrm>
          </p:grpSpPr>
          <p:sp>
            <p:nvSpPr>
              <p:cNvPr id="24595" name="Rectangle 4"/>
              <p:cNvSpPr>
                <a:spLocks noChangeArrowheads="1"/>
              </p:cNvSpPr>
              <p:nvPr/>
            </p:nvSpPr>
            <p:spPr bwMode="auto">
              <a:xfrm>
                <a:off x="476" y="2296"/>
                <a:ext cx="731" cy="63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en-US" sz="1800"/>
              </a:p>
            </p:txBody>
          </p:sp>
          <p:sp>
            <p:nvSpPr>
              <p:cNvPr id="24596" name="Rectangle 5"/>
              <p:cNvSpPr>
                <a:spLocks noChangeArrowheads="1"/>
              </p:cNvSpPr>
              <p:nvPr/>
            </p:nvSpPr>
            <p:spPr bwMode="auto">
              <a:xfrm>
                <a:off x="1216" y="2296"/>
                <a:ext cx="731" cy="635"/>
              </a:xfrm>
              <a:prstGeom prst="rect">
                <a:avLst/>
              </a:prstGeom>
              <a:solidFill>
                <a:schemeClr val="accent2"/>
              </a:solidFill>
              <a:ln w="12700">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en-US" sz="1800"/>
              </a:p>
            </p:txBody>
          </p:sp>
          <p:sp>
            <p:nvSpPr>
              <p:cNvPr id="24597" name="Rectangle 6"/>
              <p:cNvSpPr>
                <a:spLocks noChangeArrowheads="1"/>
              </p:cNvSpPr>
              <p:nvPr/>
            </p:nvSpPr>
            <p:spPr bwMode="auto">
              <a:xfrm>
                <a:off x="1956" y="2296"/>
                <a:ext cx="731" cy="63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en-US" sz="1800"/>
              </a:p>
            </p:txBody>
          </p:sp>
          <p:grpSp>
            <p:nvGrpSpPr>
              <p:cNvPr id="24598" name="Group 18"/>
              <p:cNvGrpSpPr>
                <a:grpSpLocks/>
              </p:cNvGrpSpPr>
              <p:nvPr/>
            </p:nvGrpSpPr>
            <p:grpSpPr bwMode="auto">
              <a:xfrm>
                <a:off x="3334" y="2296"/>
                <a:ext cx="1587" cy="635"/>
                <a:chOff x="3435" y="2296"/>
                <a:chExt cx="1894" cy="635"/>
              </a:xfrm>
            </p:grpSpPr>
            <p:sp>
              <p:nvSpPr>
                <p:cNvPr id="24600" name="Rectangle 7"/>
                <p:cNvSpPr>
                  <a:spLocks noChangeArrowheads="1"/>
                </p:cNvSpPr>
                <p:nvPr/>
              </p:nvSpPr>
              <p:spPr bwMode="auto">
                <a:xfrm>
                  <a:off x="3435" y="2296"/>
                  <a:ext cx="731" cy="63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en-US" sz="1800"/>
                </a:p>
              </p:txBody>
            </p:sp>
            <p:sp>
              <p:nvSpPr>
                <p:cNvPr id="24601" name="Rectangle 8"/>
                <p:cNvSpPr>
                  <a:spLocks noChangeArrowheads="1"/>
                </p:cNvSpPr>
                <p:nvPr/>
              </p:nvSpPr>
              <p:spPr bwMode="auto">
                <a:xfrm>
                  <a:off x="4175" y="2296"/>
                  <a:ext cx="414" cy="635"/>
                </a:xfrm>
                <a:prstGeom prst="rect">
                  <a:avLst/>
                </a:prstGeom>
                <a:solidFill>
                  <a:schemeClr val="accent2"/>
                </a:solidFill>
                <a:ln w="12700">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en-US" sz="1800"/>
                </a:p>
              </p:txBody>
            </p:sp>
            <p:sp>
              <p:nvSpPr>
                <p:cNvPr id="24602" name="Rectangle 9"/>
                <p:cNvSpPr>
                  <a:spLocks noChangeArrowheads="1"/>
                </p:cNvSpPr>
                <p:nvPr/>
              </p:nvSpPr>
              <p:spPr bwMode="auto">
                <a:xfrm>
                  <a:off x="4598" y="2296"/>
                  <a:ext cx="731" cy="63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en-US" sz="1800"/>
                </a:p>
              </p:txBody>
            </p:sp>
          </p:grpSp>
          <p:sp>
            <p:nvSpPr>
              <p:cNvPr id="24599" name="Line 10"/>
              <p:cNvSpPr>
                <a:spLocks noChangeShapeType="1"/>
              </p:cNvSpPr>
              <p:nvPr/>
            </p:nvSpPr>
            <p:spPr bwMode="auto">
              <a:xfrm>
                <a:off x="2850" y="2679"/>
                <a:ext cx="370" cy="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4583" name="Group 20"/>
            <p:cNvGrpSpPr>
              <a:grpSpLocks/>
            </p:cNvGrpSpPr>
            <p:nvPr/>
          </p:nvGrpSpPr>
          <p:grpSpPr bwMode="auto">
            <a:xfrm>
              <a:off x="476" y="3248"/>
              <a:ext cx="2177" cy="577"/>
              <a:chOff x="476" y="3203"/>
              <a:chExt cx="2177" cy="577"/>
            </a:xfrm>
          </p:grpSpPr>
          <p:sp>
            <p:nvSpPr>
              <p:cNvPr id="24592" name="Line 15"/>
              <p:cNvSpPr>
                <a:spLocks noChangeShapeType="1"/>
              </p:cNvSpPr>
              <p:nvPr/>
            </p:nvSpPr>
            <p:spPr bwMode="auto">
              <a:xfrm>
                <a:off x="476" y="3385"/>
                <a:ext cx="544"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4593" name="Text Box 16"/>
              <p:cNvSpPr txBox="1">
                <a:spLocks noChangeArrowheads="1"/>
              </p:cNvSpPr>
              <p:nvPr/>
            </p:nvSpPr>
            <p:spPr bwMode="auto">
              <a:xfrm>
                <a:off x="1080" y="3203"/>
                <a:ext cx="988"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en-US" sz="1800"/>
                  <a:t>Original</a:t>
                </a:r>
              </a:p>
              <a:p>
                <a:pPr algn="ctr">
                  <a:spcBef>
                    <a:spcPct val="0"/>
                  </a:spcBef>
                  <a:buClrTx/>
                  <a:buSzTx/>
                  <a:buFontTx/>
                  <a:buNone/>
                </a:pPr>
                <a:r>
                  <a:rPr lang="en-US" altLang="en-US" sz="1800"/>
                  <a:t>Execution </a:t>
                </a:r>
              </a:p>
              <a:p>
                <a:pPr algn="ctr">
                  <a:spcBef>
                    <a:spcPct val="0"/>
                  </a:spcBef>
                  <a:buClrTx/>
                  <a:buSzTx/>
                  <a:buFontTx/>
                  <a:buNone/>
                </a:pPr>
                <a:r>
                  <a:rPr lang="en-US" altLang="en-US" sz="1800"/>
                  <a:t>Time of Task </a:t>
                </a:r>
              </a:p>
            </p:txBody>
          </p:sp>
          <p:sp>
            <p:nvSpPr>
              <p:cNvPr id="24594" name="Line 17"/>
              <p:cNvSpPr>
                <a:spLocks noChangeShapeType="1"/>
              </p:cNvSpPr>
              <p:nvPr/>
            </p:nvSpPr>
            <p:spPr bwMode="auto">
              <a:xfrm flipH="1" flipV="1">
                <a:off x="1973" y="3385"/>
                <a:ext cx="68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grpSp>
        <p:grpSp>
          <p:nvGrpSpPr>
            <p:cNvPr id="24584" name="Group 21"/>
            <p:cNvGrpSpPr>
              <a:grpSpLocks/>
            </p:cNvGrpSpPr>
            <p:nvPr/>
          </p:nvGrpSpPr>
          <p:grpSpPr bwMode="auto">
            <a:xfrm>
              <a:off x="3288" y="3294"/>
              <a:ext cx="1679" cy="750"/>
              <a:chOff x="476" y="3203"/>
              <a:chExt cx="2177" cy="750"/>
            </a:xfrm>
          </p:grpSpPr>
          <p:sp>
            <p:nvSpPr>
              <p:cNvPr id="24589" name="Line 22"/>
              <p:cNvSpPr>
                <a:spLocks noChangeShapeType="1"/>
              </p:cNvSpPr>
              <p:nvPr/>
            </p:nvSpPr>
            <p:spPr bwMode="auto">
              <a:xfrm>
                <a:off x="476" y="3385"/>
                <a:ext cx="544"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4590" name="Text Box 23"/>
              <p:cNvSpPr txBox="1">
                <a:spLocks noChangeArrowheads="1"/>
              </p:cNvSpPr>
              <p:nvPr/>
            </p:nvSpPr>
            <p:spPr bwMode="auto">
              <a:xfrm>
                <a:off x="607" y="3203"/>
                <a:ext cx="1934"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en-US" sz="1800"/>
                  <a:t>Execution </a:t>
                </a:r>
              </a:p>
              <a:p>
                <a:pPr algn="ctr">
                  <a:spcBef>
                    <a:spcPct val="0"/>
                  </a:spcBef>
                  <a:buClrTx/>
                  <a:buSzTx/>
                  <a:buFontTx/>
                  <a:buNone/>
                </a:pPr>
                <a:r>
                  <a:rPr lang="en-US" altLang="en-US" sz="1800"/>
                  <a:t>Time </a:t>
                </a:r>
              </a:p>
              <a:p>
                <a:pPr algn="ctr">
                  <a:spcBef>
                    <a:spcPct val="0"/>
                  </a:spcBef>
                  <a:buClrTx/>
                  <a:buSzTx/>
                  <a:buFontTx/>
                  <a:buNone/>
                </a:pPr>
                <a:r>
                  <a:rPr lang="en-US" altLang="en-US" sz="1800"/>
                  <a:t>after fraction F </a:t>
                </a:r>
              </a:p>
              <a:p>
                <a:pPr algn="ctr">
                  <a:spcBef>
                    <a:spcPct val="0"/>
                  </a:spcBef>
                  <a:buClrTx/>
                  <a:buSzTx/>
                  <a:buFontTx/>
                  <a:buNone/>
                </a:pPr>
                <a:r>
                  <a:rPr lang="en-US" altLang="en-US" sz="1800"/>
                  <a:t>Enhanced by factor S</a:t>
                </a:r>
              </a:p>
            </p:txBody>
          </p:sp>
          <p:sp>
            <p:nvSpPr>
              <p:cNvPr id="24591" name="Line 24"/>
              <p:cNvSpPr>
                <a:spLocks noChangeShapeType="1"/>
              </p:cNvSpPr>
              <p:nvPr/>
            </p:nvSpPr>
            <p:spPr bwMode="auto">
              <a:xfrm flipH="1" flipV="1">
                <a:off x="1973" y="3385"/>
                <a:ext cx="68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grpSp>
        <p:sp>
          <p:nvSpPr>
            <p:cNvPr id="24585" name="Text Box 25"/>
            <p:cNvSpPr txBox="1">
              <a:spLocks noChangeArrowheads="1"/>
            </p:cNvSpPr>
            <p:nvPr/>
          </p:nvSpPr>
          <p:spPr bwMode="auto">
            <a:xfrm>
              <a:off x="3470" y="1751"/>
              <a:ext cx="1693"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en-US" sz="1800"/>
                <a:t>Execution time of the Fraction Enhanced</a:t>
              </a:r>
            </a:p>
          </p:txBody>
        </p:sp>
        <p:sp>
          <p:nvSpPr>
            <p:cNvPr id="24586" name="Line 26"/>
            <p:cNvSpPr>
              <a:spLocks noChangeShapeType="1"/>
            </p:cNvSpPr>
            <p:nvPr/>
          </p:nvSpPr>
          <p:spPr bwMode="auto">
            <a:xfrm flipH="1">
              <a:off x="4105" y="2205"/>
              <a:ext cx="272"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7" name="Text Box 27"/>
            <p:cNvSpPr txBox="1">
              <a:spLocks noChangeArrowheads="1"/>
            </p:cNvSpPr>
            <p:nvPr/>
          </p:nvSpPr>
          <p:spPr bwMode="auto">
            <a:xfrm>
              <a:off x="340" y="1661"/>
              <a:ext cx="1693"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en-US" sz="1800"/>
                <a:t>Time for Fraction F to be Enhanced by factor S</a:t>
              </a:r>
            </a:p>
          </p:txBody>
        </p:sp>
        <p:sp>
          <p:nvSpPr>
            <p:cNvPr id="24588" name="Line 28"/>
            <p:cNvSpPr>
              <a:spLocks noChangeShapeType="1"/>
            </p:cNvSpPr>
            <p:nvPr/>
          </p:nvSpPr>
          <p:spPr bwMode="auto">
            <a:xfrm>
              <a:off x="1655" y="2205"/>
              <a:ext cx="0" cy="4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Slide Number Placeholder 1"/>
          <p:cNvSpPr>
            <a:spLocks noGrp="1"/>
          </p:cNvSpPr>
          <p:nvPr>
            <p:ph type="sldNum" sz="quarter" idx="12"/>
          </p:nvPr>
        </p:nvSpPr>
        <p:spPr/>
        <p:txBody>
          <a:bodyPr/>
          <a:lstStyle/>
          <a:p>
            <a:pPr>
              <a:defRPr/>
            </a:pPr>
            <a:fld id="{09AF7229-EAEF-47E4-9789-127E419D8957}" type="slidenum">
              <a:rPr lang="en-US" altLang="en-US">
                <a:solidFill>
                  <a:schemeClr val="tx1"/>
                </a:solidFill>
              </a:rPr>
              <a:pPr>
                <a:defRPr/>
              </a:pPr>
              <a:t>27</a:t>
            </a:fld>
            <a:endParaRPr lang="en-US" altLang="en-US">
              <a:solidFill>
                <a:schemeClr val="tx1"/>
              </a:solidFill>
            </a:endParaRPr>
          </a:p>
        </p:txBody>
      </p:sp>
    </p:spTree>
    <p:extLst>
      <p:ext uri="{BB962C8B-B14F-4D97-AF65-F5344CB8AC3E}">
        <p14:creationId xmlns:p14="http://schemas.microsoft.com/office/powerpoint/2010/main" val="3020598498"/>
      </p:ext>
    </p:extLst>
  </p:cSld>
  <p:clrMapOvr>
    <a:masterClrMapping/>
  </p:clrMapOvr>
  <p:transition>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524000" y="1748590"/>
            <a:ext cx="9144000" cy="908050"/>
          </a:xfrm>
          <a:noFill/>
          <a:extLst>
            <a:ext uri="{909E8E84-426E-40DD-AFC4-6F175D3DCCD1}">
              <a14:hiddenFill xmlns:a14="http://schemas.microsoft.com/office/drawing/2010/main">
                <a:solidFill>
                  <a:srgbClr val="FFFFFF"/>
                </a:solidFill>
              </a14:hiddenFill>
            </a:ext>
          </a:extLst>
        </p:spPr>
        <p:txBody>
          <a:bodyPr vert="horz" lIns="90488" tIns="44450" rIns="90488" bIns="44450" rtlCol="0" anchor="ctr">
            <a:normAutofit/>
          </a:bodyPr>
          <a:lstStyle/>
          <a:p>
            <a:pPr eaLnBrk="1" hangingPunct="1"/>
            <a:r>
              <a:rPr lang="en-US" altLang="en-US" b="1" dirty="0">
                <a:effectLst/>
              </a:rPr>
              <a:t>Amdahl's Law</a:t>
            </a:r>
          </a:p>
        </p:txBody>
      </p:sp>
      <p:sp>
        <p:nvSpPr>
          <p:cNvPr id="562179" name="Rectangle 3"/>
          <p:cNvSpPr>
            <a:spLocks noGrp="1" noChangeArrowheads="1"/>
          </p:cNvSpPr>
          <p:nvPr>
            <p:ph type="body" idx="1"/>
          </p:nvPr>
        </p:nvSpPr>
        <p:spPr>
          <a:xfrm>
            <a:off x="1524000" y="3232905"/>
            <a:ext cx="9144000" cy="3123446"/>
          </a:xfrm>
        </p:spPr>
        <p:txBody>
          <a:bodyPr vert="horz" lIns="90488" tIns="44450" rIns="90488" bIns="44450" rtlCol="0">
            <a:normAutofit fontScale="92500" lnSpcReduction="10000"/>
          </a:bodyPr>
          <a:lstStyle/>
          <a:p>
            <a:pPr eaLnBrk="1" hangingPunct="1">
              <a:lnSpc>
                <a:spcPct val="90000"/>
              </a:lnSpc>
              <a:buFont typeface="Wingdings" panose="05000000000000000000" pitchFamily="2" charset="2"/>
              <a:buNone/>
              <a:defRPr/>
            </a:pPr>
            <a:r>
              <a:rPr lang="en-US" b="1" dirty="0"/>
              <a:t>Speedup due to enhancement E:</a:t>
            </a:r>
          </a:p>
          <a:p>
            <a:pPr eaLnBrk="1" hangingPunct="1">
              <a:lnSpc>
                <a:spcPct val="90000"/>
              </a:lnSpc>
              <a:buFont typeface="Wingdings" panose="05000000000000000000" pitchFamily="2" charset="2"/>
              <a:buNone/>
              <a:defRPr/>
            </a:pPr>
            <a:endParaRPr lang="en-US" b="1" dirty="0"/>
          </a:p>
          <a:p>
            <a:pPr eaLnBrk="1" hangingPunct="1">
              <a:lnSpc>
                <a:spcPct val="90000"/>
              </a:lnSpc>
              <a:buFont typeface="Wingdings" panose="05000000000000000000" pitchFamily="2" charset="2"/>
              <a:buNone/>
              <a:defRPr/>
            </a:pPr>
            <a:r>
              <a:rPr lang="en-US" b="1" dirty="0">
                <a:latin typeface="Courier New" pitchFamily="49" charset="0"/>
              </a:rPr>
              <a:t>				   </a:t>
            </a:r>
            <a:r>
              <a:rPr lang="en-US" b="1" dirty="0"/>
              <a:t>Ex Time without E </a:t>
            </a:r>
          </a:p>
          <a:p>
            <a:pPr eaLnBrk="1" hangingPunct="1">
              <a:lnSpc>
                <a:spcPct val="90000"/>
              </a:lnSpc>
              <a:buFont typeface="Wingdings" panose="05000000000000000000" pitchFamily="2" charset="2"/>
              <a:buNone/>
              <a:defRPr/>
            </a:pPr>
            <a:r>
              <a:rPr lang="en-US" b="1" dirty="0"/>
              <a:t>Speedup (E) = 				  		  </a:t>
            </a:r>
          </a:p>
          <a:p>
            <a:pPr eaLnBrk="1" hangingPunct="1">
              <a:lnSpc>
                <a:spcPct val="90000"/>
              </a:lnSpc>
              <a:buFont typeface="Wingdings" panose="05000000000000000000" pitchFamily="2" charset="2"/>
              <a:buNone/>
              <a:defRPr/>
            </a:pPr>
            <a:r>
              <a:rPr lang="en-US" b="1" dirty="0"/>
              <a:t>				         Ex Time with E   </a:t>
            </a:r>
          </a:p>
          <a:p>
            <a:pPr eaLnBrk="1" hangingPunct="1">
              <a:lnSpc>
                <a:spcPct val="90000"/>
              </a:lnSpc>
              <a:buFont typeface="Wingdings" panose="05000000000000000000" pitchFamily="2" charset="2"/>
              <a:buNone/>
              <a:defRPr/>
            </a:pPr>
            <a:r>
              <a:rPr lang="en-US" b="1" dirty="0"/>
              <a:t>     </a:t>
            </a:r>
          </a:p>
          <a:p>
            <a:pPr eaLnBrk="1" hangingPunct="1">
              <a:lnSpc>
                <a:spcPct val="90000"/>
              </a:lnSpc>
              <a:buFont typeface="Wingdings" panose="05000000000000000000" pitchFamily="2" charset="2"/>
              <a:buNone/>
              <a:defRPr/>
            </a:pPr>
            <a:r>
              <a:rPr lang="en-US" b="1" dirty="0"/>
              <a:t>				</a:t>
            </a:r>
            <a:endParaRPr lang="en-US" dirty="0"/>
          </a:p>
        </p:txBody>
      </p:sp>
      <p:sp>
        <p:nvSpPr>
          <p:cNvPr id="26628" name="Line 12"/>
          <p:cNvSpPr>
            <a:spLocks noChangeShapeType="1"/>
          </p:cNvSpPr>
          <p:nvPr/>
        </p:nvSpPr>
        <p:spPr bwMode="auto">
          <a:xfrm>
            <a:off x="4158836" y="4721145"/>
            <a:ext cx="41767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Slide Number Placeholder 1"/>
          <p:cNvSpPr>
            <a:spLocks noGrp="1"/>
          </p:cNvSpPr>
          <p:nvPr>
            <p:ph type="sldNum" sz="quarter" idx="12"/>
          </p:nvPr>
        </p:nvSpPr>
        <p:spPr/>
        <p:txBody>
          <a:bodyPr/>
          <a:lstStyle/>
          <a:p>
            <a:pPr>
              <a:defRPr/>
            </a:pPr>
            <a:fld id="{D46034B4-332F-4682-A5ED-AD100636489E}" type="slidenum">
              <a:rPr lang="en-US" altLang="en-US">
                <a:solidFill>
                  <a:schemeClr val="tx1"/>
                </a:solidFill>
              </a:rPr>
              <a:pPr>
                <a:defRPr/>
              </a:pPr>
              <a:t>28</a:t>
            </a:fld>
            <a:endParaRPr lang="en-US" altLang="en-US">
              <a:solidFill>
                <a:schemeClr val="tx1"/>
              </a:solidFill>
            </a:endParaRPr>
          </a:p>
        </p:txBody>
      </p:sp>
    </p:spTree>
    <p:extLst>
      <p:ext uri="{BB962C8B-B14F-4D97-AF65-F5344CB8AC3E}">
        <p14:creationId xmlns:p14="http://schemas.microsoft.com/office/powerpoint/2010/main" val="3175031620"/>
      </p:ext>
    </p:extLst>
  </p:cSld>
  <p:clrMapOvr>
    <a:masterClrMapping/>
  </p:clrMapOvr>
  <p:transition>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vert="horz" lIns="90488" tIns="44450" rIns="90488" bIns="44450" rtlCol="0" anchor="ctr">
            <a:normAutofit/>
          </a:bodyPr>
          <a:lstStyle/>
          <a:p>
            <a:pPr eaLnBrk="1" hangingPunct="1">
              <a:defRPr/>
            </a:pPr>
            <a:r>
              <a:rPr lang="en-US"/>
              <a:t>Amdahl’s Law</a:t>
            </a:r>
          </a:p>
        </p:txBody>
      </p:sp>
      <p:sp>
        <p:nvSpPr>
          <p:cNvPr id="28675" name="Rectangle 3"/>
          <p:cNvSpPr>
            <a:spLocks noChangeArrowheads="1"/>
          </p:cNvSpPr>
          <p:nvPr/>
        </p:nvSpPr>
        <p:spPr bwMode="auto">
          <a:xfrm>
            <a:off x="1919288" y="2492375"/>
            <a:ext cx="87487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000" b="1" dirty="0"/>
              <a:t>Ex Time </a:t>
            </a:r>
            <a:r>
              <a:rPr lang="en-US" altLang="en-US" sz="2000" b="1" baseline="-25000" dirty="0"/>
              <a:t>new </a:t>
            </a:r>
            <a:r>
              <a:rPr lang="en-US" altLang="en-US" sz="2000" b="1" dirty="0"/>
              <a:t>= Ex Time </a:t>
            </a:r>
            <a:r>
              <a:rPr lang="en-US" altLang="en-US" sz="2000" b="1" baseline="-25000" dirty="0"/>
              <a:t>old</a:t>
            </a:r>
            <a:r>
              <a:rPr lang="en-US" altLang="en-US" sz="2000" b="1" dirty="0"/>
              <a:t> x   (1 – Fraction </a:t>
            </a:r>
            <a:r>
              <a:rPr lang="en-US" altLang="en-US" sz="2000" b="1" baseline="-25000" dirty="0"/>
              <a:t>enhanced</a:t>
            </a:r>
            <a:r>
              <a:rPr lang="en-US" altLang="en-US" sz="2000" b="1" dirty="0"/>
              <a:t>) +  Fraction </a:t>
            </a:r>
            <a:r>
              <a:rPr lang="en-US" altLang="en-US" sz="2000" b="1" baseline="-25000" dirty="0"/>
              <a:t>enhanced</a:t>
            </a:r>
          </a:p>
        </p:txBody>
      </p:sp>
      <p:grpSp>
        <p:nvGrpSpPr>
          <p:cNvPr id="28676" name="Group 4"/>
          <p:cNvGrpSpPr>
            <a:grpSpLocks/>
          </p:cNvGrpSpPr>
          <p:nvPr/>
        </p:nvGrpSpPr>
        <p:grpSpPr bwMode="auto">
          <a:xfrm>
            <a:off x="5303838" y="2420938"/>
            <a:ext cx="304800" cy="838200"/>
            <a:chOff x="2208" y="1248"/>
            <a:chExt cx="192" cy="528"/>
          </a:xfrm>
        </p:grpSpPr>
        <p:sp>
          <p:nvSpPr>
            <p:cNvPr id="28684" name="Line 5"/>
            <p:cNvSpPr>
              <a:spLocks noChangeShapeType="1"/>
            </p:cNvSpPr>
            <p:nvPr/>
          </p:nvSpPr>
          <p:spPr bwMode="auto">
            <a:xfrm>
              <a:off x="2208" y="1248"/>
              <a:ext cx="0" cy="5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5" name="Line 6"/>
            <p:cNvSpPr>
              <a:spLocks noChangeShapeType="1"/>
            </p:cNvSpPr>
            <p:nvPr/>
          </p:nvSpPr>
          <p:spPr bwMode="auto">
            <a:xfrm>
              <a:off x="2208" y="1248"/>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6" name="Line 7"/>
            <p:cNvSpPr>
              <a:spLocks noChangeShapeType="1"/>
            </p:cNvSpPr>
            <p:nvPr/>
          </p:nvSpPr>
          <p:spPr bwMode="auto">
            <a:xfrm>
              <a:off x="2208" y="177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8677" name="Group 8"/>
          <p:cNvGrpSpPr>
            <a:grpSpLocks/>
          </p:cNvGrpSpPr>
          <p:nvPr/>
        </p:nvGrpSpPr>
        <p:grpSpPr bwMode="auto">
          <a:xfrm>
            <a:off x="9912350" y="2565400"/>
            <a:ext cx="304800" cy="838200"/>
            <a:chOff x="5088" y="1296"/>
            <a:chExt cx="192" cy="528"/>
          </a:xfrm>
        </p:grpSpPr>
        <p:sp>
          <p:nvSpPr>
            <p:cNvPr id="28681" name="Line 9"/>
            <p:cNvSpPr>
              <a:spLocks noChangeShapeType="1"/>
            </p:cNvSpPr>
            <p:nvPr/>
          </p:nvSpPr>
          <p:spPr bwMode="auto">
            <a:xfrm>
              <a:off x="5280" y="1296"/>
              <a:ext cx="0" cy="5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2" name="Line 10"/>
            <p:cNvSpPr>
              <a:spLocks noChangeShapeType="1"/>
            </p:cNvSpPr>
            <p:nvPr/>
          </p:nvSpPr>
          <p:spPr bwMode="auto">
            <a:xfrm flipH="1">
              <a:off x="5088" y="129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3" name="Line 11"/>
            <p:cNvSpPr>
              <a:spLocks noChangeShapeType="1"/>
            </p:cNvSpPr>
            <p:nvPr/>
          </p:nvSpPr>
          <p:spPr bwMode="auto">
            <a:xfrm flipH="1">
              <a:off x="5088" y="182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678" name="Rectangle 15"/>
          <p:cNvSpPr>
            <a:spLocks noChangeArrowheads="1"/>
          </p:cNvSpPr>
          <p:nvPr/>
        </p:nvSpPr>
        <p:spPr bwMode="auto">
          <a:xfrm>
            <a:off x="7607300" y="2979739"/>
            <a:ext cx="2133598"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000" b="1"/>
              <a:t>Speedup </a:t>
            </a:r>
            <a:r>
              <a:rPr lang="en-US" altLang="en-US" sz="2000" b="1" baseline="-25000"/>
              <a:t>enhanced</a:t>
            </a:r>
          </a:p>
        </p:txBody>
      </p:sp>
      <p:sp>
        <p:nvSpPr>
          <p:cNvPr id="28679" name="Line 16"/>
          <p:cNvSpPr>
            <a:spLocks noChangeShapeType="1"/>
          </p:cNvSpPr>
          <p:nvPr/>
        </p:nvSpPr>
        <p:spPr bwMode="auto">
          <a:xfrm>
            <a:off x="8256588" y="2997200"/>
            <a:ext cx="1905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Slide Number Placeholder 1"/>
          <p:cNvSpPr>
            <a:spLocks noGrp="1"/>
          </p:cNvSpPr>
          <p:nvPr>
            <p:ph type="sldNum" sz="quarter" idx="12"/>
          </p:nvPr>
        </p:nvSpPr>
        <p:spPr/>
        <p:txBody>
          <a:bodyPr/>
          <a:lstStyle/>
          <a:p>
            <a:pPr>
              <a:defRPr/>
            </a:pPr>
            <a:fld id="{40E24B26-23D8-4D6C-B2F4-D05B5697E6ED}" type="slidenum">
              <a:rPr lang="en-US" altLang="en-US"/>
              <a:pPr>
                <a:defRPr/>
              </a:pPr>
              <a:t>29</a:t>
            </a:fld>
            <a:endParaRPr lang="en-US" altLang="en-US"/>
          </a:p>
        </p:txBody>
      </p:sp>
    </p:spTree>
    <p:extLst>
      <p:ext uri="{BB962C8B-B14F-4D97-AF65-F5344CB8AC3E}">
        <p14:creationId xmlns:p14="http://schemas.microsoft.com/office/powerpoint/2010/main" val="201434937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a:xfrm>
            <a:off x="1050636" y="373856"/>
            <a:ext cx="10515600" cy="1325563"/>
          </a:xfrm>
        </p:spPr>
        <p:txBody>
          <a:bodyPr vert="horz" lIns="90488" tIns="44450" rIns="90488" bIns="44450" rtlCol="0" anchor="ctr">
            <a:normAutofit/>
          </a:bodyPr>
          <a:lstStyle/>
          <a:p>
            <a:pPr eaLnBrk="1" hangingPunct="1">
              <a:defRPr/>
            </a:pPr>
            <a:r>
              <a:rPr lang="en-US" dirty="0"/>
              <a:t>Amdahl’s Law</a:t>
            </a:r>
          </a:p>
        </p:txBody>
      </p:sp>
      <p:sp>
        <p:nvSpPr>
          <p:cNvPr id="29699" name="Rectangle 3"/>
          <p:cNvSpPr>
            <a:spLocks noChangeArrowheads="1"/>
          </p:cNvSpPr>
          <p:nvPr/>
        </p:nvSpPr>
        <p:spPr bwMode="auto">
          <a:xfrm>
            <a:off x="1965325" y="2011364"/>
            <a:ext cx="779098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000" b="1"/>
              <a:t>ExTime</a:t>
            </a:r>
            <a:r>
              <a:rPr lang="en-US" altLang="en-US" sz="2000" b="1" baseline="-25000"/>
              <a:t>new </a:t>
            </a:r>
            <a:r>
              <a:rPr lang="en-US" altLang="en-US" sz="2000" b="1"/>
              <a:t>= ExTime</a:t>
            </a:r>
            <a:r>
              <a:rPr lang="en-US" altLang="en-US" sz="2000" b="1" baseline="-25000"/>
              <a:t>old</a:t>
            </a:r>
            <a:r>
              <a:rPr lang="en-US" altLang="en-US" sz="2000" b="1"/>
              <a:t> x   (1 - Fraction</a:t>
            </a:r>
            <a:r>
              <a:rPr lang="en-US" altLang="en-US" sz="2000" b="1" baseline="-25000"/>
              <a:t>enhanced</a:t>
            </a:r>
            <a:r>
              <a:rPr lang="en-US" altLang="en-US" sz="2000" b="1"/>
              <a:t>) +  Fraction</a:t>
            </a:r>
            <a:r>
              <a:rPr lang="en-US" altLang="en-US" sz="2000" b="1" baseline="-25000"/>
              <a:t>enhanced</a:t>
            </a:r>
          </a:p>
        </p:txBody>
      </p:sp>
      <p:grpSp>
        <p:nvGrpSpPr>
          <p:cNvPr id="29700" name="Group 4"/>
          <p:cNvGrpSpPr>
            <a:grpSpLocks/>
          </p:cNvGrpSpPr>
          <p:nvPr/>
        </p:nvGrpSpPr>
        <p:grpSpPr bwMode="auto">
          <a:xfrm>
            <a:off x="5029200" y="1981200"/>
            <a:ext cx="304800" cy="838200"/>
            <a:chOff x="2208" y="1248"/>
            <a:chExt cx="192" cy="528"/>
          </a:xfrm>
        </p:grpSpPr>
        <p:sp>
          <p:nvSpPr>
            <p:cNvPr id="29717" name="Line 5"/>
            <p:cNvSpPr>
              <a:spLocks noChangeShapeType="1"/>
            </p:cNvSpPr>
            <p:nvPr/>
          </p:nvSpPr>
          <p:spPr bwMode="auto">
            <a:xfrm>
              <a:off x="2208" y="1248"/>
              <a:ext cx="0" cy="5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8" name="Line 6"/>
            <p:cNvSpPr>
              <a:spLocks noChangeShapeType="1"/>
            </p:cNvSpPr>
            <p:nvPr/>
          </p:nvSpPr>
          <p:spPr bwMode="auto">
            <a:xfrm>
              <a:off x="2208" y="1248"/>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9" name="Line 7"/>
            <p:cNvSpPr>
              <a:spLocks noChangeShapeType="1"/>
            </p:cNvSpPr>
            <p:nvPr/>
          </p:nvSpPr>
          <p:spPr bwMode="auto">
            <a:xfrm>
              <a:off x="2208" y="177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9701" name="Group 8"/>
          <p:cNvGrpSpPr>
            <a:grpSpLocks/>
          </p:cNvGrpSpPr>
          <p:nvPr/>
        </p:nvGrpSpPr>
        <p:grpSpPr bwMode="auto">
          <a:xfrm>
            <a:off x="9601200" y="2057400"/>
            <a:ext cx="304800" cy="838200"/>
            <a:chOff x="5088" y="1296"/>
            <a:chExt cx="192" cy="528"/>
          </a:xfrm>
        </p:grpSpPr>
        <p:sp>
          <p:nvSpPr>
            <p:cNvPr id="29714" name="Line 9"/>
            <p:cNvSpPr>
              <a:spLocks noChangeShapeType="1"/>
            </p:cNvSpPr>
            <p:nvPr/>
          </p:nvSpPr>
          <p:spPr bwMode="auto">
            <a:xfrm>
              <a:off x="5280" y="1296"/>
              <a:ext cx="0" cy="5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5" name="Line 10"/>
            <p:cNvSpPr>
              <a:spLocks noChangeShapeType="1"/>
            </p:cNvSpPr>
            <p:nvPr/>
          </p:nvSpPr>
          <p:spPr bwMode="auto">
            <a:xfrm flipH="1">
              <a:off x="5088" y="129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6" name="Line 11"/>
            <p:cNvSpPr>
              <a:spLocks noChangeShapeType="1"/>
            </p:cNvSpPr>
            <p:nvPr/>
          </p:nvSpPr>
          <p:spPr bwMode="auto">
            <a:xfrm flipH="1">
              <a:off x="5088" y="1824"/>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9702" name="Rectangle 12"/>
          <p:cNvSpPr>
            <a:spLocks noChangeArrowheads="1"/>
          </p:cNvSpPr>
          <p:nvPr/>
        </p:nvSpPr>
        <p:spPr bwMode="auto">
          <a:xfrm>
            <a:off x="1889126" y="3611564"/>
            <a:ext cx="211275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000" b="1"/>
              <a:t>Speedup</a:t>
            </a:r>
            <a:r>
              <a:rPr lang="en-US" altLang="en-US" sz="2000" b="1" baseline="-25000"/>
              <a:t>overall   </a:t>
            </a:r>
            <a:r>
              <a:rPr lang="en-US" altLang="en-US" sz="2000" b="1"/>
              <a:t>=</a:t>
            </a:r>
          </a:p>
        </p:txBody>
      </p:sp>
      <p:sp>
        <p:nvSpPr>
          <p:cNvPr id="29703" name="Rectangle 13"/>
          <p:cNvSpPr>
            <a:spLocks noChangeArrowheads="1"/>
          </p:cNvSpPr>
          <p:nvPr/>
        </p:nvSpPr>
        <p:spPr bwMode="auto">
          <a:xfrm>
            <a:off x="4022726" y="3417888"/>
            <a:ext cx="1422057" cy="874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nSpc>
                <a:spcPct val="85000"/>
              </a:lnSpc>
              <a:spcBef>
                <a:spcPct val="0"/>
              </a:spcBef>
              <a:buClrTx/>
              <a:buSzTx/>
              <a:buFontTx/>
              <a:buNone/>
            </a:pPr>
            <a:r>
              <a:rPr lang="en-US" altLang="en-US" sz="2000" b="1"/>
              <a:t>ExTime</a:t>
            </a:r>
            <a:r>
              <a:rPr lang="en-US" altLang="en-US" sz="2000" b="1" baseline="-25000"/>
              <a:t>old</a:t>
            </a:r>
            <a:endParaRPr lang="en-US" altLang="en-US" sz="2000" b="1"/>
          </a:p>
          <a:p>
            <a:pPr>
              <a:lnSpc>
                <a:spcPct val="85000"/>
              </a:lnSpc>
              <a:spcBef>
                <a:spcPct val="0"/>
              </a:spcBef>
              <a:buClrTx/>
              <a:buSzTx/>
              <a:buFontTx/>
              <a:buNone/>
            </a:pPr>
            <a:endParaRPr lang="en-US" altLang="en-US" sz="2000" b="1"/>
          </a:p>
          <a:p>
            <a:pPr>
              <a:lnSpc>
                <a:spcPct val="85000"/>
              </a:lnSpc>
              <a:spcBef>
                <a:spcPct val="0"/>
              </a:spcBef>
              <a:buClrTx/>
              <a:buSzTx/>
              <a:buFontTx/>
              <a:buNone/>
            </a:pPr>
            <a:r>
              <a:rPr lang="en-US" altLang="en-US" sz="2000" b="1"/>
              <a:t>ExTime</a:t>
            </a:r>
            <a:r>
              <a:rPr lang="en-US" altLang="en-US" sz="2000" b="1" baseline="-25000"/>
              <a:t>new</a:t>
            </a:r>
          </a:p>
        </p:txBody>
      </p:sp>
      <p:sp>
        <p:nvSpPr>
          <p:cNvPr id="29704" name="Line 14"/>
          <p:cNvSpPr>
            <a:spLocks noChangeShapeType="1"/>
          </p:cNvSpPr>
          <p:nvPr/>
        </p:nvSpPr>
        <p:spPr bwMode="auto">
          <a:xfrm>
            <a:off x="4114800" y="3810000"/>
            <a:ext cx="1295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5" name="Rectangle 15"/>
          <p:cNvSpPr>
            <a:spLocks noChangeArrowheads="1"/>
          </p:cNvSpPr>
          <p:nvPr/>
        </p:nvSpPr>
        <p:spPr bwMode="auto">
          <a:xfrm>
            <a:off x="7680325" y="2468564"/>
            <a:ext cx="20630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000" b="1"/>
              <a:t>Speedup</a:t>
            </a:r>
            <a:r>
              <a:rPr lang="en-US" altLang="en-US" sz="2000" b="1" baseline="-25000"/>
              <a:t>enhanced</a:t>
            </a:r>
          </a:p>
        </p:txBody>
      </p:sp>
      <p:sp>
        <p:nvSpPr>
          <p:cNvPr id="29706" name="Line 16"/>
          <p:cNvSpPr>
            <a:spLocks noChangeShapeType="1"/>
          </p:cNvSpPr>
          <p:nvPr/>
        </p:nvSpPr>
        <p:spPr bwMode="auto">
          <a:xfrm>
            <a:off x="7696200" y="2438400"/>
            <a:ext cx="1905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7" name="Rectangle 17"/>
          <p:cNvSpPr>
            <a:spLocks noChangeArrowheads="1"/>
          </p:cNvSpPr>
          <p:nvPr/>
        </p:nvSpPr>
        <p:spPr bwMode="auto">
          <a:xfrm>
            <a:off x="5394325" y="3611564"/>
            <a:ext cx="33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000" b="1"/>
              <a:t>=</a:t>
            </a:r>
          </a:p>
        </p:txBody>
      </p:sp>
      <p:sp>
        <p:nvSpPr>
          <p:cNvPr id="29708" name="Rectangle 18"/>
          <p:cNvSpPr>
            <a:spLocks noChangeArrowheads="1"/>
          </p:cNvSpPr>
          <p:nvPr/>
        </p:nvSpPr>
        <p:spPr bwMode="auto">
          <a:xfrm>
            <a:off x="7527925" y="3230564"/>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000" b="1"/>
              <a:t>1</a:t>
            </a:r>
          </a:p>
        </p:txBody>
      </p:sp>
      <p:sp>
        <p:nvSpPr>
          <p:cNvPr id="29709" name="Line 19"/>
          <p:cNvSpPr>
            <a:spLocks noChangeShapeType="1"/>
          </p:cNvSpPr>
          <p:nvPr/>
        </p:nvSpPr>
        <p:spPr bwMode="auto">
          <a:xfrm>
            <a:off x="5715000" y="3657600"/>
            <a:ext cx="4495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0" name="Rectangle 20"/>
          <p:cNvSpPr>
            <a:spLocks noChangeArrowheads="1"/>
          </p:cNvSpPr>
          <p:nvPr/>
        </p:nvSpPr>
        <p:spPr bwMode="auto">
          <a:xfrm>
            <a:off x="5699126" y="3763964"/>
            <a:ext cx="469519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000" b="1" dirty="0"/>
              <a:t>(1 - </a:t>
            </a:r>
            <a:r>
              <a:rPr lang="en-US" altLang="en-US" sz="2000" b="1" dirty="0" err="1"/>
              <a:t>Fraction</a:t>
            </a:r>
            <a:r>
              <a:rPr lang="en-US" altLang="en-US" sz="2000" b="1" baseline="-25000" dirty="0" err="1"/>
              <a:t>enhanced</a:t>
            </a:r>
            <a:r>
              <a:rPr lang="en-US" altLang="en-US" sz="2000" b="1" dirty="0"/>
              <a:t>) +  </a:t>
            </a:r>
            <a:r>
              <a:rPr lang="en-US" altLang="en-US" sz="2000" b="1" dirty="0" err="1"/>
              <a:t>Fraction</a:t>
            </a:r>
            <a:r>
              <a:rPr lang="en-US" altLang="en-US" sz="2000" b="1" baseline="-25000" dirty="0" err="1"/>
              <a:t>enhanced</a:t>
            </a:r>
            <a:endParaRPr lang="en-US" altLang="en-US" sz="2000" b="1" baseline="-25000" dirty="0"/>
          </a:p>
        </p:txBody>
      </p:sp>
      <p:sp>
        <p:nvSpPr>
          <p:cNvPr id="29711" name="Rectangle 21"/>
          <p:cNvSpPr>
            <a:spLocks noChangeArrowheads="1"/>
          </p:cNvSpPr>
          <p:nvPr/>
        </p:nvSpPr>
        <p:spPr bwMode="auto">
          <a:xfrm>
            <a:off x="8289925" y="4221164"/>
            <a:ext cx="20630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000" b="1"/>
              <a:t>Speedup</a:t>
            </a:r>
            <a:r>
              <a:rPr lang="en-US" altLang="en-US" sz="2000" b="1" baseline="-25000"/>
              <a:t>enhanced</a:t>
            </a:r>
          </a:p>
        </p:txBody>
      </p:sp>
      <p:sp>
        <p:nvSpPr>
          <p:cNvPr id="29712" name="Line 22"/>
          <p:cNvSpPr>
            <a:spLocks noChangeShapeType="1"/>
          </p:cNvSpPr>
          <p:nvPr/>
        </p:nvSpPr>
        <p:spPr bwMode="auto">
          <a:xfrm>
            <a:off x="8305800" y="4191000"/>
            <a:ext cx="1905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Slide Number Placeholder 1"/>
          <p:cNvSpPr>
            <a:spLocks noGrp="1"/>
          </p:cNvSpPr>
          <p:nvPr>
            <p:ph type="sldNum" sz="quarter" idx="12"/>
          </p:nvPr>
        </p:nvSpPr>
        <p:spPr/>
        <p:txBody>
          <a:bodyPr/>
          <a:lstStyle/>
          <a:p>
            <a:pPr>
              <a:defRPr/>
            </a:pPr>
            <a:fld id="{019FCEB5-41FA-4155-9044-D0A38F4412A4}" type="slidenum">
              <a:rPr lang="en-US" altLang="en-US"/>
              <a:pPr>
                <a:defRPr/>
              </a:pPr>
              <a:t>30</a:t>
            </a:fld>
            <a:endParaRPr lang="en-US" altLang="en-US"/>
          </a:p>
        </p:txBody>
      </p:sp>
    </p:spTree>
    <p:extLst>
      <p:ext uri="{BB962C8B-B14F-4D97-AF65-F5344CB8AC3E}">
        <p14:creationId xmlns:p14="http://schemas.microsoft.com/office/powerpoint/2010/main" val="90912191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vert="horz" lIns="90488" tIns="44450" rIns="90488" bIns="44450" rtlCol="0" anchor="ctr">
            <a:normAutofit/>
          </a:bodyPr>
          <a:lstStyle/>
          <a:p>
            <a:pPr eaLnBrk="1" hangingPunct="1">
              <a:defRPr/>
            </a:pPr>
            <a:r>
              <a:rPr lang="en-US"/>
              <a:t>Amdahl’s Law</a:t>
            </a:r>
          </a:p>
        </p:txBody>
      </p:sp>
      <p:sp>
        <p:nvSpPr>
          <p:cNvPr id="458755" name="Rectangle 3"/>
          <p:cNvSpPr>
            <a:spLocks noGrp="1" noChangeArrowheads="1"/>
          </p:cNvSpPr>
          <p:nvPr>
            <p:ph type="body" idx="1"/>
          </p:nvPr>
        </p:nvSpPr>
        <p:spPr>
          <a:xfrm>
            <a:off x="2514600" y="1981200"/>
            <a:ext cx="7620000" cy="838200"/>
          </a:xfrm>
        </p:spPr>
        <p:txBody>
          <a:bodyPr vert="horz" lIns="90488" tIns="44450" rIns="90488" bIns="44450" rtlCol="0">
            <a:normAutofit lnSpcReduction="10000"/>
          </a:bodyPr>
          <a:lstStyle/>
          <a:p>
            <a:pPr eaLnBrk="1" hangingPunct="1">
              <a:defRPr/>
            </a:pPr>
            <a:r>
              <a:rPr lang="en-US" dirty="0"/>
              <a:t>Floating point instructions improved to run 2X; but only 10% of actual instructions are FP</a:t>
            </a:r>
          </a:p>
        </p:txBody>
      </p:sp>
      <p:sp>
        <p:nvSpPr>
          <p:cNvPr id="30724" name="Rectangle 4"/>
          <p:cNvSpPr>
            <a:spLocks noChangeArrowheads="1"/>
          </p:cNvSpPr>
          <p:nvPr/>
        </p:nvSpPr>
        <p:spPr bwMode="auto">
          <a:xfrm>
            <a:off x="2498725" y="4251325"/>
            <a:ext cx="212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400" b="1"/>
              <a:t>Speedup</a:t>
            </a:r>
            <a:r>
              <a:rPr lang="en-US" altLang="en-US" sz="2400" b="1" baseline="-25000"/>
              <a:t>overall</a:t>
            </a:r>
          </a:p>
        </p:txBody>
      </p:sp>
      <p:sp>
        <p:nvSpPr>
          <p:cNvPr id="30725" name="Rectangle 5"/>
          <p:cNvSpPr>
            <a:spLocks noChangeArrowheads="1"/>
          </p:cNvSpPr>
          <p:nvPr/>
        </p:nvSpPr>
        <p:spPr bwMode="auto">
          <a:xfrm>
            <a:off x="4632325" y="4251325"/>
            <a:ext cx="36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400" b="1"/>
              <a:t>=</a:t>
            </a:r>
          </a:p>
        </p:txBody>
      </p:sp>
      <p:sp>
        <p:nvSpPr>
          <p:cNvPr id="30726" name="Rectangle 6"/>
          <p:cNvSpPr>
            <a:spLocks noChangeArrowheads="1"/>
          </p:cNvSpPr>
          <p:nvPr/>
        </p:nvSpPr>
        <p:spPr bwMode="auto">
          <a:xfrm>
            <a:off x="2193926" y="3413125"/>
            <a:ext cx="185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400" b="1"/>
              <a:t>ExTime</a:t>
            </a:r>
            <a:r>
              <a:rPr lang="en-US" altLang="en-US" sz="2400" b="1" baseline="-25000"/>
              <a:t>new</a:t>
            </a:r>
            <a:r>
              <a:rPr lang="en-US" altLang="en-US" sz="2000" b="1" baseline="-25000"/>
              <a:t> </a:t>
            </a:r>
            <a:r>
              <a:rPr lang="en-US" altLang="en-US" sz="2000" b="1"/>
              <a:t>=</a:t>
            </a:r>
          </a:p>
        </p:txBody>
      </p:sp>
      <p:sp>
        <p:nvSpPr>
          <p:cNvPr id="2" name="Slide Number Placeholder 1"/>
          <p:cNvSpPr>
            <a:spLocks noGrp="1"/>
          </p:cNvSpPr>
          <p:nvPr>
            <p:ph type="sldNum" sz="quarter" idx="12"/>
          </p:nvPr>
        </p:nvSpPr>
        <p:spPr/>
        <p:txBody>
          <a:bodyPr/>
          <a:lstStyle/>
          <a:p>
            <a:pPr>
              <a:defRPr/>
            </a:pPr>
            <a:fld id="{6E4D6F8B-B00B-4EED-B96B-D91C231A1DAD}" type="slidenum">
              <a:rPr lang="en-US" altLang="en-US"/>
              <a:pPr>
                <a:defRPr/>
              </a:pPr>
              <a:t>31</a:t>
            </a:fld>
            <a:endParaRPr lang="en-US" altLang="en-US"/>
          </a:p>
        </p:txBody>
      </p:sp>
    </p:spTree>
    <p:extLst>
      <p:ext uri="{BB962C8B-B14F-4D97-AF65-F5344CB8AC3E}">
        <p14:creationId xmlns:p14="http://schemas.microsoft.com/office/powerpoint/2010/main" val="163521612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p:txBody>
          <a:bodyPr vert="horz" lIns="90488" tIns="44450" rIns="90488" bIns="44450" rtlCol="0" anchor="ctr">
            <a:normAutofit/>
          </a:bodyPr>
          <a:lstStyle/>
          <a:p>
            <a:pPr eaLnBrk="1" hangingPunct="1">
              <a:defRPr/>
            </a:pPr>
            <a:r>
              <a:rPr lang="en-US"/>
              <a:t>Amdahl’s Law</a:t>
            </a:r>
          </a:p>
        </p:txBody>
      </p:sp>
      <p:sp>
        <p:nvSpPr>
          <p:cNvPr id="459779" name="Rectangle 3"/>
          <p:cNvSpPr>
            <a:spLocks noGrp="1" noChangeArrowheads="1"/>
          </p:cNvSpPr>
          <p:nvPr>
            <p:ph type="body" idx="1"/>
          </p:nvPr>
        </p:nvSpPr>
        <p:spPr>
          <a:xfrm>
            <a:off x="2514600" y="1981200"/>
            <a:ext cx="7620000" cy="838200"/>
          </a:xfrm>
        </p:spPr>
        <p:txBody>
          <a:bodyPr vert="horz" lIns="90488" tIns="44450" rIns="90488" bIns="44450" rtlCol="0">
            <a:normAutofit lnSpcReduction="10000"/>
          </a:bodyPr>
          <a:lstStyle/>
          <a:p>
            <a:pPr eaLnBrk="1" hangingPunct="1">
              <a:defRPr/>
            </a:pPr>
            <a:r>
              <a:rPr lang="en-US"/>
              <a:t>Floating point instructions improved to run 2X; but only 10% of actual instructions are FP</a:t>
            </a:r>
          </a:p>
        </p:txBody>
      </p:sp>
      <p:sp>
        <p:nvSpPr>
          <p:cNvPr id="31748" name="Rectangle 4"/>
          <p:cNvSpPr>
            <a:spLocks noChangeArrowheads="1"/>
          </p:cNvSpPr>
          <p:nvPr/>
        </p:nvSpPr>
        <p:spPr bwMode="auto">
          <a:xfrm>
            <a:off x="2498725" y="4251325"/>
            <a:ext cx="212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400" b="1"/>
              <a:t>Speedup</a:t>
            </a:r>
            <a:r>
              <a:rPr lang="en-US" altLang="en-US" sz="2400" b="1" baseline="-25000"/>
              <a:t>overall</a:t>
            </a:r>
          </a:p>
        </p:txBody>
      </p:sp>
      <p:sp>
        <p:nvSpPr>
          <p:cNvPr id="31749" name="Rectangle 5"/>
          <p:cNvSpPr>
            <a:spLocks noChangeArrowheads="1"/>
          </p:cNvSpPr>
          <p:nvPr/>
        </p:nvSpPr>
        <p:spPr bwMode="auto">
          <a:xfrm>
            <a:off x="4632325" y="4251325"/>
            <a:ext cx="36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400" b="1"/>
              <a:t>=</a:t>
            </a:r>
          </a:p>
        </p:txBody>
      </p:sp>
      <p:sp>
        <p:nvSpPr>
          <p:cNvPr id="31750" name="Rectangle 6"/>
          <p:cNvSpPr>
            <a:spLocks noChangeArrowheads="1"/>
          </p:cNvSpPr>
          <p:nvPr/>
        </p:nvSpPr>
        <p:spPr bwMode="auto">
          <a:xfrm>
            <a:off x="6156326" y="4098925"/>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400" b="1"/>
              <a:t>1</a:t>
            </a:r>
          </a:p>
        </p:txBody>
      </p:sp>
      <p:sp>
        <p:nvSpPr>
          <p:cNvPr id="31751" name="Line 7"/>
          <p:cNvSpPr>
            <a:spLocks noChangeShapeType="1"/>
          </p:cNvSpPr>
          <p:nvPr/>
        </p:nvSpPr>
        <p:spPr bwMode="auto">
          <a:xfrm>
            <a:off x="5867400" y="4495800"/>
            <a:ext cx="914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2" name="Rectangle 8"/>
          <p:cNvSpPr>
            <a:spLocks noChangeArrowheads="1"/>
          </p:cNvSpPr>
          <p:nvPr/>
        </p:nvSpPr>
        <p:spPr bwMode="auto">
          <a:xfrm>
            <a:off x="5927726" y="4556125"/>
            <a:ext cx="777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400" b="1"/>
              <a:t>0.95</a:t>
            </a:r>
          </a:p>
        </p:txBody>
      </p:sp>
      <p:sp>
        <p:nvSpPr>
          <p:cNvPr id="31753" name="Rectangle 9"/>
          <p:cNvSpPr>
            <a:spLocks noChangeArrowheads="1"/>
          </p:cNvSpPr>
          <p:nvPr/>
        </p:nvSpPr>
        <p:spPr bwMode="auto">
          <a:xfrm>
            <a:off x="7832725" y="4251325"/>
            <a:ext cx="36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400" b="1"/>
              <a:t>=</a:t>
            </a:r>
          </a:p>
        </p:txBody>
      </p:sp>
      <p:sp>
        <p:nvSpPr>
          <p:cNvPr id="31754" name="Rectangle 10"/>
          <p:cNvSpPr>
            <a:spLocks noChangeArrowheads="1"/>
          </p:cNvSpPr>
          <p:nvPr/>
        </p:nvSpPr>
        <p:spPr bwMode="auto">
          <a:xfrm>
            <a:off x="8366125" y="4251325"/>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400" b="1"/>
              <a:t>1.053</a:t>
            </a:r>
          </a:p>
        </p:txBody>
      </p:sp>
      <p:sp>
        <p:nvSpPr>
          <p:cNvPr id="31755" name="Rectangle 11"/>
          <p:cNvSpPr>
            <a:spLocks noChangeArrowheads="1"/>
          </p:cNvSpPr>
          <p:nvPr/>
        </p:nvSpPr>
        <p:spPr bwMode="auto">
          <a:xfrm>
            <a:off x="2193925" y="3413125"/>
            <a:ext cx="797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400" b="1"/>
              <a:t>ExTime</a:t>
            </a:r>
            <a:r>
              <a:rPr lang="en-US" altLang="en-US" sz="2400" b="1" baseline="-25000"/>
              <a:t>new</a:t>
            </a:r>
            <a:r>
              <a:rPr lang="en-US" altLang="en-US" sz="2000" b="1" baseline="-25000"/>
              <a:t> </a:t>
            </a:r>
            <a:r>
              <a:rPr lang="en-US" altLang="en-US" sz="2000" b="1"/>
              <a:t>= </a:t>
            </a:r>
            <a:r>
              <a:rPr lang="en-US" altLang="en-US" sz="2400" b="1"/>
              <a:t>ExTime</a:t>
            </a:r>
            <a:r>
              <a:rPr lang="en-US" altLang="en-US" sz="2400" b="1" baseline="-25000"/>
              <a:t>old</a:t>
            </a:r>
            <a:r>
              <a:rPr lang="en-US" altLang="en-US" sz="2400" b="1"/>
              <a:t> x  (0.9 +  .1/2) = 0.95 x ExTime</a:t>
            </a:r>
            <a:r>
              <a:rPr lang="en-US" altLang="en-US" sz="2400" b="1" baseline="-25000"/>
              <a:t>old</a:t>
            </a:r>
          </a:p>
        </p:txBody>
      </p:sp>
      <p:sp>
        <p:nvSpPr>
          <p:cNvPr id="2" name="Slide Number Placeholder 1"/>
          <p:cNvSpPr>
            <a:spLocks noGrp="1"/>
          </p:cNvSpPr>
          <p:nvPr>
            <p:ph type="sldNum" sz="quarter" idx="12"/>
          </p:nvPr>
        </p:nvSpPr>
        <p:spPr/>
        <p:txBody>
          <a:bodyPr/>
          <a:lstStyle/>
          <a:p>
            <a:pPr>
              <a:defRPr/>
            </a:pPr>
            <a:fld id="{433C5632-46DC-4B42-9156-84C8D9D1EB8D}" type="slidenum">
              <a:rPr lang="en-US" altLang="en-US"/>
              <a:pPr>
                <a:defRPr/>
              </a:pPr>
              <a:t>32</a:t>
            </a:fld>
            <a:endParaRPr lang="en-US" altLang="en-US"/>
          </a:p>
        </p:txBody>
      </p:sp>
    </p:spTree>
    <p:extLst>
      <p:ext uri="{BB962C8B-B14F-4D97-AF65-F5344CB8AC3E}">
        <p14:creationId xmlns:p14="http://schemas.microsoft.com/office/powerpoint/2010/main" val="253036179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Amdahl’s Law</a:t>
            </a:r>
            <a:endParaRPr lang="en-GB" dirty="0"/>
          </a:p>
        </p:txBody>
      </p:sp>
      <p:sp>
        <p:nvSpPr>
          <p:cNvPr id="3" name="Content Placeholder 2"/>
          <p:cNvSpPr>
            <a:spLocks noGrp="1"/>
          </p:cNvSpPr>
          <p:nvPr>
            <p:ph idx="1"/>
          </p:nvPr>
        </p:nvSpPr>
        <p:spPr/>
        <p:txBody>
          <a:bodyPr/>
          <a:lstStyle/>
          <a:p>
            <a:pPr eaLnBrk="1" hangingPunct="1">
              <a:spcBef>
                <a:spcPct val="0"/>
              </a:spcBef>
              <a:spcAft>
                <a:spcPct val="10000"/>
              </a:spcAft>
              <a:buFontTx/>
              <a:buNone/>
              <a:defRPr/>
            </a:pPr>
            <a:r>
              <a:rPr lang="en-US" altLang="en-US" sz="2400" dirty="0">
                <a:cs typeface="Times New Roman" panose="02020603050405020304" pitchFamily="18" charset="0"/>
              </a:rPr>
              <a:t>A processor spends 30% of its time on addition, 25% on </a:t>
            </a:r>
            <a:r>
              <a:rPr lang="en-US" altLang="en-US" sz="2400" dirty="0" err="1">
                <a:cs typeface="Times New Roman" panose="02020603050405020304" pitchFamily="18" charset="0"/>
              </a:rPr>
              <a:t>mult</a:t>
            </a:r>
            <a:r>
              <a:rPr lang="en-US" altLang="en-US" sz="2400" dirty="0">
                <a:cs typeface="Times New Roman" panose="02020603050405020304" pitchFamily="18" charset="0"/>
              </a:rPr>
              <a:t>, and 10% on division. Evaluate the following enhancements, each costing the same to implement:</a:t>
            </a:r>
          </a:p>
          <a:p>
            <a:pPr eaLnBrk="1" hangingPunct="1">
              <a:spcBef>
                <a:spcPct val="0"/>
              </a:spcBef>
              <a:spcAft>
                <a:spcPct val="10000"/>
              </a:spcAft>
              <a:buFontTx/>
              <a:buAutoNum type="alphaLcPeriod"/>
              <a:defRPr/>
            </a:pPr>
            <a:r>
              <a:rPr lang="en-US" altLang="en-US" sz="2400" dirty="0">
                <a:cs typeface="Times New Roman" panose="02020603050405020304" pitchFamily="18" charset="0"/>
              </a:rPr>
              <a:t>Redesign of the adder to make it twice as fast.</a:t>
            </a:r>
          </a:p>
          <a:p>
            <a:pPr eaLnBrk="1" hangingPunct="1">
              <a:spcBef>
                <a:spcPct val="0"/>
              </a:spcBef>
              <a:spcAft>
                <a:spcPct val="10000"/>
              </a:spcAft>
              <a:buFontTx/>
              <a:buAutoNum type="alphaLcPeriod"/>
              <a:defRPr/>
            </a:pPr>
            <a:r>
              <a:rPr lang="en-US" altLang="en-US" sz="2400" dirty="0"/>
              <a:t>Redesign of the multiplier to make it three times as fast.</a:t>
            </a:r>
          </a:p>
          <a:p>
            <a:pPr eaLnBrk="1" hangingPunct="1">
              <a:spcBef>
                <a:spcPct val="0"/>
              </a:spcBef>
              <a:spcAft>
                <a:spcPct val="10000"/>
              </a:spcAft>
              <a:buFontTx/>
              <a:buAutoNum type="alphaLcPeriod"/>
              <a:defRPr/>
            </a:pPr>
            <a:r>
              <a:rPr lang="en-US" altLang="en-US" sz="2400" dirty="0"/>
              <a:t>Redesign the divider to make it 10 times as fast.</a:t>
            </a:r>
          </a:p>
          <a:p>
            <a:pPr eaLnBrk="1" hangingPunct="1">
              <a:spcBef>
                <a:spcPct val="0"/>
              </a:spcBef>
              <a:spcAft>
                <a:spcPct val="10000"/>
              </a:spcAft>
              <a:buFontTx/>
              <a:buNone/>
              <a:defRPr/>
            </a:pPr>
            <a:endParaRPr lang="en-US" altLang="en-US" sz="1400" dirty="0">
              <a:cs typeface="Times New Roman" panose="02020603050405020304" pitchFamily="18" charset="0"/>
            </a:endParaRPr>
          </a:p>
          <a:p>
            <a:pPr eaLnBrk="1" hangingPunct="1">
              <a:spcBef>
                <a:spcPct val="0"/>
              </a:spcBef>
              <a:spcAft>
                <a:spcPct val="10000"/>
              </a:spcAft>
              <a:buFontTx/>
              <a:buNone/>
              <a:defRPr/>
            </a:pPr>
            <a:r>
              <a:rPr lang="en-US" altLang="en-US" sz="2400" b="1" dirty="0">
                <a:solidFill>
                  <a:srgbClr val="FF0000"/>
                </a:solidFill>
                <a:cs typeface="Times New Roman" panose="02020603050405020304" pitchFamily="18" charset="0"/>
              </a:rPr>
              <a:t>Solution</a:t>
            </a:r>
            <a:r>
              <a:rPr lang="en-US" altLang="en-US" sz="2400" dirty="0">
                <a:solidFill>
                  <a:srgbClr val="000000"/>
                </a:solidFill>
                <a:cs typeface="Times New Roman" panose="02020603050405020304" pitchFamily="18" charset="0"/>
              </a:rPr>
              <a:t> </a:t>
            </a:r>
          </a:p>
          <a:p>
            <a:pPr eaLnBrk="1" hangingPunct="1">
              <a:spcBef>
                <a:spcPct val="0"/>
              </a:spcBef>
              <a:spcAft>
                <a:spcPct val="10000"/>
              </a:spcAft>
              <a:buFontTx/>
              <a:buNone/>
              <a:defRPr/>
            </a:pPr>
            <a:endParaRPr lang="en-US" altLang="en-US" sz="1400" dirty="0">
              <a:cs typeface="Times New Roman" panose="02020603050405020304" pitchFamily="18" charset="0"/>
            </a:endParaRPr>
          </a:p>
          <a:p>
            <a:pPr eaLnBrk="1" hangingPunct="1">
              <a:spcBef>
                <a:spcPct val="0"/>
              </a:spcBef>
              <a:spcAft>
                <a:spcPct val="10000"/>
              </a:spcAft>
              <a:buFontTx/>
              <a:buAutoNum type="alphaLcPeriod"/>
              <a:defRPr/>
            </a:pPr>
            <a:r>
              <a:rPr lang="en-US" altLang="en-US" sz="2400" dirty="0">
                <a:cs typeface="Times New Roman" panose="02020603050405020304" pitchFamily="18" charset="0"/>
              </a:rPr>
              <a:t>Adder redesign speedup = 1 / [0.7 + 0.3 / 2] = 1.18</a:t>
            </a:r>
          </a:p>
          <a:p>
            <a:pPr eaLnBrk="1" hangingPunct="1">
              <a:spcBef>
                <a:spcPct val="0"/>
              </a:spcBef>
              <a:spcAft>
                <a:spcPct val="10000"/>
              </a:spcAft>
              <a:buFontTx/>
              <a:buAutoNum type="alphaLcPeriod"/>
              <a:defRPr/>
            </a:pPr>
            <a:r>
              <a:rPr lang="en-US" altLang="en-US" sz="2400" dirty="0">
                <a:cs typeface="Times New Roman" panose="02020603050405020304" pitchFamily="18" charset="0"/>
              </a:rPr>
              <a:t>Multiplier redesign speedup = 1 / [0.75 + 0.25 / 3] = 1.20</a:t>
            </a:r>
            <a:endParaRPr lang="en-US" altLang="en-US" sz="2400" dirty="0"/>
          </a:p>
          <a:p>
            <a:pPr eaLnBrk="1" hangingPunct="1">
              <a:spcBef>
                <a:spcPct val="0"/>
              </a:spcBef>
              <a:spcAft>
                <a:spcPct val="10000"/>
              </a:spcAft>
              <a:buFontTx/>
              <a:buAutoNum type="alphaLcPeriod"/>
              <a:defRPr/>
            </a:pPr>
            <a:r>
              <a:rPr lang="en-US" altLang="en-US" sz="2400" dirty="0">
                <a:cs typeface="Times New Roman" panose="02020603050405020304" pitchFamily="18" charset="0"/>
              </a:rPr>
              <a:t>Divider redesign speedup = 1 / [0.9 + 0.1 / 10] = 1.10</a:t>
            </a:r>
            <a:endParaRPr lang="en-US" altLang="en-US" sz="2400" dirty="0"/>
          </a:p>
          <a:p>
            <a:pPr>
              <a:defRPr/>
            </a:pPr>
            <a:endParaRPr lang="en-GB" sz="2400" dirty="0"/>
          </a:p>
        </p:txBody>
      </p:sp>
      <p:pic>
        <p:nvPicPr>
          <p:cNvPr id="3277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6424" y="3606006"/>
            <a:ext cx="417671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387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Date Placeholder 3"/>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r>
              <a:rPr lang="en-US" altLang="en-US" sz="1200"/>
              <a:t>Oct. 2014</a:t>
            </a:r>
          </a:p>
        </p:txBody>
      </p:sp>
      <p:sp>
        <p:nvSpPr>
          <p:cNvPr id="16" name="Footer Placeholder 4"/>
          <p:cNvSpPr>
            <a:spLocks noGrp="1"/>
          </p:cNvSpPr>
          <p:nvPr>
            <p:ph type="ftr" sz="quarter" idx="11"/>
          </p:nvPr>
        </p:nvSpPr>
        <p:spPr/>
        <p:txBody>
          <a:bodyPr/>
          <a:lstStyle/>
          <a:p>
            <a:pPr>
              <a:defRPr/>
            </a:pPr>
            <a:r>
              <a:rPr lang="en-US"/>
              <a:t>Computer Architecture, Background and Motivation</a:t>
            </a:r>
          </a:p>
        </p:txBody>
      </p:sp>
      <p:sp>
        <p:nvSpPr>
          <p:cNvPr id="80900"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r>
              <a:rPr lang="en-US" altLang="en-US" sz="1200"/>
              <a:t>Slide </a:t>
            </a:r>
            <a:fld id="{1B9BDDB8-E47D-4E3D-88A0-75F611A4F679}" type="slidenum">
              <a:rPr lang="en-US" altLang="en-US" sz="1200"/>
              <a:pPr eaLnBrk="1" hangingPunct="1">
                <a:spcBef>
                  <a:spcPct val="0"/>
                </a:spcBef>
                <a:buFontTx/>
                <a:buNone/>
                <a:defRPr/>
              </a:pPr>
              <a:t>34</a:t>
            </a:fld>
            <a:endParaRPr lang="en-US" altLang="en-US" sz="1200"/>
          </a:p>
        </p:txBody>
      </p:sp>
      <p:sp>
        <p:nvSpPr>
          <p:cNvPr id="33797" name="Rectangle 2"/>
          <p:cNvSpPr>
            <a:spLocks noChangeArrowheads="1"/>
          </p:cNvSpPr>
          <p:nvPr/>
        </p:nvSpPr>
        <p:spPr bwMode="auto">
          <a:xfrm>
            <a:off x="1524000" y="6159501"/>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just" eaLnBrk="1" hangingPunct="1">
              <a:spcBef>
                <a:spcPct val="0"/>
              </a:spcBef>
              <a:buClrTx/>
              <a:buSzTx/>
              <a:buFontTx/>
              <a:buNone/>
            </a:pPr>
            <a:r>
              <a:rPr lang="en-US" altLang="en-US" sz="1200">
                <a:solidFill>
                  <a:srgbClr val="000000"/>
                </a:solidFill>
                <a:latin typeface="Times New Roman" panose="02020603050405020304" pitchFamily="18" charset="0"/>
                <a:cs typeface="Times New Roman" panose="02020603050405020304" pitchFamily="18" charset="0"/>
              </a:rPr>
              <a:t> </a:t>
            </a:r>
          </a:p>
          <a:p>
            <a:pPr>
              <a:spcBef>
                <a:spcPct val="0"/>
              </a:spcBef>
              <a:buClrTx/>
              <a:buSzTx/>
              <a:buFontTx/>
              <a:buNone/>
            </a:pPr>
            <a:endParaRPr lang="en-US" altLang="en-US" sz="2400">
              <a:latin typeface="Times New Roman" panose="02020603050405020304" pitchFamily="18" charset="0"/>
            </a:endParaRPr>
          </a:p>
        </p:txBody>
      </p:sp>
      <p:sp>
        <p:nvSpPr>
          <p:cNvPr id="80902" name="Rectangle 3"/>
          <p:cNvSpPr>
            <a:spLocks noGrp="1" noChangeArrowheads="1"/>
          </p:cNvSpPr>
          <p:nvPr>
            <p:ph type="title"/>
          </p:nvPr>
        </p:nvSpPr>
        <p:spPr>
          <a:xfrm>
            <a:off x="2209800" y="304800"/>
            <a:ext cx="7772400" cy="685800"/>
          </a:xfrm>
        </p:spPr>
        <p:txBody>
          <a:bodyPr/>
          <a:lstStyle/>
          <a:p>
            <a:pPr eaLnBrk="1" hangingPunct="1">
              <a:defRPr/>
            </a:pPr>
            <a:r>
              <a:rPr lang="en-US" altLang="en-US" sz="2800"/>
              <a:t>Generalized Amdahl’s Law</a:t>
            </a:r>
          </a:p>
        </p:txBody>
      </p:sp>
      <p:sp>
        <p:nvSpPr>
          <p:cNvPr id="33799" name="Text Box 4"/>
          <p:cNvSpPr txBox="1">
            <a:spLocks noChangeArrowheads="1"/>
          </p:cNvSpPr>
          <p:nvPr/>
        </p:nvSpPr>
        <p:spPr bwMode="auto">
          <a:xfrm>
            <a:off x="2286000" y="1219200"/>
            <a:ext cx="75438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spcAft>
                <a:spcPct val="10000"/>
              </a:spcAft>
              <a:buClrTx/>
              <a:buSzTx/>
              <a:buFontTx/>
              <a:buNone/>
            </a:pPr>
            <a:r>
              <a:rPr lang="en-US" altLang="en-US" sz="2000" dirty="0">
                <a:cs typeface="Times New Roman" panose="02020603050405020304" pitchFamily="18" charset="0"/>
              </a:rPr>
              <a:t>Original running time of a program = 1 = </a:t>
            </a:r>
            <a:r>
              <a:rPr lang="en-US" altLang="en-US" sz="2000" i="1" dirty="0">
                <a:cs typeface="Times New Roman" panose="02020603050405020304" pitchFamily="18" charset="0"/>
              </a:rPr>
              <a:t>f</a:t>
            </a:r>
            <a:r>
              <a:rPr lang="en-US" altLang="en-US" sz="2000" baseline="-25000" dirty="0">
                <a:cs typeface="Times New Roman" panose="02020603050405020304" pitchFamily="18" charset="0"/>
              </a:rPr>
              <a:t>1</a:t>
            </a:r>
            <a:r>
              <a:rPr lang="en-US" altLang="en-US" sz="2000" dirty="0">
                <a:cs typeface="Times New Roman" panose="02020603050405020304" pitchFamily="18" charset="0"/>
              </a:rPr>
              <a:t> + </a:t>
            </a:r>
            <a:r>
              <a:rPr lang="en-US" altLang="en-US" sz="2000" i="1" dirty="0">
                <a:cs typeface="Times New Roman" panose="02020603050405020304" pitchFamily="18" charset="0"/>
              </a:rPr>
              <a:t>f</a:t>
            </a:r>
            <a:r>
              <a:rPr lang="en-US" altLang="en-US" sz="2000" baseline="-25000" dirty="0">
                <a:cs typeface="Times New Roman" panose="02020603050405020304" pitchFamily="18" charset="0"/>
              </a:rPr>
              <a:t>2</a:t>
            </a:r>
            <a:r>
              <a:rPr lang="en-US" altLang="en-US" sz="2000" dirty="0">
                <a:cs typeface="Times New Roman" panose="02020603050405020304" pitchFamily="18" charset="0"/>
              </a:rPr>
              <a:t> + . . . + </a:t>
            </a:r>
            <a:r>
              <a:rPr lang="en-US" altLang="en-US" sz="2000" i="1" dirty="0" err="1">
                <a:cs typeface="Times New Roman" panose="02020603050405020304" pitchFamily="18" charset="0"/>
              </a:rPr>
              <a:t>f</a:t>
            </a:r>
            <a:r>
              <a:rPr lang="en-US" altLang="en-US" sz="2000" i="1" baseline="-25000" dirty="0" err="1">
                <a:cs typeface="Times New Roman" panose="02020603050405020304" pitchFamily="18" charset="0"/>
              </a:rPr>
              <a:t>k</a:t>
            </a:r>
            <a:endParaRPr lang="en-US" altLang="en-US" sz="2000" dirty="0">
              <a:cs typeface="Times New Roman" panose="02020603050405020304" pitchFamily="18" charset="0"/>
            </a:endParaRPr>
          </a:p>
          <a:p>
            <a:pPr eaLnBrk="1" hangingPunct="1">
              <a:spcBef>
                <a:spcPct val="0"/>
              </a:spcBef>
              <a:spcAft>
                <a:spcPct val="10000"/>
              </a:spcAft>
              <a:buClrTx/>
              <a:buSzTx/>
              <a:buFontTx/>
              <a:buNone/>
            </a:pPr>
            <a:endParaRPr lang="en-US" altLang="en-US" sz="1200" dirty="0">
              <a:cs typeface="Times New Roman" panose="02020603050405020304" pitchFamily="18" charset="0"/>
            </a:endParaRPr>
          </a:p>
          <a:p>
            <a:pPr eaLnBrk="1" hangingPunct="1">
              <a:spcBef>
                <a:spcPct val="0"/>
              </a:spcBef>
              <a:spcAft>
                <a:spcPct val="10000"/>
              </a:spcAft>
              <a:buClrTx/>
              <a:buSzTx/>
              <a:buFontTx/>
              <a:buNone/>
            </a:pPr>
            <a:r>
              <a:rPr lang="en-US" altLang="en-US" sz="2000" dirty="0">
                <a:cs typeface="Times New Roman" panose="02020603050405020304" pitchFamily="18" charset="0"/>
              </a:rPr>
              <a:t>New running time after the fraction </a:t>
            </a:r>
            <a:r>
              <a:rPr lang="en-US" altLang="en-US" sz="2000" i="1" dirty="0">
                <a:cs typeface="Times New Roman" panose="02020603050405020304" pitchFamily="18" charset="0"/>
              </a:rPr>
              <a:t>f</a:t>
            </a:r>
            <a:r>
              <a:rPr lang="en-US" altLang="en-US" sz="2000" i="1" baseline="-25000" dirty="0">
                <a:cs typeface="Times New Roman" panose="02020603050405020304" pitchFamily="18" charset="0"/>
              </a:rPr>
              <a:t>i</a:t>
            </a:r>
            <a:r>
              <a:rPr lang="en-US" altLang="en-US" sz="2000" dirty="0">
                <a:cs typeface="Times New Roman" panose="02020603050405020304" pitchFamily="18" charset="0"/>
              </a:rPr>
              <a:t> is speeded up by a factor </a:t>
            </a:r>
            <a:r>
              <a:rPr lang="en-US" altLang="en-US" sz="2000" i="1" dirty="0">
                <a:cs typeface="Times New Roman" panose="02020603050405020304" pitchFamily="18" charset="0"/>
              </a:rPr>
              <a:t>p</a:t>
            </a:r>
            <a:r>
              <a:rPr lang="en-US" altLang="en-US" sz="2000" i="1" baseline="-25000" dirty="0">
                <a:cs typeface="Times New Roman" panose="02020603050405020304" pitchFamily="18" charset="0"/>
              </a:rPr>
              <a:t>i</a:t>
            </a:r>
            <a:r>
              <a:rPr lang="en-US" altLang="en-US" sz="2000" dirty="0">
                <a:cs typeface="Times New Roman" panose="02020603050405020304" pitchFamily="18" charset="0"/>
              </a:rPr>
              <a:t> </a:t>
            </a:r>
          </a:p>
          <a:p>
            <a:pPr eaLnBrk="1" hangingPunct="1">
              <a:spcBef>
                <a:spcPct val="0"/>
              </a:spcBef>
              <a:spcAft>
                <a:spcPct val="10000"/>
              </a:spcAft>
              <a:buClrTx/>
              <a:buSzTx/>
              <a:buFontTx/>
              <a:buNone/>
            </a:pPr>
            <a:endParaRPr lang="en-US" altLang="en-US" sz="1200" dirty="0">
              <a:cs typeface="Times New Roman" panose="02020603050405020304" pitchFamily="18" charset="0"/>
            </a:endParaRPr>
          </a:p>
          <a:p>
            <a:pPr eaLnBrk="1" hangingPunct="1">
              <a:lnSpc>
                <a:spcPct val="75000"/>
              </a:lnSpc>
              <a:spcBef>
                <a:spcPct val="0"/>
              </a:spcBef>
              <a:spcAft>
                <a:spcPct val="10000"/>
              </a:spcAft>
              <a:buClrTx/>
              <a:buSzTx/>
              <a:buFontTx/>
              <a:buNone/>
            </a:pPr>
            <a:r>
              <a:rPr lang="en-US" altLang="en-US" sz="2000" dirty="0">
                <a:cs typeface="Times New Roman" panose="02020603050405020304" pitchFamily="18" charset="0"/>
              </a:rPr>
              <a:t>	 </a:t>
            </a:r>
            <a:r>
              <a:rPr lang="en-US" altLang="en-US" sz="2000" i="1" dirty="0">
                <a:cs typeface="Times New Roman" panose="02020603050405020304" pitchFamily="18" charset="0"/>
              </a:rPr>
              <a:t>f</a:t>
            </a:r>
            <a:r>
              <a:rPr lang="en-US" altLang="en-US" sz="2000" baseline="-25000" dirty="0">
                <a:cs typeface="Times New Roman" panose="02020603050405020304" pitchFamily="18" charset="0"/>
              </a:rPr>
              <a:t>1</a:t>
            </a:r>
            <a:r>
              <a:rPr lang="en-US" altLang="en-US" sz="2000" dirty="0">
                <a:cs typeface="Times New Roman" panose="02020603050405020304" pitchFamily="18" charset="0"/>
              </a:rPr>
              <a:t> 	    </a:t>
            </a:r>
            <a:r>
              <a:rPr lang="en-US" altLang="en-US" sz="2000" i="1" dirty="0">
                <a:cs typeface="Times New Roman" panose="02020603050405020304" pitchFamily="18" charset="0"/>
              </a:rPr>
              <a:t>f</a:t>
            </a:r>
            <a:r>
              <a:rPr lang="en-US" altLang="en-US" sz="2000" baseline="-25000" dirty="0">
                <a:cs typeface="Times New Roman" panose="02020603050405020304" pitchFamily="18" charset="0"/>
              </a:rPr>
              <a:t>2</a:t>
            </a:r>
            <a:r>
              <a:rPr lang="en-US" altLang="en-US" sz="2000" dirty="0">
                <a:cs typeface="Times New Roman" panose="02020603050405020304" pitchFamily="18" charset="0"/>
              </a:rPr>
              <a:t>		 </a:t>
            </a:r>
            <a:r>
              <a:rPr lang="en-US" altLang="en-US" sz="2000" i="1" dirty="0" err="1">
                <a:cs typeface="Times New Roman" panose="02020603050405020304" pitchFamily="18" charset="0"/>
              </a:rPr>
              <a:t>f</a:t>
            </a:r>
            <a:r>
              <a:rPr lang="en-US" altLang="en-US" sz="2000" i="1" baseline="-25000" dirty="0" err="1">
                <a:cs typeface="Times New Roman" panose="02020603050405020304" pitchFamily="18" charset="0"/>
              </a:rPr>
              <a:t>k</a:t>
            </a:r>
            <a:endParaRPr lang="en-US" altLang="en-US" sz="2000" i="1" dirty="0">
              <a:cs typeface="Times New Roman" panose="02020603050405020304" pitchFamily="18" charset="0"/>
            </a:endParaRPr>
          </a:p>
          <a:p>
            <a:pPr eaLnBrk="1" hangingPunct="1">
              <a:lnSpc>
                <a:spcPct val="85000"/>
              </a:lnSpc>
              <a:spcBef>
                <a:spcPct val="0"/>
              </a:spcBef>
              <a:spcAft>
                <a:spcPct val="10000"/>
              </a:spcAft>
              <a:buClrTx/>
              <a:buSzTx/>
              <a:buFontTx/>
              <a:buNone/>
            </a:pPr>
            <a:r>
              <a:rPr lang="en-US" altLang="en-US" sz="2000" dirty="0">
                <a:cs typeface="Times New Roman" panose="02020603050405020304" pitchFamily="18" charset="0"/>
              </a:rPr>
              <a:t>	      +       +	 . . .   +	</a:t>
            </a:r>
          </a:p>
          <a:p>
            <a:pPr eaLnBrk="1" hangingPunct="1">
              <a:lnSpc>
                <a:spcPct val="75000"/>
              </a:lnSpc>
              <a:spcBef>
                <a:spcPct val="0"/>
              </a:spcBef>
              <a:spcAft>
                <a:spcPct val="10000"/>
              </a:spcAft>
              <a:buClrTx/>
              <a:buSzTx/>
              <a:buFontTx/>
              <a:buNone/>
            </a:pPr>
            <a:r>
              <a:rPr lang="en-US" altLang="en-US" sz="2000" dirty="0">
                <a:cs typeface="Times New Roman" panose="02020603050405020304" pitchFamily="18" charset="0"/>
              </a:rPr>
              <a:t>	 </a:t>
            </a:r>
            <a:r>
              <a:rPr lang="en-US" altLang="en-US" sz="2000" i="1" dirty="0">
                <a:cs typeface="Times New Roman" panose="02020603050405020304" pitchFamily="18" charset="0"/>
              </a:rPr>
              <a:t>p</a:t>
            </a:r>
            <a:r>
              <a:rPr lang="en-US" altLang="en-US" sz="2000" baseline="-25000" dirty="0">
                <a:cs typeface="Times New Roman" panose="02020603050405020304" pitchFamily="18" charset="0"/>
              </a:rPr>
              <a:t>1</a:t>
            </a:r>
            <a:r>
              <a:rPr lang="en-US" altLang="en-US" sz="2000" dirty="0">
                <a:cs typeface="Times New Roman" panose="02020603050405020304" pitchFamily="18" charset="0"/>
              </a:rPr>
              <a:t> 	    </a:t>
            </a:r>
            <a:r>
              <a:rPr lang="en-US" altLang="en-US" sz="2000" i="1" dirty="0">
                <a:cs typeface="Times New Roman" panose="02020603050405020304" pitchFamily="18" charset="0"/>
              </a:rPr>
              <a:t>p</a:t>
            </a:r>
            <a:r>
              <a:rPr lang="en-US" altLang="en-US" sz="2000" baseline="-25000" dirty="0">
                <a:cs typeface="Times New Roman" panose="02020603050405020304" pitchFamily="18" charset="0"/>
              </a:rPr>
              <a:t>2</a:t>
            </a:r>
            <a:r>
              <a:rPr lang="en-US" altLang="en-US" sz="2000" dirty="0">
                <a:cs typeface="Times New Roman" panose="02020603050405020304" pitchFamily="18" charset="0"/>
              </a:rPr>
              <a:t>		 </a:t>
            </a:r>
            <a:r>
              <a:rPr lang="en-US" altLang="en-US" sz="2000" i="1" dirty="0" err="1">
                <a:cs typeface="Times New Roman" panose="02020603050405020304" pitchFamily="18" charset="0"/>
              </a:rPr>
              <a:t>p</a:t>
            </a:r>
            <a:r>
              <a:rPr lang="en-US" altLang="en-US" sz="2000" i="1" baseline="-25000" dirty="0" err="1">
                <a:cs typeface="Times New Roman" panose="02020603050405020304" pitchFamily="18" charset="0"/>
              </a:rPr>
              <a:t>k</a:t>
            </a:r>
            <a:endParaRPr lang="en-US" altLang="en-US" sz="2000" dirty="0">
              <a:cs typeface="Times New Roman" panose="02020603050405020304" pitchFamily="18" charset="0"/>
            </a:endParaRPr>
          </a:p>
          <a:p>
            <a:pPr eaLnBrk="1" hangingPunct="1">
              <a:spcBef>
                <a:spcPct val="0"/>
              </a:spcBef>
              <a:spcAft>
                <a:spcPct val="10000"/>
              </a:spcAft>
              <a:buClrTx/>
              <a:buSzTx/>
              <a:buFontTx/>
              <a:buNone/>
            </a:pPr>
            <a:endParaRPr lang="en-US" altLang="en-US" sz="900" dirty="0">
              <a:cs typeface="Times New Roman" panose="02020603050405020304" pitchFamily="18" charset="0"/>
            </a:endParaRPr>
          </a:p>
          <a:p>
            <a:pPr eaLnBrk="1" hangingPunct="1">
              <a:spcBef>
                <a:spcPct val="0"/>
              </a:spcBef>
              <a:spcAft>
                <a:spcPct val="10000"/>
              </a:spcAft>
              <a:buClrTx/>
              <a:buSzTx/>
              <a:buFontTx/>
              <a:buNone/>
            </a:pPr>
            <a:endParaRPr lang="en-US" altLang="en-US" sz="1200" b="1" dirty="0">
              <a:solidFill>
                <a:srgbClr val="FF0000"/>
              </a:solidFill>
              <a:cs typeface="Times New Roman" panose="02020603050405020304" pitchFamily="18" charset="0"/>
            </a:endParaRPr>
          </a:p>
          <a:p>
            <a:pPr eaLnBrk="1" hangingPunct="1">
              <a:spcBef>
                <a:spcPct val="0"/>
              </a:spcBef>
              <a:spcAft>
                <a:spcPct val="10000"/>
              </a:spcAft>
              <a:buClrTx/>
              <a:buSzTx/>
              <a:buFontTx/>
              <a:buNone/>
            </a:pPr>
            <a:r>
              <a:rPr lang="en-US" altLang="en-US" sz="2000" b="1" dirty="0">
                <a:solidFill>
                  <a:srgbClr val="FF0000"/>
                </a:solidFill>
                <a:cs typeface="Times New Roman" panose="02020603050405020304" pitchFamily="18" charset="0"/>
              </a:rPr>
              <a:t>Speedup formula</a:t>
            </a:r>
            <a:r>
              <a:rPr lang="en-US" altLang="en-US" sz="2000" dirty="0">
                <a:solidFill>
                  <a:srgbClr val="000000"/>
                </a:solidFill>
                <a:cs typeface="Times New Roman" panose="02020603050405020304" pitchFamily="18" charset="0"/>
              </a:rPr>
              <a:t> </a:t>
            </a:r>
          </a:p>
          <a:p>
            <a:pPr eaLnBrk="1" hangingPunct="1">
              <a:spcBef>
                <a:spcPct val="0"/>
              </a:spcBef>
              <a:spcAft>
                <a:spcPct val="10000"/>
              </a:spcAft>
              <a:buClrTx/>
              <a:buSzTx/>
              <a:buFontTx/>
              <a:buNone/>
            </a:pPr>
            <a:endParaRPr lang="en-US" altLang="en-US" sz="1200" dirty="0">
              <a:solidFill>
                <a:srgbClr val="000000"/>
              </a:solidFill>
              <a:cs typeface="Times New Roman" panose="02020603050405020304" pitchFamily="18" charset="0"/>
            </a:endParaRPr>
          </a:p>
          <a:p>
            <a:pPr eaLnBrk="1" hangingPunct="1">
              <a:spcBef>
                <a:spcPct val="0"/>
              </a:spcBef>
              <a:spcAft>
                <a:spcPct val="10000"/>
              </a:spcAft>
              <a:buClrTx/>
              <a:buSzTx/>
              <a:buFontTx/>
              <a:buNone/>
            </a:pPr>
            <a:r>
              <a:rPr lang="en-US" altLang="en-US" sz="2000" dirty="0">
                <a:solidFill>
                  <a:srgbClr val="000000"/>
                </a:solidFill>
                <a:cs typeface="Times New Roman" panose="02020603050405020304" pitchFamily="18" charset="0"/>
              </a:rPr>
              <a:t>	</a:t>
            </a:r>
            <a:r>
              <a:rPr lang="en-US" altLang="en-US" sz="2000" dirty="0">
                <a:cs typeface="Times New Roman" panose="02020603050405020304" pitchFamily="18" charset="0"/>
              </a:rPr>
              <a:t>	          1</a:t>
            </a:r>
          </a:p>
          <a:p>
            <a:pPr eaLnBrk="1" hangingPunct="1">
              <a:spcBef>
                <a:spcPct val="0"/>
              </a:spcBef>
              <a:spcAft>
                <a:spcPct val="10000"/>
              </a:spcAft>
              <a:buClrTx/>
              <a:buSzTx/>
              <a:buFontTx/>
              <a:buNone/>
            </a:pPr>
            <a:r>
              <a:rPr lang="en-US" altLang="en-US" sz="2000" i="1" dirty="0">
                <a:cs typeface="Times New Roman" panose="02020603050405020304" pitchFamily="18" charset="0"/>
              </a:rPr>
              <a:t>S</a:t>
            </a:r>
            <a:r>
              <a:rPr lang="en-US" altLang="en-US" sz="2000" dirty="0">
                <a:cs typeface="Times New Roman" panose="02020603050405020304" pitchFamily="18" charset="0"/>
              </a:rPr>
              <a:t> =</a:t>
            </a:r>
          </a:p>
          <a:p>
            <a:pPr eaLnBrk="1" hangingPunct="1">
              <a:lnSpc>
                <a:spcPct val="75000"/>
              </a:lnSpc>
              <a:spcBef>
                <a:spcPct val="0"/>
              </a:spcBef>
              <a:spcAft>
                <a:spcPct val="10000"/>
              </a:spcAft>
              <a:buClrTx/>
              <a:buSzTx/>
              <a:buFontTx/>
              <a:buNone/>
            </a:pPr>
            <a:r>
              <a:rPr lang="en-US" altLang="en-US" sz="2000" dirty="0">
                <a:cs typeface="Times New Roman" panose="02020603050405020304" pitchFamily="18" charset="0"/>
              </a:rPr>
              <a:t>	 </a:t>
            </a:r>
            <a:r>
              <a:rPr lang="en-US" altLang="en-US" sz="2000" i="1" dirty="0">
                <a:cs typeface="Times New Roman" panose="02020603050405020304" pitchFamily="18" charset="0"/>
              </a:rPr>
              <a:t>f</a:t>
            </a:r>
            <a:r>
              <a:rPr lang="en-US" altLang="en-US" sz="2000" baseline="-25000" dirty="0">
                <a:cs typeface="Times New Roman" panose="02020603050405020304" pitchFamily="18" charset="0"/>
              </a:rPr>
              <a:t>1</a:t>
            </a:r>
            <a:r>
              <a:rPr lang="en-US" altLang="en-US" sz="2000" dirty="0">
                <a:cs typeface="Times New Roman" panose="02020603050405020304" pitchFamily="18" charset="0"/>
              </a:rPr>
              <a:t> 	    </a:t>
            </a:r>
            <a:r>
              <a:rPr lang="en-US" altLang="en-US" sz="2000" i="1" dirty="0">
                <a:cs typeface="Times New Roman" panose="02020603050405020304" pitchFamily="18" charset="0"/>
              </a:rPr>
              <a:t>f</a:t>
            </a:r>
            <a:r>
              <a:rPr lang="en-US" altLang="en-US" sz="2000" baseline="-25000" dirty="0">
                <a:cs typeface="Times New Roman" panose="02020603050405020304" pitchFamily="18" charset="0"/>
              </a:rPr>
              <a:t>2</a:t>
            </a:r>
            <a:r>
              <a:rPr lang="en-US" altLang="en-US" sz="2000" dirty="0">
                <a:cs typeface="Times New Roman" panose="02020603050405020304" pitchFamily="18" charset="0"/>
              </a:rPr>
              <a:t>		 </a:t>
            </a:r>
            <a:r>
              <a:rPr lang="en-US" altLang="en-US" sz="2000" i="1" dirty="0" err="1">
                <a:cs typeface="Times New Roman" panose="02020603050405020304" pitchFamily="18" charset="0"/>
              </a:rPr>
              <a:t>f</a:t>
            </a:r>
            <a:r>
              <a:rPr lang="en-US" altLang="en-US" sz="2000" i="1" baseline="-25000" dirty="0" err="1">
                <a:cs typeface="Times New Roman" panose="02020603050405020304" pitchFamily="18" charset="0"/>
              </a:rPr>
              <a:t>k</a:t>
            </a:r>
            <a:endParaRPr lang="en-US" altLang="en-US" sz="2000" i="1" dirty="0">
              <a:cs typeface="Times New Roman" panose="02020603050405020304" pitchFamily="18" charset="0"/>
            </a:endParaRPr>
          </a:p>
          <a:p>
            <a:pPr eaLnBrk="1" hangingPunct="1">
              <a:lnSpc>
                <a:spcPct val="85000"/>
              </a:lnSpc>
              <a:spcBef>
                <a:spcPct val="0"/>
              </a:spcBef>
              <a:spcAft>
                <a:spcPct val="10000"/>
              </a:spcAft>
              <a:buClrTx/>
              <a:buSzTx/>
              <a:buFontTx/>
              <a:buNone/>
            </a:pPr>
            <a:r>
              <a:rPr lang="en-US" altLang="en-US" sz="2000" dirty="0">
                <a:cs typeface="Times New Roman" panose="02020603050405020304" pitchFamily="18" charset="0"/>
              </a:rPr>
              <a:t>	      +       +	 . . .   +	</a:t>
            </a:r>
          </a:p>
          <a:p>
            <a:pPr eaLnBrk="1" hangingPunct="1">
              <a:lnSpc>
                <a:spcPct val="75000"/>
              </a:lnSpc>
              <a:spcBef>
                <a:spcPct val="0"/>
              </a:spcBef>
              <a:spcAft>
                <a:spcPct val="10000"/>
              </a:spcAft>
              <a:buClrTx/>
              <a:buSzTx/>
              <a:buFontTx/>
              <a:buNone/>
            </a:pPr>
            <a:r>
              <a:rPr lang="en-US" altLang="en-US" sz="2000" dirty="0">
                <a:cs typeface="Times New Roman" panose="02020603050405020304" pitchFamily="18" charset="0"/>
              </a:rPr>
              <a:t>	 </a:t>
            </a:r>
            <a:r>
              <a:rPr lang="en-US" altLang="en-US" sz="2000" i="1" dirty="0">
                <a:cs typeface="Times New Roman" panose="02020603050405020304" pitchFamily="18" charset="0"/>
              </a:rPr>
              <a:t>p</a:t>
            </a:r>
            <a:r>
              <a:rPr lang="en-US" altLang="en-US" sz="2000" baseline="-25000" dirty="0">
                <a:cs typeface="Times New Roman" panose="02020603050405020304" pitchFamily="18" charset="0"/>
              </a:rPr>
              <a:t>1</a:t>
            </a:r>
            <a:r>
              <a:rPr lang="en-US" altLang="en-US" sz="2000" dirty="0">
                <a:cs typeface="Times New Roman" panose="02020603050405020304" pitchFamily="18" charset="0"/>
              </a:rPr>
              <a:t> 	    </a:t>
            </a:r>
            <a:r>
              <a:rPr lang="en-US" altLang="en-US" sz="2000" i="1" dirty="0">
                <a:cs typeface="Times New Roman" panose="02020603050405020304" pitchFamily="18" charset="0"/>
              </a:rPr>
              <a:t>p</a:t>
            </a:r>
            <a:r>
              <a:rPr lang="en-US" altLang="en-US" sz="2000" baseline="-25000" dirty="0">
                <a:cs typeface="Times New Roman" panose="02020603050405020304" pitchFamily="18" charset="0"/>
              </a:rPr>
              <a:t>2</a:t>
            </a:r>
            <a:r>
              <a:rPr lang="en-US" altLang="en-US" sz="2000" dirty="0">
                <a:cs typeface="Times New Roman" panose="02020603050405020304" pitchFamily="18" charset="0"/>
              </a:rPr>
              <a:t>		 </a:t>
            </a:r>
            <a:r>
              <a:rPr lang="en-US" altLang="en-US" sz="2000" i="1" dirty="0" err="1">
                <a:cs typeface="Times New Roman" panose="02020603050405020304" pitchFamily="18" charset="0"/>
              </a:rPr>
              <a:t>p</a:t>
            </a:r>
            <a:r>
              <a:rPr lang="en-US" altLang="en-US" sz="2000" i="1" baseline="-25000" dirty="0" err="1">
                <a:cs typeface="Times New Roman" panose="02020603050405020304" pitchFamily="18" charset="0"/>
              </a:rPr>
              <a:t>k</a:t>
            </a:r>
            <a:endParaRPr lang="en-US" altLang="en-US" sz="2000" dirty="0">
              <a:cs typeface="Times New Roman" panose="02020603050405020304" pitchFamily="18" charset="0"/>
            </a:endParaRPr>
          </a:p>
        </p:txBody>
      </p:sp>
      <p:sp>
        <p:nvSpPr>
          <p:cNvPr id="33800" name="Line 5"/>
          <p:cNvSpPr>
            <a:spLocks noChangeShapeType="1"/>
          </p:cNvSpPr>
          <p:nvPr/>
        </p:nvSpPr>
        <p:spPr bwMode="auto">
          <a:xfrm>
            <a:off x="2895600" y="4495800"/>
            <a:ext cx="251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3801" name="Group 6"/>
          <p:cNvGrpSpPr>
            <a:grpSpLocks/>
          </p:cNvGrpSpPr>
          <p:nvPr/>
        </p:nvGrpSpPr>
        <p:grpSpPr bwMode="auto">
          <a:xfrm>
            <a:off x="2819400" y="2743200"/>
            <a:ext cx="2590800" cy="0"/>
            <a:chOff x="576" y="1680"/>
            <a:chExt cx="1632" cy="0"/>
          </a:xfrm>
        </p:grpSpPr>
        <p:sp>
          <p:nvSpPr>
            <p:cNvPr id="33807" name="Line 7"/>
            <p:cNvSpPr>
              <a:spLocks noChangeShapeType="1"/>
            </p:cNvSpPr>
            <p:nvPr/>
          </p:nvSpPr>
          <p:spPr bwMode="auto">
            <a:xfrm>
              <a:off x="576" y="1680"/>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8" name="Line 8"/>
            <p:cNvSpPr>
              <a:spLocks noChangeShapeType="1"/>
            </p:cNvSpPr>
            <p:nvPr/>
          </p:nvSpPr>
          <p:spPr bwMode="auto">
            <a:xfrm>
              <a:off x="1008" y="1680"/>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9" name="Line 9"/>
            <p:cNvSpPr>
              <a:spLocks noChangeShapeType="1"/>
            </p:cNvSpPr>
            <p:nvPr/>
          </p:nvSpPr>
          <p:spPr bwMode="auto">
            <a:xfrm>
              <a:off x="2016" y="1680"/>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3802" name="Group 10"/>
          <p:cNvGrpSpPr>
            <a:grpSpLocks/>
          </p:cNvGrpSpPr>
          <p:nvPr/>
        </p:nvGrpSpPr>
        <p:grpSpPr bwMode="auto">
          <a:xfrm>
            <a:off x="2819400" y="5105400"/>
            <a:ext cx="2590800" cy="0"/>
            <a:chOff x="576" y="1680"/>
            <a:chExt cx="1632" cy="0"/>
          </a:xfrm>
        </p:grpSpPr>
        <p:sp>
          <p:nvSpPr>
            <p:cNvPr id="33804" name="Line 11"/>
            <p:cNvSpPr>
              <a:spLocks noChangeShapeType="1"/>
            </p:cNvSpPr>
            <p:nvPr/>
          </p:nvSpPr>
          <p:spPr bwMode="auto">
            <a:xfrm>
              <a:off x="576" y="1680"/>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5" name="Line 12"/>
            <p:cNvSpPr>
              <a:spLocks noChangeShapeType="1"/>
            </p:cNvSpPr>
            <p:nvPr/>
          </p:nvSpPr>
          <p:spPr bwMode="auto">
            <a:xfrm>
              <a:off x="1008" y="1680"/>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6" name="Line 13"/>
            <p:cNvSpPr>
              <a:spLocks noChangeShapeType="1"/>
            </p:cNvSpPr>
            <p:nvPr/>
          </p:nvSpPr>
          <p:spPr bwMode="auto">
            <a:xfrm>
              <a:off x="2016" y="1680"/>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0174" name="Text Box 14"/>
          <p:cNvSpPr txBox="1">
            <a:spLocks noChangeArrowheads="1"/>
          </p:cNvSpPr>
          <p:nvPr/>
        </p:nvSpPr>
        <p:spPr bwMode="auto">
          <a:xfrm>
            <a:off x="6858000" y="3657601"/>
            <a:ext cx="2819400" cy="19208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2000" dirty="0">
                <a:cs typeface="Arial" panose="020B0604020202020204" pitchFamily="34" charset="0"/>
              </a:rPr>
              <a:t>If a particular fraction </a:t>
            </a:r>
          </a:p>
          <a:p>
            <a:pPr eaLnBrk="1" hangingPunct="1">
              <a:spcBef>
                <a:spcPct val="0"/>
              </a:spcBef>
              <a:buClrTx/>
              <a:buSzTx/>
              <a:buFontTx/>
              <a:buNone/>
            </a:pPr>
            <a:r>
              <a:rPr lang="en-US" altLang="en-US" sz="2000" dirty="0">
                <a:cs typeface="Arial" panose="020B0604020202020204" pitchFamily="34" charset="0"/>
              </a:rPr>
              <a:t>is slowed down rather than speeded up, </a:t>
            </a:r>
          </a:p>
          <a:p>
            <a:pPr eaLnBrk="1" hangingPunct="1">
              <a:spcBef>
                <a:spcPct val="0"/>
              </a:spcBef>
              <a:buClrTx/>
              <a:buSzTx/>
              <a:buFontTx/>
              <a:buNone/>
            </a:pPr>
            <a:r>
              <a:rPr lang="en-US" altLang="en-US" sz="2000" dirty="0">
                <a:cs typeface="Arial" panose="020B0604020202020204" pitchFamily="34" charset="0"/>
              </a:rPr>
              <a:t>use </a:t>
            </a:r>
            <a:r>
              <a:rPr lang="en-US" altLang="en-US" sz="2000" i="1" dirty="0" err="1">
                <a:cs typeface="Times New Roman" panose="02020603050405020304" pitchFamily="18" charset="0"/>
              </a:rPr>
              <a:t>s</a:t>
            </a:r>
            <a:r>
              <a:rPr lang="en-US" altLang="en-US" sz="2000" i="1" baseline="-25000" dirty="0" err="1">
                <a:cs typeface="Times New Roman" panose="02020603050405020304" pitchFamily="18" charset="0"/>
              </a:rPr>
              <a:t>j</a:t>
            </a:r>
            <a:r>
              <a:rPr lang="en-US" altLang="en-US" sz="2000" dirty="0">
                <a:cs typeface="Arial" panose="020B0604020202020204" pitchFamily="34" charset="0"/>
              </a:rPr>
              <a:t> </a:t>
            </a:r>
            <a:r>
              <a:rPr lang="en-US" altLang="en-US" sz="2000" i="1" dirty="0" err="1">
                <a:cs typeface="Times New Roman" panose="02020603050405020304" pitchFamily="18" charset="0"/>
              </a:rPr>
              <a:t>f</a:t>
            </a:r>
            <a:r>
              <a:rPr lang="en-US" altLang="en-US" sz="2000" i="1" baseline="-25000" dirty="0" err="1">
                <a:cs typeface="Times New Roman" panose="02020603050405020304" pitchFamily="18" charset="0"/>
              </a:rPr>
              <a:t>j</a:t>
            </a:r>
            <a:r>
              <a:rPr lang="en-US" altLang="en-US" sz="2000" dirty="0">
                <a:cs typeface="Arial" panose="020B0604020202020204" pitchFamily="34" charset="0"/>
              </a:rPr>
              <a:t> instead of </a:t>
            </a:r>
            <a:r>
              <a:rPr lang="en-US" altLang="en-US" sz="2000" i="1" dirty="0" err="1">
                <a:cs typeface="Times New Roman" panose="02020603050405020304" pitchFamily="18" charset="0"/>
              </a:rPr>
              <a:t>f</a:t>
            </a:r>
            <a:r>
              <a:rPr lang="en-US" altLang="en-US" sz="2000" i="1" baseline="-25000" dirty="0" err="1">
                <a:cs typeface="Times New Roman" panose="02020603050405020304" pitchFamily="18" charset="0"/>
              </a:rPr>
              <a:t>j</a:t>
            </a:r>
            <a:r>
              <a:rPr lang="en-US" altLang="en-US" sz="1200" dirty="0">
                <a:cs typeface="Arial" panose="020B0604020202020204" pitchFamily="34" charset="0"/>
              </a:rPr>
              <a:t> </a:t>
            </a:r>
            <a:r>
              <a:rPr lang="en-US" altLang="en-US" sz="2000" dirty="0">
                <a:cs typeface="Arial" panose="020B0604020202020204" pitchFamily="34" charset="0"/>
              </a:rPr>
              <a:t>/</a:t>
            </a:r>
            <a:r>
              <a:rPr lang="en-US" altLang="en-US" sz="1000" dirty="0">
                <a:cs typeface="Arial" panose="020B0604020202020204" pitchFamily="34" charset="0"/>
              </a:rPr>
              <a:t> </a:t>
            </a:r>
            <a:r>
              <a:rPr lang="en-US" altLang="en-US" sz="2000" i="1" dirty="0" err="1">
                <a:cs typeface="Times New Roman" panose="02020603050405020304" pitchFamily="18" charset="0"/>
              </a:rPr>
              <a:t>p</a:t>
            </a:r>
            <a:r>
              <a:rPr lang="en-US" altLang="en-US" sz="2000" i="1" baseline="-25000" dirty="0" err="1">
                <a:cs typeface="Times New Roman" panose="02020603050405020304" pitchFamily="18" charset="0"/>
              </a:rPr>
              <a:t>j</a:t>
            </a:r>
            <a:r>
              <a:rPr lang="en-US" altLang="en-US" sz="2000" i="1" baseline="-25000" dirty="0">
                <a:cs typeface="Times New Roman" panose="02020603050405020304" pitchFamily="18" charset="0"/>
              </a:rPr>
              <a:t> </a:t>
            </a:r>
            <a:r>
              <a:rPr lang="en-US" altLang="en-US" sz="2000" dirty="0">
                <a:cs typeface="Arial" panose="020B0604020202020204" pitchFamily="34" charset="0"/>
              </a:rPr>
              <a:t>, where </a:t>
            </a:r>
            <a:r>
              <a:rPr lang="en-US" altLang="en-US" sz="2000" i="1" dirty="0" err="1">
                <a:cs typeface="Times New Roman" panose="02020603050405020304" pitchFamily="18" charset="0"/>
              </a:rPr>
              <a:t>s</a:t>
            </a:r>
            <a:r>
              <a:rPr lang="en-US" altLang="en-US" sz="2000" i="1" baseline="-25000" dirty="0" err="1">
                <a:cs typeface="Times New Roman" panose="02020603050405020304" pitchFamily="18" charset="0"/>
              </a:rPr>
              <a:t>j</a:t>
            </a:r>
            <a:r>
              <a:rPr lang="en-US" altLang="en-US" sz="2000" dirty="0">
                <a:cs typeface="Arial" panose="020B0604020202020204" pitchFamily="34" charset="0"/>
              </a:rPr>
              <a:t> &gt; 1 is the slowdown factor </a:t>
            </a:r>
          </a:p>
        </p:txBody>
      </p:sp>
    </p:spTree>
    <p:extLst>
      <p:ext uri="{BB962C8B-B14F-4D97-AF65-F5344CB8AC3E}">
        <p14:creationId xmlns:p14="http://schemas.microsoft.com/office/powerpoint/2010/main" val="233381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0174"/>
                                        </p:tgtEl>
                                        <p:attrNameLst>
                                          <p:attrName>style.visibility</p:attrName>
                                        </p:attrNameLst>
                                      </p:cBhvr>
                                      <p:to>
                                        <p:strVal val="visible"/>
                                      </p:to>
                                    </p:set>
                                    <p:animEffect transition="in" filter="dissolve">
                                      <p:cBhvr>
                                        <p:cTn id="7" dur="500"/>
                                        <p:tgtEl>
                                          <p:spTgt spid="220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7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r>
              <a:rPr lang="en-US" altLang="en-US" sz="1200"/>
              <a:t>Slide </a:t>
            </a:r>
            <a:fld id="{E71C53A5-0E10-42AA-BE54-5732FDF69A5F}" type="slidenum">
              <a:rPr lang="en-US" altLang="en-US" sz="1200"/>
              <a:pPr eaLnBrk="1" hangingPunct="1">
                <a:spcBef>
                  <a:spcPct val="0"/>
                </a:spcBef>
                <a:buFontTx/>
                <a:buNone/>
                <a:defRPr/>
              </a:pPr>
              <a:t>35</a:t>
            </a:fld>
            <a:endParaRPr lang="en-US" altLang="en-US" sz="1200"/>
          </a:p>
        </p:txBody>
      </p:sp>
      <p:sp>
        <p:nvSpPr>
          <p:cNvPr id="86021" name="Rectangle 2"/>
          <p:cNvSpPr>
            <a:spLocks noGrp="1" noChangeArrowheads="1"/>
          </p:cNvSpPr>
          <p:nvPr>
            <p:ph type="title"/>
          </p:nvPr>
        </p:nvSpPr>
        <p:spPr>
          <a:xfrm>
            <a:off x="1905000" y="381000"/>
            <a:ext cx="8305800" cy="990600"/>
          </a:xfrm>
        </p:spPr>
        <p:txBody>
          <a:bodyPr/>
          <a:lstStyle/>
          <a:p>
            <a:pPr eaLnBrk="1" hangingPunct="1">
              <a:defRPr/>
            </a:pPr>
            <a:r>
              <a:rPr lang="en-US" altLang="en-US" sz="3200" dirty="0"/>
              <a:t>Reporting Computer Performance</a:t>
            </a:r>
          </a:p>
        </p:txBody>
      </p:sp>
      <p:sp>
        <p:nvSpPr>
          <p:cNvPr id="34820" name="Text Box 4"/>
          <p:cNvSpPr txBox="1">
            <a:spLocks noChangeArrowheads="1"/>
          </p:cNvSpPr>
          <p:nvPr/>
        </p:nvSpPr>
        <p:spPr bwMode="auto">
          <a:xfrm>
            <a:off x="1905000" y="1371601"/>
            <a:ext cx="8229600" cy="39687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2000">
                <a:solidFill>
                  <a:srgbClr val="000000"/>
                </a:solidFill>
                <a:cs typeface="Times New Roman" panose="02020603050405020304" pitchFamily="18" charset="0"/>
              </a:rPr>
              <a:t>Measured or estimated execution times for three programs.</a:t>
            </a:r>
          </a:p>
        </p:txBody>
      </p:sp>
      <p:graphicFrame>
        <p:nvGraphicFramePr>
          <p:cNvPr id="111666" name="Group 50"/>
          <p:cNvGraphicFramePr>
            <a:graphicFrameLocks noGrp="1"/>
          </p:cNvGraphicFramePr>
          <p:nvPr/>
        </p:nvGraphicFramePr>
        <p:xfrm>
          <a:off x="1600200" y="1900238"/>
          <a:ext cx="6096000" cy="2743201"/>
        </p:xfrm>
        <a:graphic>
          <a:graphicData uri="http://schemas.openxmlformats.org/drawingml/2006/table">
            <a:tbl>
              <a:tblPr/>
              <a:tblGrid>
                <a:gridCol w="1524000">
                  <a:extLst>
                    <a:ext uri="{9D8B030D-6E8A-4147-A177-3AD203B41FA5}">
                      <a16:colId xmlns="" xmlns:a16="http://schemas.microsoft.com/office/drawing/2014/main" val="20000"/>
                    </a:ext>
                  </a:extLst>
                </a:gridCol>
                <a:gridCol w="1524000">
                  <a:extLst>
                    <a:ext uri="{9D8B030D-6E8A-4147-A177-3AD203B41FA5}">
                      <a16:colId xmlns="" xmlns:a16="http://schemas.microsoft.com/office/drawing/2014/main" val="20001"/>
                    </a:ext>
                  </a:extLst>
                </a:gridCol>
                <a:gridCol w="1524000">
                  <a:extLst>
                    <a:ext uri="{9D8B030D-6E8A-4147-A177-3AD203B41FA5}">
                      <a16:colId xmlns="" xmlns:a16="http://schemas.microsoft.com/office/drawing/2014/main" val="20002"/>
                    </a:ext>
                  </a:extLst>
                </a:gridCol>
                <a:gridCol w="1524000">
                  <a:extLst>
                    <a:ext uri="{9D8B030D-6E8A-4147-A177-3AD203B41FA5}">
                      <a16:colId xmlns="" xmlns:a16="http://schemas.microsoft.com/office/drawing/2014/main" val="20003"/>
                    </a:ext>
                  </a:extLst>
                </a:gridCol>
              </a:tblGrid>
              <a:tr h="769938">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rgbClr val="FF0000"/>
                          </a:solidFill>
                          <a:effectLst/>
                          <a:latin typeface="Arial" charset="0"/>
                        </a:rPr>
                        <a:t>Time on machine 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rgbClr val="FF0000"/>
                          </a:solidFill>
                          <a:effectLst/>
                          <a:latin typeface="Arial" charset="0"/>
                        </a:rPr>
                        <a:t>Time on machine 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FF0000"/>
                          </a:solidFill>
                          <a:effectLst/>
                          <a:latin typeface="Arial" charset="0"/>
                        </a:rPr>
                        <a:t>Speedup of Y over 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92125">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accent2"/>
                          </a:solidFill>
                          <a:effectLst/>
                          <a:latin typeface="Arial" charset="0"/>
                        </a:rPr>
                        <a:t>Program 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95300">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accent2"/>
                          </a:solidFill>
                          <a:effectLst/>
                          <a:latin typeface="Arial" charset="0"/>
                        </a:rPr>
                        <a:t>Program 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93713">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accent2"/>
                          </a:solidFill>
                          <a:effectLst/>
                          <a:latin typeface="Arial" charset="0"/>
                        </a:rPr>
                        <a:t>Program 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1500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92125">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accent2"/>
                          </a:solidFill>
                          <a:effectLst/>
                          <a:latin typeface="Arial" charset="0"/>
                        </a:rPr>
                        <a:t>All 3 prog’s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2520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450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5.6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bl>
          </a:graphicData>
        </a:graphic>
      </p:graphicFrame>
      <p:sp>
        <p:nvSpPr>
          <p:cNvPr id="111667" name="Text Box 51"/>
          <p:cNvSpPr txBox="1">
            <a:spLocks noChangeArrowheads="1"/>
          </p:cNvSpPr>
          <p:nvPr/>
        </p:nvSpPr>
        <p:spPr bwMode="auto">
          <a:xfrm>
            <a:off x="2362200" y="4876801"/>
            <a:ext cx="7467600" cy="70802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2000">
                <a:solidFill>
                  <a:srgbClr val="FF0000"/>
                </a:solidFill>
                <a:cs typeface="Times New Roman" panose="02020603050405020304" pitchFamily="18" charset="0"/>
              </a:rPr>
              <a:t>Analogy:</a:t>
            </a:r>
            <a:r>
              <a:rPr lang="en-US" altLang="en-US" sz="2000">
                <a:solidFill>
                  <a:srgbClr val="000000"/>
                </a:solidFill>
                <a:cs typeface="Times New Roman" panose="02020603050405020304" pitchFamily="18" charset="0"/>
              </a:rPr>
              <a:t> If a car is driven to a city 100 km away at 100 km/hr and returns at 50 km/hr, the average speed…</a:t>
            </a:r>
          </a:p>
        </p:txBody>
      </p:sp>
      <p:sp>
        <p:nvSpPr>
          <p:cNvPr id="34854" name="TextBox 1"/>
          <p:cNvSpPr txBox="1">
            <a:spLocks noChangeArrowheads="1"/>
          </p:cNvSpPr>
          <p:nvPr/>
        </p:nvSpPr>
        <p:spPr bwMode="auto">
          <a:xfrm>
            <a:off x="1981200" y="3068639"/>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pic>
        <p:nvPicPr>
          <p:cNvPr id="34855" name="Picture 9"/>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967664" y="2894013"/>
            <a:ext cx="25622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a:spLocks noChangeArrowheads="1"/>
          </p:cNvSpPr>
          <p:nvPr/>
        </p:nvSpPr>
        <p:spPr bwMode="auto">
          <a:xfrm>
            <a:off x="1989139" y="5584825"/>
            <a:ext cx="2395537" cy="4000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2000">
                <a:solidFill>
                  <a:srgbClr val="FF0000"/>
                </a:solidFill>
                <a:cs typeface="Times New Roman" panose="02020603050405020304" pitchFamily="18" charset="0"/>
              </a:rPr>
              <a:t>is not (100 + 50) / 2</a:t>
            </a:r>
          </a:p>
        </p:txBody>
      </p:sp>
      <p:sp>
        <p:nvSpPr>
          <p:cNvPr id="3" name="TextBox 2"/>
          <p:cNvSpPr txBox="1">
            <a:spLocks noChangeArrowheads="1"/>
          </p:cNvSpPr>
          <p:nvPr/>
        </p:nvSpPr>
        <p:spPr bwMode="auto">
          <a:xfrm>
            <a:off x="2395538" y="5984875"/>
            <a:ext cx="7040562" cy="4000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2000">
                <a:solidFill>
                  <a:srgbClr val="FF0000"/>
                </a:solidFill>
                <a:cs typeface="Times New Roman" panose="02020603050405020304" pitchFamily="18" charset="0"/>
              </a:rPr>
              <a:t>but is obtained from the fact that it travels 200 km in 3 hours.</a:t>
            </a:r>
          </a:p>
        </p:txBody>
      </p:sp>
    </p:spTree>
    <p:extLst>
      <p:ext uri="{BB962C8B-B14F-4D97-AF65-F5344CB8AC3E}">
        <p14:creationId xmlns:p14="http://schemas.microsoft.com/office/powerpoint/2010/main" val="21819163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1667"/>
                                        </p:tgtEl>
                                        <p:attrNameLst>
                                          <p:attrName>style.visibility</p:attrName>
                                        </p:attrNameLst>
                                      </p:cBhvr>
                                      <p:to>
                                        <p:strVal val="visible"/>
                                      </p:to>
                                    </p:set>
                                    <p:anim calcmode="lin" valueType="num">
                                      <p:cBhvr additive="base">
                                        <p:cTn id="7" dur="500" fill="hold"/>
                                        <p:tgtEl>
                                          <p:spTgt spid="111667"/>
                                        </p:tgtEl>
                                        <p:attrNameLst>
                                          <p:attrName>ppt_x</p:attrName>
                                        </p:attrNameLst>
                                      </p:cBhvr>
                                      <p:tavLst>
                                        <p:tav tm="0">
                                          <p:val>
                                            <p:strVal val="#ppt_x"/>
                                          </p:val>
                                        </p:tav>
                                        <p:tav tm="100000">
                                          <p:val>
                                            <p:strVal val="#ppt_x"/>
                                          </p:val>
                                        </p:tav>
                                      </p:tavLst>
                                    </p:anim>
                                    <p:anim calcmode="lin" valueType="num">
                                      <p:cBhvr additive="base">
                                        <p:cTn id="8" dur="500" fill="hold"/>
                                        <p:tgtEl>
                                          <p:spTgt spid="11166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11667">
                                            <p:txEl>
                                              <p:pRg st="0" end="0"/>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67" grpId="0" animBg="1"/>
      <p:bldP spid="2" grpId="0" animBg="1"/>
      <p:bldP spid="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1559</TotalTime>
  <Words>2829</Words>
  <Application>Microsoft Office PowerPoint</Application>
  <PresentationFormat>Widescreen</PresentationFormat>
  <Paragraphs>314</Paragraphs>
  <Slides>35</Slides>
  <Notes>2</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Arial</vt:lpstr>
      <vt:lpstr>Calibri</vt:lpstr>
      <vt:lpstr>Calibri Light</vt:lpstr>
      <vt:lpstr>Courier New</vt:lpstr>
      <vt:lpstr>新細明體</vt:lpstr>
      <vt:lpstr>新細明體</vt:lpstr>
      <vt:lpstr>Symbol</vt:lpstr>
      <vt:lpstr>Times New Roman</vt:lpstr>
      <vt:lpstr>Wingdings</vt:lpstr>
      <vt:lpstr>Office Theme</vt:lpstr>
      <vt:lpstr>PowerPoint Presentation</vt:lpstr>
      <vt:lpstr>Course outline</vt:lpstr>
      <vt:lpstr>Text Books</vt:lpstr>
      <vt:lpstr>What is Computing?</vt:lpstr>
      <vt:lpstr>Scalable computing---Over the internet</vt:lpstr>
      <vt:lpstr>Why Parallel Processing? The Age of Internet Computing</vt:lpstr>
      <vt:lpstr>Quotes for parallel processing</vt:lpstr>
      <vt:lpstr>Computing Paradigms Terminology</vt:lpstr>
      <vt:lpstr>Computing Paradigms Distinction</vt:lpstr>
      <vt:lpstr>Fully Distributed System</vt:lpstr>
      <vt:lpstr>PowerPoint Presentation</vt:lpstr>
      <vt:lpstr>HPC and HTC</vt:lpstr>
      <vt:lpstr>HTC Vs HPC</vt:lpstr>
      <vt:lpstr>Three walls of HPC</vt:lpstr>
      <vt:lpstr>Power-Dissipation Challenge</vt:lpstr>
      <vt:lpstr>PowerPoint Presentation</vt:lpstr>
      <vt:lpstr>Scalable Computing Trends and New Paradigms</vt:lpstr>
      <vt:lpstr>Scalable Computing Trends and New Paradigms</vt:lpstr>
      <vt:lpstr>Cyber Physical Systems</vt:lpstr>
      <vt:lpstr>2. GPU Computing</vt:lpstr>
      <vt:lpstr>3. Memory, Storage, and Wide-Area Networking</vt:lpstr>
      <vt:lpstr>4. Virtual Machines and Virtualization Middleware</vt:lpstr>
      <vt:lpstr>5. Data Center Virtualization for Cloud Computing</vt:lpstr>
      <vt:lpstr>Performance Metrics and Scalability analysis</vt:lpstr>
      <vt:lpstr>Basic Definitions </vt:lpstr>
      <vt:lpstr>Amdahl's Law</vt:lpstr>
      <vt:lpstr>Amdahl's Law</vt:lpstr>
      <vt:lpstr>Amdahl's Law</vt:lpstr>
      <vt:lpstr>Amdahl’s Law</vt:lpstr>
      <vt:lpstr>Amdahl’s Law</vt:lpstr>
      <vt:lpstr>Amdahl’s Law</vt:lpstr>
      <vt:lpstr>Amdahl’s Law</vt:lpstr>
      <vt:lpstr>Amdahl’s Law</vt:lpstr>
      <vt:lpstr>Generalized Amdahl’s Law</vt:lpstr>
      <vt:lpstr>Reporting Computer Performance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and Distributed Computing</dc:title>
  <dc:creator>drdanish</dc:creator>
  <cp:lastModifiedBy>hp</cp:lastModifiedBy>
  <cp:revision>77</cp:revision>
  <dcterms:created xsi:type="dcterms:W3CDTF">2021-10-09T04:51:36Z</dcterms:created>
  <dcterms:modified xsi:type="dcterms:W3CDTF">2026-02-22T17:56:29Z</dcterms:modified>
</cp:coreProperties>
</file>