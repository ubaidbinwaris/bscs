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334" r:id="rId2"/>
    <p:sldId id="256" r:id="rId3"/>
    <p:sldId id="302" r:id="rId4"/>
    <p:sldId id="303" r:id="rId5"/>
    <p:sldId id="304" r:id="rId6"/>
    <p:sldId id="305" r:id="rId7"/>
    <p:sldId id="337" r:id="rId8"/>
    <p:sldId id="339" r:id="rId9"/>
    <p:sldId id="306" r:id="rId10"/>
    <p:sldId id="307" r:id="rId11"/>
    <p:sldId id="308" r:id="rId12"/>
    <p:sldId id="309" r:id="rId13"/>
    <p:sldId id="310" r:id="rId14"/>
    <p:sldId id="311" r:id="rId15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135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40C45E-C66B-4285-86E5-8175FB50AE6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E8C5A-EA14-4BB1-9D75-A61D97408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35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0" y="129032"/>
            <a:ext cx="4610100" cy="321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4064C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</a:t>
            </a:r>
            <a:r>
              <a:rPr spc="-70" dirty="0"/>
              <a:t> </a:t>
            </a:r>
            <a:r>
              <a:rPr spc="-5" dirty="0"/>
              <a:t>56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406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4064C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</a:t>
            </a:r>
            <a:r>
              <a:rPr spc="-70" dirty="0"/>
              <a:t> </a:t>
            </a:r>
            <a:r>
              <a:rPr spc="-5" dirty="0"/>
              <a:t>56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406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4064C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</a:t>
            </a:r>
            <a:r>
              <a:rPr spc="-70" dirty="0"/>
              <a:t> </a:t>
            </a:r>
            <a:r>
              <a:rPr spc="-5" dirty="0"/>
              <a:t>56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406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4064C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</a:t>
            </a:r>
            <a:r>
              <a:rPr spc="-70" dirty="0"/>
              <a:t> </a:t>
            </a:r>
            <a:r>
              <a:rPr spc="-5" dirty="0"/>
              <a:t>56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743" y="671994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7" y="82384"/>
                </a:lnTo>
                <a:lnTo>
                  <a:pt x="4432567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2" y="4008"/>
                </a:lnTo>
                <a:lnTo>
                  <a:pt x="4381767" y="0"/>
                </a:lnTo>
                <a:close/>
              </a:path>
            </a:pathLst>
          </a:custGeom>
          <a:solidFill>
            <a:srgbClr val="FFE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38544" y="1225334"/>
            <a:ext cx="101599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89344" y="1212634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520311" y="722566"/>
            <a:ext cx="50749" cy="502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7743" y="716422"/>
            <a:ext cx="4432935" cy="560070"/>
          </a:xfrm>
          <a:custGeom>
            <a:avLst/>
            <a:gdLst/>
            <a:ahLst/>
            <a:cxnLst/>
            <a:rect l="l" t="t" r="r" b="b"/>
            <a:pathLst>
              <a:path w="4432935" h="560069">
                <a:moveTo>
                  <a:pt x="4432567" y="0"/>
                </a:moveTo>
                <a:lnTo>
                  <a:pt x="0" y="0"/>
                </a:lnTo>
                <a:lnTo>
                  <a:pt x="0" y="508911"/>
                </a:lnTo>
                <a:lnTo>
                  <a:pt x="4008" y="528636"/>
                </a:lnTo>
                <a:lnTo>
                  <a:pt x="14922" y="544789"/>
                </a:lnTo>
                <a:lnTo>
                  <a:pt x="31075" y="555703"/>
                </a:lnTo>
                <a:lnTo>
                  <a:pt x="50800" y="559712"/>
                </a:lnTo>
                <a:lnTo>
                  <a:pt x="4381767" y="559712"/>
                </a:lnTo>
                <a:lnTo>
                  <a:pt x="4401492" y="555703"/>
                </a:lnTo>
                <a:lnTo>
                  <a:pt x="4417644" y="544789"/>
                </a:lnTo>
                <a:lnTo>
                  <a:pt x="4428558" y="528636"/>
                </a:lnTo>
                <a:lnTo>
                  <a:pt x="4432567" y="508911"/>
                </a:lnTo>
                <a:lnTo>
                  <a:pt x="4432567" y="0"/>
                </a:lnTo>
                <a:close/>
              </a:path>
            </a:pathLst>
          </a:custGeom>
          <a:solidFill>
            <a:srgbClr val="FFE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520311" y="760658"/>
            <a:ext cx="0" cy="483870"/>
          </a:xfrm>
          <a:custGeom>
            <a:avLst/>
            <a:gdLst/>
            <a:ahLst/>
            <a:cxnLst/>
            <a:rect l="l" t="t" r="r" b="b"/>
            <a:pathLst>
              <a:path h="483869">
                <a:moveTo>
                  <a:pt x="0" y="48372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520311" y="74795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520311" y="73525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4520311" y="72255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4064C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</a:t>
            </a:r>
            <a:r>
              <a:rPr spc="-70" dirty="0"/>
              <a:t> </a:t>
            </a:r>
            <a:r>
              <a:rPr spc="-5" dirty="0"/>
              <a:t>56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2303995" y="0"/>
                </a:moveTo>
                <a:lnTo>
                  <a:pt x="0" y="0"/>
                </a:lnTo>
                <a:lnTo>
                  <a:pt x="0" y="129032"/>
                </a:lnTo>
                <a:lnTo>
                  <a:pt x="2303995" y="129032"/>
                </a:lnTo>
                <a:lnTo>
                  <a:pt x="2303995" y="0"/>
                </a:lnTo>
                <a:close/>
              </a:path>
            </a:pathLst>
          </a:custGeom>
          <a:solidFill>
            <a:srgbClr val="FCC1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0" y="129032"/>
            <a:ext cx="4610100" cy="321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0406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0604" y="806558"/>
            <a:ext cx="4388891" cy="1970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58348" y="3331252"/>
            <a:ext cx="283210" cy="119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04064C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</a:t>
            </a:r>
            <a:r>
              <a:rPr spc="-70" dirty="0"/>
              <a:t> </a:t>
            </a:r>
            <a:r>
              <a:rPr spc="-5" dirty="0"/>
              <a:t>56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" Target="slide4.xml"/><Relationship Id="rId7" Type="http://schemas.openxmlformats.org/officeDocument/2006/relationships/image" Target="../media/image12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4.png"/><Relationship Id="rId3" Type="http://schemas.openxmlformats.org/officeDocument/2006/relationships/slide" Target="slide5.xml"/><Relationship Id="rId7" Type="http://schemas.openxmlformats.org/officeDocument/2006/relationships/image" Target="../media/image19.png"/><Relationship Id="rId12" Type="http://schemas.openxmlformats.org/officeDocument/2006/relationships/image" Target="../media/image2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slide" Target="slide6.xml"/><Relationship Id="rId7" Type="http://schemas.openxmlformats.org/officeDocument/2006/relationships/image" Target="../media/image28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1.png"/><Relationship Id="rId5" Type="http://schemas.openxmlformats.org/officeDocument/2006/relationships/image" Target="../media/image26.png"/><Relationship Id="rId10" Type="http://schemas.openxmlformats.org/officeDocument/2006/relationships/image" Target="../media/image30.png"/><Relationship Id="rId4" Type="http://schemas.openxmlformats.org/officeDocument/2006/relationships/image" Target="../media/image25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9.png"/><Relationship Id="rId3" Type="http://schemas.openxmlformats.org/officeDocument/2006/relationships/slide" Target="slide9.xml"/><Relationship Id="rId7" Type="http://schemas.openxmlformats.org/officeDocument/2006/relationships/image" Target="../media/image35.png"/><Relationship Id="rId12" Type="http://schemas.openxmlformats.org/officeDocument/2006/relationships/image" Target="../media/image38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37.png"/><Relationship Id="rId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4.png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10.xml"/><Relationship Id="rId7" Type="http://schemas.openxmlformats.org/officeDocument/2006/relationships/image" Target="../media/image4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slide" Target="slide12.xml"/><Relationship Id="rId7" Type="http://schemas.openxmlformats.org/officeDocument/2006/relationships/image" Target="../media/image46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45.png"/><Relationship Id="rId10" Type="http://schemas.openxmlformats.org/officeDocument/2006/relationships/slide" Target="slide11.xml"/><Relationship Id="rId4" Type="http://schemas.openxmlformats.org/officeDocument/2006/relationships/image" Target="../media/image44.png"/><Relationship Id="rId9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3.png"/><Relationship Id="rId3" Type="http://schemas.openxmlformats.org/officeDocument/2006/relationships/slide" Target="slide13.xml"/><Relationship Id="rId7" Type="http://schemas.openxmlformats.org/officeDocument/2006/relationships/image" Target="../media/image49.png"/><Relationship Id="rId12" Type="http://schemas.openxmlformats.org/officeDocument/2006/relationships/image" Target="../media/image36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5" Type="http://schemas.openxmlformats.org/officeDocument/2006/relationships/slide" Target="slide11.xml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Relationship Id="rId14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slide" Target="slide11.xml"/><Relationship Id="rId3" Type="http://schemas.openxmlformats.org/officeDocument/2006/relationships/slide" Target="slide14.xml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60.png"/><Relationship Id="rId5" Type="http://schemas.openxmlformats.org/officeDocument/2006/relationships/image" Target="../media/image38.png"/><Relationship Id="rId10" Type="http://schemas.openxmlformats.org/officeDocument/2006/relationships/image" Target="../media/image59.png"/><Relationship Id="rId4" Type="http://schemas.openxmlformats.org/officeDocument/2006/relationships/image" Target="../media/image55.png"/><Relationship Id="rId9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500+ Cloud Computing Pictures [HD] | Download Free Images on Unsplas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1258"/>
            <a:ext cx="4610100" cy="3331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148367"/>
            <a:ext cx="45459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Parallel and Distributed Computing</a:t>
            </a:r>
          </a:p>
          <a:p>
            <a:r>
              <a:rPr lang="en-US" sz="1600" dirty="0">
                <a:solidFill>
                  <a:srgbClr val="FFC000"/>
                </a:solidFill>
              </a:rPr>
              <a:t>2b. Types of DS</a:t>
            </a:r>
          </a:p>
        </p:txBody>
      </p:sp>
    </p:spTree>
    <p:extLst>
      <p:ext uri="{BB962C8B-B14F-4D97-AF65-F5344CB8AC3E}">
        <p14:creationId xmlns:p14="http://schemas.microsoft.com/office/powerpoint/2010/main" val="884802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2303" y="638994"/>
            <a:ext cx="1783714" cy="55435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70"/>
              </a:spcBef>
            </a:pPr>
            <a:r>
              <a:rPr sz="1400" b="1" spc="10" dirty="0">
                <a:solidFill>
                  <a:srgbClr val="04064C"/>
                </a:solidFill>
                <a:latin typeface="Arial"/>
                <a:cs typeface="Arial"/>
              </a:rPr>
              <a:t>Distributed</a:t>
            </a:r>
            <a:r>
              <a:rPr sz="1400" b="1" spc="-40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04064C"/>
                </a:solidFill>
                <a:latin typeface="Arial"/>
                <a:cs typeface="Arial"/>
              </a:rPr>
              <a:t>Systems</a:t>
            </a:r>
            <a:endParaRPr sz="1400">
              <a:latin typeface="Arial"/>
              <a:cs typeface="Arial"/>
            </a:endParaRPr>
          </a:p>
          <a:p>
            <a:pPr marL="3810" algn="ctr">
              <a:lnSpc>
                <a:spcPct val="100000"/>
              </a:lnSpc>
              <a:spcBef>
                <a:spcPts val="509"/>
              </a:spcBef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(3rd</a:t>
            </a:r>
            <a:r>
              <a:rPr sz="1000" spc="-10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Edition)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7743" y="1807362"/>
            <a:ext cx="4483735" cy="1163955"/>
            <a:chOff x="87743" y="1807362"/>
            <a:chExt cx="4483735" cy="1163955"/>
          </a:xfrm>
        </p:grpSpPr>
        <p:sp>
          <p:nvSpPr>
            <p:cNvPr id="4" name="object 4"/>
            <p:cNvSpPr/>
            <p:nvPr/>
          </p:nvSpPr>
          <p:spPr>
            <a:xfrm>
              <a:off x="87743" y="1807362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7" y="82384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8544" y="2869552"/>
              <a:ext cx="101600" cy="101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9344" y="2856852"/>
              <a:ext cx="4381715" cy="1143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20311" y="1857933"/>
              <a:ext cx="50749" cy="101161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7743" y="1851775"/>
              <a:ext cx="4432935" cy="1068705"/>
            </a:xfrm>
            <a:custGeom>
              <a:avLst/>
              <a:gdLst/>
              <a:ahLst/>
              <a:cxnLst/>
              <a:rect l="l" t="t" r="r" b="b"/>
              <a:pathLst>
                <a:path w="4432935" h="1068705">
                  <a:moveTo>
                    <a:pt x="4432567" y="0"/>
                  </a:moveTo>
                  <a:lnTo>
                    <a:pt x="0" y="0"/>
                  </a:lnTo>
                  <a:lnTo>
                    <a:pt x="0" y="1017776"/>
                  </a:lnTo>
                  <a:lnTo>
                    <a:pt x="4008" y="1037501"/>
                  </a:lnTo>
                  <a:lnTo>
                    <a:pt x="14922" y="1053654"/>
                  </a:lnTo>
                  <a:lnTo>
                    <a:pt x="31075" y="1064568"/>
                  </a:lnTo>
                  <a:lnTo>
                    <a:pt x="50800" y="1068577"/>
                  </a:lnTo>
                  <a:lnTo>
                    <a:pt x="4381767" y="1068577"/>
                  </a:lnTo>
                  <a:lnTo>
                    <a:pt x="4401492" y="1064568"/>
                  </a:lnTo>
                  <a:lnTo>
                    <a:pt x="4417644" y="1053654"/>
                  </a:lnTo>
                  <a:lnTo>
                    <a:pt x="4428558" y="1037501"/>
                  </a:lnTo>
                  <a:lnTo>
                    <a:pt x="4432567" y="1017776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1" y="1896012"/>
              <a:ext cx="0" cy="993140"/>
            </a:xfrm>
            <a:custGeom>
              <a:avLst/>
              <a:gdLst/>
              <a:ahLst/>
              <a:cxnLst/>
              <a:rect l="l" t="t" r="r" b="b"/>
              <a:pathLst>
                <a:path h="993139">
                  <a:moveTo>
                    <a:pt x="0" y="99258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1" y="188331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1" y="187061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1" y="185791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307998" y="2023818"/>
            <a:ext cx="1992630" cy="87908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latin typeface="Arial"/>
                <a:cs typeface="Arial"/>
              </a:rPr>
              <a:t>Chapter 01: Introduction</a:t>
            </a:r>
            <a:endParaRPr sz="1400" dirty="0">
              <a:latin typeface="Arial"/>
              <a:cs typeface="Arial"/>
            </a:endParaRPr>
          </a:p>
          <a:p>
            <a:pPr marL="3810" algn="ctr">
              <a:lnSpc>
                <a:spcPct val="100000"/>
              </a:lnSpc>
              <a:spcBef>
                <a:spcPts val="1170"/>
              </a:spcBef>
            </a:pPr>
            <a:r>
              <a:rPr sz="1100" spc="-20" dirty="0">
                <a:latin typeface="Arial"/>
                <a:cs typeface="Arial"/>
              </a:rPr>
              <a:t>Version: </a:t>
            </a:r>
            <a:r>
              <a:rPr sz="1100" spc="-5" dirty="0">
                <a:latin typeface="Arial"/>
                <a:cs typeface="Arial"/>
              </a:rPr>
              <a:t>Feb</a:t>
            </a:r>
            <a:r>
              <a:rPr lang="en-US" sz="1100" spc="-5" dirty="0">
                <a:latin typeface="Arial"/>
                <a:cs typeface="Arial"/>
              </a:rPr>
              <a:t>.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2017</a:t>
            </a:r>
            <a:endParaRPr lang="en-US" sz="1100" spc="-10" dirty="0">
              <a:latin typeface="Arial"/>
              <a:cs typeface="Arial"/>
            </a:endParaRPr>
          </a:p>
          <a:p>
            <a:pPr marL="3810" algn="ctr">
              <a:lnSpc>
                <a:spcPct val="100000"/>
              </a:lnSpc>
              <a:spcBef>
                <a:spcPts val="1170"/>
              </a:spcBef>
            </a:pPr>
            <a:r>
              <a:rPr lang="en-US" sz="1100" spc="-10" dirty="0">
                <a:latin typeface="Arial"/>
                <a:cs typeface="Arial"/>
              </a:rPr>
              <a:t>Revised: Oct. 2021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14357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Types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of distributed</a:t>
            </a:r>
            <a:r>
              <a:rPr sz="600" spc="2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systems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2303995" y="0"/>
                </a:moveTo>
                <a:lnTo>
                  <a:pt x="0" y="0"/>
                </a:lnTo>
                <a:lnTo>
                  <a:pt x="0" y="129032"/>
                </a:lnTo>
                <a:lnTo>
                  <a:pt x="2303995" y="129032"/>
                </a:lnTo>
                <a:lnTo>
                  <a:pt x="2303995" y="0"/>
                </a:lnTo>
                <a:close/>
              </a:path>
            </a:pathLst>
          </a:custGeom>
          <a:solidFill>
            <a:srgbClr val="FCC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0" y="129032"/>
            <a:ext cx="4608195" cy="321945"/>
          </a:xfrm>
          <a:prstGeom prst="rect">
            <a:avLst/>
          </a:prstGeom>
          <a:solidFill>
            <a:srgbClr val="FFE600"/>
          </a:solidFill>
        </p:spPr>
        <p:txBody>
          <a:bodyPr vert="horz" wrap="square" lIns="0" tIns="6223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490"/>
              </a:spcBef>
            </a:pPr>
            <a:r>
              <a:rPr sz="1400" spc="15" dirty="0">
                <a:solidFill>
                  <a:srgbClr val="04064C"/>
                </a:solidFill>
                <a:latin typeface="Arial"/>
                <a:cs typeface="Arial"/>
              </a:rPr>
              <a:t>Three types </a:t>
            </a:r>
            <a:r>
              <a:rPr sz="1400" spc="10" dirty="0">
                <a:solidFill>
                  <a:srgbClr val="04064C"/>
                </a:solidFill>
                <a:latin typeface="Arial"/>
                <a:cs typeface="Arial"/>
              </a:rPr>
              <a:t>of distributed</a:t>
            </a:r>
            <a:r>
              <a:rPr sz="1400" spc="-25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04064C"/>
                </a:solidFill>
                <a:latin typeface="Arial"/>
                <a:cs typeface="Arial"/>
              </a:rPr>
              <a:t>systems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7743" y="1350860"/>
            <a:ext cx="4483735" cy="779145"/>
            <a:chOff x="87743" y="1350860"/>
            <a:chExt cx="4483735" cy="779145"/>
          </a:xfrm>
        </p:grpSpPr>
        <p:sp>
          <p:nvSpPr>
            <p:cNvPr id="6" name="object 6"/>
            <p:cNvSpPr/>
            <p:nvPr/>
          </p:nvSpPr>
          <p:spPr>
            <a:xfrm>
              <a:off x="87743" y="1350860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7" y="82384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8544" y="2028253"/>
              <a:ext cx="101600" cy="1016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9344" y="2015553"/>
              <a:ext cx="4381715" cy="114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1" y="1401432"/>
              <a:ext cx="50749" cy="62682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743" y="1395286"/>
              <a:ext cx="4432935" cy="683895"/>
            </a:xfrm>
            <a:custGeom>
              <a:avLst/>
              <a:gdLst/>
              <a:ahLst/>
              <a:cxnLst/>
              <a:rect l="l" t="t" r="r" b="b"/>
              <a:pathLst>
                <a:path w="4432935" h="683894">
                  <a:moveTo>
                    <a:pt x="4432567" y="0"/>
                  </a:moveTo>
                  <a:lnTo>
                    <a:pt x="0" y="0"/>
                  </a:lnTo>
                  <a:lnTo>
                    <a:pt x="0" y="632966"/>
                  </a:lnTo>
                  <a:lnTo>
                    <a:pt x="4008" y="652691"/>
                  </a:lnTo>
                  <a:lnTo>
                    <a:pt x="14922" y="668844"/>
                  </a:lnTo>
                  <a:lnTo>
                    <a:pt x="31075" y="679758"/>
                  </a:lnTo>
                  <a:lnTo>
                    <a:pt x="50800" y="683767"/>
                  </a:lnTo>
                  <a:lnTo>
                    <a:pt x="4381767" y="683767"/>
                  </a:lnTo>
                  <a:lnTo>
                    <a:pt x="4401492" y="679758"/>
                  </a:lnTo>
                  <a:lnTo>
                    <a:pt x="4417644" y="668844"/>
                  </a:lnTo>
                  <a:lnTo>
                    <a:pt x="4428558" y="652691"/>
                  </a:lnTo>
                  <a:lnTo>
                    <a:pt x="4432567" y="632966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1" y="1439524"/>
              <a:ext cx="0" cy="608330"/>
            </a:xfrm>
            <a:custGeom>
              <a:avLst/>
              <a:gdLst/>
              <a:ahLst/>
              <a:cxnLst/>
              <a:rect l="l" t="t" r="r" b="b"/>
              <a:pathLst>
                <a:path h="608330">
                  <a:moveTo>
                    <a:pt x="0" y="60777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1" y="14268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1" y="14141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1" y="14014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9557" y="1471637"/>
              <a:ext cx="76809" cy="7680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9557" y="1699387"/>
              <a:ext cx="76809" cy="7680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9557" y="1927136"/>
              <a:ext cx="76809" cy="7680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02932" y="1335830"/>
            <a:ext cx="2766695" cy="708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4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High performance distributed computing systems  Distributed information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systems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000" spc="-5" dirty="0">
                <a:latin typeface="Arial"/>
                <a:cs typeface="Arial"/>
              </a:rPr>
              <a:t>Distributed systems </a:t>
            </a:r>
            <a:r>
              <a:rPr sz="1000" spc="-15" dirty="0">
                <a:latin typeface="Arial"/>
                <a:cs typeface="Arial"/>
              </a:rPr>
              <a:t>for </a:t>
            </a:r>
            <a:r>
              <a:rPr sz="1000" spc="-5" dirty="0">
                <a:latin typeface="Arial"/>
                <a:cs typeface="Arial"/>
              </a:rPr>
              <a:t>pervasive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computing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326968"/>
            <a:ext cx="4608195" cy="129539"/>
            <a:chOff x="0" y="3326968"/>
            <a:chExt cx="4608195" cy="129539"/>
          </a:xfrm>
        </p:grpSpPr>
        <p:sp>
          <p:nvSpPr>
            <p:cNvPr id="20" name="object 20"/>
            <p:cNvSpPr/>
            <p:nvPr/>
          </p:nvSpPr>
          <p:spPr>
            <a:xfrm>
              <a:off x="0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2303995" y="129031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1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303995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2303995" y="129031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28 /</a:t>
            </a:r>
            <a:r>
              <a:rPr spc="-70" dirty="0"/>
              <a:t> </a:t>
            </a:r>
            <a:r>
              <a:rPr spc="-5" dirty="0"/>
              <a:t>56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45415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16580" algn="l"/>
              </a:tabLst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 </a:t>
            </a:r>
            <a:r>
              <a:rPr sz="600" spc="-20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Types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of</a:t>
            </a:r>
            <a:r>
              <a:rPr sz="600" spc="70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distributed</a:t>
            </a:r>
            <a:r>
              <a:rPr sz="600" spc="1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systems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High performance distributed</a:t>
            </a:r>
            <a:r>
              <a:rPr sz="600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computing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29032"/>
            <a:ext cx="4608195" cy="321945"/>
          </a:xfrm>
          <a:prstGeom prst="rect">
            <a:avLst/>
          </a:prstGeom>
          <a:solidFill>
            <a:srgbClr val="FFE600"/>
          </a:solidFill>
        </p:spPr>
        <p:txBody>
          <a:bodyPr vert="horz" wrap="square" lIns="0" tIns="6223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490"/>
              </a:spcBef>
            </a:pPr>
            <a:r>
              <a:rPr dirty="0"/>
              <a:t>Parallel </a:t>
            </a:r>
            <a:r>
              <a:rPr spc="15" dirty="0"/>
              <a:t>computing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7743" y="857376"/>
            <a:ext cx="4483735" cy="448945"/>
            <a:chOff x="87743" y="857376"/>
            <a:chExt cx="4483735" cy="448945"/>
          </a:xfrm>
        </p:grpSpPr>
        <p:sp>
          <p:nvSpPr>
            <p:cNvPr id="5" name="object 5"/>
            <p:cNvSpPr/>
            <p:nvPr/>
          </p:nvSpPr>
          <p:spPr>
            <a:xfrm>
              <a:off x="87743" y="857376"/>
              <a:ext cx="4432935" cy="175895"/>
            </a:xfrm>
            <a:custGeom>
              <a:avLst/>
              <a:gdLst/>
              <a:ahLst/>
              <a:cxnLst/>
              <a:rect l="l" t="t" r="r" b="b"/>
              <a:pathLst>
                <a:path w="4432935" h="175894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635"/>
                  </a:lnTo>
                  <a:lnTo>
                    <a:pt x="4432567" y="175635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CB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7744" y="1020356"/>
              <a:ext cx="4432566" cy="5060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8544" y="1204150"/>
              <a:ext cx="101600" cy="1016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9344" y="1191450"/>
              <a:ext cx="4381715" cy="1143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1" y="901611"/>
              <a:ext cx="50749" cy="30253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743" y="1064639"/>
              <a:ext cx="4432935" cy="190500"/>
            </a:xfrm>
            <a:custGeom>
              <a:avLst/>
              <a:gdLst/>
              <a:ahLst/>
              <a:cxnLst/>
              <a:rect l="l" t="t" r="r" b="b"/>
              <a:pathLst>
                <a:path w="4432935" h="190500">
                  <a:moveTo>
                    <a:pt x="4432567" y="0"/>
                  </a:moveTo>
                  <a:lnTo>
                    <a:pt x="0" y="0"/>
                  </a:lnTo>
                  <a:lnTo>
                    <a:pt x="0" y="139510"/>
                  </a:lnTo>
                  <a:lnTo>
                    <a:pt x="4008" y="159235"/>
                  </a:lnTo>
                  <a:lnTo>
                    <a:pt x="14922" y="175388"/>
                  </a:lnTo>
                  <a:lnTo>
                    <a:pt x="31075" y="186302"/>
                  </a:lnTo>
                  <a:lnTo>
                    <a:pt x="50800" y="190311"/>
                  </a:lnTo>
                  <a:lnTo>
                    <a:pt x="4381767" y="190311"/>
                  </a:lnTo>
                  <a:lnTo>
                    <a:pt x="4401492" y="186302"/>
                  </a:lnTo>
                  <a:lnTo>
                    <a:pt x="4417644" y="175388"/>
                  </a:lnTo>
                  <a:lnTo>
                    <a:pt x="4428558" y="159235"/>
                  </a:lnTo>
                  <a:lnTo>
                    <a:pt x="4432567" y="139510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1" y="939709"/>
              <a:ext cx="0" cy="283845"/>
            </a:xfrm>
            <a:custGeom>
              <a:avLst/>
              <a:gdLst/>
              <a:ahLst/>
              <a:cxnLst/>
              <a:rect l="l" t="t" r="r" b="b"/>
              <a:pathLst>
                <a:path h="283844">
                  <a:moveTo>
                    <a:pt x="0" y="2834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1" y="92700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1" y="91430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1" y="90160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87743" y="1406880"/>
            <a:ext cx="4483735" cy="1463675"/>
            <a:chOff x="87743" y="1406880"/>
            <a:chExt cx="4483735" cy="1463675"/>
          </a:xfrm>
        </p:grpSpPr>
        <p:sp>
          <p:nvSpPr>
            <p:cNvPr id="16" name="object 16"/>
            <p:cNvSpPr/>
            <p:nvPr/>
          </p:nvSpPr>
          <p:spPr>
            <a:xfrm>
              <a:off x="87743" y="1406880"/>
              <a:ext cx="4432935" cy="181610"/>
            </a:xfrm>
            <a:custGeom>
              <a:avLst/>
              <a:gdLst/>
              <a:ahLst/>
              <a:cxnLst/>
              <a:rect l="l" t="t" r="r" b="b"/>
              <a:pathLst>
                <a:path w="4432935" h="181609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200"/>
                  </a:lnTo>
                  <a:lnTo>
                    <a:pt x="4432567" y="181200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CB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7744" y="1575422"/>
              <a:ext cx="4432566" cy="5060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8544" y="2768473"/>
              <a:ext cx="101600" cy="1016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9344" y="2755772"/>
              <a:ext cx="4381715" cy="1143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20311" y="1451114"/>
              <a:ext cx="50749" cy="131735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743" y="1619685"/>
              <a:ext cx="4432935" cy="1200150"/>
            </a:xfrm>
            <a:custGeom>
              <a:avLst/>
              <a:gdLst/>
              <a:ahLst/>
              <a:cxnLst/>
              <a:rect l="l" t="t" r="r" b="b"/>
              <a:pathLst>
                <a:path w="4432935" h="1200150">
                  <a:moveTo>
                    <a:pt x="4432567" y="0"/>
                  </a:moveTo>
                  <a:lnTo>
                    <a:pt x="0" y="0"/>
                  </a:lnTo>
                  <a:lnTo>
                    <a:pt x="0" y="1148787"/>
                  </a:lnTo>
                  <a:lnTo>
                    <a:pt x="4008" y="1168512"/>
                  </a:lnTo>
                  <a:lnTo>
                    <a:pt x="14922" y="1184665"/>
                  </a:lnTo>
                  <a:lnTo>
                    <a:pt x="31075" y="1195579"/>
                  </a:lnTo>
                  <a:lnTo>
                    <a:pt x="50800" y="1199587"/>
                  </a:lnTo>
                  <a:lnTo>
                    <a:pt x="4381767" y="1199587"/>
                  </a:lnTo>
                  <a:lnTo>
                    <a:pt x="4401492" y="1195579"/>
                  </a:lnTo>
                  <a:lnTo>
                    <a:pt x="4417644" y="1184665"/>
                  </a:lnTo>
                  <a:lnTo>
                    <a:pt x="4428558" y="1168512"/>
                  </a:lnTo>
                  <a:lnTo>
                    <a:pt x="4432567" y="1148787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11" y="1489189"/>
              <a:ext cx="0" cy="1298575"/>
            </a:xfrm>
            <a:custGeom>
              <a:avLst/>
              <a:gdLst/>
              <a:ahLst/>
              <a:cxnLst/>
              <a:rect l="l" t="t" r="r" b="b"/>
              <a:pathLst>
                <a:path h="1298575">
                  <a:moveTo>
                    <a:pt x="0" y="12983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11" y="147648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11" y="146378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11" y="145108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06740" y="2235013"/>
              <a:ext cx="1018540" cy="85725"/>
            </a:xfrm>
            <a:custGeom>
              <a:avLst/>
              <a:gdLst/>
              <a:ahLst/>
              <a:cxnLst/>
              <a:rect l="l" t="t" r="r" b="b"/>
              <a:pathLst>
                <a:path w="1018539" h="85725">
                  <a:moveTo>
                    <a:pt x="0" y="0"/>
                  </a:moveTo>
                  <a:lnTo>
                    <a:pt x="0" y="85459"/>
                  </a:lnTo>
                </a:path>
                <a:path w="1018539" h="85725">
                  <a:moveTo>
                    <a:pt x="339436" y="0"/>
                  </a:moveTo>
                  <a:lnTo>
                    <a:pt x="339436" y="85459"/>
                  </a:lnTo>
                </a:path>
                <a:path w="1018539" h="85725">
                  <a:moveTo>
                    <a:pt x="678873" y="0"/>
                  </a:moveTo>
                  <a:lnTo>
                    <a:pt x="678873" y="85459"/>
                  </a:lnTo>
                </a:path>
                <a:path w="1018539" h="85725">
                  <a:moveTo>
                    <a:pt x="1018314" y="0"/>
                  </a:moveTo>
                  <a:lnTo>
                    <a:pt x="1018314" y="85459"/>
                  </a:lnTo>
                </a:path>
              </a:pathLst>
            </a:custGeom>
            <a:ln w="2108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88416" y="2528979"/>
              <a:ext cx="67310" cy="90170"/>
            </a:xfrm>
            <a:custGeom>
              <a:avLst/>
              <a:gdLst/>
              <a:ahLst/>
              <a:cxnLst/>
              <a:rect l="l" t="t" r="r" b="b"/>
              <a:pathLst>
                <a:path w="67309" h="90169">
                  <a:moveTo>
                    <a:pt x="0" y="89615"/>
                  </a:moveTo>
                  <a:lnTo>
                    <a:pt x="67211" y="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07925" y="2499073"/>
              <a:ext cx="70485" cy="78740"/>
            </a:xfrm>
            <a:custGeom>
              <a:avLst/>
              <a:gdLst/>
              <a:ahLst/>
              <a:cxnLst/>
              <a:rect l="l" t="t" r="r" b="b"/>
              <a:pathLst>
                <a:path w="70484" h="78739">
                  <a:moveTo>
                    <a:pt x="70130" y="0"/>
                  </a:moveTo>
                  <a:lnTo>
                    <a:pt x="0" y="40377"/>
                  </a:lnTo>
                  <a:lnTo>
                    <a:pt x="16338" y="45158"/>
                  </a:lnTo>
                  <a:lnTo>
                    <a:pt x="30284" y="53127"/>
                  </a:lnTo>
                  <a:lnTo>
                    <a:pt x="41839" y="64285"/>
                  </a:lnTo>
                  <a:lnTo>
                    <a:pt x="51004" y="78629"/>
                  </a:lnTo>
                  <a:lnTo>
                    <a:pt x="7013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9493" y="2320472"/>
              <a:ext cx="170180" cy="179070"/>
            </a:xfrm>
            <a:custGeom>
              <a:avLst/>
              <a:gdLst/>
              <a:ahLst/>
              <a:cxnLst/>
              <a:rect l="l" t="t" r="r" b="b"/>
              <a:pathLst>
                <a:path w="170180" h="179069">
                  <a:moveTo>
                    <a:pt x="169718" y="0"/>
                  </a:moveTo>
                  <a:lnTo>
                    <a:pt x="0" y="0"/>
                  </a:lnTo>
                  <a:lnTo>
                    <a:pt x="0" y="178600"/>
                  </a:lnTo>
                  <a:lnTo>
                    <a:pt x="169718" y="178600"/>
                  </a:lnTo>
                  <a:lnTo>
                    <a:pt x="1697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9493" y="2320472"/>
              <a:ext cx="170180" cy="179070"/>
            </a:xfrm>
            <a:custGeom>
              <a:avLst/>
              <a:gdLst/>
              <a:ahLst/>
              <a:cxnLst/>
              <a:rect l="l" t="t" r="r" b="b"/>
              <a:pathLst>
                <a:path w="170180" h="179069">
                  <a:moveTo>
                    <a:pt x="0" y="178600"/>
                  </a:moveTo>
                  <a:lnTo>
                    <a:pt x="169718" y="178600"/>
                  </a:lnTo>
                  <a:lnTo>
                    <a:pt x="169718" y="0"/>
                  </a:lnTo>
                  <a:lnTo>
                    <a:pt x="0" y="0"/>
                  </a:lnTo>
                  <a:lnTo>
                    <a:pt x="0" y="178600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158930" y="2320472"/>
              <a:ext cx="170180" cy="179070"/>
            </a:xfrm>
            <a:custGeom>
              <a:avLst/>
              <a:gdLst/>
              <a:ahLst/>
              <a:cxnLst/>
              <a:rect l="l" t="t" r="r" b="b"/>
              <a:pathLst>
                <a:path w="170180" h="179069">
                  <a:moveTo>
                    <a:pt x="169718" y="0"/>
                  </a:moveTo>
                  <a:lnTo>
                    <a:pt x="0" y="0"/>
                  </a:lnTo>
                  <a:lnTo>
                    <a:pt x="0" y="178600"/>
                  </a:lnTo>
                  <a:lnTo>
                    <a:pt x="169718" y="178600"/>
                  </a:lnTo>
                  <a:lnTo>
                    <a:pt x="1697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158930" y="2320472"/>
              <a:ext cx="170180" cy="179070"/>
            </a:xfrm>
            <a:custGeom>
              <a:avLst/>
              <a:gdLst/>
              <a:ahLst/>
              <a:cxnLst/>
              <a:rect l="l" t="t" r="r" b="b"/>
              <a:pathLst>
                <a:path w="170180" h="179069">
                  <a:moveTo>
                    <a:pt x="0" y="178600"/>
                  </a:moveTo>
                  <a:lnTo>
                    <a:pt x="169718" y="178600"/>
                  </a:lnTo>
                  <a:lnTo>
                    <a:pt x="169718" y="0"/>
                  </a:lnTo>
                  <a:lnTo>
                    <a:pt x="0" y="0"/>
                  </a:lnTo>
                  <a:lnTo>
                    <a:pt x="0" y="178600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498366" y="2320472"/>
              <a:ext cx="170180" cy="179070"/>
            </a:xfrm>
            <a:custGeom>
              <a:avLst/>
              <a:gdLst/>
              <a:ahLst/>
              <a:cxnLst/>
              <a:rect l="l" t="t" r="r" b="b"/>
              <a:pathLst>
                <a:path w="170180" h="179069">
                  <a:moveTo>
                    <a:pt x="169722" y="0"/>
                  </a:moveTo>
                  <a:lnTo>
                    <a:pt x="0" y="0"/>
                  </a:lnTo>
                  <a:lnTo>
                    <a:pt x="0" y="178600"/>
                  </a:lnTo>
                  <a:lnTo>
                    <a:pt x="169722" y="178600"/>
                  </a:lnTo>
                  <a:lnTo>
                    <a:pt x="1697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498366" y="2320472"/>
              <a:ext cx="170180" cy="179070"/>
            </a:xfrm>
            <a:custGeom>
              <a:avLst/>
              <a:gdLst/>
              <a:ahLst/>
              <a:cxnLst/>
              <a:rect l="l" t="t" r="r" b="b"/>
              <a:pathLst>
                <a:path w="170180" h="179069">
                  <a:moveTo>
                    <a:pt x="0" y="178600"/>
                  </a:moveTo>
                  <a:lnTo>
                    <a:pt x="169722" y="178600"/>
                  </a:lnTo>
                  <a:lnTo>
                    <a:pt x="169722" y="0"/>
                  </a:lnTo>
                  <a:lnTo>
                    <a:pt x="0" y="0"/>
                  </a:lnTo>
                  <a:lnTo>
                    <a:pt x="0" y="178600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37803" y="2320472"/>
              <a:ext cx="170180" cy="179070"/>
            </a:xfrm>
            <a:custGeom>
              <a:avLst/>
              <a:gdLst/>
              <a:ahLst/>
              <a:cxnLst/>
              <a:rect l="l" t="t" r="r" b="b"/>
              <a:pathLst>
                <a:path w="170180" h="179069">
                  <a:moveTo>
                    <a:pt x="169722" y="0"/>
                  </a:moveTo>
                  <a:lnTo>
                    <a:pt x="0" y="0"/>
                  </a:lnTo>
                  <a:lnTo>
                    <a:pt x="0" y="178600"/>
                  </a:lnTo>
                  <a:lnTo>
                    <a:pt x="169722" y="178600"/>
                  </a:lnTo>
                  <a:lnTo>
                    <a:pt x="1697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837803" y="2320472"/>
              <a:ext cx="170180" cy="179070"/>
            </a:xfrm>
            <a:custGeom>
              <a:avLst/>
              <a:gdLst/>
              <a:ahLst/>
              <a:cxnLst/>
              <a:rect l="l" t="t" r="r" b="b"/>
              <a:pathLst>
                <a:path w="170180" h="179069">
                  <a:moveTo>
                    <a:pt x="0" y="178600"/>
                  </a:moveTo>
                  <a:lnTo>
                    <a:pt x="169722" y="178600"/>
                  </a:lnTo>
                  <a:lnTo>
                    <a:pt x="169722" y="0"/>
                  </a:lnTo>
                  <a:lnTo>
                    <a:pt x="0" y="0"/>
                  </a:lnTo>
                  <a:lnTo>
                    <a:pt x="0" y="178600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666071" y="1841714"/>
              <a:ext cx="170180" cy="179070"/>
            </a:xfrm>
            <a:custGeom>
              <a:avLst/>
              <a:gdLst/>
              <a:ahLst/>
              <a:cxnLst/>
              <a:rect l="l" t="t" r="r" b="b"/>
              <a:pathLst>
                <a:path w="170180" h="179069">
                  <a:moveTo>
                    <a:pt x="169718" y="0"/>
                  </a:moveTo>
                  <a:lnTo>
                    <a:pt x="0" y="0"/>
                  </a:lnTo>
                  <a:lnTo>
                    <a:pt x="0" y="178600"/>
                  </a:lnTo>
                  <a:lnTo>
                    <a:pt x="169718" y="178600"/>
                  </a:lnTo>
                  <a:lnTo>
                    <a:pt x="169718" y="0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666071" y="1841714"/>
              <a:ext cx="170180" cy="179070"/>
            </a:xfrm>
            <a:custGeom>
              <a:avLst/>
              <a:gdLst/>
              <a:ahLst/>
              <a:cxnLst/>
              <a:rect l="l" t="t" r="r" b="b"/>
              <a:pathLst>
                <a:path w="170180" h="179069">
                  <a:moveTo>
                    <a:pt x="0" y="178600"/>
                  </a:moveTo>
                  <a:lnTo>
                    <a:pt x="169718" y="178600"/>
                  </a:lnTo>
                  <a:lnTo>
                    <a:pt x="169718" y="0"/>
                  </a:lnTo>
                  <a:lnTo>
                    <a:pt x="0" y="0"/>
                  </a:lnTo>
                  <a:lnTo>
                    <a:pt x="0" y="178600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326635" y="1841714"/>
              <a:ext cx="170180" cy="179070"/>
            </a:xfrm>
            <a:custGeom>
              <a:avLst/>
              <a:gdLst/>
              <a:ahLst/>
              <a:cxnLst/>
              <a:rect l="l" t="t" r="r" b="b"/>
              <a:pathLst>
                <a:path w="170180" h="179069">
                  <a:moveTo>
                    <a:pt x="169718" y="0"/>
                  </a:moveTo>
                  <a:lnTo>
                    <a:pt x="0" y="0"/>
                  </a:lnTo>
                  <a:lnTo>
                    <a:pt x="0" y="178600"/>
                  </a:lnTo>
                  <a:lnTo>
                    <a:pt x="169718" y="178600"/>
                  </a:lnTo>
                  <a:lnTo>
                    <a:pt x="169718" y="0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326635" y="1841714"/>
              <a:ext cx="170180" cy="179070"/>
            </a:xfrm>
            <a:custGeom>
              <a:avLst/>
              <a:gdLst/>
              <a:ahLst/>
              <a:cxnLst/>
              <a:rect l="l" t="t" r="r" b="b"/>
              <a:pathLst>
                <a:path w="170180" h="179069">
                  <a:moveTo>
                    <a:pt x="0" y="178600"/>
                  </a:moveTo>
                  <a:lnTo>
                    <a:pt x="169718" y="178600"/>
                  </a:lnTo>
                  <a:lnTo>
                    <a:pt x="169718" y="0"/>
                  </a:lnTo>
                  <a:lnTo>
                    <a:pt x="0" y="0"/>
                  </a:lnTo>
                  <a:lnTo>
                    <a:pt x="0" y="178600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87198" y="1841714"/>
              <a:ext cx="170180" cy="179070"/>
            </a:xfrm>
            <a:custGeom>
              <a:avLst/>
              <a:gdLst/>
              <a:ahLst/>
              <a:cxnLst/>
              <a:rect l="l" t="t" r="r" b="b"/>
              <a:pathLst>
                <a:path w="170180" h="179069">
                  <a:moveTo>
                    <a:pt x="169718" y="0"/>
                  </a:moveTo>
                  <a:lnTo>
                    <a:pt x="0" y="0"/>
                  </a:lnTo>
                  <a:lnTo>
                    <a:pt x="0" y="178600"/>
                  </a:lnTo>
                  <a:lnTo>
                    <a:pt x="169718" y="178600"/>
                  </a:lnTo>
                  <a:lnTo>
                    <a:pt x="169718" y="0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87198" y="1841714"/>
              <a:ext cx="170180" cy="179070"/>
            </a:xfrm>
            <a:custGeom>
              <a:avLst/>
              <a:gdLst/>
              <a:ahLst/>
              <a:cxnLst/>
              <a:rect l="l" t="t" r="r" b="b"/>
              <a:pathLst>
                <a:path w="170180" h="179069">
                  <a:moveTo>
                    <a:pt x="0" y="178600"/>
                  </a:moveTo>
                  <a:lnTo>
                    <a:pt x="169718" y="178600"/>
                  </a:lnTo>
                  <a:lnTo>
                    <a:pt x="169718" y="0"/>
                  </a:lnTo>
                  <a:lnTo>
                    <a:pt x="0" y="0"/>
                  </a:lnTo>
                  <a:lnTo>
                    <a:pt x="0" y="178600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066893" y="2020993"/>
              <a:ext cx="679450" cy="88265"/>
            </a:xfrm>
            <a:custGeom>
              <a:avLst/>
              <a:gdLst/>
              <a:ahLst/>
              <a:cxnLst/>
              <a:rect l="l" t="t" r="r" b="b"/>
              <a:pathLst>
                <a:path w="679450" h="88264">
                  <a:moveTo>
                    <a:pt x="678874" y="0"/>
                  </a:moveTo>
                  <a:lnTo>
                    <a:pt x="678874" y="88245"/>
                  </a:lnTo>
                </a:path>
                <a:path w="679450" h="88264">
                  <a:moveTo>
                    <a:pt x="339437" y="0"/>
                  </a:moveTo>
                  <a:lnTo>
                    <a:pt x="339437" y="88245"/>
                  </a:lnTo>
                </a:path>
                <a:path w="679450" h="88264">
                  <a:moveTo>
                    <a:pt x="0" y="0"/>
                  </a:moveTo>
                  <a:lnTo>
                    <a:pt x="0" y="88245"/>
                  </a:lnTo>
                </a:path>
              </a:pathLst>
            </a:custGeom>
            <a:ln w="2108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826648" y="2619361"/>
            <a:ext cx="40513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Processor</a:t>
            </a:r>
            <a:endParaRPr sz="6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65365" y="2344512"/>
            <a:ext cx="7937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-1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endParaRPr sz="6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883675" y="2344512"/>
            <a:ext cx="7937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-1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816635" y="2106381"/>
            <a:ext cx="1201420" cy="132080"/>
            <a:chOff x="816635" y="2106381"/>
            <a:chExt cx="1201420" cy="132080"/>
          </a:xfrm>
        </p:grpSpPr>
        <p:sp>
          <p:nvSpPr>
            <p:cNvPr id="48" name="object 48"/>
            <p:cNvSpPr/>
            <p:nvPr/>
          </p:nvSpPr>
          <p:spPr>
            <a:xfrm>
              <a:off x="819493" y="2109238"/>
              <a:ext cx="1195705" cy="126364"/>
            </a:xfrm>
            <a:custGeom>
              <a:avLst/>
              <a:gdLst/>
              <a:ahLst/>
              <a:cxnLst/>
              <a:rect l="l" t="t" r="r" b="b"/>
              <a:pathLst>
                <a:path w="1195705" h="126364">
                  <a:moveTo>
                    <a:pt x="1195201" y="0"/>
                  </a:moveTo>
                  <a:lnTo>
                    <a:pt x="0" y="0"/>
                  </a:lnTo>
                  <a:lnTo>
                    <a:pt x="0" y="125775"/>
                  </a:lnTo>
                  <a:lnTo>
                    <a:pt x="1195201" y="125775"/>
                  </a:lnTo>
                  <a:lnTo>
                    <a:pt x="11952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19493" y="2109238"/>
              <a:ext cx="1195705" cy="126364"/>
            </a:xfrm>
            <a:custGeom>
              <a:avLst/>
              <a:gdLst/>
              <a:ahLst/>
              <a:cxnLst/>
              <a:rect l="l" t="t" r="r" b="b"/>
              <a:pathLst>
                <a:path w="1195705" h="126364">
                  <a:moveTo>
                    <a:pt x="0" y="125775"/>
                  </a:moveTo>
                  <a:lnTo>
                    <a:pt x="1195201" y="125775"/>
                  </a:lnTo>
                  <a:lnTo>
                    <a:pt x="1195201" y="0"/>
                  </a:lnTo>
                  <a:lnTo>
                    <a:pt x="0" y="0"/>
                  </a:lnTo>
                  <a:lnTo>
                    <a:pt x="0" y="125775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027421" y="1865749"/>
            <a:ext cx="771525" cy="6057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  <a:tabLst>
                <a:tab pos="339090" algn="l"/>
                <a:tab pos="678815" algn="l"/>
              </a:tabLst>
            </a:pPr>
            <a:r>
              <a:rPr sz="650" spc="-20" dirty="0">
                <a:solidFill>
                  <a:srgbClr val="231F20"/>
                </a:solidFill>
                <a:latin typeface="Arial"/>
                <a:cs typeface="Arial"/>
              </a:rPr>
              <a:t>M	M	M</a:t>
            </a:r>
            <a:endParaRPr sz="650" dirty="0">
              <a:latin typeface="Arial"/>
              <a:cs typeface="Arial"/>
            </a:endParaRPr>
          </a:p>
          <a:p>
            <a:pPr marL="150495" marR="171450" algn="ctr">
              <a:lnSpc>
                <a:spcPct val="238300"/>
              </a:lnSpc>
              <a:spcBef>
                <a:spcPts val="55"/>
              </a:spcBef>
              <a:tabLst>
                <a:tab pos="489584" algn="l"/>
              </a:tabLst>
            </a:pPr>
            <a:r>
              <a:rPr sz="650" spc="-10" dirty="0">
                <a:solidFill>
                  <a:srgbClr val="231F20"/>
                </a:solidFill>
                <a:latin typeface="Arial"/>
                <a:cs typeface="Arial"/>
              </a:rPr>
              <a:t>Interconnect  </a:t>
            </a:r>
            <a:r>
              <a:rPr sz="650" spc="-15" dirty="0">
                <a:solidFill>
                  <a:srgbClr val="231F20"/>
                </a:solidFill>
                <a:latin typeface="Arial"/>
                <a:cs typeface="Arial"/>
              </a:rPr>
              <a:t>P	P</a:t>
            </a:r>
            <a:endParaRPr sz="650" dirty="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2306232" y="1825651"/>
            <a:ext cx="1480820" cy="744855"/>
            <a:chOff x="2306232" y="1825651"/>
            <a:chExt cx="1480820" cy="744855"/>
          </a:xfrm>
        </p:grpSpPr>
        <p:sp>
          <p:nvSpPr>
            <p:cNvPr id="52" name="object 52"/>
            <p:cNvSpPr/>
            <p:nvPr/>
          </p:nvSpPr>
          <p:spPr>
            <a:xfrm>
              <a:off x="2308868" y="1940153"/>
              <a:ext cx="239395" cy="628015"/>
            </a:xfrm>
            <a:custGeom>
              <a:avLst/>
              <a:gdLst/>
              <a:ahLst/>
              <a:cxnLst/>
              <a:rect l="l" t="t" r="r" b="b"/>
              <a:pathLst>
                <a:path w="239394" h="628014">
                  <a:moveTo>
                    <a:pt x="0" y="627481"/>
                  </a:moveTo>
                  <a:lnTo>
                    <a:pt x="4685" y="525591"/>
                  </a:lnTo>
                  <a:lnTo>
                    <a:pt x="12224" y="436547"/>
                  </a:lnTo>
                  <a:lnTo>
                    <a:pt x="22328" y="359366"/>
                  </a:lnTo>
                  <a:lnTo>
                    <a:pt x="34710" y="293063"/>
                  </a:lnTo>
                  <a:lnTo>
                    <a:pt x="49082" y="236653"/>
                  </a:lnTo>
                  <a:lnTo>
                    <a:pt x="65158" y="189150"/>
                  </a:lnTo>
                  <a:lnTo>
                    <a:pt x="82650" y="149571"/>
                  </a:lnTo>
                  <a:lnTo>
                    <a:pt x="120729" y="90244"/>
                  </a:lnTo>
                  <a:lnTo>
                    <a:pt x="161021" y="50791"/>
                  </a:lnTo>
                  <a:lnTo>
                    <a:pt x="201225" y="23336"/>
                  </a:lnTo>
                  <a:lnTo>
                    <a:pt x="220575" y="11645"/>
                  </a:lnTo>
                  <a:lnTo>
                    <a:pt x="239041" y="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499441" y="1919417"/>
              <a:ext cx="80010" cy="67945"/>
            </a:xfrm>
            <a:custGeom>
              <a:avLst/>
              <a:gdLst/>
              <a:ahLst/>
              <a:cxnLst/>
              <a:rect l="l" t="t" r="r" b="b"/>
              <a:pathLst>
                <a:path w="80010" h="67944">
                  <a:moveTo>
                    <a:pt x="79567" y="0"/>
                  </a:moveTo>
                  <a:lnTo>
                    <a:pt x="0" y="14737"/>
                  </a:lnTo>
                  <a:lnTo>
                    <a:pt x="13814" y="24683"/>
                  </a:lnTo>
                  <a:lnTo>
                    <a:pt x="24312" y="36839"/>
                  </a:lnTo>
                  <a:lnTo>
                    <a:pt x="31495" y="51206"/>
                  </a:lnTo>
                  <a:lnTo>
                    <a:pt x="35361" y="67783"/>
                  </a:lnTo>
                  <a:lnTo>
                    <a:pt x="7956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596085" y="1828287"/>
              <a:ext cx="170180" cy="170180"/>
            </a:xfrm>
            <a:custGeom>
              <a:avLst/>
              <a:gdLst/>
              <a:ahLst/>
              <a:cxnLst/>
              <a:rect l="l" t="t" r="r" b="b"/>
              <a:pathLst>
                <a:path w="170180" h="170180">
                  <a:moveTo>
                    <a:pt x="169718" y="0"/>
                  </a:moveTo>
                  <a:lnTo>
                    <a:pt x="0" y="0"/>
                  </a:lnTo>
                  <a:lnTo>
                    <a:pt x="0" y="169718"/>
                  </a:lnTo>
                  <a:lnTo>
                    <a:pt x="169718" y="169718"/>
                  </a:lnTo>
                  <a:lnTo>
                    <a:pt x="169718" y="0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596085" y="1828287"/>
              <a:ext cx="170180" cy="170180"/>
            </a:xfrm>
            <a:custGeom>
              <a:avLst/>
              <a:gdLst/>
              <a:ahLst/>
              <a:cxnLst/>
              <a:rect l="l" t="t" r="r" b="b"/>
              <a:pathLst>
                <a:path w="170180" h="170180">
                  <a:moveTo>
                    <a:pt x="0" y="169718"/>
                  </a:moveTo>
                  <a:lnTo>
                    <a:pt x="169718" y="169718"/>
                  </a:lnTo>
                  <a:lnTo>
                    <a:pt x="169718" y="0"/>
                  </a:lnTo>
                  <a:lnTo>
                    <a:pt x="0" y="0"/>
                  </a:lnTo>
                  <a:lnTo>
                    <a:pt x="0" y="169718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596085" y="2082865"/>
              <a:ext cx="170180" cy="170180"/>
            </a:xfrm>
            <a:custGeom>
              <a:avLst/>
              <a:gdLst/>
              <a:ahLst/>
              <a:cxnLst/>
              <a:rect l="l" t="t" r="r" b="b"/>
              <a:pathLst>
                <a:path w="170180" h="170180">
                  <a:moveTo>
                    <a:pt x="169718" y="0"/>
                  </a:moveTo>
                  <a:lnTo>
                    <a:pt x="0" y="0"/>
                  </a:lnTo>
                  <a:lnTo>
                    <a:pt x="0" y="169718"/>
                  </a:lnTo>
                  <a:lnTo>
                    <a:pt x="169718" y="169718"/>
                  </a:lnTo>
                  <a:lnTo>
                    <a:pt x="1697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596085" y="2082865"/>
              <a:ext cx="170180" cy="170180"/>
            </a:xfrm>
            <a:custGeom>
              <a:avLst/>
              <a:gdLst/>
              <a:ahLst/>
              <a:cxnLst/>
              <a:rect l="l" t="t" r="r" b="b"/>
              <a:pathLst>
                <a:path w="170180" h="170180">
                  <a:moveTo>
                    <a:pt x="0" y="169718"/>
                  </a:moveTo>
                  <a:lnTo>
                    <a:pt x="169718" y="169718"/>
                  </a:lnTo>
                  <a:lnTo>
                    <a:pt x="169718" y="0"/>
                  </a:lnTo>
                  <a:lnTo>
                    <a:pt x="0" y="0"/>
                  </a:lnTo>
                  <a:lnTo>
                    <a:pt x="0" y="169718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935526" y="1828287"/>
              <a:ext cx="170180" cy="170180"/>
            </a:xfrm>
            <a:custGeom>
              <a:avLst/>
              <a:gdLst/>
              <a:ahLst/>
              <a:cxnLst/>
              <a:rect l="l" t="t" r="r" b="b"/>
              <a:pathLst>
                <a:path w="170180" h="170180">
                  <a:moveTo>
                    <a:pt x="169714" y="0"/>
                  </a:moveTo>
                  <a:lnTo>
                    <a:pt x="0" y="0"/>
                  </a:lnTo>
                  <a:lnTo>
                    <a:pt x="0" y="169718"/>
                  </a:lnTo>
                  <a:lnTo>
                    <a:pt x="169714" y="169718"/>
                  </a:lnTo>
                  <a:lnTo>
                    <a:pt x="169714" y="0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935526" y="1828287"/>
              <a:ext cx="170180" cy="170180"/>
            </a:xfrm>
            <a:custGeom>
              <a:avLst/>
              <a:gdLst/>
              <a:ahLst/>
              <a:cxnLst/>
              <a:rect l="l" t="t" r="r" b="b"/>
              <a:pathLst>
                <a:path w="170180" h="170180">
                  <a:moveTo>
                    <a:pt x="0" y="169718"/>
                  </a:moveTo>
                  <a:lnTo>
                    <a:pt x="169714" y="169718"/>
                  </a:lnTo>
                  <a:lnTo>
                    <a:pt x="169714" y="0"/>
                  </a:lnTo>
                  <a:lnTo>
                    <a:pt x="0" y="0"/>
                  </a:lnTo>
                  <a:lnTo>
                    <a:pt x="0" y="169718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935526" y="2082865"/>
              <a:ext cx="170180" cy="170180"/>
            </a:xfrm>
            <a:custGeom>
              <a:avLst/>
              <a:gdLst/>
              <a:ahLst/>
              <a:cxnLst/>
              <a:rect l="l" t="t" r="r" b="b"/>
              <a:pathLst>
                <a:path w="170180" h="170180">
                  <a:moveTo>
                    <a:pt x="169714" y="0"/>
                  </a:moveTo>
                  <a:lnTo>
                    <a:pt x="0" y="0"/>
                  </a:lnTo>
                  <a:lnTo>
                    <a:pt x="0" y="169718"/>
                  </a:lnTo>
                  <a:lnTo>
                    <a:pt x="169714" y="169718"/>
                  </a:lnTo>
                  <a:lnTo>
                    <a:pt x="1697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935526" y="2082865"/>
              <a:ext cx="170180" cy="170180"/>
            </a:xfrm>
            <a:custGeom>
              <a:avLst/>
              <a:gdLst/>
              <a:ahLst/>
              <a:cxnLst/>
              <a:rect l="l" t="t" r="r" b="b"/>
              <a:pathLst>
                <a:path w="170180" h="170180">
                  <a:moveTo>
                    <a:pt x="0" y="169718"/>
                  </a:moveTo>
                  <a:lnTo>
                    <a:pt x="169714" y="169718"/>
                  </a:lnTo>
                  <a:lnTo>
                    <a:pt x="169714" y="0"/>
                  </a:lnTo>
                  <a:lnTo>
                    <a:pt x="0" y="0"/>
                  </a:lnTo>
                  <a:lnTo>
                    <a:pt x="0" y="169718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274963" y="1828287"/>
              <a:ext cx="170180" cy="170180"/>
            </a:xfrm>
            <a:custGeom>
              <a:avLst/>
              <a:gdLst/>
              <a:ahLst/>
              <a:cxnLst/>
              <a:rect l="l" t="t" r="r" b="b"/>
              <a:pathLst>
                <a:path w="170179" h="170180">
                  <a:moveTo>
                    <a:pt x="169718" y="0"/>
                  </a:moveTo>
                  <a:lnTo>
                    <a:pt x="0" y="0"/>
                  </a:lnTo>
                  <a:lnTo>
                    <a:pt x="0" y="169718"/>
                  </a:lnTo>
                  <a:lnTo>
                    <a:pt x="169718" y="169718"/>
                  </a:lnTo>
                  <a:lnTo>
                    <a:pt x="169718" y="0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274963" y="1828287"/>
              <a:ext cx="170180" cy="170180"/>
            </a:xfrm>
            <a:custGeom>
              <a:avLst/>
              <a:gdLst/>
              <a:ahLst/>
              <a:cxnLst/>
              <a:rect l="l" t="t" r="r" b="b"/>
              <a:pathLst>
                <a:path w="170179" h="170180">
                  <a:moveTo>
                    <a:pt x="0" y="169718"/>
                  </a:moveTo>
                  <a:lnTo>
                    <a:pt x="169718" y="169718"/>
                  </a:lnTo>
                  <a:lnTo>
                    <a:pt x="169718" y="0"/>
                  </a:lnTo>
                  <a:lnTo>
                    <a:pt x="0" y="0"/>
                  </a:lnTo>
                  <a:lnTo>
                    <a:pt x="0" y="169718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274963" y="2082865"/>
              <a:ext cx="170180" cy="170180"/>
            </a:xfrm>
            <a:custGeom>
              <a:avLst/>
              <a:gdLst/>
              <a:ahLst/>
              <a:cxnLst/>
              <a:rect l="l" t="t" r="r" b="b"/>
              <a:pathLst>
                <a:path w="170179" h="170180">
                  <a:moveTo>
                    <a:pt x="169718" y="0"/>
                  </a:moveTo>
                  <a:lnTo>
                    <a:pt x="0" y="0"/>
                  </a:lnTo>
                  <a:lnTo>
                    <a:pt x="0" y="169718"/>
                  </a:lnTo>
                  <a:lnTo>
                    <a:pt x="169718" y="169718"/>
                  </a:lnTo>
                  <a:lnTo>
                    <a:pt x="1697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274963" y="2082865"/>
              <a:ext cx="170180" cy="170180"/>
            </a:xfrm>
            <a:custGeom>
              <a:avLst/>
              <a:gdLst/>
              <a:ahLst/>
              <a:cxnLst/>
              <a:rect l="l" t="t" r="r" b="b"/>
              <a:pathLst>
                <a:path w="170179" h="170180">
                  <a:moveTo>
                    <a:pt x="0" y="169718"/>
                  </a:moveTo>
                  <a:lnTo>
                    <a:pt x="169718" y="169718"/>
                  </a:lnTo>
                  <a:lnTo>
                    <a:pt x="169718" y="0"/>
                  </a:lnTo>
                  <a:lnTo>
                    <a:pt x="0" y="0"/>
                  </a:lnTo>
                  <a:lnTo>
                    <a:pt x="0" y="169718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614404" y="1828287"/>
              <a:ext cx="170180" cy="170180"/>
            </a:xfrm>
            <a:custGeom>
              <a:avLst/>
              <a:gdLst/>
              <a:ahLst/>
              <a:cxnLst/>
              <a:rect l="l" t="t" r="r" b="b"/>
              <a:pathLst>
                <a:path w="170179" h="170180">
                  <a:moveTo>
                    <a:pt x="169718" y="0"/>
                  </a:moveTo>
                  <a:lnTo>
                    <a:pt x="0" y="0"/>
                  </a:lnTo>
                  <a:lnTo>
                    <a:pt x="0" y="169718"/>
                  </a:lnTo>
                  <a:lnTo>
                    <a:pt x="169718" y="169718"/>
                  </a:lnTo>
                  <a:lnTo>
                    <a:pt x="169718" y="0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614404" y="1828287"/>
              <a:ext cx="170180" cy="170180"/>
            </a:xfrm>
            <a:custGeom>
              <a:avLst/>
              <a:gdLst/>
              <a:ahLst/>
              <a:cxnLst/>
              <a:rect l="l" t="t" r="r" b="b"/>
              <a:pathLst>
                <a:path w="170179" h="170180">
                  <a:moveTo>
                    <a:pt x="0" y="169718"/>
                  </a:moveTo>
                  <a:lnTo>
                    <a:pt x="169718" y="169718"/>
                  </a:lnTo>
                  <a:lnTo>
                    <a:pt x="169718" y="0"/>
                  </a:lnTo>
                  <a:lnTo>
                    <a:pt x="0" y="0"/>
                  </a:lnTo>
                  <a:lnTo>
                    <a:pt x="0" y="169718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614404" y="2082865"/>
              <a:ext cx="170180" cy="170180"/>
            </a:xfrm>
            <a:custGeom>
              <a:avLst/>
              <a:gdLst/>
              <a:ahLst/>
              <a:cxnLst/>
              <a:rect l="l" t="t" r="r" b="b"/>
              <a:pathLst>
                <a:path w="170179" h="170180">
                  <a:moveTo>
                    <a:pt x="169718" y="0"/>
                  </a:moveTo>
                  <a:lnTo>
                    <a:pt x="0" y="0"/>
                  </a:lnTo>
                  <a:lnTo>
                    <a:pt x="0" y="169718"/>
                  </a:lnTo>
                  <a:lnTo>
                    <a:pt x="169718" y="169718"/>
                  </a:lnTo>
                  <a:lnTo>
                    <a:pt x="1697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614404" y="2082865"/>
              <a:ext cx="170180" cy="170180"/>
            </a:xfrm>
            <a:custGeom>
              <a:avLst/>
              <a:gdLst/>
              <a:ahLst/>
              <a:cxnLst/>
              <a:rect l="l" t="t" r="r" b="b"/>
              <a:pathLst>
                <a:path w="170179" h="170180">
                  <a:moveTo>
                    <a:pt x="0" y="169718"/>
                  </a:moveTo>
                  <a:lnTo>
                    <a:pt x="169718" y="169718"/>
                  </a:lnTo>
                  <a:lnTo>
                    <a:pt x="169718" y="0"/>
                  </a:lnTo>
                  <a:lnTo>
                    <a:pt x="0" y="0"/>
                  </a:lnTo>
                  <a:lnTo>
                    <a:pt x="0" y="169718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680944" y="1998005"/>
              <a:ext cx="1018540" cy="85090"/>
            </a:xfrm>
            <a:custGeom>
              <a:avLst/>
              <a:gdLst/>
              <a:ahLst/>
              <a:cxnLst/>
              <a:rect l="l" t="t" r="r" b="b"/>
              <a:pathLst>
                <a:path w="1018539" h="85089">
                  <a:moveTo>
                    <a:pt x="0" y="0"/>
                  </a:moveTo>
                  <a:lnTo>
                    <a:pt x="0" y="84859"/>
                  </a:lnTo>
                </a:path>
                <a:path w="1018539" h="85089">
                  <a:moveTo>
                    <a:pt x="339437" y="0"/>
                  </a:moveTo>
                  <a:lnTo>
                    <a:pt x="339437" y="84859"/>
                  </a:lnTo>
                </a:path>
                <a:path w="1018539" h="85089">
                  <a:moveTo>
                    <a:pt x="678874" y="0"/>
                  </a:moveTo>
                  <a:lnTo>
                    <a:pt x="678874" y="84859"/>
                  </a:lnTo>
                </a:path>
                <a:path w="1018539" h="85089">
                  <a:moveTo>
                    <a:pt x="1018315" y="0"/>
                  </a:moveTo>
                  <a:lnTo>
                    <a:pt x="1018315" y="84859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680944" y="2252583"/>
              <a:ext cx="1018540" cy="106045"/>
            </a:xfrm>
            <a:custGeom>
              <a:avLst/>
              <a:gdLst/>
              <a:ahLst/>
              <a:cxnLst/>
              <a:rect l="l" t="t" r="r" b="b"/>
              <a:pathLst>
                <a:path w="1018539" h="106044">
                  <a:moveTo>
                    <a:pt x="0" y="0"/>
                  </a:moveTo>
                  <a:lnTo>
                    <a:pt x="0" y="105891"/>
                  </a:lnTo>
                </a:path>
                <a:path w="1018539" h="106044">
                  <a:moveTo>
                    <a:pt x="339437" y="0"/>
                  </a:moveTo>
                  <a:lnTo>
                    <a:pt x="339437" y="105891"/>
                  </a:lnTo>
                </a:path>
                <a:path w="1018539" h="106044">
                  <a:moveTo>
                    <a:pt x="678874" y="0"/>
                  </a:moveTo>
                  <a:lnTo>
                    <a:pt x="678874" y="105891"/>
                  </a:lnTo>
                </a:path>
                <a:path w="1018539" h="106044">
                  <a:moveTo>
                    <a:pt x="1018315" y="0"/>
                  </a:moveTo>
                  <a:lnTo>
                    <a:pt x="1018315" y="105891"/>
                  </a:lnTo>
                </a:path>
              </a:pathLst>
            </a:custGeom>
            <a:ln w="2108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87744" y="807701"/>
            <a:ext cx="4072890" cy="94615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25"/>
              </a:spcBef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Observation</a:t>
            </a:r>
            <a:endParaRPr sz="1000" dirty="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325"/>
              </a:spcBef>
            </a:pPr>
            <a:r>
              <a:rPr sz="1000" spc="-5" dirty="0">
                <a:latin typeface="Arial"/>
                <a:cs typeface="Arial"/>
              </a:rPr>
              <a:t>High-performance distributed computing </a:t>
            </a:r>
            <a:r>
              <a:rPr sz="1000" dirty="0">
                <a:latin typeface="Arial"/>
                <a:cs typeface="Arial"/>
              </a:rPr>
              <a:t>started </a:t>
            </a:r>
            <a:r>
              <a:rPr sz="1000" spc="-5" dirty="0">
                <a:latin typeface="Arial"/>
                <a:cs typeface="Arial"/>
              </a:rPr>
              <a:t>with parallel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computing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 dirty="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Multiprocessor and multicore </a:t>
            </a:r>
            <a:r>
              <a:rPr sz="1000" spc="-10" dirty="0">
                <a:solidFill>
                  <a:srgbClr val="04064C"/>
                </a:solidFill>
                <a:latin typeface="Arial"/>
                <a:cs typeface="Arial"/>
              </a:rPr>
              <a:t>versus</a:t>
            </a: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 multicomputer</a:t>
            </a:r>
            <a:endParaRPr sz="1000" dirty="0">
              <a:latin typeface="Arial"/>
              <a:cs typeface="Arial"/>
            </a:endParaRPr>
          </a:p>
          <a:p>
            <a:pPr marL="1056005">
              <a:lnSpc>
                <a:spcPct val="100000"/>
              </a:lnSpc>
              <a:spcBef>
                <a:spcPts val="625"/>
              </a:spcBef>
              <a:tabLst>
                <a:tab pos="2811780" algn="l"/>
              </a:tabLst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Shared</a:t>
            </a: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memory	</a:t>
            </a:r>
            <a:r>
              <a:rPr sz="975" spc="7" baseline="8547" dirty="0">
                <a:solidFill>
                  <a:srgbClr val="231F20"/>
                </a:solidFill>
                <a:latin typeface="Arial"/>
                <a:cs typeface="Arial"/>
              </a:rPr>
              <a:t>Private</a:t>
            </a:r>
            <a:r>
              <a:rPr sz="975" spc="-7" baseline="8547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75" spc="7" baseline="8547" dirty="0">
                <a:solidFill>
                  <a:srgbClr val="231F20"/>
                </a:solidFill>
                <a:latin typeface="Arial"/>
                <a:cs typeface="Arial"/>
              </a:rPr>
              <a:t>memory</a:t>
            </a:r>
            <a:endParaRPr sz="975" baseline="8547" dirty="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169613" y="2598278"/>
            <a:ext cx="33020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Memory</a:t>
            </a:r>
            <a:endParaRPr sz="65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636312" y="1846301"/>
            <a:ext cx="1116965" cy="3816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51790" algn="l"/>
                <a:tab pos="691515" algn="l"/>
                <a:tab pos="1033780" algn="l"/>
              </a:tabLst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M	M	M	M</a:t>
            </a: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535"/>
              </a:spcBef>
              <a:tabLst>
                <a:tab pos="357505" algn="l"/>
                <a:tab pos="696595" algn="l"/>
                <a:tab pos="1036319" algn="l"/>
              </a:tabLst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	P	P	P</a:t>
            </a:r>
            <a:endParaRPr sz="65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607668" y="2358475"/>
            <a:ext cx="1165860" cy="126364"/>
          </a:xfrm>
          <a:prstGeom prst="rect">
            <a:avLst/>
          </a:prstGeom>
          <a:solidFill>
            <a:srgbClr val="FFFFFF"/>
          </a:solidFill>
          <a:ln w="5270">
            <a:solidFill>
              <a:srgbClr val="231F2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358140">
              <a:lnSpc>
                <a:spcPct val="100000"/>
              </a:lnSpc>
              <a:spcBef>
                <a:spcPts val="105"/>
              </a:spcBef>
            </a:pPr>
            <a:r>
              <a:rPr sz="650" spc="-10" dirty="0">
                <a:solidFill>
                  <a:srgbClr val="231F20"/>
                </a:solidFill>
                <a:latin typeface="Arial"/>
                <a:cs typeface="Arial"/>
              </a:rPr>
              <a:t>Interconnect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0" y="3326968"/>
            <a:ext cx="4608195" cy="129539"/>
            <a:chOff x="0" y="3326968"/>
            <a:chExt cx="4608195" cy="129539"/>
          </a:xfrm>
        </p:grpSpPr>
        <p:sp>
          <p:nvSpPr>
            <p:cNvPr id="77" name="object 77"/>
            <p:cNvSpPr/>
            <p:nvPr/>
          </p:nvSpPr>
          <p:spPr>
            <a:xfrm>
              <a:off x="0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2303995" y="129032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1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303995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2303995" y="129032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29 /</a:t>
            </a:r>
            <a:r>
              <a:rPr spc="-70" dirty="0"/>
              <a:t> </a:t>
            </a:r>
            <a:r>
              <a:rPr spc="-5" dirty="0"/>
              <a:t>56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45415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16580" algn="l"/>
              </a:tabLst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 </a:t>
            </a:r>
            <a:r>
              <a:rPr sz="600" spc="-20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Types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of</a:t>
            </a:r>
            <a:r>
              <a:rPr sz="600" spc="70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distributed</a:t>
            </a:r>
            <a:r>
              <a:rPr sz="600" spc="1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systems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High performance distributed</a:t>
            </a:r>
            <a:r>
              <a:rPr sz="600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computing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29032"/>
            <a:ext cx="4608195" cy="321945"/>
          </a:xfrm>
          <a:prstGeom prst="rect">
            <a:avLst/>
          </a:prstGeom>
          <a:solidFill>
            <a:srgbClr val="FFE600"/>
          </a:solidFill>
        </p:spPr>
        <p:txBody>
          <a:bodyPr vert="horz" wrap="square" lIns="0" tIns="6223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490"/>
              </a:spcBef>
            </a:pPr>
            <a:r>
              <a:rPr spc="10" dirty="0"/>
              <a:t>Distributed </a:t>
            </a:r>
            <a:r>
              <a:rPr spc="15" dirty="0"/>
              <a:t>shared </a:t>
            </a:r>
            <a:r>
              <a:rPr spc="25" dirty="0"/>
              <a:t>memory</a:t>
            </a:r>
            <a:r>
              <a:rPr spc="-15" dirty="0"/>
              <a:t> </a:t>
            </a:r>
            <a:r>
              <a:rPr spc="15" dirty="0"/>
              <a:t>systems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7743" y="575868"/>
            <a:ext cx="4483735" cy="901700"/>
            <a:chOff x="87743" y="575868"/>
            <a:chExt cx="4483735" cy="901700"/>
          </a:xfrm>
        </p:grpSpPr>
        <p:sp>
          <p:nvSpPr>
            <p:cNvPr id="5" name="object 5"/>
            <p:cNvSpPr/>
            <p:nvPr/>
          </p:nvSpPr>
          <p:spPr>
            <a:xfrm>
              <a:off x="87743" y="575868"/>
              <a:ext cx="4432935" cy="175895"/>
            </a:xfrm>
            <a:custGeom>
              <a:avLst/>
              <a:gdLst/>
              <a:ahLst/>
              <a:cxnLst/>
              <a:rect l="l" t="t" r="r" b="b"/>
              <a:pathLst>
                <a:path w="4432935" h="175895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635"/>
                  </a:lnTo>
                  <a:lnTo>
                    <a:pt x="4432567" y="175635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CB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7744" y="738848"/>
              <a:ext cx="4432566" cy="5060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8544" y="1375359"/>
              <a:ext cx="101600" cy="1016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9344" y="1362659"/>
              <a:ext cx="4381715" cy="1143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1" y="620102"/>
              <a:ext cx="50749" cy="75525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743" y="783135"/>
              <a:ext cx="4432935" cy="643255"/>
            </a:xfrm>
            <a:custGeom>
              <a:avLst/>
              <a:gdLst/>
              <a:ahLst/>
              <a:cxnLst/>
              <a:rect l="l" t="t" r="r" b="b"/>
              <a:pathLst>
                <a:path w="4432935" h="643255">
                  <a:moveTo>
                    <a:pt x="4432567" y="0"/>
                  </a:moveTo>
                  <a:lnTo>
                    <a:pt x="0" y="0"/>
                  </a:lnTo>
                  <a:lnTo>
                    <a:pt x="0" y="592223"/>
                  </a:lnTo>
                  <a:lnTo>
                    <a:pt x="4008" y="611948"/>
                  </a:lnTo>
                  <a:lnTo>
                    <a:pt x="14922" y="628101"/>
                  </a:lnTo>
                  <a:lnTo>
                    <a:pt x="31075" y="639015"/>
                  </a:lnTo>
                  <a:lnTo>
                    <a:pt x="50800" y="643024"/>
                  </a:lnTo>
                  <a:lnTo>
                    <a:pt x="4381767" y="643024"/>
                  </a:lnTo>
                  <a:lnTo>
                    <a:pt x="4401492" y="639015"/>
                  </a:lnTo>
                  <a:lnTo>
                    <a:pt x="4417644" y="628101"/>
                  </a:lnTo>
                  <a:lnTo>
                    <a:pt x="4428558" y="611948"/>
                  </a:lnTo>
                  <a:lnTo>
                    <a:pt x="4432567" y="592223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1" y="658205"/>
              <a:ext cx="0" cy="736600"/>
            </a:xfrm>
            <a:custGeom>
              <a:avLst/>
              <a:gdLst/>
              <a:ahLst/>
              <a:cxnLst/>
              <a:rect l="l" t="t" r="r" b="b"/>
              <a:pathLst>
                <a:path h="736600">
                  <a:moveTo>
                    <a:pt x="0" y="7362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1" y="64550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1" y="63280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1" y="62010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87743" y="1562239"/>
            <a:ext cx="4483735" cy="885190"/>
            <a:chOff x="87743" y="1562239"/>
            <a:chExt cx="4483735" cy="885190"/>
          </a:xfrm>
        </p:grpSpPr>
        <p:sp>
          <p:nvSpPr>
            <p:cNvPr id="16" name="object 16"/>
            <p:cNvSpPr/>
            <p:nvPr/>
          </p:nvSpPr>
          <p:spPr>
            <a:xfrm>
              <a:off x="87743" y="1562239"/>
              <a:ext cx="4432935" cy="183515"/>
            </a:xfrm>
            <a:custGeom>
              <a:avLst/>
              <a:gdLst/>
              <a:ahLst/>
              <a:cxnLst/>
              <a:rect l="l" t="t" r="r" b="b"/>
              <a:pathLst>
                <a:path w="4432935" h="183514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2971"/>
                  </a:lnTo>
                  <a:lnTo>
                    <a:pt x="4432567" y="182971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3F9D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7744" y="1732559"/>
              <a:ext cx="4432566" cy="5060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8544" y="2345779"/>
              <a:ext cx="101600" cy="1016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9344" y="2333078"/>
              <a:ext cx="4381715" cy="1143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20311" y="1606473"/>
              <a:ext cx="50749" cy="73930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743" y="1776835"/>
              <a:ext cx="4432935" cy="619760"/>
            </a:xfrm>
            <a:custGeom>
              <a:avLst/>
              <a:gdLst/>
              <a:ahLst/>
              <a:cxnLst/>
              <a:rect l="l" t="t" r="r" b="b"/>
              <a:pathLst>
                <a:path w="4432935" h="619760">
                  <a:moveTo>
                    <a:pt x="4432567" y="0"/>
                  </a:moveTo>
                  <a:lnTo>
                    <a:pt x="0" y="0"/>
                  </a:lnTo>
                  <a:lnTo>
                    <a:pt x="0" y="568943"/>
                  </a:lnTo>
                  <a:lnTo>
                    <a:pt x="4008" y="588668"/>
                  </a:lnTo>
                  <a:lnTo>
                    <a:pt x="14922" y="604821"/>
                  </a:lnTo>
                  <a:lnTo>
                    <a:pt x="31075" y="615735"/>
                  </a:lnTo>
                  <a:lnTo>
                    <a:pt x="50800" y="619743"/>
                  </a:lnTo>
                  <a:lnTo>
                    <a:pt x="4381767" y="619743"/>
                  </a:lnTo>
                  <a:lnTo>
                    <a:pt x="4401492" y="615735"/>
                  </a:lnTo>
                  <a:lnTo>
                    <a:pt x="4417644" y="604821"/>
                  </a:lnTo>
                  <a:lnTo>
                    <a:pt x="4428558" y="588668"/>
                  </a:lnTo>
                  <a:lnTo>
                    <a:pt x="4432567" y="568943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CFE6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11" y="1644568"/>
              <a:ext cx="0" cy="720725"/>
            </a:xfrm>
            <a:custGeom>
              <a:avLst/>
              <a:gdLst/>
              <a:ahLst/>
              <a:cxnLst/>
              <a:rect l="l" t="t" r="r" b="b"/>
              <a:pathLst>
                <a:path h="720725">
                  <a:moveTo>
                    <a:pt x="0" y="7202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11" y="163186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11" y="161916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11" y="160646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87743" y="2532659"/>
            <a:ext cx="4483735" cy="749300"/>
            <a:chOff x="87743" y="2532659"/>
            <a:chExt cx="4483735" cy="749300"/>
          </a:xfrm>
        </p:grpSpPr>
        <p:sp>
          <p:nvSpPr>
            <p:cNvPr id="27" name="object 27"/>
            <p:cNvSpPr/>
            <p:nvPr/>
          </p:nvSpPr>
          <p:spPr>
            <a:xfrm>
              <a:off x="87743" y="2532659"/>
              <a:ext cx="4432935" cy="173990"/>
            </a:xfrm>
            <a:custGeom>
              <a:avLst/>
              <a:gdLst/>
              <a:ahLst/>
              <a:cxnLst/>
              <a:rect l="l" t="t" r="r" b="b"/>
              <a:pathLst>
                <a:path w="4432935" h="173989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3799"/>
                  </a:lnTo>
                  <a:lnTo>
                    <a:pt x="4432567" y="173799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CB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7744" y="2693797"/>
              <a:ext cx="4432566" cy="5060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38544" y="3180181"/>
              <a:ext cx="101600" cy="1016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89344" y="3167481"/>
              <a:ext cx="4381715" cy="11430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520311" y="2576893"/>
              <a:ext cx="50749" cy="60328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743" y="2738082"/>
              <a:ext cx="4432935" cy="493395"/>
            </a:xfrm>
            <a:custGeom>
              <a:avLst/>
              <a:gdLst/>
              <a:ahLst/>
              <a:cxnLst/>
              <a:rect l="l" t="t" r="r" b="b"/>
              <a:pathLst>
                <a:path w="4432935" h="493394">
                  <a:moveTo>
                    <a:pt x="4432567" y="0"/>
                  </a:moveTo>
                  <a:lnTo>
                    <a:pt x="0" y="0"/>
                  </a:lnTo>
                  <a:lnTo>
                    <a:pt x="0" y="442099"/>
                  </a:lnTo>
                  <a:lnTo>
                    <a:pt x="4008" y="461824"/>
                  </a:lnTo>
                  <a:lnTo>
                    <a:pt x="14922" y="477977"/>
                  </a:lnTo>
                  <a:lnTo>
                    <a:pt x="31075" y="488891"/>
                  </a:lnTo>
                  <a:lnTo>
                    <a:pt x="50800" y="492900"/>
                  </a:lnTo>
                  <a:lnTo>
                    <a:pt x="4381767" y="492900"/>
                  </a:lnTo>
                  <a:lnTo>
                    <a:pt x="4401492" y="488891"/>
                  </a:lnTo>
                  <a:lnTo>
                    <a:pt x="4417644" y="477977"/>
                  </a:lnTo>
                  <a:lnTo>
                    <a:pt x="4428558" y="461824"/>
                  </a:lnTo>
                  <a:lnTo>
                    <a:pt x="4432567" y="442099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20311" y="2614988"/>
              <a:ext cx="0" cy="584835"/>
            </a:xfrm>
            <a:custGeom>
              <a:avLst/>
              <a:gdLst/>
              <a:ahLst/>
              <a:cxnLst/>
              <a:rect l="l" t="t" r="r" b="b"/>
              <a:pathLst>
                <a:path h="584835">
                  <a:moveTo>
                    <a:pt x="0" y="58424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20311" y="260228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20311" y="258958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20311" y="257688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21665" y="527196"/>
            <a:ext cx="4358640" cy="267081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415"/>
              </a:spcBef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Observation</a:t>
            </a:r>
            <a:endParaRPr sz="1000" dirty="0">
              <a:latin typeface="Arial"/>
              <a:cs typeface="Arial"/>
            </a:endParaRPr>
          </a:p>
          <a:p>
            <a:pPr marL="12700" marR="5080" indent="3810">
              <a:lnSpc>
                <a:spcPct val="100000"/>
              </a:lnSpc>
              <a:spcBef>
                <a:spcPts val="320"/>
              </a:spcBef>
            </a:pPr>
            <a:r>
              <a:rPr sz="1000" spc="-5" dirty="0">
                <a:latin typeface="Arial"/>
                <a:cs typeface="Arial"/>
              </a:rPr>
              <a:t>Multiprocessors are relatively easy to program in comparison to  </a:t>
            </a:r>
            <a:r>
              <a:rPr sz="1000" spc="-10" dirty="0">
                <a:latin typeface="Arial"/>
                <a:cs typeface="Arial"/>
              </a:rPr>
              <a:t>multicomputers, </a:t>
            </a:r>
            <a:r>
              <a:rPr sz="1000" spc="-15" dirty="0">
                <a:latin typeface="Arial"/>
                <a:cs typeface="Arial"/>
              </a:rPr>
              <a:t>yet </a:t>
            </a:r>
            <a:r>
              <a:rPr sz="1000" spc="-20" dirty="0">
                <a:latin typeface="Arial"/>
                <a:cs typeface="Arial"/>
              </a:rPr>
              <a:t>have </a:t>
            </a:r>
            <a:r>
              <a:rPr sz="1000" spc="-10" dirty="0">
                <a:latin typeface="Arial"/>
                <a:cs typeface="Arial"/>
              </a:rPr>
              <a:t>problems when increasing the number of processors  </a:t>
            </a:r>
            <a:r>
              <a:rPr sz="1000" spc="-5" dirty="0">
                <a:latin typeface="Arial"/>
                <a:cs typeface="Arial"/>
              </a:rPr>
              <a:t>(or cores).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Solution</a:t>
            </a:r>
            <a:r>
              <a:rPr sz="1000" spc="-5" dirty="0">
                <a:latin typeface="Arial"/>
                <a:cs typeface="Arial"/>
              </a:rPr>
              <a:t>: </a:t>
            </a:r>
            <a:r>
              <a:rPr sz="1000" spc="-35" dirty="0">
                <a:latin typeface="Arial"/>
                <a:cs typeface="Arial"/>
              </a:rPr>
              <a:t>Try </a:t>
            </a:r>
            <a:r>
              <a:rPr sz="1000" spc="-5" dirty="0">
                <a:latin typeface="Arial"/>
                <a:cs typeface="Arial"/>
              </a:rPr>
              <a:t>to implement a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shared-memory model</a:t>
            </a:r>
            <a:r>
              <a:rPr sz="1000" spc="-5" dirty="0">
                <a:latin typeface="Arial"/>
                <a:cs typeface="Arial"/>
              </a:rPr>
              <a:t>on top of a  </a:t>
            </a:r>
            <a:r>
              <a:rPr sz="1000" spc="-10" dirty="0">
                <a:latin typeface="Arial"/>
                <a:cs typeface="Arial"/>
              </a:rPr>
              <a:t>multicomputer.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 dirty="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Example through </a:t>
            </a:r>
            <a:r>
              <a:rPr sz="1000" dirty="0">
                <a:solidFill>
                  <a:srgbClr val="04064C"/>
                </a:solidFill>
                <a:latin typeface="Arial"/>
                <a:cs typeface="Arial"/>
              </a:rPr>
              <a:t>virtual-memory</a:t>
            </a: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 techniques</a:t>
            </a:r>
            <a:endParaRPr sz="1000" dirty="0">
              <a:latin typeface="Arial"/>
              <a:cs typeface="Arial"/>
            </a:endParaRPr>
          </a:p>
          <a:p>
            <a:pPr marL="16510" marR="13970">
              <a:lnSpc>
                <a:spcPct val="100000"/>
              </a:lnSpc>
              <a:spcBef>
                <a:spcPts val="395"/>
              </a:spcBef>
            </a:pPr>
            <a:r>
              <a:rPr sz="1000" spc="-5" dirty="0">
                <a:latin typeface="Arial"/>
                <a:cs typeface="Arial"/>
              </a:rPr>
              <a:t>Map all main-memory pages (from </a:t>
            </a:r>
            <a:r>
              <a:rPr sz="1000" spc="-10" dirty="0">
                <a:latin typeface="Arial"/>
                <a:cs typeface="Arial"/>
              </a:rPr>
              <a:t>different </a:t>
            </a:r>
            <a:r>
              <a:rPr sz="1000" spc="-5" dirty="0">
                <a:latin typeface="Arial"/>
                <a:cs typeface="Arial"/>
              </a:rPr>
              <a:t>processors) into one</a:t>
            </a:r>
            <a:r>
              <a:rPr lang="en-US" sz="1000" spc="-5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single 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virtual 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address space</a:t>
            </a:r>
            <a:r>
              <a:rPr sz="1000" spc="-5" dirty="0">
                <a:latin typeface="Arial"/>
                <a:cs typeface="Arial"/>
              </a:rPr>
              <a:t>. If process at processor </a:t>
            </a:r>
            <a:r>
              <a:rPr sz="1000" i="1" spc="-5" dirty="0">
                <a:latin typeface="Arial"/>
                <a:cs typeface="Arial"/>
              </a:rPr>
              <a:t>A </a:t>
            </a:r>
            <a:r>
              <a:rPr sz="1000" spc="-5" dirty="0">
                <a:latin typeface="Arial"/>
                <a:cs typeface="Arial"/>
              </a:rPr>
              <a:t>addresses a page </a:t>
            </a:r>
            <a:r>
              <a:rPr sz="1000" i="1" spc="-5" dirty="0">
                <a:latin typeface="Arial"/>
                <a:cs typeface="Arial"/>
              </a:rPr>
              <a:t>P </a:t>
            </a:r>
            <a:r>
              <a:rPr sz="1000" spc="-5" dirty="0">
                <a:latin typeface="Arial"/>
                <a:cs typeface="Arial"/>
              </a:rPr>
              <a:t>located at  processor </a:t>
            </a:r>
            <a:r>
              <a:rPr sz="1000" i="1" spc="15" dirty="0">
                <a:latin typeface="Arial"/>
                <a:cs typeface="Arial"/>
              </a:rPr>
              <a:t>B</a:t>
            </a:r>
            <a:r>
              <a:rPr sz="1000" spc="15" dirty="0">
                <a:latin typeface="Arial"/>
                <a:cs typeface="Arial"/>
              </a:rPr>
              <a:t>, </a:t>
            </a:r>
            <a:r>
              <a:rPr sz="1000" spc="-5" dirty="0">
                <a:latin typeface="Arial"/>
                <a:cs typeface="Arial"/>
              </a:rPr>
              <a:t>the OS at </a:t>
            </a:r>
            <a:r>
              <a:rPr sz="1000" i="1" spc="-5" dirty="0">
                <a:latin typeface="Arial"/>
                <a:cs typeface="Arial"/>
              </a:rPr>
              <a:t>A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traps and 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fetches </a:t>
            </a:r>
            <a:r>
              <a:rPr sz="1000" i="1" spc="-5" dirty="0">
                <a:solidFill>
                  <a:srgbClr val="0000FA"/>
                </a:solidFill>
                <a:latin typeface="Arial"/>
                <a:cs typeface="Arial"/>
              </a:rPr>
              <a:t>P </a:t>
            </a:r>
            <a:r>
              <a:rPr sz="1000" spc="-5" dirty="0">
                <a:latin typeface="Arial"/>
                <a:cs typeface="Arial"/>
              </a:rPr>
              <a:t>from </a:t>
            </a:r>
            <a:r>
              <a:rPr sz="1000" i="1" spc="15" dirty="0">
                <a:latin typeface="Arial"/>
                <a:cs typeface="Arial"/>
              </a:rPr>
              <a:t>B</a:t>
            </a:r>
            <a:r>
              <a:rPr sz="1000" spc="15" dirty="0">
                <a:latin typeface="Arial"/>
                <a:cs typeface="Arial"/>
              </a:rPr>
              <a:t>, </a:t>
            </a:r>
            <a:r>
              <a:rPr sz="1000" spc="-5" dirty="0">
                <a:latin typeface="Arial"/>
                <a:cs typeface="Arial"/>
              </a:rPr>
              <a:t>just as it would if </a:t>
            </a:r>
            <a:r>
              <a:rPr sz="1000" i="1" spc="-5" dirty="0">
                <a:latin typeface="Arial"/>
                <a:cs typeface="Arial"/>
              </a:rPr>
              <a:t>P </a:t>
            </a:r>
            <a:r>
              <a:rPr sz="1000" spc="-5" dirty="0">
                <a:latin typeface="Arial"/>
                <a:cs typeface="Arial"/>
              </a:rPr>
              <a:t>had  been located on local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disk.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 dirty="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Problem</a:t>
            </a:r>
            <a:endParaRPr sz="1000" dirty="0">
              <a:latin typeface="Arial"/>
              <a:cs typeface="Arial"/>
            </a:endParaRPr>
          </a:p>
          <a:p>
            <a:pPr marL="16510" marR="90170" algn="just">
              <a:lnSpc>
                <a:spcPct val="100000"/>
              </a:lnSpc>
              <a:spcBef>
                <a:spcPts val="325"/>
              </a:spcBef>
            </a:pPr>
            <a:r>
              <a:rPr sz="1000" spc="-10" dirty="0">
                <a:latin typeface="Arial"/>
                <a:cs typeface="Arial"/>
              </a:rPr>
              <a:t>Performance </a:t>
            </a:r>
            <a:r>
              <a:rPr sz="1000" spc="-5" dirty="0">
                <a:latin typeface="Arial"/>
                <a:cs typeface="Arial"/>
              </a:rPr>
              <a:t>of distributed shared </a:t>
            </a:r>
            <a:r>
              <a:rPr sz="1000" dirty="0">
                <a:latin typeface="Arial"/>
                <a:cs typeface="Arial"/>
              </a:rPr>
              <a:t>memory </a:t>
            </a:r>
            <a:r>
              <a:rPr sz="1000" spc="-5" dirty="0">
                <a:latin typeface="Arial"/>
                <a:cs typeface="Arial"/>
              </a:rPr>
              <a:t>could </a:t>
            </a:r>
            <a:r>
              <a:rPr sz="1000" spc="-15" dirty="0">
                <a:latin typeface="Arial"/>
                <a:cs typeface="Arial"/>
              </a:rPr>
              <a:t>never </a:t>
            </a:r>
            <a:r>
              <a:rPr sz="1000" spc="-5" dirty="0">
                <a:latin typeface="Arial"/>
                <a:cs typeface="Arial"/>
              </a:rPr>
              <a:t>compete with that of  multiprocessors, and </a:t>
            </a:r>
            <a:r>
              <a:rPr sz="1000" spc="-10" dirty="0">
                <a:latin typeface="Arial"/>
                <a:cs typeface="Arial"/>
              </a:rPr>
              <a:t>failed </a:t>
            </a:r>
            <a:r>
              <a:rPr sz="1000" spc="-5" dirty="0">
                <a:latin typeface="Arial"/>
                <a:cs typeface="Arial"/>
              </a:rPr>
              <a:t>to meet the expectations of programmers. It has  been widely abandoned </a:t>
            </a:r>
            <a:r>
              <a:rPr sz="1000" spc="-15" dirty="0">
                <a:latin typeface="Arial"/>
                <a:cs typeface="Arial"/>
              </a:rPr>
              <a:t>by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now.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0" y="3326968"/>
            <a:ext cx="4608195" cy="129539"/>
            <a:chOff x="0" y="3326968"/>
            <a:chExt cx="4608195" cy="129539"/>
          </a:xfrm>
        </p:grpSpPr>
        <p:sp>
          <p:nvSpPr>
            <p:cNvPr id="39" name="object 39"/>
            <p:cNvSpPr/>
            <p:nvPr/>
          </p:nvSpPr>
          <p:spPr>
            <a:xfrm>
              <a:off x="0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2303995" y="129031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1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03995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2303995" y="129032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30 /</a:t>
            </a:r>
            <a:r>
              <a:rPr spc="-70" dirty="0"/>
              <a:t> </a:t>
            </a:r>
            <a:r>
              <a:rPr spc="-5" dirty="0"/>
              <a:t>56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45415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16580" algn="l"/>
              </a:tabLst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 </a:t>
            </a:r>
            <a:r>
              <a:rPr sz="600" spc="-20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Types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of</a:t>
            </a:r>
            <a:r>
              <a:rPr sz="600" spc="70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distributed</a:t>
            </a:r>
            <a:r>
              <a:rPr sz="600" spc="1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systems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High performance distributed</a:t>
            </a:r>
            <a:r>
              <a:rPr sz="600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computing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29032"/>
            <a:ext cx="4608195" cy="321945"/>
          </a:xfrm>
          <a:prstGeom prst="rect">
            <a:avLst/>
          </a:prstGeom>
          <a:solidFill>
            <a:srgbClr val="FFE600"/>
          </a:solidFill>
        </p:spPr>
        <p:txBody>
          <a:bodyPr vert="horz" wrap="square" lIns="0" tIns="6223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490"/>
              </a:spcBef>
            </a:pPr>
            <a:r>
              <a:rPr spc="15" dirty="0"/>
              <a:t>Cluster</a:t>
            </a:r>
            <a:r>
              <a:rPr dirty="0"/>
              <a:t> </a:t>
            </a:r>
            <a:r>
              <a:rPr spc="15" dirty="0"/>
              <a:t>computing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7743" y="750798"/>
            <a:ext cx="4483735" cy="609600"/>
            <a:chOff x="87743" y="750798"/>
            <a:chExt cx="4483735" cy="609600"/>
          </a:xfrm>
        </p:grpSpPr>
        <p:sp>
          <p:nvSpPr>
            <p:cNvPr id="5" name="object 5"/>
            <p:cNvSpPr/>
            <p:nvPr/>
          </p:nvSpPr>
          <p:spPr>
            <a:xfrm>
              <a:off x="87743" y="750798"/>
              <a:ext cx="4432935" cy="184150"/>
            </a:xfrm>
            <a:custGeom>
              <a:avLst/>
              <a:gdLst/>
              <a:ahLst/>
              <a:cxnLst/>
              <a:rect l="l" t="t" r="r" b="b"/>
              <a:pathLst>
                <a:path w="4432935" h="184150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3985"/>
                  </a:lnTo>
                  <a:lnTo>
                    <a:pt x="4432567" y="183985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CB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7744" y="922134"/>
              <a:ext cx="4432566" cy="5060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8544" y="1258582"/>
              <a:ext cx="101600" cy="1016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9344" y="1245882"/>
              <a:ext cx="4381715" cy="1143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1" y="795032"/>
              <a:ext cx="50749" cy="46355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743" y="966416"/>
              <a:ext cx="4432935" cy="343535"/>
            </a:xfrm>
            <a:custGeom>
              <a:avLst/>
              <a:gdLst/>
              <a:ahLst/>
              <a:cxnLst/>
              <a:rect l="l" t="t" r="r" b="b"/>
              <a:pathLst>
                <a:path w="4432935" h="343534">
                  <a:moveTo>
                    <a:pt x="4432567" y="0"/>
                  </a:moveTo>
                  <a:lnTo>
                    <a:pt x="0" y="0"/>
                  </a:lnTo>
                  <a:lnTo>
                    <a:pt x="0" y="292166"/>
                  </a:lnTo>
                  <a:lnTo>
                    <a:pt x="4008" y="311890"/>
                  </a:lnTo>
                  <a:lnTo>
                    <a:pt x="14922" y="328043"/>
                  </a:lnTo>
                  <a:lnTo>
                    <a:pt x="31075" y="338957"/>
                  </a:lnTo>
                  <a:lnTo>
                    <a:pt x="50800" y="342966"/>
                  </a:lnTo>
                  <a:lnTo>
                    <a:pt x="4381767" y="342966"/>
                  </a:lnTo>
                  <a:lnTo>
                    <a:pt x="4401492" y="338957"/>
                  </a:lnTo>
                  <a:lnTo>
                    <a:pt x="4417644" y="328043"/>
                  </a:lnTo>
                  <a:lnTo>
                    <a:pt x="4428558" y="311890"/>
                  </a:lnTo>
                  <a:lnTo>
                    <a:pt x="4432567" y="292166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1" y="833136"/>
              <a:ext cx="0" cy="444500"/>
            </a:xfrm>
            <a:custGeom>
              <a:avLst/>
              <a:gdLst/>
              <a:ahLst/>
              <a:cxnLst/>
              <a:rect l="l" t="t" r="r" b="b"/>
              <a:pathLst>
                <a:path h="444500">
                  <a:moveTo>
                    <a:pt x="0" y="4444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1" y="82043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1" y="80773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1" y="79503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9557" y="1005624"/>
              <a:ext cx="76809" cy="7680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9557" y="1157465"/>
              <a:ext cx="76809" cy="7680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25844" y="690289"/>
            <a:ext cx="3730625" cy="58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5080" indent="-277495">
              <a:lnSpc>
                <a:spcPct val="133600"/>
              </a:lnSpc>
              <a:spcBef>
                <a:spcPts val="100"/>
              </a:spcBef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Essentially a group of high-end systems connected through a LAN  </a:t>
            </a:r>
            <a:r>
              <a:rPr sz="1000" spc="-5" dirty="0">
                <a:latin typeface="Arial"/>
                <a:cs typeface="Arial"/>
              </a:rPr>
              <a:t>Homogeneous: same </a:t>
            </a:r>
            <a:r>
              <a:rPr sz="1000" spc="-10" dirty="0">
                <a:latin typeface="Arial"/>
                <a:cs typeface="Arial"/>
              </a:rPr>
              <a:t>OS, </a:t>
            </a:r>
            <a:r>
              <a:rPr sz="1000" spc="-5" dirty="0">
                <a:latin typeface="Arial"/>
                <a:cs typeface="Arial"/>
              </a:rPr>
              <a:t>near-identical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hardware</a:t>
            </a:r>
            <a:endParaRPr sz="1000" dirty="0">
              <a:latin typeface="Arial"/>
              <a:cs typeface="Arial"/>
            </a:endParaRPr>
          </a:p>
          <a:p>
            <a:pPr marL="289560">
              <a:lnSpc>
                <a:spcPts val="1195"/>
              </a:lnSpc>
            </a:pPr>
            <a:r>
              <a:rPr sz="1000" spc="-5" dirty="0">
                <a:latin typeface="Arial"/>
                <a:cs typeface="Arial"/>
              </a:rPr>
              <a:t>Single managing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node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89949" y="2058092"/>
            <a:ext cx="628015" cy="325120"/>
          </a:xfrm>
          <a:custGeom>
            <a:avLst/>
            <a:gdLst/>
            <a:ahLst/>
            <a:cxnLst/>
            <a:rect l="l" t="t" r="r" b="b"/>
            <a:pathLst>
              <a:path w="628015" h="325119">
                <a:moveTo>
                  <a:pt x="0" y="142303"/>
                </a:moveTo>
                <a:lnTo>
                  <a:pt x="620242" y="142303"/>
                </a:lnTo>
                <a:lnTo>
                  <a:pt x="620242" y="0"/>
                </a:lnTo>
                <a:lnTo>
                  <a:pt x="0" y="0"/>
                </a:lnTo>
                <a:lnTo>
                  <a:pt x="0" y="142303"/>
                </a:lnTo>
                <a:close/>
              </a:path>
              <a:path w="628015" h="325119">
                <a:moveTo>
                  <a:pt x="0" y="324576"/>
                </a:moveTo>
                <a:lnTo>
                  <a:pt x="627481" y="324576"/>
                </a:lnTo>
                <a:lnTo>
                  <a:pt x="627481" y="182272"/>
                </a:lnTo>
                <a:lnTo>
                  <a:pt x="0" y="182272"/>
                </a:lnTo>
                <a:lnTo>
                  <a:pt x="0" y="324576"/>
                </a:lnTo>
                <a:close/>
              </a:path>
            </a:pathLst>
          </a:custGeom>
          <a:ln w="527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652635" y="2242560"/>
            <a:ext cx="521970" cy="142875"/>
          </a:xfrm>
          <a:prstGeom prst="rect">
            <a:avLst/>
          </a:prstGeom>
          <a:ln w="5270">
            <a:solidFill>
              <a:srgbClr val="231F2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9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Local</a:t>
            </a:r>
            <a:r>
              <a:rPr sz="65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OS</a:t>
            </a:r>
            <a:endParaRPr sz="6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5343" y="2242334"/>
            <a:ext cx="67691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Local</a:t>
            </a:r>
            <a:r>
              <a:rPr sz="65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OS</a:t>
            </a:r>
            <a:endParaRPr sz="6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11587" y="2242560"/>
            <a:ext cx="521970" cy="142875"/>
          </a:xfrm>
          <a:prstGeom prst="rect">
            <a:avLst/>
          </a:prstGeom>
          <a:ln w="5270">
            <a:solidFill>
              <a:srgbClr val="231F2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9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Local</a:t>
            </a:r>
            <a:r>
              <a:rPr sz="65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OS</a:t>
            </a:r>
            <a:endParaRPr sz="6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550015" y="2242560"/>
            <a:ext cx="521970" cy="142875"/>
          </a:xfrm>
          <a:prstGeom prst="rect">
            <a:avLst/>
          </a:prstGeom>
          <a:ln w="5270">
            <a:solidFill>
              <a:srgbClr val="231F2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9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Local</a:t>
            </a:r>
            <a:r>
              <a:rPr sz="65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OS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45716" y="1620513"/>
            <a:ext cx="3479165" cy="965200"/>
            <a:chOff x="645716" y="1620513"/>
            <a:chExt cx="3479165" cy="965200"/>
          </a:xfrm>
        </p:grpSpPr>
        <p:sp>
          <p:nvSpPr>
            <p:cNvPr id="24" name="object 24"/>
            <p:cNvSpPr/>
            <p:nvPr/>
          </p:nvSpPr>
          <p:spPr>
            <a:xfrm>
              <a:off x="760072" y="1625911"/>
              <a:ext cx="687705" cy="806450"/>
            </a:xfrm>
            <a:custGeom>
              <a:avLst/>
              <a:gdLst/>
              <a:ahLst/>
              <a:cxnLst/>
              <a:rect l="l" t="t" r="r" b="b"/>
              <a:pathLst>
                <a:path w="687705" h="806450">
                  <a:moveTo>
                    <a:pt x="0" y="806386"/>
                  </a:moveTo>
                  <a:lnTo>
                    <a:pt x="687240" y="806386"/>
                  </a:lnTo>
                  <a:lnTo>
                    <a:pt x="687240" y="0"/>
                  </a:lnTo>
                  <a:lnTo>
                    <a:pt x="0" y="0"/>
                  </a:lnTo>
                  <a:lnTo>
                    <a:pt x="0" y="806386"/>
                  </a:lnTo>
                  <a:close/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88552" y="2432297"/>
              <a:ext cx="285115" cy="142875"/>
            </a:xfrm>
            <a:custGeom>
              <a:avLst/>
              <a:gdLst/>
              <a:ahLst/>
              <a:cxnLst/>
              <a:rect l="l" t="t" r="r" b="b"/>
              <a:pathLst>
                <a:path w="285115" h="142875">
                  <a:moveTo>
                    <a:pt x="284606" y="0"/>
                  </a:moveTo>
                  <a:lnTo>
                    <a:pt x="284606" y="142303"/>
                  </a:lnTo>
                </a:path>
                <a:path w="285115" h="142875">
                  <a:moveTo>
                    <a:pt x="0" y="0"/>
                  </a:moveTo>
                  <a:lnTo>
                    <a:pt x="0" y="142303"/>
                  </a:lnTo>
                </a:path>
              </a:pathLst>
            </a:custGeom>
            <a:ln w="2108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05201" y="1625911"/>
              <a:ext cx="617220" cy="806450"/>
            </a:xfrm>
            <a:custGeom>
              <a:avLst/>
              <a:gdLst/>
              <a:ahLst/>
              <a:cxnLst/>
              <a:rect l="l" t="t" r="r" b="b"/>
              <a:pathLst>
                <a:path w="617219" h="806450">
                  <a:moveTo>
                    <a:pt x="0" y="806386"/>
                  </a:moveTo>
                  <a:lnTo>
                    <a:pt x="616648" y="806386"/>
                  </a:lnTo>
                  <a:lnTo>
                    <a:pt x="616648" y="0"/>
                  </a:lnTo>
                  <a:lnTo>
                    <a:pt x="0" y="0"/>
                  </a:lnTo>
                  <a:lnTo>
                    <a:pt x="0" y="806386"/>
                  </a:lnTo>
                  <a:close/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032111" y="2432297"/>
              <a:ext cx="0" cy="142875"/>
            </a:xfrm>
            <a:custGeom>
              <a:avLst/>
              <a:gdLst/>
              <a:ahLst/>
              <a:cxnLst/>
              <a:rect l="l" t="t" r="r" b="b"/>
              <a:pathLst>
                <a:path h="142875">
                  <a:moveTo>
                    <a:pt x="0" y="0"/>
                  </a:moveTo>
                  <a:lnTo>
                    <a:pt x="0" y="142303"/>
                  </a:lnTo>
                </a:path>
              </a:pathLst>
            </a:custGeom>
            <a:ln w="2108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364153" y="1625911"/>
              <a:ext cx="617220" cy="806450"/>
            </a:xfrm>
            <a:custGeom>
              <a:avLst/>
              <a:gdLst/>
              <a:ahLst/>
              <a:cxnLst/>
              <a:rect l="l" t="t" r="r" b="b"/>
              <a:pathLst>
                <a:path w="617219" h="806450">
                  <a:moveTo>
                    <a:pt x="0" y="806386"/>
                  </a:moveTo>
                  <a:lnTo>
                    <a:pt x="616648" y="806386"/>
                  </a:lnTo>
                  <a:lnTo>
                    <a:pt x="616648" y="0"/>
                  </a:lnTo>
                  <a:lnTo>
                    <a:pt x="0" y="0"/>
                  </a:lnTo>
                  <a:lnTo>
                    <a:pt x="0" y="806386"/>
                  </a:lnTo>
                  <a:close/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56511" y="2432297"/>
              <a:ext cx="2182495" cy="142875"/>
            </a:xfrm>
            <a:custGeom>
              <a:avLst/>
              <a:gdLst/>
              <a:ahLst/>
              <a:cxnLst/>
              <a:rect l="l" t="t" r="r" b="b"/>
              <a:pathLst>
                <a:path w="2182495" h="142875">
                  <a:moveTo>
                    <a:pt x="2134552" y="0"/>
                  </a:moveTo>
                  <a:lnTo>
                    <a:pt x="2134552" y="142303"/>
                  </a:lnTo>
                </a:path>
                <a:path w="2182495" h="142875">
                  <a:moveTo>
                    <a:pt x="521779" y="142303"/>
                  </a:moveTo>
                  <a:lnTo>
                    <a:pt x="2181986" y="142303"/>
                  </a:lnTo>
                </a:path>
                <a:path w="2182495" h="142875">
                  <a:moveTo>
                    <a:pt x="0" y="142303"/>
                  </a:moveTo>
                  <a:lnTo>
                    <a:pt x="426910" y="142303"/>
                  </a:lnTo>
                </a:path>
              </a:pathLst>
            </a:custGeom>
            <a:ln w="2108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502581" y="1625911"/>
              <a:ext cx="617220" cy="806450"/>
            </a:xfrm>
            <a:custGeom>
              <a:avLst/>
              <a:gdLst/>
              <a:ahLst/>
              <a:cxnLst/>
              <a:rect l="l" t="t" r="r" b="b"/>
              <a:pathLst>
                <a:path w="617220" h="806450">
                  <a:moveTo>
                    <a:pt x="0" y="806386"/>
                  </a:moveTo>
                  <a:lnTo>
                    <a:pt x="616648" y="806386"/>
                  </a:lnTo>
                  <a:lnTo>
                    <a:pt x="616648" y="0"/>
                  </a:lnTo>
                  <a:lnTo>
                    <a:pt x="0" y="0"/>
                  </a:lnTo>
                  <a:lnTo>
                    <a:pt x="0" y="806386"/>
                  </a:lnTo>
                  <a:close/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716036" y="2432297"/>
              <a:ext cx="332105" cy="142875"/>
            </a:xfrm>
            <a:custGeom>
              <a:avLst/>
              <a:gdLst/>
              <a:ahLst/>
              <a:cxnLst/>
              <a:rect l="l" t="t" r="r" b="b"/>
              <a:pathLst>
                <a:path w="332104" h="142875">
                  <a:moveTo>
                    <a:pt x="213455" y="0"/>
                  </a:moveTo>
                  <a:lnTo>
                    <a:pt x="213455" y="142303"/>
                  </a:lnTo>
                </a:path>
                <a:path w="332104" h="142875">
                  <a:moveTo>
                    <a:pt x="0" y="142303"/>
                  </a:moveTo>
                  <a:lnTo>
                    <a:pt x="332041" y="142303"/>
                  </a:lnTo>
                </a:path>
              </a:pathLst>
            </a:custGeom>
            <a:ln w="2108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838498" y="2574601"/>
              <a:ext cx="854075" cy="0"/>
            </a:xfrm>
            <a:custGeom>
              <a:avLst/>
              <a:gdLst/>
              <a:ahLst/>
              <a:cxnLst/>
              <a:rect l="l" t="t" r="r" b="b"/>
              <a:pathLst>
                <a:path w="854075">
                  <a:moveTo>
                    <a:pt x="0" y="0"/>
                  </a:moveTo>
                  <a:lnTo>
                    <a:pt x="853820" y="0"/>
                  </a:lnTo>
                  <a:lnTo>
                    <a:pt x="0" y="0"/>
                  </a:lnTo>
                  <a:close/>
                </a:path>
              </a:pathLst>
            </a:custGeom>
            <a:ln w="21083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652635" y="1673345"/>
            <a:ext cx="521970" cy="521970"/>
          </a:xfrm>
          <a:prstGeom prst="rect">
            <a:avLst/>
          </a:prstGeom>
          <a:ln w="5270">
            <a:solidFill>
              <a:srgbClr val="231F2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42545" marR="34925" algn="ctr">
              <a:lnSpc>
                <a:spcPct val="100000"/>
              </a:lnSpc>
              <a:spcBef>
                <a:spcPts val="47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Component  of</a:t>
            </a:r>
            <a:endParaRPr sz="650">
              <a:latin typeface="Arial"/>
              <a:cs typeface="Arial"/>
            </a:endParaRPr>
          </a:p>
          <a:p>
            <a:pPr marL="59055" marR="51435" algn="ctr">
              <a:lnSpc>
                <a:spcPct val="100000"/>
              </a:lnSpc>
              <a:spcBef>
                <a:spcPts val="1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parallel  application</a:t>
            </a:r>
            <a:endParaRPr sz="6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411587" y="1673345"/>
            <a:ext cx="521970" cy="521970"/>
          </a:xfrm>
          <a:prstGeom prst="rect">
            <a:avLst/>
          </a:prstGeom>
          <a:ln w="5270">
            <a:solidFill>
              <a:srgbClr val="231F2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42545" marR="34925" algn="ctr">
              <a:lnSpc>
                <a:spcPct val="100000"/>
              </a:lnSpc>
              <a:spcBef>
                <a:spcPts val="47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Component  of</a:t>
            </a:r>
            <a:endParaRPr sz="650">
              <a:latin typeface="Arial"/>
              <a:cs typeface="Arial"/>
            </a:endParaRPr>
          </a:p>
          <a:p>
            <a:pPr marL="59055" marR="51435" algn="ctr">
              <a:lnSpc>
                <a:spcPct val="100000"/>
              </a:lnSpc>
              <a:spcBef>
                <a:spcPts val="1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parallel  application</a:t>
            </a:r>
            <a:endParaRPr sz="6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550015" y="1673345"/>
            <a:ext cx="521970" cy="521970"/>
          </a:xfrm>
          <a:prstGeom prst="rect">
            <a:avLst/>
          </a:prstGeom>
          <a:ln w="5270">
            <a:solidFill>
              <a:srgbClr val="231F2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42545" marR="34925" algn="ctr">
              <a:lnSpc>
                <a:spcPct val="100000"/>
              </a:lnSpc>
              <a:spcBef>
                <a:spcPts val="47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Component  of</a:t>
            </a:r>
            <a:endParaRPr sz="650">
              <a:latin typeface="Arial"/>
              <a:cs typeface="Arial"/>
            </a:endParaRPr>
          </a:p>
          <a:p>
            <a:pPr marL="59055" marR="51435" algn="ctr">
              <a:lnSpc>
                <a:spcPct val="100000"/>
              </a:lnSpc>
              <a:spcBef>
                <a:spcPts val="1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parallel  application</a:t>
            </a:r>
            <a:endParaRPr sz="65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89949" y="1673345"/>
            <a:ext cx="626110" cy="332105"/>
          </a:xfrm>
          <a:custGeom>
            <a:avLst/>
            <a:gdLst/>
            <a:ahLst/>
            <a:cxnLst/>
            <a:rect l="l" t="t" r="r" b="b"/>
            <a:pathLst>
              <a:path w="626110" h="332105">
                <a:moveTo>
                  <a:pt x="0" y="332041"/>
                </a:moveTo>
                <a:lnTo>
                  <a:pt x="625513" y="332041"/>
                </a:lnTo>
                <a:lnTo>
                  <a:pt x="625513" y="0"/>
                </a:lnTo>
                <a:lnTo>
                  <a:pt x="0" y="0"/>
                </a:lnTo>
                <a:lnTo>
                  <a:pt x="0" y="332041"/>
                </a:lnTo>
                <a:close/>
              </a:path>
            </a:pathLst>
          </a:custGeom>
          <a:ln w="527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65343" y="2058661"/>
            <a:ext cx="67691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Parallel</a:t>
            </a:r>
            <a:r>
              <a:rPr sz="65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libs</a:t>
            </a:r>
            <a:endParaRPr sz="6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65343" y="1699573"/>
            <a:ext cx="676910" cy="280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890" marR="73660" indent="-33655">
              <a:lnSpc>
                <a:spcPct val="128400"/>
              </a:lnSpc>
              <a:spcBef>
                <a:spcPts val="9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Management  application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713245" y="1979034"/>
            <a:ext cx="1965960" cy="785495"/>
            <a:chOff x="1713245" y="1979034"/>
            <a:chExt cx="1965960" cy="785495"/>
          </a:xfrm>
        </p:grpSpPr>
        <p:sp>
          <p:nvSpPr>
            <p:cNvPr id="40" name="object 40"/>
            <p:cNvSpPr/>
            <p:nvPr/>
          </p:nvSpPr>
          <p:spPr>
            <a:xfrm>
              <a:off x="3075670" y="1981670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3717" y="0"/>
                  </a:moveTo>
                  <a:lnTo>
                    <a:pt x="14483" y="1863"/>
                  </a:lnTo>
                  <a:lnTo>
                    <a:pt x="6945" y="6946"/>
                  </a:lnTo>
                  <a:lnTo>
                    <a:pt x="1863" y="14485"/>
                  </a:lnTo>
                  <a:lnTo>
                    <a:pt x="0" y="23717"/>
                  </a:lnTo>
                  <a:lnTo>
                    <a:pt x="1863" y="32948"/>
                  </a:lnTo>
                  <a:lnTo>
                    <a:pt x="6945" y="40487"/>
                  </a:lnTo>
                  <a:lnTo>
                    <a:pt x="14483" y="45570"/>
                  </a:lnTo>
                  <a:lnTo>
                    <a:pt x="23717" y="47434"/>
                  </a:lnTo>
                  <a:lnTo>
                    <a:pt x="32950" y="45570"/>
                  </a:lnTo>
                  <a:lnTo>
                    <a:pt x="40489" y="40487"/>
                  </a:lnTo>
                  <a:lnTo>
                    <a:pt x="45571" y="32948"/>
                  </a:lnTo>
                  <a:lnTo>
                    <a:pt x="47434" y="23717"/>
                  </a:lnTo>
                  <a:lnTo>
                    <a:pt x="45571" y="14485"/>
                  </a:lnTo>
                  <a:lnTo>
                    <a:pt x="40489" y="6946"/>
                  </a:lnTo>
                  <a:lnTo>
                    <a:pt x="32950" y="1863"/>
                  </a:lnTo>
                  <a:lnTo>
                    <a:pt x="2371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075670" y="1981670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3717" y="47434"/>
                  </a:moveTo>
                  <a:lnTo>
                    <a:pt x="32950" y="45570"/>
                  </a:lnTo>
                  <a:lnTo>
                    <a:pt x="40489" y="40487"/>
                  </a:lnTo>
                  <a:lnTo>
                    <a:pt x="45571" y="32948"/>
                  </a:lnTo>
                  <a:lnTo>
                    <a:pt x="47434" y="23717"/>
                  </a:lnTo>
                  <a:lnTo>
                    <a:pt x="45571" y="14485"/>
                  </a:lnTo>
                  <a:lnTo>
                    <a:pt x="40489" y="6946"/>
                  </a:lnTo>
                  <a:lnTo>
                    <a:pt x="32950" y="1863"/>
                  </a:lnTo>
                  <a:lnTo>
                    <a:pt x="23717" y="0"/>
                  </a:lnTo>
                  <a:lnTo>
                    <a:pt x="14483" y="1863"/>
                  </a:lnTo>
                  <a:lnTo>
                    <a:pt x="6945" y="6946"/>
                  </a:lnTo>
                  <a:lnTo>
                    <a:pt x="1863" y="14485"/>
                  </a:lnTo>
                  <a:lnTo>
                    <a:pt x="0" y="23717"/>
                  </a:lnTo>
                  <a:lnTo>
                    <a:pt x="1863" y="32948"/>
                  </a:lnTo>
                  <a:lnTo>
                    <a:pt x="6945" y="40487"/>
                  </a:lnTo>
                  <a:lnTo>
                    <a:pt x="14483" y="45570"/>
                  </a:lnTo>
                  <a:lnTo>
                    <a:pt x="23717" y="47434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170539" y="1981670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3717" y="0"/>
                  </a:moveTo>
                  <a:lnTo>
                    <a:pt x="14483" y="1863"/>
                  </a:lnTo>
                  <a:lnTo>
                    <a:pt x="6945" y="6946"/>
                  </a:lnTo>
                  <a:lnTo>
                    <a:pt x="1863" y="14485"/>
                  </a:lnTo>
                  <a:lnTo>
                    <a:pt x="0" y="23717"/>
                  </a:lnTo>
                  <a:lnTo>
                    <a:pt x="1863" y="32948"/>
                  </a:lnTo>
                  <a:lnTo>
                    <a:pt x="6945" y="40487"/>
                  </a:lnTo>
                  <a:lnTo>
                    <a:pt x="14483" y="45570"/>
                  </a:lnTo>
                  <a:lnTo>
                    <a:pt x="23717" y="47434"/>
                  </a:lnTo>
                  <a:lnTo>
                    <a:pt x="32950" y="45570"/>
                  </a:lnTo>
                  <a:lnTo>
                    <a:pt x="40489" y="40487"/>
                  </a:lnTo>
                  <a:lnTo>
                    <a:pt x="45571" y="32948"/>
                  </a:lnTo>
                  <a:lnTo>
                    <a:pt x="47434" y="23717"/>
                  </a:lnTo>
                  <a:lnTo>
                    <a:pt x="45571" y="14485"/>
                  </a:lnTo>
                  <a:lnTo>
                    <a:pt x="40489" y="6946"/>
                  </a:lnTo>
                  <a:lnTo>
                    <a:pt x="32950" y="1863"/>
                  </a:lnTo>
                  <a:lnTo>
                    <a:pt x="2371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170539" y="1981670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3717" y="47434"/>
                  </a:moveTo>
                  <a:lnTo>
                    <a:pt x="32950" y="45570"/>
                  </a:lnTo>
                  <a:lnTo>
                    <a:pt x="40489" y="40487"/>
                  </a:lnTo>
                  <a:lnTo>
                    <a:pt x="45571" y="32948"/>
                  </a:lnTo>
                  <a:lnTo>
                    <a:pt x="47434" y="23717"/>
                  </a:lnTo>
                  <a:lnTo>
                    <a:pt x="45571" y="14485"/>
                  </a:lnTo>
                  <a:lnTo>
                    <a:pt x="40489" y="6946"/>
                  </a:lnTo>
                  <a:lnTo>
                    <a:pt x="32950" y="1863"/>
                  </a:lnTo>
                  <a:lnTo>
                    <a:pt x="23717" y="0"/>
                  </a:lnTo>
                  <a:lnTo>
                    <a:pt x="14483" y="1863"/>
                  </a:lnTo>
                  <a:lnTo>
                    <a:pt x="6945" y="6946"/>
                  </a:lnTo>
                  <a:lnTo>
                    <a:pt x="1863" y="14485"/>
                  </a:lnTo>
                  <a:lnTo>
                    <a:pt x="0" y="23717"/>
                  </a:lnTo>
                  <a:lnTo>
                    <a:pt x="1863" y="32948"/>
                  </a:lnTo>
                  <a:lnTo>
                    <a:pt x="6945" y="40487"/>
                  </a:lnTo>
                  <a:lnTo>
                    <a:pt x="14483" y="45570"/>
                  </a:lnTo>
                  <a:lnTo>
                    <a:pt x="23717" y="47434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65408" y="1981670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3717" y="0"/>
                  </a:moveTo>
                  <a:lnTo>
                    <a:pt x="14483" y="1863"/>
                  </a:lnTo>
                  <a:lnTo>
                    <a:pt x="6945" y="6946"/>
                  </a:lnTo>
                  <a:lnTo>
                    <a:pt x="1863" y="14485"/>
                  </a:lnTo>
                  <a:lnTo>
                    <a:pt x="0" y="23717"/>
                  </a:lnTo>
                  <a:lnTo>
                    <a:pt x="1863" y="32948"/>
                  </a:lnTo>
                  <a:lnTo>
                    <a:pt x="6945" y="40487"/>
                  </a:lnTo>
                  <a:lnTo>
                    <a:pt x="14483" y="45570"/>
                  </a:lnTo>
                  <a:lnTo>
                    <a:pt x="23717" y="47434"/>
                  </a:lnTo>
                  <a:lnTo>
                    <a:pt x="32950" y="45570"/>
                  </a:lnTo>
                  <a:lnTo>
                    <a:pt x="40489" y="40487"/>
                  </a:lnTo>
                  <a:lnTo>
                    <a:pt x="45571" y="32948"/>
                  </a:lnTo>
                  <a:lnTo>
                    <a:pt x="47434" y="23717"/>
                  </a:lnTo>
                  <a:lnTo>
                    <a:pt x="45571" y="14485"/>
                  </a:lnTo>
                  <a:lnTo>
                    <a:pt x="40489" y="6946"/>
                  </a:lnTo>
                  <a:lnTo>
                    <a:pt x="32950" y="1863"/>
                  </a:lnTo>
                  <a:lnTo>
                    <a:pt x="2371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265408" y="1981670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3717" y="47434"/>
                  </a:moveTo>
                  <a:lnTo>
                    <a:pt x="32950" y="45570"/>
                  </a:lnTo>
                  <a:lnTo>
                    <a:pt x="40489" y="40487"/>
                  </a:lnTo>
                  <a:lnTo>
                    <a:pt x="45571" y="32948"/>
                  </a:lnTo>
                  <a:lnTo>
                    <a:pt x="47434" y="23717"/>
                  </a:lnTo>
                  <a:lnTo>
                    <a:pt x="45571" y="14485"/>
                  </a:lnTo>
                  <a:lnTo>
                    <a:pt x="40489" y="6946"/>
                  </a:lnTo>
                  <a:lnTo>
                    <a:pt x="32950" y="1863"/>
                  </a:lnTo>
                  <a:lnTo>
                    <a:pt x="23717" y="0"/>
                  </a:lnTo>
                  <a:lnTo>
                    <a:pt x="14483" y="1863"/>
                  </a:lnTo>
                  <a:lnTo>
                    <a:pt x="6945" y="6946"/>
                  </a:lnTo>
                  <a:lnTo>
                    <a:pt x="1863" y="14485"/>
                  </a:lnTo>
                  <a:lnTo>
                    <a:pt x="0" y="23717"/>
                  </a:lnTo>
                  <a:lnTo>
                    <a:pt x="1863" y="32948"/>
                  </a:lnTo>
                  <a:lnTo>
                    <a:pt x="6945" y="40487"/>
                  </a:lnTo>
                  <a:lnTo>
                    <a:pt x="14483" y="45570"/>
                  </a:lnTo>
                  <a:lnTo>
                    <a:pt x="23717" y="47434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360277" y="1981670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3717" y="0"/>
                  </a:moveTo>
                  <a:lnTo>
                    <a:pt x="14483" y="1863"/>
                  </a:lnTo>
                  <a:lnTo>
                    <a:pt x="6945" y="6946"/>
                  </a:lnTo>
                  <a:lnTo>
                    <a:pt x="1863" y="14485"/>
                  </a:lnTo>
                  <a:lnTo>
                    <a:pt x="0" y="23717"/>
                  </a:lnTo>
                  <a:lnTo>
                    <a:pt x="1863" y="32948"/>
                  </a:lnTo>
                  <a:lnTo>
                    <a:pt x="6945" y="40487"/>
                  </a:lnTo>
                  <a:lnTo>
                    <a:pt x="14483" y="45570"/>
                  </a:lnTo>
                  <a:lnTo>
                    <a:pt x="23717" y="47434"/>
                  </a:lnTo>
                  <a:lnTo>
                    <a:pt x="32950" y="45570"/>
                  </a:lnTo>
                  <a:lnTo>
                    <a:pt x="40489" y="40487"/>
                  </a:lnTo>
                  <a:lnTo>
                    <a:pt x="45571" y="32948"/>
                  </a:lnTo>
                  <a:lnTo>
                    <a:pt x="47434" y="23717"/>
                  </a:lnTo>
                  <a:lnTo>
                    <a:pt x="45571" y="14485"/>
                  </a:lnTo>
                  <a:lnTo>
                    <a:pt x="40489" y="6946"/>
                  </a:lnTo>
                  <a:lnTo>
                    <a:pt x="32950" y="1863"/>
                  </a:lnTo>
                  <a:lnTo>
                    <a:pt x="2371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360277" y="1981670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3717" y="47434"/>
                  </a:moveTo>
                  <a:lnTo>
                    <a:pt x="32950" y="45570"/>
                  </a:lnTo>
                  <a:lnTo>
                    <a:pt x="40489" y="40487"/>
                  </a:lnTo>
                  <a:lnTo>
                    <a:pt x="45571" y="32948"/>
                  </a:lnTo>
                  <a:lnTo>
                    <a:pt x="47434" y="23717"/>
                  </a:lnTo>
                  <a:lnTo>
                    <a:pt x="45571" y="14485"/>
                  </a:lnTo>
                  <a:lnTo>
                    <a:pt x="40489" y="6946"/>
                  </a:lnTo>
                  <a:lnTo>
                    <a:pt x="32950" y="1863"/>
                  </a:lnTo>
                  <a:lnTo>
                    <a:pt x="23717" y="0"/>
                  </a:lnTo>
                  <a:lnTo>
                    <a:pt x="14483" y="1863"/>
                  </a:lnTo>
                  <a:lnTo>
                    <a:pt x="6945" y="6946"/>
                  </a:lnTo>
                  <a:lnTo>
                    <a:pt x="1863" y="14485"/>
                  </a:lnTo>
                  <a:lnTo>
                    <a:pt x="0" y="23717"/>
                  </a:lnTo>
                  <a:lnTo>
                    <a:pt x="1863" y="32948"/>
                  </a:lnTo>
                  <a:lnTo>
                    <a:pt x="6945" y="40487"/>
                  </a:lnTo>
                  <a:lnTo>
                    <a:pt x="14483" y="45570"/>
                  </a:lnTo>
                  <a:lnTo>
                    <a:pt x="23717" y="47434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472197" y="2432297"/>
              <a:ext cx="68517" cy="33204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713245" y="2432297"/>
              <a:ext cx="68517" cy="33204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10625" y="2432297"/>
              <a:ext cx="68517" cy="33204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471824" y="2572444"/>
            <a:ext cx="607060" cy="22732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5575" marR="5080" indent="-14351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Remote</a:t>
            </a:r>
            <a:r>
              <a:rPr sz="650" spc="-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access  network</a:t>
            </a:r>
            <a:endParaRPr sz="6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592501" y="2572444"/>
            <a:ext cx="2251710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69365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Standard</a:t>
            </a:r>
            <a:r>
              <a:rPr sz="65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network</a:t>
            </a: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55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tabLst>
                <a:tab pos="1019175" algn="l"/>
                <a:tab pos="1873250" algn="l"/>
                <a:tab pos="2225675" algn="l"/>
              </a:tabLst>
            </a:pPr>
            <a:r>
              <a:rPr sz="650" u="heavy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 	 	 	</a:t>
            </a:r>
            <a:endParaRPr sz="650">
              <a:latin typeface="Arial"/>
              <a:cs typeface="Arial"/>
            </a:endParaRPr>
          </a:p>
          <a:p>
            <a:pPr marR="53340" algn="r">
              <a:lnSpc>
                <a:spcPct val="100000"/>
              </a:lnSpc>
              <a:spcBef>
                <a:spcPts val="5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High-speed</a:t>
            </a:r>
            <a:r>
              <a:rPr sz="650" spc="-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network</a:t>
            </a:r>
            <a:endParaRPr sz="6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50868" y="1454993"/>
            <a:ext cx="49466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Master</a:t>
            </a:r>
            <a:r>
              <a:rPr sz="650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node</a:t>
            </a:r>
            <a:endParaRPr sz="6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624231" y="1457731"/>
            <a:ext cx="57912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Compute</a:t>
            </a:r>
            <a:r>
              <a:rPr sz="650" spc="-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node</a:t>
            </a:r>
            <a:endParaRPr sz="6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383184" y="1457731"/>
            <a:ext cx="57912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Compute</a:t>
            </a:r>
            <a:r>
              <a:rPr sz="650" spc="-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node</a:t>
            </a:r>
            <a:endParaRPr sz="6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521613" y="1457731"/>
            <a:ext cx="57912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Compute</a:t>
            </a:r>
            <a:r>
              <a:rPr sz="650" spc="-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node</a:t>
            </a:r>
            <a:endParaRPr sz="65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0" y="3326968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2303995" y="0"/>
                </a:moveTo>
                <a:lnTo>
                  <a:pt x="0" y="0"/>
                </a:lnTo>
                <a:lnTo>
                  <a:pt x="0" y="129031"/>
                </a:lnTo>
                <a:lnTo>
                  <a:pt x="2303995" y="129031"/>
                </a:lnTo>
                <a:lnTo>
                  <a:pt x="2303995" y="0"/>
                </a:lnTo>
                <a:close/>
              </a:path>
            </a:pathLst>
          </a:custGeom>
          <a:solidFill>
            <a:srgbClr val="FCC1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66700" y="3327684"/>
            <a:ext cx="6375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Cluster</a:t>
            </a:r>
            <a:r>
              <a:rPr sz="600" spc="-30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computing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2303995" y="3326968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2303995" y="0"/>
                </a:moveTo>
                <a:lnTo>
                  <a:pt x="0" y="0"/>
                </a:lnTo>
                <a:lnTo>
                  <a:pt x="0" y="129031"/>
                </a:lnTo>
                <a:lnTo>
                  <a:pt x="2303995" y="129031"/>
                </a:lnTo>
                <a:lnTo>
                  <a:pt x="2303995" y="0"/>
                </a:lnTo>
                <a:close/>
              </a:path>
            </a:pathLst>
          </a:custGeom>
          <a:solidFill>
            <a:srgbClr val="FCC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4283748" y="3327684"/>
            <a:ext cx="2578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31 /</a:t>
            </a:r>
            <a:r>
              <a:rPr sz="600" spc="-70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56</a:t>
            </a:r>
            <a:endParaRPr sz="600">
              <a:latin typeface="Arial"/>
              <a:cs typeface="Arial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81050" y="2959556"/>
            <a:ext cx="31659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Linux based Beowulf Cluster architecture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9032"/>
            <a:ext cx="4610100" cy="215444"/>
          </a:xfrm>
        </p:spPr>
        <p:txBody>
          <a:bodyPr/>
          <a:lstStyle/>
          <a:p>
            <a:r>
              <a:rPr lang="en-US" dirty="0"/>
              <a:t>Beowulf Cluster functioning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5421"/>
            <a:ext cx="4610100" cy="1652677"/>
          </a:xfrm>
          <a:prstGeom prst="rect">
            <a:avLst/>
          </a:prstGeom>
        </p:spPr>
      </p:pic>
      <p:sp>
        <p:nvSpPr>
          <p:cNvPr id="6" name="object 2"/>
          <p:cNvSpPr txBox="1"/>
          <p:nvPr/>
        </p:nvSpPr>
        <p:spPr>
          <a:xfrm>
            <a:off x="66713" y="716"/>
            <a:ext cx="45415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16580" algn="l"/>
              </a:tabLst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Introduction: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 </a:t>
            </a:r>
            <a:r>
              <a:rPr sz="600" spc="-20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Types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600" spc="70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600" spc="1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4" action="ppaction://hlinksldjump"/>
              </a:rPr>
              <a:t>High performance distributed</a:t>
            </a:r>
            <a:r>
              <a:rPr sz="600" dirty="0">
                <a:solidFill>
                  <a:srgbClr val="04064C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4" action="ppaction://hlinksldjump"/>
              </a:rPr>
              <a:t>computing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7" name="object 3"/>
          <p:cNvSpPr txBox="1">
            <a:spLocks/>
          </p:cNvSpPr>
          <p:nvPr/>
        </p:nvSpPr>
        <p:spPr>
          <a:xfrm>
            <a:off x="0" y="129032"/>
            <a:ext cx="4608195" cy="278281"/>
          </a:xfrm>
          <a:prstGeom prst="rect">
            <a:avLst/>
          </a:prstGeom>
          <a:solidFill>
            <a:srgbClr val="FFE600"/>
          </a:solidFill>
        </p:spPr>
        <p:txBody>
          <a:bodyPr vert="horz" wrap="square" lIns="0" tIns="62230" rIns="0" bIns="0" rtlCol="0">
            <a:spAutoFit/>
          </a:bodyPr>
          <a:lstStyle>
            <a:lvl1pPr>
              <a:defRPr sz="1400" b="0" i="0">
                <a:solidFill>
                  <a:srgbClr val="04064C"/>
                </a:solidFill>
                <a:latin typeface="Arial"/>
                <a:ea typeface="+mj-ea"/>
                <a:cs typeface="Arial"/>
              </a:defRPr>
            </a:lvl1pPr>
          </a:lstStyle>
          <a:p>
            <a:pPr marL="107950">
              <a:spcBef>
                <a:spcPts val="490"/>
              </a:spcBef>
            </a:pPr>
            <a:r>
              <a:rPr lang="en-US" kern="0" spc="15" dirty="0"/>
              <a:t>Cluster</a:t>
            </a:r>
            <a:r>
              <a:rPr lang="en-US" kern="0" dirty="0"/>
              <a:t> </a:t>
            </a:r>
            <a:r>
              <a:rPr lang="en-US" kern="0" spc="15" dirty="0"/>
              <a:t>computing: Beowulf Cluster Functioning</a:t>
            </a:r>
          </a:p>
        </p:txBody>
      </p:sp>
    </p:spTree>
    <p:extLst>
      <p:ext uri="{BB962C8B-B14F-4D97-AF65-F5344CB8AC3E}">
        <p14:creationId xmlns:p14="http://schemas.microsoft.com/office/powerpoint/2010/main" val="2132852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9032"/>
            <a:ext cx="4610100" cy="215444"/>
          </a:xfrm>
        </p:spPr>
        <p:txBody>
          <a:bodyPr/>
          <a:lstStyle/>
          <a:p>
            <a:r>
              <a:rPr lang="en-US" dirty="0"/>
              <a:t>Beowulf Cluster functioning</a:t>
            </a:r>
          </a:p>
        </p:txBody>
      </p:sp>
      <p:sp>
        <p:nvSpPr>
          <p:cNvPr id="6" name="object 2"/>
          <p:cNvSpPr txBox="1"/>
          <p:nvPr/>
        </p:nvSpPr>
        <p:spPr>
          <a:xfrm>
            <a:off x="66713" y="716"/>
            <a:ext cx="45415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16580" algn="l"/>
              </a:tabLst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 </a:t>
            </a:r>
            <a:r>
              <a:rPr sz="600" spc="-20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Types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of</a:t>
            </a:r>
            <a:r>
              <a:rPr sz="600" spc="70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distributed</a:t>
            </a:r>
            <a:r>
              <a:rPr sz="600" spc="1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systems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High performance distributed</a:t>
            </a:r>
            <a:r>
              <a:rPr sz="600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computing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7" name="object 3"/>
          <p:cNvSpPr txBox="1">
            <a:spLocks/>
          </p:cNvSpPr>
          <p:nvPr/>
        </p:nvSpPr>
        <p:spPr>
          <a:xfrm>
            <a:off x="0" y="129032"/>
            <a:ext cx="4608195" cy="278281"/>
          </a:xfrm>
          <a:prstGeom prst="rect">
            <a:avLst/>
          </a:prstGeom>
          <a:solidFill>
            <a:srgbClr val="FFE600"/>
          </a:solidFill>
        </p:spPr>
        <p:txBody>
          <a:bodyPr vert="horz" wrap="square" lIns="0" tIns="62230" rIns="0" bIns="0" rtlCol="0">
            <a:spAutoFit/>
          </a:bodyPr>
          <a:lstStyle>
            <a:lvl1pPr>
              <a:defRPr sz="1400" b="0" i="0">
                <a:solidFill>
                  <a:srgbClr val="04064C"/>
                </a:solidFill>
                <a:latin typeface="Arial"/>
                <a:ea typeface="+mj-ea"/>
                <a:cs typeface="Arial"/>
              </a:defRPr>
            </a:lvl1pPr>
          </a:lstStyle>
          <a:p>
            <a:pPr marL="107950">
              <a:spcBef>
                <a:spcPts val="490"/>
              </a:spcBef>
            </a:pPr>
            <a:r>
              <a:rPr lang="en-US" kern="0" spc="15" dirty="0"/>
              <a:t>Cluster</a:t>
            </a:r>
            <a:r>
              <a:rPr lang="en-US" kern="0" dirty="0"/>
              <a:t> </a:t>
            </a:r>
            <a:r>
              <a:rPr lang="en-US" kern="0" spc="15" dirty="0"/>
              <a:t>computing: MOSIX Cluster Functioning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115782"/>
            <a:ext cx="4610101" cy="1505180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781050" y="2288855"/>
            <a:ext cx="106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619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45415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16580" algn="l"/>
              </a:tabLst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 </a:t>
            </a:r>
            <a:r>
              <a:rPr sz="600" spc="-20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Types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of</a:t>
            </a:r>
            <a:r>
              <a:rPr sz="600" spc="70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distributed</a:t>
            </a:r>
            <a:r>
              <a:rPr sz="600" spc="1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systems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High performance distributed</a:t>
            </a:r>
            <a:r>
              <a:rPr sz="600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computing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29032"/>
            <a:ext cx="4608195" cy="321945"/>
          </a:xfrm>
          <a:prstGeom prst="rect">
            <a:avLst/>
          </a:prstGeom>
          <a:solidFill>
            <a:srgbClr val="FFE600"/>
          </a:solidFill>
        </p:spPr>
        <p:txBody>
          <a:bodyPr vert="horz" wrap="square" lIns="0" tIns="6223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490"/>
              </a:spcBef>
            </a:pPr>
            <a:r>
              <a:rPr spc="20" dirty="0"/>
              <a:t>Grid</a:t>
            </a:r>
            <a:r>
              <a:rPr dirty="0"/>
              <a:t> </a:t>
            </a:r>
            <a:r>
              <a:rPr spc="15" dirty="0"/>
              <a:t>computing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7743" y="892175"/>
            <a:ext cx="4483735" cy="947419"/>
            <a:chOff x="87743" y="953553"/>
            <a:chExt cx="4483735" cy="947419"/>
          </a:xfrm>
        </p:grpSpPr>
        <p:sp>
          <p:nvSpPr>
            <p:cNvPr id="5" name="object 5"/>
            <p:cNvSpPr/>
            <p:nvPr/>
          </p:nvSpPr>
          <p:spPr>
            <a:xfrm>
              <a:off x="87743" y="953553"/>
              <a:ext cx="4432935" cy="183515"/>
            </a:xfrm>
            <a:custGeom>
              <a:avLst/>
              <a:gdLst/>
              <a:ahLst/>
              <a:cxnLst/>
              <a:rect l="l" t="t" r="r" b="b"/>
              <a:pathLst>
                <a:path w="4432935" h="183515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2908"/>
                  </a:lnTo>
                  <a:lnTo>
                    <a:pt x="4432567" y="182908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CB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7744" y="1123810"/>
              <a:ext cx="4432566" cy="5060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8544" y="1798955"/>
              <a:ext cx="101600" cy="1016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9344" y="1786254"/>
              <a:ext cx="4381715" cy="1143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1" y="997788"/>
              <a:ext cx="50749" cy="80116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743" y="1168077"/>
              <a:ext cx="4432935" cy="681990"/>
            </a:xfrm>
            <a:custGeom>
              <a:avLst/>
              <a:gdLst/>
              <a:ahLst/>
              <a:cxnLst/>
              <a:rect l="l" t="t" r="r" b="b"/>
              <a:pathLst>
                <a:path w="4432935" h="681989">
                  <a:moveTo>
                    <a:pt x="4432567" y="0"/>
                  </a:moveTo>
                  <a:lnTo>
                    <a:pt x="0" y="0"/>
                  </a:lnTo>
                  <a:lnTo>
                    <a:pt x="0" y="630877"/>
                  </a:lnTo>
                  <a:lnTo>
                    <a:pt x="4008" y="650602"/>
                  </a:lnTo>
                  <a:lnTo>
                    <a:pt x="14922" y="666755"/>
                  </a:lnTo>
                  <a:lnTo>
                    <a:pt x="31075" y="677669"/>
                  </a:lnTo>
                  <a:lnTo>
                    <a:pt x="50800" y="681677"/>
                  </a:lnTo>
                  <a:lnTo>
                    <a:pt x="4381767" y="681677"/>
                  </a:lnTo>
                  <a:lnTo>
                    <a:pt x="4401492" y="677669"/>
                  </a:lnTo>
                  <a:lnTo>
                    <a:pt x="4417644" y="666755"/>
                  </a:lnTo>
                  <a:lnTo>
                    <a:pt x="4428558" y="650602"/>
                  </a:lnTo>
                  <a:lnTo>
                    <a:pt x="4432567" y="630877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1" y="1035875"/>
              <a:ext cx="0" cy="782320"/>
            </a:xfrm>
            <a:custGeom>
              <a:avLst/>
              <a:gdLst/>
              <a:ahLst/>
              <a:cxnLst/>
              <a:rect l="l" t="t" r="r" b="b"/>
              <a:pathLst>
                <a:path h="782319">
                  <a:moveTo>
                    <a:pt x="0" y="78212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1" y="10231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1" y="10104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1" y="9977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9557" y="1243419"/>
              <a:ext cx="76809" cy="7680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9557" y="1471168"/>
              <a:ext cx="76809" cy="7680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9557" y="1698917"/>
              <a:ext cx="76809" cy="7680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87743" y="2001684"/>
            <a:ext cx="4483735" cy="724535"/>
            <a:chOff x="87743" y="2001684"/>
            <a:chExt cx="4483735" cy="724535"/>
          </a:xfrm>
        </p:grpSpPr>
        <p:sp>
          <p:nvSpPr>
            <p:cNvPr id="19" name="object 19"/>
            <p:cNvSpPr/>
            <p:nvPr/>
          </p:nvSpPr>
          <p:spPr>
            <a:xfrm>
              <a:off x="87743" y="2001684"/>
              <a:ext cx="4432935" cy="173990"/>
            </a:xfrm>
            <a:custGeom>
              <a:avLst/>
              <a:gdLst/>
              <a:ahLst/>
              <a:cxnLst/>
              <a:rect l="l" t="t" r="r" b="b"/>
              <a:pathLst>
                <a:path w="4432935" h="173989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3799"/>
                  </a:lnTo>
                  <a:lnTo>
                    <a:pt x="4432567" y="173799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6666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7744" y="2162835"/>
              <a:ext cx="4432566" cy="5060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8544" y="2624213"/>
              <a:ext cx="101600" cy="10160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89344" y="2611513"/>
              <a:ext cx="4381715" cy="1143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11" y="2045919"/>
              <a:ext cx="50749" cy="57829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7743" y="2207103"/>
              <a:ext cx="4432935" cy="467995"/>
            </a:xfrm>
            <a:custGeom>
              <a:avLst/>
              <a:gdLst/>
              <a:ahLst/>
              <a:cxnLst/>
              <a:rect l="l" t="t" r="r" b="b"/>
              <a:pathLst>
                <a:path w="4432935" h="467994">
                  <a:moveTo>
                    <a:pt x="4432567" y="0"/>
                  </a:moveTo>
                  <a:lnTo>
                    <a:pt x="0" y="0"/>
                  </a:lnTo>
                  <a:lnTo>
                    <a:pt x="0" y="417109"/>
                  </a:lnTo>
                  <a:lnTo>
                    <a:pt x="4008" y="436834"/>
                  </a:lnTo>
                  <a:lnTo>
                    <a:pt x="14922" y="452987"/>
                  </a:lnTo>
                  <a:lnTo>
                    <a:pt x="31075" y="463901"/>
                  </a:lnTo>
                  <a:lnTo>
                    <a:pt x="50800" y="467910"/>
                  </a:lnTo>
                  <a:lnTo>
                    <a:pt x="4381767" y="467910"/>
                  </a:lnTo>
                  <a:lnTo>
                    <a:pt x="4401492" y="463901"/>
                  </a:lnTo>
                  <a:lnTo>
                    <a:pt x="4417644" y="452987"/>
                  </a:lnTo>
                  <a:lnTo>
                    <a:pt x="4428558" y="436834"/>
                  </a:lnTo>
                  <a:lnTo>
                    <a:pt x="4432567" y="417109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D8D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11" y="2084009"/>
              <a:ext cx="0" cy="559435"/>
            </a:xfrm>
            <a:custGeom>
              <a:avLst/>
              <a:gdLst/>
              <a:ahLst/>
              <a:cxnLst/>
              <a:rect l="l" t="t" r="r" b="b"/>
              <a:pathLst>
                <a:path h="559435">
                  <a:moveTo>
                    <a:pt x="0" y="55925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11" y="207130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11" y="205860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20311" y="204590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21920" y="857980"/>
            <a:ext cx="4111625" cy="18091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3370" marR="1557655" indent="-281305">
              <a:lnSpc>
                <a:spcPct val="156600"/>
              </a:lnSpc>
              <a:spcBef>
                <a:spcPts val="100"/>
              </a:spcBef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The </a:t>
            </a:r>
            <a:r>
              <a:rPr sz="1000" spc="-10" dirty="0">
                <a:solidFill>
                  <a:srgbClr val="04064C"/>
                </a:solidFill>
                <a:latin typeface="Arial"/>
                <a:cs typeface="Arial"/>
              </a:rPr>
              <a:t>next </a:t>
            </a: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step: lots of nodes from everywhere  </a:t>
            </a:r>
            <a:r>
              <a:rPr sz="1000" spc="-5" dirty="0">
                <a:latin typeface="Arial"/>
                <a:cs typeface="Arial"/>
              </a:rPr>
              <a:t>Heterogeneous</a:t>
            </a:r>
            <a:endParaRPr sz="1000">
              <a:latin typeface="Arial"/>
              <a:cs typeface="Arial"/>
            </a:endParaRPr>
          </a:p>
          <a:p>
            <a:pPr marL="293370" marR="1609725">
              <a:lnSpc>
                <a:spcPct val="149400"/>
              </a:lnSpc>
            </a:pPr>
            <a:r>
              <a:rPr sz="1000" spc="-5" dirty="0">
                <a:latin typeface="Arial"/>
                <a:cs typeface="Arial"/>
              </a:rPr>
              <a:t>Dispersed across </a:t>
            </a:r>
            <a:r>
              <a:rPr sz="1000" spc="-15" dirty="0">
                <a:latin typeface="Arial"/>
                <a:cs typeface="Arial"/>
              </a:rPr>
              <a:t>several </a:t>
            </a:r>
            <a:r>
              <a:rPr sz="1000" spc="-5" dirty="0">
                <a:latin typeface="Arial"/>
                <a:cs typeface="Arial"/>
              </a:rPr>
              <a:t>organizations  Can easily span a wide-area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network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5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16510" marR="5080" indent="-4445">
              <a:lnSpc>
                <a:spcPct val="100000"/>
              </a:lnSpc>
              <a:spcBef>
                <a:spcPts val="325"/>
              </a:spcBef>
            </a:pPr>
            <a:r>
              <a:rPr sz="1000" spc="-65" dirty="0">
                <a:latin typeface="Arial"/>
                <a:cs typeface="Arial"/>
              </a:rPr>
              <a:t>To </a:t>
            </a:r>
            <a:r>
              <a:rPr sz="1000" spc="-5" dirty="0">
                <a:latin typeface="Arial"/>
                <a:cs typeface="Arial"/>
              </a:rPr>
              <a:t>allow </a:t>
            </a:r>
            <a:r>
              <a:rPr sz="1000" spc="-15" dirty="0">
                <a:latin typeface="Arial"/>
                <a:cs typeface="Arial"/>
              </a:rPr>
              <a:t>for </a:t>
            </a:r>
            <a:r>
              <a:rPr sz="1000" spc="-5" dirty="0">
                <a:latin typeface="Arial"/>
                <a:cs typeface="Arial"/>
              </a:rPr>
              <a:t>collaborations, grids generally </a:t>
            </a:r>
            <a:r>
              <a:rPr sz="1000" dirty="0">
                <a:latin typeface="Arial"/>
                <a:cs typeface="Arial"/>
              </a:rPr>
              <a:t>use</a:t>
            </a:r>
            <a:r>
              <a:rPr sz="1000" dirty="0">
                <a:solidFill>
                  <a:srgbClr val="FA0000"/>
                </a:solidFill>
                <a:latin typeface="Arial"/>
                <a:cs typeface="Arial"/>
              </a:rPr>
              <a:t>virtual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organizations</a:t>
            </a:r>
            <a:r>
              <a:rPr sz="1000" spc="-5" dirty="0">
                <a:latin typeface="Arial"/>
                <a:cs typeface="Arial"/>
              </a:rPr>
              <a:t>. In  essence, this is a grouping of users (or </a:t>
            </a:r>
            <a:r>
              <a:rPr sz="1000" dirty="0">
                <a:latin typeface="Arial"/>
                <a:cs typeface="Arial"/>
              </a:rPr>
              <a:t>better: </a:t>
            </a:r>
            <a:r>
              <a:rPr sz="1000" spc="-5" dirty="0">
                <a:latin typeface="Arial"/>
                <a:cs typeface="Arial"/>
              </a:rPr>
              <a:t>their IDs) that will allow </a:t>
            </a:r>
            <a:r>
              <a:rPr sz="1000" spc="-15" dirty="0">
                <a:latin typeface="Arial"/>
                <a:cs typeface="Arial"/>
              </a:rPr>
              <a:t>for  </a:t>
            </a:r>
            <a:r>
              <a:rPr sz="1000" spc="-5" dirty="0">
                <a:latin typeface="Arial"/>
                <a:cs typeface="Arial"/>
              </a:rPr>
              <a:t>authorization on resource allocation.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0" y="3326968"/>
            <a:ext cx="4608195" cy="129539"/>
            <a:chOff x="0" y="3326968"/>
            <a:chExt cx="4608195" cy="129539"/>
          </a:xfrm>
        </p:grpSpPr>
        <p:sp>
          <p:nvSpPr>
            <p:cNvPr id="31" name="object 31"/>
            <p:cNvSpPr/>
            <p:nvPr/>
          </p:nvSpPr>
          <p:spPr>
            <a:xfrm>
              <a:off x="0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2303995" y="129032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1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303995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2303995" y="129032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6700" y="3331252"/>
            <a:ext cx="54165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Grid</a:t>
            </a:r>
            <a:r>
              <a:rPr sz="600" spc="-4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computing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32 /</a:t>
            </a:r>
            <a:r>
              <a:rPr spc="-70" dirty="0"/>
              <a:t> </a:t>
            </a:r>
            <a:r>
              <a:rPr spc="-5" dirty="0"/>
              <a:t>56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45415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16580" algn="l"/>
              </a:tabLst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 </a:t>
            </a:r>
            <a:r>
              <a:rPr sz="600" spc="-20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Types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of</a:t>
            </a:r>
            <a:r>
              <a:rPr sz="600" spc="70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distributed</a:t>
            </a:r>
            <a:r>
              <a:rPr sz="600" spc="1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systems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High performance distributed</a:t>
            </a:r>
            <a:r>
              <a:rPr sz="600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computing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29032"/>
            <a:ext cx="4608195" cy="321945"/>
          </a:xfrm>
          <a:prstGeom prst="rect">
            <a:avLst/>
          </a:prstGeom>
          <a:solidFill>
            <a:srgbClr val="FFE600"/>
          </a:solidFill>
        </p:spPr>
        <p:txBody>
          <a:bodyPr vert="horz" wrap="square" lIns="0" tIns="6223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490"/>
              </a:spcBef>
            </a:pPr>
            <a:r>
              <a:rPr spc="15" dirty="0"/>
              <a:t>Architecture </a:t>
            </a:r>
            <a:r>
              <a:rPr spc="-5" dirty="0"/>
              <a:t>for </a:t>
            </a:r>
            <a:r>
              <a:rPr spc="15" dirty="0"/>
              <a:t>grid</a:t>
            </a:r>
            <a:r>
              <a:rPr dirty="0"/>
              <a:t> </a:t>
            </a:r>
            <a:r>
              <a:rPr spc="15" dirty="0"/>
              <a:t>computing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008712" y="1448636"/>
            <a:ext cx="64135" cy="179705"/>
            <a:chOff x="1008712" y="1448636"/>
            <a:chExt cx="64135" cy="179705"/>
          </a:xfrm>
        </p:grpSpPr>
        <p:sp>
          <p:nvSpPr>
            <p:cNvPr id="5" name="object 5"/>
            <p:cNvSpPr/>
            <p:nvPr/>
          </p:nvSpPr>
          <p:spPr>
            <a:xfrm>
              <a:off x="1040590" y="1448636"/>
              <a:ext cx="0" cy="142240"/>
            </a:xfrm>
            <a:custGeom>
              <a:avLst/>
              <a:gdLst/>
              <a:ahLst/>
              <a:cxnLst/>
              <a:rect l="l" t="t" r="r" b="b"/>
              <a:pathLst>
                <a:path h="142240">
                  <a:moveTo>
                    <a:pt x="0" y="0"/>
                  </a:moveTo>
                  <a:lnTo>
                    <a:pt x="0" y="141899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08712" y="1553540"/>
              <a:ext cx="64135" cy="74930"/>
            </a:xfrm>
            <a:custGeom>
              <a:avLst/>
              <a:gdLst/>
              <a:ahLst/>
              <a:cxnLst/>
              <a:rect l="l" t="t" r="r" b="b"/>
              <a:pathLst>
                <a:path w="64134" h="74930">
                  <a:moveTo>
                    <a:pt x="63751" y="0"/>
                  </a:moveTo>
                  <a:lnTo>
                    <a:pt x="47813" y="5975"/>
                  </a:lnTo>
                  <a:lnTo>
                    <a:pt x="31875" y="7967"/>
                  </a:lnTo>
                  <a:lnTo>
                    <a:pt x="15937" y="5975"/>
                  </a:lnTo>
                  <a:lnTo>
                    <a:pt x="0" y="0"/>
                  </a:lnTo>
                  <a:lnTo>
                    <a:pt x="31878" y="74375"/>
                  </a:lnTo>
                  <a:lnTo>
                    <a:pt x="6375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769673" y="1777318"/>
            <a:ext cx="64135" cy="179705"/>
            <a:chOff x="769673" y="1777318"/>
            <a:chExt cx="64135" cy="179705"/>
          </a:xfrm>
        </p:grpSpPr>
        <p:sp>
          <p:nvSpPr>
            <p:cNvPr id="8" name="object 8"/>
            <p:cNvSpPr/>
            <p:nvPr/>
          </p:nvSpPr>
          <p:spPr>
            <a:xfrm>
              <a:off x="801548" y="1777318"/>
              <a:ext cx="0" cy="142240"/>
            </a:xfrm>
            <a:custGeom>
              <a:avLst/>
              <a:gdLst/>
              <a:ahLst/>
              <a:cxnLst/>
              <a:rect l="l" t="t" r="r" b="b"/>
              <a:pathLst>
                <a:path h="142239">
                  <a:moveTo>
                    <a:pt x="0" y="0"/>
                  </a:moveTo>
                  <a:lnTo>
                    <a:pt x="0" y="141899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9673" y="1882221"/>
              <a:ext cx="64135" cy="74930"/>
            </a:xfrm>
            <a:custGeom>
              <a:avLst/>
              <a:gdLst/>
              <a:ahLst/>
              <a:cxnLst/>
              <a:rect l="l" t="t" r="r" b="b"/>
              <a:pathLst>
                <a:path w="64134" h="74930">
                  <a:moveTo>
                    <a:pt x="63748" y="0"/>
                  </a:moveTo>
                  <a:lnTo>
                    <a:pt x="47810" y="5975"/>
                  </a:lnTo>
                  <a:lnTo>
                    <a:pt x="31873" y="7967"/>
                  </a:lnTo>
                  <a:lnTo>
                    <a:pt x="15936" y="5975"/>
                  </a:lnTo>
                  <a:lnTo>
                    <a:pt x="0" y="0"/>
                  </a:lnTo>
                  <a:lnTo>
                    <a:pt x="31874" y="74376"/>
                  </a:lnTo>
                  <a:lnTo>
                    <a:pt x="6374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247763" y="1777318"/>
            <a:ext cx="64135" cy="179705"/>
            <a:chOff x="1247763" y="1777318"/>
            <a:chExt cx="64135" cy="179705"/>
          </a:xfrm>
        </p:grpSpPr>
        <p:sp>
          <p:nvSpPr>
            <p:cNvPr id="11" name="object 11"/>
            <p:cNvSpPr/>
            <p:nvPr/>
          </p:nvSpPr>
          <p:spPr>
            <a:xfrm>
              <a:off x="1279639" y="1777318"/>
              <a:ext cx="0" cy="142240"/>
            </a:xfrm>
            <a:custGeom>
              <a:avLst/>
              <a:gdLst/>
              <a:ahLst/>
              <a:cxnLst/>
              <a:rect l="l" t="t" r="r" b="b"/>
              <a:pathLst>
                <a:path h="142239">
                  <a:moveTo>
                    <a:pt x="0" y="0"/>
                  </a:moveTo>
                  <a:lnTo>
                    <a:pt x="0" y="141899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47763" y="1882221"/>
              <a:ext cx="64135" cy="74930"/>
            </a:xfrm>
            <a:custGeom>
              <a:avLst/>
              <a:gdLst/>
              <a:ahLst/>
              <a:cxnLst/>
              <a:rect l="l" t="t" r="r" b="b"/>
              <a:pathLst>
                <a:path w="64134" h="74930">
                  <a:moveTo>
                    <a:pt x="63751" y="0"/>
                  </a:moveTo>
                  <a:lnTo>
                    <a:pt x="47813" y="5975"/>
                  </a:lnTo>
                  <a:lnTo>
                    <a:pt x="31875" y="7967"/>
                  </a:lnTo>
                  <a:lnTo>
                    <a:pt x="15937" y="5975"/>
                  </a:lnTo>
                  <a:lnTo>
                    <a:pt x="0" y="0"/>
                  </a:lnTo>
                  <a:lnTo>
                    <a:pt x="31875" y="74376"/>
                  </a:lnTo>
                  <a:lnTo>
                    <a:pt x="6375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69673" y="2105995"/>
            <a:ext cx="64135" cy="179705"/>
            <a:chOff x="769673" y="2105995"/>
            <a:chExt cx="64135" cy="179705"/>
          </a:xfrm>
        </p:grpSpPr>
        <p:sp>
          <p:nvSpPr>
            <p:cNvPr id="14" name="object 14"/>
            <p:cNvSpPr/>
            <p:nvPr/>
          </p:nvSpPr>
          <p:spPr>
            <a:xfrm>
              <a:off x="801548" y="2105995"/>
              <a:ext cx="0" cy="142240"/>
            </a:xfrm>
            <a:custGeom>
              <a:avLst/>
              <a:gdLst/>
              <a:ahLst/>
              <a:cxnLst/>
              <a:rect l="l" t="t" r="r" b="b"/>
              <a:pathLst>
                <a:path h="142239">
                  <a:moveTo>
                    <a:pt x="0" y="0"/>
                  </a:moveTo>
                  <a:lnTo>
                    <a:pt x="0" y="14190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69673" y="2210899"/>
              <a:ext cx="64135" cy="74930"/>
            </a:xfrm>
            <a:custGeom>
              <a:avLst/>
              <a:gdLst/>
              <a:ahLst/>
              <a:cxnLst/>
              <a:rect l="l" t="t" r="r" b="b"/>
              <a:pathLst>
                <a:path w="64134" h="74930">
                  <a:moveTo>
                    <a:pt x="63748" y="0"/>
                  </a:moveTo>
                  <a:lnTo>
                    <a:pt x="47810" y="5977"/>
                  </a:lnTo>
                  <a:lnTo>
                    <a:pt x="31873" y="7970"/>
                  </a:lnTo>
                  <a:lnTo>
                    <a:pt x="15936" y="5977"/>
                  </a:lnTo>
                  <a:lnTo>
                    <a:pt x="0" y="0"/>
                  </a:lnTo>
                  <a:lnTo>
                    <a:pt x="31874" y="74379"/>
                  </a:lnTo>
                  <a:lnTo>
                    <a:pt x="6374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1247763" y="2105995"/>
            <a:ext cx="64135" cy="179705"/>
            <a:chOff x="1247763" y="2105995"/>
            <a:chExt cx="64135" cy="179705"/>
          </a:xfrm>
        </p:grpSpPr>
        <p:sp>
          <p:nvSpPr>
            <p:cNvPr id="17" name="object 17"/>
            <p:cNvSpPr/>
            <p:nvPr/>
          </p:nvSpPr>
          <p:spPr>
            <a:xfrm>
              <a:off x="1279639" y="2105995"/>
              <a:ext cx="0" cy="142240"/>
            </a:xfrm>
            <a:custGeom>
              <a:avLst/>
              <a:gdLst/>
              <a:ahLst/>
              <a:cxnLst/>
              <a:rect l="l" t="t" r="r" b="b"/>
              <a:pathLst>
                <a:path h="142239">
                  <a:moveTo>
                    <a:pt x="0" y="0"/>
                  </a:moveTo>
                  <a:lnTo>
                    <a:pt x="0" y="14190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47763" y="2210899"/>
              <a:ext cx="64135" cy="74930"/>
            </a:xfrm>
            <a:custGeom>
              <a:avLst/>
              <a:gdLst/>
              <a:ahLst/>
              <a:cxnLst/>
              <a:rect l="l" t="t" r="r" b="b"/>
              <a:pathLst>
                <a:path w="64134" h="74930">
                  <a:moveTo>
                    <a:pt x="63751" y="0"/>
                  </a:moveTo>
                  <a:lnTo>
                    <a:pt x="47813" y="5977"/>
                  </a:lnTo>
                  <a:lnTo>
                    <a:pt x="31875" y="7970"/>
                  </a:lnTo>
                  <a:lnTo>
                    <a:pt x="15937" y="5977"/>
                  </a:lnTo>
                  <a:lnTo>
                    <a:pt x="0" y="0"/>
                  </a:lnTo>
                  <a:lnTo>
                    <a:pt x="31875" y="74379"/>
                  </a:lnTo>
                  <a:lnTo>
                    <a:pt x="6375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48411" y="1299239"/>
            <a:ext cx="781050" cy="149860"/>
          </a:xfrm>
          <a:prstGeom prst="rect">
            <a:avLst/>
          </a:prstGeom>
          <a:ln w="5270">
            <a:solidFill>
              <a:srgbClr val="231F2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142240">
              <a:lnSpc>
                <a:spcPct val="100000"/>
              </a:lnSpc>
              <a:spcBef>
                <a:spcPts val="9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Applications</a:t>
            </a:r>
            <a:endParaRPr sz="6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8411" y="1631280"/>
            <a:ext cx="781050" cy="142875"/>
          </a:xfrm>
          <a:prstGeom prst="rect">
            <a:avLst/>
          </a:prstGeom>
          <a:ln w="5270">
            <a:solidFill>
              <a:srgbClr val="231F2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9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Collective</a:t>
            </a:r>
            <a:r>
              <a:rPr sz="65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layer</a:t>
            </a:r>
            <a:endParaRPr sz="6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22756" y="1956598"/>
            <a:ext cx="784860" cy="149225"/>
          </a:xfrm>
          <a:prstGeom prst="rect">
            <a:avLst/>
          </a:prstGeom>
          <a:ln w="5270">
            <a:solidFill>
              <a:srgbClr val="231F2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5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Resource</a:t>
            </a:r>
            <a:r>
              <a:rPr sz="65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layer</a:t>
            </a:r>
            <a:endParaRPr sz="6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8411" y="2285279"/>
            <a:ext cx="781050" cy="152400"/>
          </a:xfrm>
          <a:prstGeom prst="rect">
            <a:avLst/>
          </a:prstGeom>
          <a:ln w="5270">
            <a:solidFill>
              <a:srgbClr val="231F2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17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Fabric</a:t>
            </a:r>
            <a:r>
              <a:rPr sz="65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layer</a:t>
            </a:r>
            <a:endParaRPr sz="6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4189" y="1956598"/>
            <a:ext cx="789305" cy="149225"/>
          </a:xfrm>
          <a:prstGeom prst="rect">
            <a:avLst/>
          </a:prstGeom>
          <a:ln w="5270">
            <a:solidFill>
              <a:srgbClr val="231F20"/>
            </a:solidFill>
          </a:ln>
        </p:spPr>
        <p:txBody>
          <a:bodyPr vert="horz" wrap="square" lIns="0" tIns="26669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209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Connectivity</a:t>
            </a:r>
            <a:r>
              <a:rPr sz="65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layer</a:t>
            </a:r>
            <a:endParaRPr sz="65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33018" y="2034473"/>
            <a:ext cx="189865" cy="0"/>
          </a:xfrm>
          <a:custGeom>
            <a:avLst/>
            <a:gdLst/>
            <a:ahLst/>
            <a:cxnLst/>
            <a:rect l="l" t="t" r="r" b="b"/>
            <a:pathLst>
              <a:path w="189865">
                <a:moveTo>
                  <a:pt x="0" y="0"/>
                </a:moveTo>
                <a:lnTo>
                  <a:pt x="189737" y="0"/>
                </a:lnTo>
              </a:path>
            </a:pathLst>
          </a:custGeom>
          <a:ln w="527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71915" y="685787"/>
            <a:ext cx="2484120" cy="182245"/>
          </a:xfrm>
          <a:custGeom>
            <a:avLst/>
            <a:gdLst/>
            <a:ahLst/>
            <a:cxnLst/>
            <a:rect l="l" t="t" r="r" b="b"/>
            <a:pathLst>
              <a:path w="2484120" h="182244">
                <a:moveTo>
                  <a:pt x="243285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1896"/>
                </a:lnTo>
                <a:lnTo>
                  <a:pt x="2483650" y="181896"/>
                </a:lnTo>
                <a:lnTo>
                  <a:pt x="2483650" y="50800"/>
                </a:lnTo>
                <a:lnTo>
                  <a:pt x="2479642" y="31075"/>
                </a:lnTo>
                <a:lnTo>
                  <a:pt x="2468728" y="14922"/>
                </a:lnTo>
                <a:lnTo>
                  <a:pt x="2452575" y="4008"/>
                </a:lnTo>
                <a:lnTo>
                  <a:pt x="2432850" y="0"/>
                </a:lnTo>
                <a:close/>
              </a:path>
            </a:pathLst>
          </a:custGeom>
          <a:solidFill>
            <a:srgbClr val="FCBB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006092" y="676076"/>
            <a:ext cx="6102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The</a:t>
            </a:r>
            <a:r>
              <a:rPr sz="1000" spc="-50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1000" spc="-15" dirty="0">
                <a:solidFill>
                  <a:srgbClr val="04064C"/>
                </a:solidFill>
                <a:latin typeface="Arial"/>
                <a:cs typeface="Arial"/>
              </a:rPr>
              <a:t>layers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71915" y="729996"/>
            <a:ext cx="2534920" cy="2435860"/>
            <a:chOff x="1971915" y="729996"/>
            <a:chExt cx="2534920" cy="2435860"/>
          </a:xfrm>
        </p:grpSpPr>
        <p:sp>
          <p:nvSpPr>
            <p:cNvPr id="28" name="object 28"/>
            <p:cNvSpPr/>
            <p:nvPr/>
          </p:nvSpPr>
          <p:spPr>
            <a:xfrm>
              <a:off x="1971916" y="855027"/>
              <a:ext cx="2483649" cy="5060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22716" y="3063824"/>
              <a:ext cx="101600" cy="1016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73516" y="3051124"/>
              <a:ext cx="2432811" cy="1143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455566" y="730021"/>
              <a:ext cx="50761" cy="233380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71915" y="899287"/>
              <a:ext cx="2484120" cy="2215515"/>
            </a:xfrm>
            <a:custGeom>
              <a:avLst/>
              <a:gdLst/>
              <a:ahLst/>
              <a:cxnLst/>
              <a:rect l="l" t="t" r="r" b="b"/>
              <a:pathLst>
                <a:path w="2484120" h="2215515">
                  <a:moveTo>
                    <a:pt x="2483650" y="0"/>
                  </a:moveTo>
                  <a:lnTo>
                    <a:pt x="0" y="0"/>
                  </a:lnTo>
                  <a:lnTo>
                    <a:pt x="0" y="2164537"/>
                  </a:lnTo>
                  <a:lnTo>
                    <a:pt x="4008" y="2184261"/>
                  </a:lnTo>
                  <a:lnTo>
                    <a:pt x="14922" y="2200414"/>
                  </a:lnTo>
                  <a:lnTo>
                    <a:pt x="31075" y="2211329"/>
                  </a:lnTo>
                  <a:lnTo>
                    <a:pt x="50800" y="2215337"/>
                  </a:lnTo>
                  <a:lnTo>
                    <a:pt x="2432850" y="2215337"/>
                  </a:lnTo>
                  <a:lnTo>
                    <a:pt x="2452575" y="2211329"/>
                  </a:lnTo>
                  <a:lnTo>
                    <a:pt x="2468728" y="2200414"/>
                  </a:lnTo>
                  <a:lnTo>
                    <a:pt x="2479642" y="2184261"/>
                  </a:lnTo>
                  <a:lnTo>
                    <a:pt x="2483650" y="2164537"/>
                  </a:lnTo>
                  <a:lnTo>
                    <a:pt x="2483650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455566" y="768096"/>
              <a:ext cx="0" cy="2315210"/>
            </a:xfrm>
            <a:custGeom>
              <a:avLst/>
              <a:gdLst/>
              <a:ahLst/>
              <a:cxnLst/>
              <a:rect l="l" t="t" r="r" b="b"/>
              <a:pathLst>
                <a:path h="2315210">
                  <a:moveTo>
                    <a:pt x="0" y="231477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455566" y="75539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55566" y="74269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455566" y="72999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010016" y="906533"/>
            <a:ext cx="2423160" cy="217424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48920" marR="5080" indent="-236854">
              <a:lnSpc>
                <a:spcPct val="101499"/>
              </a:lnSpc>
              <a:spcBef>
                <a:spcPts val="80"/>
              </a:spcBef>
            </a:pPr>
            <a:r>
              <a:rPr sz="900" spc="-5" dirty="0">
                <a:solidFill>
                  <a:srgbClr val="04064C"/>
                </a:solidFill>
                <a:latin typeface="Arial"/>
                <a:cs typeface="Arial"/>
              </a:rPr>
              <a:t>Fabric:</a:t>
            </a:r>
            <a:r>
              <a:rPr sz="900" spc="-5" dirty="0">
                <a:latin typeface="Arial"/>
                <a:cs typeface="Arial"/>
              </a:rPr>
              <a:t>Provides interfaces to local resources  </a:t>
            </a:r>
            <a:r>
              <a:rPr sz="900" spc="-15" dirty="0">
                <a:latin typeface="Arial"/>
                <a:cs typeface="Arial"/>
              </a:rPr>
              <a:t>(for </a:t>
            </a:r>
            <a:r>
              <a:rPr sz="900" spc="-5" dirty="0">
                <a:latin typeface="Arial"/>
                <a:cs typeface="Arial"/>
              </a:rPr>
              <a:t>querying state </a:t>
            </a:r>
            <a:r>
              <a:rPr sz="900" spc="-10" dirty="0">
                <a:latin typeface="Arial"/>
                <a:cs typeface="Arial"/>
              </a:rPr>
              <a:t>and capabilities, locking,  </a:t>
            </a:r>
            <a:r>
              <a:rPr sz="900" spc="-5" dirty="0">
                <a:latin typeface="Arial"/>
                <a:cs typeface="Arial"/>
              </a:rPr>
              <a:t>etc.)</a:t>
            </a:r>
            <a:endParaRPr sz="900">
              <a:latin typeface="Arial"/>
              <a:cs typeface="Arial"/>
            </a:endParaRPr>
          </a:p>
          <a:p>
            <a:pPr marL="252729" marR="146685" indent="-240665">
              <a:lnSpc>
                <a:spcPct val="101499"/>
              </a:lnSpc>
              <a:spcBef>
                <a:spcPts val="395"/>
              </a:spcBef>
            </a:pPr>
            <a:r>
              <a:rPr sz="900" spc="-5" dirty="0">
                <a:solidFill>
                  <a:srgbClr val="04064C"/>
                </a:solidFill>
                <a:latin typeface="Arial"/>
                <a:cs typeface="Arial"/>
              </a:rPr>
              <a:t>Connectivity:</a:t>
            </a:r>
            <a:r>
              <a:rPr sz="900" spc="-5" dirty="0">
                <a:latin typeface="Arial"/>
                <a:cs typeface="Arial"/>
              </a:rPr>
              <a:t>Communication/transaction  protocols, e.g., </a:t>
            </a:r>
            <a:r>
              <a:rPr sz="900" spc="-15" dirty="0">
                <a:latin typeface="Arial"/>
                <a:cs typeface="Arial"/>
              </a:rPr>
              <a:t>for </a:t>
            </a:r>
            <a:r>
              <a:rPr sz="900" spc="-5" dirty="0">
                <a:latin typeface="Arial"/>
                <a:cs typeface="Arial"/>
              </a:rPr>
              <a:t>moving data between  resources. Also various authentication  protocols.</a:t>
            </a:r>
            <a:endParaRPr sz="900">
              <a:latin typeface="Arial"/>
              <a:cs typeface="Arial"/>
            </a:endParaRPr>
          </a:p>
          <a:p>
            <a:pPr marL="252729" marR="20320" indent="-240665">
              <a:lnSpc>
                <a:spcPct val="101499"/>
              </a:lnSpc>
              <a:spcBef>
                <a:spcPts val="400"/>
              </a:spcBef>
            </a:pPr>
            <a:r>
              <a:rPr sz="900" spc="-5" dirty="0">
                <a:solidFill>
                  <a:srgbClr val="04064C"/>
                </a:solidFill>
                <a:latin typeface="Arial"/>
                <a:cs typeface="Arial"/>
              </a:rPr>
              <a:t>Resource: </a:t>
            </a:r>
            <a:r>
              <a:rPr sz="900" spc="-15" dirty="0">
                <a:latin typeface="Arial"/>
                <a:cs typeface="Arial"/>
              </a:rPr>
              <a:t>Manages </a:t>
            </a:r>
            <a:r>
              <a:rPr sz="900" spc="-10" dirty="0">
                <a:latin typeface="Arial"/>
                <a:cs typeface="Arial"/>
              </a:rPr>
              <a:t>a single resource, such as  </a:t>
            </a:r>
            <a:r>
              <a:rPr sz="900" spc="-5" dirty="0">
                <a:latin typeface="Arial"/>
                <a:cs typeface="Arial"/>
              </a:rPr>
              <a:t>creating processes or reading data.</a:t>
            </a:r>
            <a:endParaRPr sz="900">
              <a:latin typeface="Arial"/>
              <a:cs typeface="Arial"/>
            </a:endParaRPr>
          </a:p>
          <a:p>
            <a:pPr marL="252729" marR="483870" indent="-240665">
              <a:lnSpc>
                <a:spcPct val="101499"/>
              </a:lnSpc>
              <a:spcBef>
                <a:spcPts val="400"/>
              </a:spcBef>
            </a:pPr>
            <a:r>
              <a:rPr sz="900" spc="-5" dirty="0">
                <a:solidFill>
                  <a:srgbClr val="04064C"/>
                </a:solidFill>
                <a:latin typeface="Arial"/>
                <a:cs typeface="Arial"/>
              </a:rPr>
              <a:t>Collective:</a:t>
            </a:r>
            <a:r>
              <a:rPr sz="900" spc="-5" dirty="0">
                <a:latin typeface="Arial"/>
                <a:cs typeface="Arial"/>
              </a:rPr>
              <a:t>Handles access to multiple  resources: </a:t>
            </a:r>
            <a:r>
              <a:rPr sz="900" spc="-15" dirty="0">
                <a:latin typeface="Arial"/>
                <a:cs typeface="Arial"/>
              </a:rPr>
              <a:t>discovery, </a:t>
            </a:r>
            <a:r>
              <a:rPr sz="900" spc="-5" dirty="0">
                <a:latin typeface="Arial"/>
                <a:cs typeface="Arial"/>
              </a:rPr>
              <a:t>scheduling,  replication.</a:t>
            </a:r>
            <a:endParaRPr sz="900">
              <a:latin typeface="Arial"/>
              <a:cs typeface="Arial"/>
            </a:endParaRPr>
          </a:p>
          <a:p>
            <a:pPr marL="252729" marR="20320" indent="-240665">
              <a:lnSpc>
                <a:spcPct val="101499"/>
              </a:lnSpc>
              <a:spcBef>
                <a:spcPts val="395"/>
              </a:spcBef>
            </a:pPr>
            <a:r>
              <a:rPr sz="900" spc="-5" dirty="0">
                <a:solidFill>
                  <a:srgbClr val="04064C"/>
                </a:solidFill>
                <a:latin typeface="Arial"/>
                <a:cs typeface="Arial"/>
              </a:rPr>
              <a:t>Application: </a:t>
            </a:r>
            <a:r>
              <a:rPr sz="900" spc="-15" dirty="0">
                <a:latin typeface="Arial"/>
                <a:cs typeface="Arial"/>
              </a:rPr>
              <a:t>Contains </a:t>
            </a:r>
            <a:r>
              <a:rPr sz="900" spc="-10" dirty="0">
                <a:latin typeface="Arial"/>
                <a:cs typeface="Arial"/>
              </a:rPr>
              <a:t>actual grid applications in  </a:t>
            </a:r>
            <a:r>
              <a:rPr sz="900" spc="-5" dirty="0">
                <a:latin typeface="Arial"/>
                <a:cs typeface="Arial"/>
              </a:rPr>
              <a:t>a single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5" dirty="0">
                <a:latin typeface="Arial"/>
                <a:cs typeface="Arial"/>
              </a:rPr>
              <a:t>organization.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0" y="3326968"/>
            <a:ext cx="4608195" cy="129539"/>
            <a:chOff x="0" y="3326968"/>
            <a:chExt cx="4608195" cy="129539"/>
          </a:xfrm>
        </p:grpSpPr>
        <p:sp>
          <p:nvSpPr>
            <p:cNvPr id="39" name="object 39"/>
            <p:cNvSpPr/>
            <p:nvPr/>
          </p:nvSpPr>
          <p:spPr>
            <a:xfrm>
              <a:off x="0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2303995" y="129031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1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03995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2303995" y="129031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6700" y="3331252"/>
            <a:ext cx="54165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solidFill>
                  <a:srgbClr val="04064C"/>
                </a:solidFill>
                <a:latin typeface="Arial"/>
                <a:cs typeface="Arial"/>
                <a:hlinkClick r:id="rId8" action="ppaction://hlinksldjump"/>
              </a:rPr>
              <a:t>Grid</a:t>
            </a:r>
            <a:r>
              <a:rPr sz="600" spc="-45" dirty="0">
                <a:solidFill>
                  <a:srgbClr val="04064C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8" action="ppaction://hlinksldjump"/>
              </a:rPr>
              <a:t>computing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33 /</a:t>
            </a:r>
            <a:r>
              <a:rPr spc="-70" dirty="0"/>
              <a:t> </a:t>
            </a:r>
            <a:r>
              <a:rPr spc="-5" dirty="0"/>
              <a:t>56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45415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16580" algn="l"/>
              </a:tabLst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 </a:t>
            </a:r>
            <a:r>
              <a:rPr sz="600" spc="-20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Types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of</a:t>
            </a:r>
            <a:r>
              <a:rPr sz="600" spc="70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distributed</a:t>
            </a:r>
            <a:r>
              <a:rPr sz="600" spc="1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systems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High performance distributed</a:t>
            </a:r>
            <a:r>
              <a:rPr sz="600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computing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29032"/>
            <a:ext cx="4608195" cy="321945"/>
          </a:xfrm>
          <a:prstGeom prst="rect">
            <a:avLst/>
          </a:prstGeom>
          <a:solidFill>
            <a:srgbClr val="FFE600"/>
          </a:solidFill>
        </p:spPr>
        <p:txBody>
          <a:bodyPr vert="horz" wrap="square" lIns="0" tIns="6223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490"/>
              </a:spcBef>
            </a:pPr>
            <a:r>
              <a:rPr spc="15" dirty="0"/>
              <a:t>Cloud</a:t>
            </a:r>
            <a:r>
              <a:rPr dirty="0"/>
              <a:t> </a:t>
            </a:r>
            <a:r>
              <a:rPr spc="15" dirty="0"/>
              <a:t>computing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06238" y="1043731"/>
            <a:ext cx="2456815" cy="1500505"/>
            <a:chOff x="806238" y="1043731"/>
            <a:chExt cx="2456815" cy="1500505"/>
          </a:xfrm>
        </p:grpSpPr>
        <p:sp>
          <p:nvSpPr>
            <p:cNvPr id="5" name="object 5"/>
            <p:cNvSpPr/>
            <p:nvPr/>
          </p:nvSpPr>
          <p:spPr>
            <a:xfrm>
              <a:off x="809413" y="2130052"/>
              <a:ext cx="2450465" cy="410845"/>
            </a:xfrm>
            <a:custGeom>
              <a:avLst/>
              <a:gdLst/>
              <a:ahLst/>
              <a:cxnLst/>
              <a:rect l="l" t="t" r="r" b="b"/>
              <a:pathLst>
                <a:path w="2450465" h="410844">
                  <a:moveTo>
                    <a:pt x="2450155" y="0"/>
                  </a:moveTo>
                  <a:lnTo>
                    <a:pt x="319586" y="0"/>
                  </a:lnTo>
                  <a:lnTo>
                    <a:pt x="0" y="252823"/>
                  </a:lnTo>
                  <a:lnTo>
                    <a:pt x="2130573" y="252823"/>
                  </a:lnTo>
                  <a:lnTo>
                    <a:pt x="2130573" y="410848"/>
                  </a:lnTo>
                  <a:lnTo>
                    <a:pt x="2450155" y="158015"/>
                  </a:lnTo>
                  <a:lnTo>
                    <a:pt x="2450155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9413" y="2130052"/>
              <a:ext cx="2450465" cy="410845"/>
            </a:xfrm>
            <a:custGeom>
              <a:avLst/>
              <a:gdLst/>
              <a:ahLst/>
              <a:cxnLst/>
              <a:rect l="l" t="t" r="r" b="b"/>
              <a:pathLst>
                <a:path w="2450465" h="410844">
                  <a:moveTo>
                    <a:pt x="319586" y="0"/>
                  </a:moveTo>
                  <a:lnTo>
                    <a:pt x="0" y="252823"/>
                  </a:lnTo>
                  <a:lnTo>
                    <a:pt x="2130573" y="252823"/>
                  </a:lnTo>
                  <a:lnTo>
                    <a:pt x="2130573" y="410848"/>
                  </a:lnTo>
                  <a:lnTo>
                    <a:pt x="2450155" y="158015"/>
                  </a:lnTo>
                  <a:lnTo>
                    <a:pt x="2450155" y="0"/>
                  </a:lnTo>
                  <a:lnTo>
                    <a:pt x="319586" y="0"/>
                  </a:lnTo>
                  <a:close/>
                </a:path>
                <a:path w="2450465" h="410844">
                  <a:moveTo>
                    <a:pt x="2130573" y="252823"/>
                  </a:moveTo>
                  <a:lnTo>
                    <a:pt x="2450155" y="0"/>
                  </a:lnTo>
                </a:path>
              </a:pathLst>
            </a:custGeom>
            <a:ln w="597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9413" y="2382876"/>
              <a:ext cx="2131060" cy="158115"/>
            </a:xfrm>
            <a:custGeom>
              <a:avLst/>
              <a:gdLst/>
              <a:ahLst/>
              <a:cxnLst/>
              <a:rect l="l" t="t" r="r" b="b"/>
              <a:pathLst>
                <a:path w="2131060" h="158114">
                  <a:moveTo>
                    <a:pt x="2130567" y="0"/>
                  </a:moveTo>
                  <a:lnTo>
                    <a:pt x="0" y="0"/>
                  </a:lnTo>
                  <a:lnTo>
                    <a:pt x="0" y="158024"/>
                  </a:lnTo>
                  <a:lnTo>
                    <a:pt x="2130567" y="158024"/>
                  </a:lnTo>
                  <a:lnTo>
                    <a:pt x="2130567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9413" y="1778959"/>
              <a:ext cx="2450465" cy="403860"/>
            </a:xfrm>
            <a:custGeom>
              <a:avLst/>
              <a:gdLst/>
              <a:ahLst/>
              <a:cxnLst/>
              <a:rect l="l" t="t" r="r" b="b"/>
              <a:pathLst>
                <a:path w="2450465" h="403860">
                  <a:moveTo>
                    <a:pt x="2450155" y="0"/>
                  </a:moveTo>
                  <a:lnTo>
                    <a:pt x="319586" y="0"/>
                  </a:lnTo>
                  <a:lnTo>
                    <a:pt x="0" y="248236"/>
                  </a:lnTo>
                  <a:lnTo>
                    <a:pt x="2130573" y="248236"/>
                  </a:lnTo>
                  <a:lnTo>
                    <a:pt x="2130573" y="403382"/>
                  </a:lnTo>
                  <a:lnTo>
                    <a:pt x="2450155" y="155146"/>
                  </a:lnTo>
                  <a:lnTo>
                    <a:pt x="2450155" y="0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09413" y="1778959"/>
              <a:ext cx="2450465" cy="403860"/>
            </a:xfrm>
            <a:custGeom>
              <a:avLst/>
              <a:gdLst/>
              <a:ahLst/>
              <a:cxnLst/>
              <a:rect l="l" t="t" r="r" b="b"/>
              <a:pathLst>
                <a:path w="2450465" h="403860">
                  <a:moveTo>
                    <a:pt x="319586" y="0"/>
                  </a:moveTo>
                  <a:lnTo>
                    <a:pt x="0" y="248236"/>
                  </a:lnTo>
                  <a:lnTo>
                    <a:pt x="2130573" y="248236"/>
                  </a:lnTo>
                  <a:lnTo>
                    <a:pt x="2130573" y="403382"/>
                  </a:lnTo>
                  <a:lnTo>
                    <a:pt x="2450155" y="155146"/>
                  </a:lnTo>
                  <a:lnTo>
                    <a:pt x="2450155" y="0"/>
                  </a:lnTo>
                  <a:lnTo>
                    <a:pt x="319586" y="0"/>
                  </a:lnTo>
                  <a:close/>
                </a:path>
                <a:path w="2450465" h="403860">
                  <a:moveTo>
                    <a:pt x="2130573" y="248236"/>
                  </a:moveTo>
                  <a:lnTo>
                    <a:pt x="2450155" y="0"/>
                  </a:lnTo>
                </a:path>
              </a:pathLst>
            </a:custGeom>
            <a:ln w="597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9413" y="2027195"/>
              <a:ext cx="2131060" cy="155575"/>
            </a:xfrm>
            <a:custGeom>
              <a:avLst/>
              <a:gdLst/>
              <a:ahLst/>
              <a:cxnLst/>
              <a:rect l="l" t="t" r="r" b="b"/>
              <a:pathLst>
                <a:path w="2131060" h="155575">
                  <a:moveTo>
                    <a:pt x="2130567" y="0"/>
                  </a:moveTo>
                  <a:lnTo>
                    <a:pt x="0" y="0"/>
                  </a:lnTo>
                  <a:lnTo>
                    <a:pt x="0" y="155146"/>
                  </a:lnTo>
                  <a:lnTo>
                    <a:pt x="2130567" y="155146"/>
                  </a:lnTo>
                  <a:lnTo>
                    <a:pt x="2130567" y="0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9413" y="1412921"/>
              <a:ext cx="2450465" cy="411480"/>
            </a:xfrm>
            <a:custGeom>
              <a:avLst/>
              <a:gdLst/>
              <a:ahLst/>
              <a:cxnLst/>
              <a:rect l="l" t="t" r="r" b="b"/>
              <a:pathLst>
                <a:path w="2450465" h="411480">
                  <a:moveTo>
                    <a:pt x="2450155" y="0"/>
                  </a:moveTo>
                  <a:lnTo>
                    <a:pt x="319586" y="0"/>
                  </a:lnTo>
                  <a:lnTo>
                    <a:pt x="0" y="252836"/>
                  </a:lnTo>
                  <a:lnTo>
                    <a:pt x="2130573" y="252836"/>
                  </a:lnTo>
                  <a:lnTo>
                    <a:pt x="2130573" y="410856"/>
                  </a:lnTo>
                  <a:lnTo>
                    <a:pt x="2450155" y="158025"/>
                  </a:lnTo>
                  <a:lnTo>
                    <a:pt x="2450155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9413" y="1412921"/>
              <a:ext cx="2450465" cy="411480"/>
            </a:xfrm>
            <a:custGeom>
              <a:avLst/>
              <a:gdLst/>
              <a:ahLst/>
              <a:cxnLst/>
              <a:rect l="l" t="t" r="r" b="b"/>
              <a:pathLst>
                <a:path w="2450465" h="411480">
                  <a:moveTo>
                    <a:pt x="319586" y="0"/>
                  </a:moveTo>
                  <a:lnTo>
                    <a:pt x="0" y="252836"/>
                  </a:lnTo>
                  <a:lnTo>
                    <a:pt x="2130573" y="252836"/>
                  </a:lnTo>
                  <a:lnTo>
                    <a:pt x="2130573" y="410856"/>
                  </a:lnTo>
                  <a:lnTo>
                    <a:pt x="2450155" y="158025"/>
                  </a:lnTo>
                  <a:lnTo>
                    <a:pt x="2450155" y="0"/>
                  </a:lnTo>
                  <a:lnTo>
                    <a:pt x="319586" y="0"/>
                  </a:lnTo>
                  <a:close/>
                </a:path>
                <a:path w="2450465" h="411480">
                  <a:moveTo>
                    <a:pt x="2130573" y="252836"/>
                  </a:moveTo>
                  <a:lnTo>
                    <a:pt x="2450155" y="0"/>
                  </a:lnTo>
                </a:path>
              </a:pathLst>
            </a:custGeom>
            <a:ln w="597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9413" y="1665758"/>
              <a:ext cx="2131060" cy="158115"/>
            </a:xfrm>
            <a:custGeom>
              <a:avLst/>
              <a:gdLst/>
              <a:ahLst/>
              <a:cxnLst/>
              <a:rect l="l" t="t" r="r" b="b"/>
              <a:pathLst>
                <a:path w="2131060" h="158114">
                  <a:moveTo>
                    <a:pt x="2130567" y="0"/>
                  </a:moveTo>
                  <a:lnTo>
                    <a:pt x="0" y="0"/>
                  </a:lnTo>
                  <a:lnTo>
                    <a:pt x="0" y="158020"/>
                  </a:lnTo>
                  <a:lnTo>
                    <a:pt x="2130567" y="158020"/>
                  </a:lnTo>
                  <a:lnTo>
                    <a:pt x="2130567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9413" y="1046906"/>
              <a:ext cx="2450465" cy="418465"/>
            </a:xfrm>
            <a:custGeom>
              <a:avLst/>
              <a:gdLst/>
              <a:ahLst/>
              <a:cxnLst/>
              <a:rect l="l" t="t" r="r" b="b"/>
              <a:pathLst>
                <a:path w="2450465" h="418465">
                  <a:moveTo>
                    <a:pt x="2450155" y="0"/>
                  </a:moveTo>
                  <a:lnTo>
                    <a:pt x="319586" y="0"/>
                  </a:lnTo>
                  <a:lnTo>
                    <a:pt x="0" y="257421"/>
                  </a:lnTo>
                  <a:lnTo>
                    <a:pt x="2130573" y="257421"/>
                  </a:lnTo>
                  <a:lnTo>
                    <a:pt x="2130573" y="418309"/>
                  </a:lnTo>
                  <a:lnTo>
                    <a:pt x="2450155" y="160887"/>
                  </a:lnTo>
                  <a:lnTo>
                    <a:pt x="2450155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09413" y="1046906"/>
              <a:ext cx="2450465" cy="418465"/>
            </a:xfrm>
            <a:custGeom>
              <a:avLst/>
              <a:gdLst/>
              <a:ahLst/>
              <a:cxnLst/>
              <a:rect l="l" t="t" r="r" b="b"/>
              <a:pathLst>
                <a:path w="2450465" h="418465">
                  <a:moveTo>
                    <a:pt x="319586" y="0"/>
                  </a:moveTo>
                  <a:lnTo>
                    <a:pt x="0" y="257421"/>
                  </a:lnTo>
                  <a:lnTo>
                    <a:pt x="2130573" y="257421"/>
                  </a:lnTo>
                  <a:lnTo>
                    <a:pt x="2130573" y="418309"/>
                  </a:lnTo>
                  <a:lnTo>
                    <a:pt x="2450155" y="160887"/>
                  </a:lnTo>
                  <a:lnTo>
                    <a:pt x="2450155" y="0"/>
                  </a:lnTo>
                  <a:lnTo>
                    <a:pt x="319586" y="0"/>
                  </a:lnTo>
                  <a:close/>
                </a:path>
                <a:path w="2450465" h="418465">
                  <a:moveTo>
                    <a:pt x="2130573" y="257421"/>
                  </a:moveTo>
                  <a:lnTo>
                    <a:pt x="2450155" y="0"/>
                  </a:lnTo>
                </a:path>
              </a:pathLst>
            </a:custGeom>
            <a:ln w="597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9413" y="1304325"/>
              <a:ext cx="2131060" cy="161290"/>
            </a:xfrm>
            <a:custGeom>
              <a:avLst/>
              <a:gdLst/>
              <a:ahLst/>
              <a:cxnLst/>
              <a:rect l="l" t="t" r="r" b="b"/>
              <a:pathLst>
                <a:path w="2131060" h="161290">
                  <a:moveTo>
                    <a:pt x="2130567" y="0"/>
                  </a:moveTo>
                  <a:lnTo>
                    <a:pt x="0" y="0"/>
                  </a:lnTo>
                  <a:lnTo>
                    <a:pt x="0" y="160890"/>
                  </a:lnTo>
                  <a:lnTo>
                    <a:pt x="2130567" y="160890"/>
                  </a:lnTo>
                  <a:lnTo>
                    <a:pt x="2130567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09413" y="1304325"/>
            <a:ext cx="2131060" cy="161290"/>
          </a:xfrm>
          <a:prstGeom prst="rect">
            <a:avLst/>
          </a:prstGeom>
          <a:ln w="5976">
            <a:solidFill>
              <a:srgbClr val="231F20"/>
            </a:solidFill>
          </a:ln>
        </p:spPr>
        <p:txBody>
          <a:bodyPr vert="horz" wrap="square" lIns="0" tIns="26669" rIns="0" bIns="0" rtlCol="0">
            <a:spAutoFit/>
          </a:bodyPr>
          <a:lstStyle/>
          <a:p>
            <a:pPr marL="273685" algn="ctr">
              <a:lnSpc>
                <a:spcPct val="100000"/>
              </a:lnSpc>
              <a:spcBef>
                <a:spcPts val="209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Application</a:t>
            </a:r>
            <a:endParaRPr sz="6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9413" y="2027195"/>
            <a:ext cx="2131060" cy="155575"/>
          </a:xfrm>
          <a:prstGeom prst="rect">
            <a:avLst/>
          </a:prstGeom>
          <a:ln w="5976">
            <a:solidFill>
              <a:srgbClr val="231F2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47419">
              <a:lnSpc>
                <a:spcPct val="100000"/>
              </a:lnSpc>
              <a:spcBef>
                <a:spcPts val="17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Infrastructure</a:t>
            </a:r>
            <a:endParaRPr sz="6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17724" y="1864895"/>
            <a:ext cx="1469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i="1" spc="5" dirty="0">
                <a:solidFill>
                  <a:srgbClr val="231F20"/>
                </a:solidFill>
                <a:latin typeface="Arial"/>
                <a:cs typeface="Arial"/>
              </a:rPr>
              <a:t>Computation (VM), storage (block,</a:t>
            </a:r>
            <a:r>
              <a:rPr sz="650" i="1" spc="-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i="1" dirty="0">
                <a:solidFill>
                  <a:srgbClr val="231F20"/>
                </a:solidFill>
                <a:latin typeface="Arial"/>
                <a:cs typeface="Arial"/>
              </a:rPr>
              <a:t>file)</a:t>
            </a:r>
            <a:endParaRPr sz="6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9413" y="2382876"/>
            <a:ext cx="2131060" cy="158115"/>
          </a:xfrm>
          <a:prstGeom prst="rect">
            <a:avLst/>
          </a:prstGeom>
          <a:ln w="5976">
            <a:solidFill>
              <a:srgbClr val="231F2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276860" algn="ctr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Hardware</a:t>
            </a:r>
            <a:endParaRPr sz="6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9413" y="1665758"/>
            <a:ext cx="2131060" cy="158115"/>
          </a:xfrm>
          <a:prstGeom prst="rect">
            <a:avLst/>
          </a:prstGeom>
          <a:ln w="5976">
            <a:solidFill>
              <a:srgbClr val="231F2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78130" algn="ctr">
              <a:lnSpc>
                <a:spcPct val="100000"/>
              </a:lnSpc>
              <a:spcBef>
                <a:spcPts val="15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Platforms</a:t>
            </a:r>
            <a:endParaRPr sz="6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17385" y="1454248"/>
            <a:ext cx="1497330" cy="220979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66395" marR="5080" indent="-354330">
              <a:lnSpc>
                <a:spcPts val="740"/>
              </a:lnSpc>
              <a:spcBef>
                <a:spcPts val="170"/>
              </a:spcBef>
            </a:pPr>
            <a:r>
              <a:rPr sz="650" i="1" spc="5" dirty="0">
                <a:solidFill>
                  <a:srgbClr val="231F20"/>
                </a:solidFill>
                <a:latin typeface="Arial"/>
                <a:cs typeface="Arial"/>
              </a:rPr>
              <a:t>Software framework</a:t>
            </a:r>
            <a:r>
              <a:rPr sz="650" i="1" spc="-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i="1" spc="5" dirty="0">
                <a:solidFill>
                  <a:srgbClr val="231F20"/>
                </a:solidFill>
                <a:latin typeface="Arial"/>
                <a:cs typeface="Arial"/>
              </a:rPr>
              <a:t>(Java/Python/.Net)  Storage</a:t>
            </a:r>
            <a:r>
              <a:rPr sz="650" i="1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i="1" spc="5" dirty="0">
                <a:solidFill>
                  <a:srgbClr val="231F20"/>
                </a:solidFill>
                <a:latin typeface="Arial"/>
                <a:cs typeface="Arial"/>
              </a:rPr>
              <a:t>(databases)</a:t>
            </a:r>
            <a:endParaRPr sz="6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1242" y="2078114"/>
            <a:ext cx="89768" cy="52260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ts val="745"/>
              </a:lnSpc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Infrastructure</a:t>
            </a:r>
            <a:endParaRPr sz="650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4277" y="1605196"/>
            <a:ext cx="89768" cy="3397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745"/>
              </a:lnSpc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Platform</a:t>
            </a:r>
            <a:endParaRPr sz="650" dirty="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4277" y="1075618"/>
            <a:ext cx="89768" cy="3587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725"/>
              </a:lnSpc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Software</a:t>
            </a:r>
            <a:endParaRPr sz="650" dirty="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10613" y="1524983"/>
            <a:ext cx="299085" cy="448309"/>
          </a:xfrm>
          <a:custGeom>
            <a:avLst/>
            <a:gdLst/>
            <a:ahLst/>
            <a:cxnLst/>
            <a:rect l="l" t="t" r="r" b="b"/>
            <a:pathLst>
              <a:path w="299084" h="448310">
                <a:moveTo>
                  <a:pt x="0" y="0"/>
                </a:moveTo>
                <a:lnTo>
                  <a:pt x="298800" y="0"/>
                </a:lnTo>
              </a:path>
              <a:path w="299084" h="448310">
                <a:moveTo>
                  <a:pt x="0" y="448202"/>
                </a:moveTo>
                <a:lnTo>
                  <a:pt x="298800" y="448202"/>
                </a:lnTo>
              </a:path>
            </a:pathLst>
          </a:custGeom>
          <a:ln w="10538">
            <a:solidFill>
              <a:srgbClr val="231F2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369661" y="1392792"/>
            <a:ext cx="742950" cy="22097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760"/>
              </a:lnSpc>
              <a:spcBef>
                <a:spcPts val="11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MS</a:t>
            </a:r>
            <a:r>
              <a:rPr sz="65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Azure</a:t>
            </a:r>
            <a:endParaRPr sz="650">
              <a:latin typeface="Arial"/>
              <a:cs typeface="Arial"/>
            </a:endParaRPr>
          </a:p>
          <a:p>
            <a:pPr marL="12700">
              <a:lnSpc>
                <a:spcPts val="760"/>
              </a:lnSpc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Google App</a:t>
            </a:r>
            <a:r>
              <a:rPr sz="650" spc="-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engine</a:t>
            </a:r>
            <a:endParaRPr sz="6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66519" y="1766040"/>
            <a:ext cx="52260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>
              <a:lnSpc>
                <a:spcPct val="111500"/>
              </a:lnSpc>
              <a:spcBef>
                <a:spcPts val="9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Amazon S3  Amazon</a:t>
            </a:r>
            <a:r>
              <a:rPr sz="650" spc="-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EC2</a:t>
            </a:r>
            <a:endParaRPr sz="6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66103" y="2243138"/>
            <a:ext cx="480059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Datacenters</a:t>
            </a:r>
            <a:endParaRPr sz="6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45077" y="2223324"/>
            <a:ext cx="117665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i="1" spc="5" dirty="0">
                <a:solidFill>
                  <a:srgbClr val="231F20"/>
                </a:solidFill>
                <a:latin typeface="Arial"/>
                <a:cs typeface="Arial"/>
              </a:rPr>
              <a:t>CPU, </a:t>
            </a:r>
            <a:r>
              <a:rPr sz="650" i="1" dirty="0">
                <a:solidFill>
                  <a:srgbClr val="231F20"/>
                </a:solidFill>
                <a:latin typeface="Arial"/>
                <a:cs typeface="Arial"/>
              </a:rPr>
              <a:t>memory, </a:t>
            </a:r>
            <a:r>
              <a:rPr sz="650" i="1" spc="5" dirty="0">
                <a:solidFill>
                  <a:srgbClr val="231F20"/>
                </a:solidFill>
                <a:latin typeface="Arial"/>
                <a:cs typeface="Arial"/>
              </a:rPr>
              <a:t>disk,</a:t>
            </a:r>
            <a:r>
              <a:rPr sz="65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i="1" spc="5" dirty="0">
                <a:solidFill>
                  <a:srgbClr val="231F20"/>
                </a:solidFill>
                <a:latin typeface="Arial"/>
                <a:cs typeface="Arial"/>
              </a:rPr>
              <a:t>bandwidth</a:t>
            </a:r>
            <a:endParaRPr sz="6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15036" y="1099516"/>
            <a:ext cx="157035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i="1" dirty="0">
                <a:solidFill>
                  <a:srgbClr val="231F20"/>
                </a:solidFill>
                <a:latin typeface="Arial"/>
                <a:cs typeface="Arial"/>
              </a:rPr>
              <a:t>Web </a:t>
            </a:r>
            <a:r>
              <a:rPr sz="650" i="1" spc="5" dirty="0">
                <a:solidFill>
                  <a:srgbClr val="231F20"/>
                </a:solidFill>
                <a:latin typeface="Arial"/>
                <a:cs typeface="Arial"/>
              </a:rPr>
              <a:t>services, multimedia, business</a:t>
            </a:r>
            <a:r>
              <a:rPr sz="650" i="1" spc="-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i="1" spc="5" dirty="0">
                <a:solidFill>
                  <a:srgbClr val="231F20"/>
                </a:solidFill>
                <a:latin typeface="Arial"/>
                <a:cs typeface="Arial"/>
              </a:rPr>
              <a:t>apps</a:t>
            </a:r>
            <a:endParaRPr sz="6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366127" y="980469"/>
            <a:ext cx="605155" cy="31559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>
              <a:lnSpc>
                <a:spcPts val="740"/>
              </a:lnSpc>
              <a:spcBef>
                <a:spcPts val="17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Google docs  Gmail  </a:t>
            </a:r>
            <a:r>
              <a:rPr sz="650" spc="-5" dirty="0">
                <a:solidFill>
                  <a:srgbClr val="231F20"/>
                </a:solidFill>
                <a:latin typeface="Arial"/>
                <a:cs typeface="Arial"/>
              </a:rPr>
              <a:t>YouTube,</a:t>
            </a:r>
            <a:r>
              <a:rPr sz="650" spc="-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Flickr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0" y="3326968"/>
            <a:ext cx="4608195" cy="129539"/>
            <a:chOff x="0" y="3326968"/>
            <a:chExt cx="4608195" cy="129539"/>
          </a:xfrm>
        </p:grpSpPr>
        <p:sp>
          <p:nvSpPr>
            <p:cNvPr id="34" name="object 34"/>
            <p:cNvSpPr/>
            <p:nvPr/>
          </p:nvSpPr>
          <p:spPr>
            <a:xfrm>
              <a:off x="0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2303995" y="129032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1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303995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2303995" y="129032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6713" y="3331252"/>
            <a:ext cx="59499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Cloud</a:t>
            </a:r>
            <a:r>
              <a:rPr sz="600" spc="-3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computing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34 /</a:t>
            </a:r>
            <a:r>
              <a:rPr spc="-70" dirty="0"/>
              <a:t> </a:t>
            </a:r>
            <a:r>
              <a:rPr spc="-5" dirty="0"/>
              <a:t>56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45415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16580" algn="l"/>
              </a:tabLst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 </a:t>
            </a:r>
            <a:r>
              <a:rPr sz="600" spc="-20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Types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of</a:t>
            </a:r>
            <a:r>
              <a:rPr sz="600" spc="70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distributed</a:t>
            </a:r>
            <a:r>
              <a:rPr sz="600" spc="1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systems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High performance distributed</a:t>
            </a:r>
            <a:r>
              <a:rPr sz="600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computing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29032"/>
            <a:ext cx="4608195" cy="321945"/>
          </a:xfrm>
          <a:prstGeom prst="rect">
            <a:avLst/>
          </a:prstGeom>
          <a:solidFill>
            <a:srgbClr val="FFE600"/>
          </a:solidFill>
        </p:spPr>
        <p:txBody>
          <a:bodyPr vert="horz" wrap="square" lIns="0" tIns="6223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490"/>
              </a:spcBef>
            </a:pPr>
            <a:r>
              <a:rPr spc="15" dirty="0"/>
              <a:t>Cloud</a:t>
            </a:r>
            <a:r>
              <a:rPr dirty="0"/>
              <a:t> </a:t>
            </a:r>
            <a:r>
              <a:rPr spc="15" dirty="0"/>
              <a:t>computing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7743" y="827709"/>
            <a:ext cx="4483735" cy="2087245"/>
            <a:chOff x="87743" y="827709"/>
            <a:chExt cx="4483735" cy="2087245"/>
          </a:xfrm>
        </p:grpSpPr>
        <p:sp>
          <p:nvSpPr>
            <p:cNvPr id="5" name="object 5"/>
            <p:cNvSpPr/>
            <p:nvPr/>
          </p:nvSpPr>
          <p:spPr>
            <a:xfrm>
              <a:off x="87743" y="827709"/>
              <a:ext cx="4432935" cy="183515"/>
            </a:xfrm>
            <a:custGeom>
              <a:avLst/>
              <a:gdLst/>
              <a:ahLst/>
              <a:cxnLst/>
              <a:rect l="l" t="t" r="r" b="b"/>
              <a:pathLst>
                <a:path w="4432935" h="183515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2908"/>
                  </a:lnTo>
                  <a:lnTo>
                    <a:pt x="4432567" y="182908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CB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7744" y="997966"/>
              <a:ext cx="4432566" cy="5060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8544" y="2812986"/>
              <a:ext cx="101600" cy="1016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9344" y="2800286"/>
              <a:ext cx="4381715" cy="1143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1" y="871943"/>
              <a:ext cx="50749" cy="194104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743" y="1042225"/>
              <a:ext cx="4432935" cy="1821814"/>
            </a:xfrm>
            <a:custGeom>
              <a:avLst/>
              <a:gdLst/>
              <a:ahLst/>
              <a:cxnLst/>
              <a:rect l="l" t="t" r="r" b="b"/>
              <a:pathLst>
                <a:path w="4432935" h="1821814">
                  <a:moveTo>
                    <a:pt x="4432567" y="0"/>
                  </a:moveTo>
                  <a:lnTo>
                    <a:pt x="0" y="0"/>
                  </a:lnTo>
                  <a:lnTo>
                    <a:pt x="0" y="1770761"/>
                  </a:lnTo>
                  <a:lnTo>
                    <a:pt x="4008" y="1790485"/>
                  </a:lnTo>
                  <a:lnTo>
                    <a:pt x="14922" y="1806638"/>
                  </a:lnTo>
                  <a:lnTo>
                    <a:pt x="31075" y="1817552"/>
                  </a:lnTo>
                  <a:lnTo>
                    <a:pt x="50800" y="1821561"/>
                  </a:lnTo>
                  <a:lnTo>
                    <a:pt x="4381767" y="1821561"/>
                  </a:lnTo>
                  <a:lnTo>
                    <a:pt x="4401492" y="1817552"/>
                  </a:lnTo>
                  <a:lnTo>
                    <a:pt x="4417644" y="1806638"/>
                  </a:lnTo>
                  <a:lnTo>
                    <a:pt x="4428558" y="1790485"/>
                  </a:lnTo>
                  <a:lnTo>
                    <a:pt x="4432567" y="1770761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1" y="910018"/>
              <a:ext cx="0" cy="1922145"/>
            </a:xfrm>
            <a:custGeom>
              <a:avLst/>
              <a:gdLst/>
              <a:ahLst/>
              <a:cxnLst/>
              <a:rect l="l" t="t" r="r" b="b"/>
              <a:pathLst>
                <a:path h="1922145">
                  <a:moveTo>
                    <a:pt x="0" y="19220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1" y="89731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1" y="88461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1" y="87191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9557" y="1119416"/>
              <a:ext cx="76809" cy="7680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9557" y="1498993"/>
              <a:ext cx="76809" cy="7680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9557" y="1878571"/>
              <a:ext cx="76809" cy="7680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69557" y="2409977"/>
              <a:ext cx="76809" cy="7680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25844" y="730307"/>
            <a:ext cx="4328160" cy="210121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000" spc="-10" dirty="0">
                <a:solidFill>
                  <a:srgbClr val="04064C"/>
                </a:solidFill>
                <a:latin typeface="Arial"/>
                <a:cs typeface="Arial"/>
              </a:rPr>
              <a:t>Make </a:t>
            </a: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a distinction between </a:t>
            </a:r>
            <a:r>
              <a:rPr sz="1000" spc="-10" dirty="0">
                <a:solidFill>
                  <a:srgbClr val="04064C"/>
                </a:solidFill>
                <a:latin typeface="Arial"/>
                <a:cs typeface="Arial"/>
              </a:rPr>
              <a:t>four</a:t>
            </a: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1000" spc="-15" dirty="0">
                <a:solidFill>
                  <a:srgbClr val="04064C"/>
                </a:solidFill>
                <a:latin typeface="Arial"/>
                <a:cs typeface="Arial"/>
              </a:rPr>
              <a:t>layers</a:t>
            </a:r>
            <a:endParaRPr sz="1000">
              <a:latin typeface="Arial"/>
              <a:cs typeface="Arial"/>
            </a:endParaRPr>
          </a:p>
          <a:p>
            <a:pPr marL="289560" marR="30480">
              <a:lnSpc>
                <a:spcPct val="100000"/>
              </a:lnSpc>
              <a:spcBef>
                <a:spcPts val="690"/>
              </a:spcBef>
            </a:pP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Hardware</a:t>
            </a:r>
            <a:r>
              <a:rPr sz="1000" spc="-5" dirty="0">
                <a:latin typeface="Arial"/>
                <a:cs typeface="Arial"/>
              </a:rPr>
              <a:t>: Processors, routers, </a:t>
            </a:r>
            <a:r>
              <a:rPr sz="1000" spc="-10" dirty="0">
                <a:latin typeface="Arial"/>
                <a:cs typeface="Arial"/>
              </a:rPr>
              <a:t>power </a:t>
            </a:r>
            <a:r>
              <a:rPr sz="1000" spc="-5" dirty="0">
                <a:latin typeface="Arial"/>
                <a:cs typeface="Arial"/>
              </a:rPr>
              <a:t>and cooling systems. Customers  </a:t>
            </a:r>
            <a:r>
              <a:rPr sz="1000" dirty="0">
                <a:latin typeface="Arial"/>
                <a:cs typeface="Arial"/>
              </a:rPr>
              <a:t>normally </a:t>
            </a:r>
            <a:r>
              <a:rPr sz="1000" spc="-15" dirty="0">
                <a:latin typeface="Arial"/>
                <a:cs typeface="Arial"/>
              </a:rPr>
              <a:t>never </a:t>
            </a:r>
            <a:r>
              <a:rPr sz="1000" spc="-5" dirty="0">
                <a:latin typeface="Arial"/>
                <a:cs typeface="Arial"/>
              </a:rPr>
              <a:t>get to see these.</a:t>
            </a:r>
            <a:endParaRPr sz="1000">
              <a:latin typeface="Arial"/>
              <a:cs typeface="Arial"/>
            </a:endParaRPr>
          </a:p>
          <a:p>
            <a:pPr marL="289560" marR="257175">
              <a:lnSpc>
                <a:spcPct val="100000"/>
              </a:lnSpc>
              <a:spcBef>
                <a:spcPts val="590"/>
              </a:spcBef>
            </a:pP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Infrastructure</a:t>
            </a:r>
            <a:r>
              <a:rPr sz="1000" spc="-5" dirty="0">
                <a:latin typeface="Arial"/>
                <a:cs typeface="Arial"/>
              </a:rPr>
              <a:t>: </a:t>
            </a:r>
            <a:r>
              <a:rPr sz="1000" spc="-10" dirty="0">
                <a:latin typeface="Arial"/>
                <a:cs typeface="Arial"/>
              </a:rPr>
              <a:t>Deploys </a:t>
            </a:r>
            <a:r>
              <a:rPr sz="1000" dirty="0">
                <a:latin typeface="Arial"/>
                <a:cs typeface="Arial"/>
              </a:rPr>
              <a:t>virtualization </a:t>
            </a:r>
            <a:r>
              <a:rPr sz="1000" spc="-5" dirty="0">
                <a:latin typeface="Arial"/>
                <a:cs typeface="Arial"/>
              </a:rPr>
              <a:t>techniques. </a:t>
            </a:r>
            <a:r>
              <a:rPr sz="1000" spc="-10" dirty="0">
                <a:latin typeface="Arial"/>
                <a:cs typeface="Arial"/>
              </a:rPr>
              <a:t>Evolves </a:t>
            </a:r>
            <a:r>
              <a:rPr sz="1000" spc="-5" dirty="0">
                <a:latin typeface="Arial"/>
                <a:cs typeface="Arial"/>
              </a:rPr>
              <a:t>around  allocating and managing </a:t>
            </a:r>
            <a:r>
              <a:rPr sz="1000" dirty="0">
                <a:latin typeface="Arial"/>
                <a:cs typeface="Arial"/>
              </a:rPr>
              <a:t>virtual </a:t>
            </a:r>
            <a:r>
              <a:rPr sz="1000" spc="-5" dirty="0">
                <a:latin typeface="Arial"/>
                <a:cs typeface="Arial"/>
              </a:rPr>
              <a:t>storage </a:t>
            </a:r>
            <a:r>
              <a:rPr sz="1000" spc="-10" dirty="0">
                <a:latin typeface="Arial"/>
                <a:cs typeface="Arial"/>
              </a:rPr>
              <a:t>devices </a:t>
            </a:r>
            <a:r>
              <a:rPr sz="1000" spc="-5" dirty="0">
                <a:latin typeface="Arial"/>
                <a:cs typeface="Arial"/>
              </a:rPr>
              <a:t>and </a:t>
            </a:r>
            <a:r>
              <a:rPr sz="1000" dirty="0">
                <a:latin typeface="Arial"/>
                <a:cs typeface="Arial"/>
              </a:rPr>
              <a:t>virtual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servers.</a:t>
            </a:r>
            <a:endParaRPr sz="1000">
              <a:latin typeface="Arial"/>
              <a:cs typeface="Arial"/>
            </a:endParaRPr>
          </a:p>
          <a:p>
            <a:pPr marL="289560" marR="45085">
              <a:lnSpc>
                <a:spcPct val="100000"/>
              </a:lnSpc>
              <a:spcBef>
                <a:spcPts val="590"/>
              </a:spcBef>
            </a:pP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Platform</a:t>
            </a:r>
            <a:r>
              <a:rPr sz="1000" spc="-5" dirty="0">
                <a:latin typeface="Arial"/>
                <a:cs typeface="Arial"/>
              </a:rPr>
              <a:t>: Provides </a:t>
            </a:r>
            <a:r>
              <a:rPr sz="1000" spc="-10" dirty="0">
                <a:latin typeface="Arial"/>
                <a:cs typeface="Arial"/>
              </a:rPr>
              <a:t>higher-level </a:t>
            </a:r>
            <a:r>
              <a:rPr sz="1000" spc="-5" dirty="0">
                <a:latin typeface="Arial"/>
                <a:cs typeface="Arial"/>
              </a:rPr>
              <a:t>abstractions </a:t>
            </a:r>
            <a:r>
              <a:rPr sz="1000" spc="-15" dirty="0">
                <a:latin typeface="Arial"/>
                <a:cs typeface="Arial"/>
              </a:rPr>
              <a:t>for </a:t>
            </a:r>
            <a:r>
              <a:rPr sz="1000" spc="-5" dirty="0">
                <a:latin typeface="Arial"/>
                <a:cs typeface="Arial"/>
              </a:rPr>
              <a:t>storage and such.  Example: Amazon S3 storage system </a:t>
            </a:r>
            <a:r>
              <a:rPr sz="1000" spc="-10" dirty="0">
                <a:latin typeface="Arial"/>
                <a:cs typeface="Arial"/>
              </a:rPr>
              <a:t>offers </a:t>
            </a:r>
            <a:r>
              <a:rPr sz="1000" spc="-5" dirty="0">
                <a:latin typeface="Arial"/>
                <a:cs typeface="Arial"/>
              </a:rPr>
              <a:t>an API </a:t>
            </a:r>
            <a:r>
              <a:rPr sz="1000" spc="-15" dirty="0">
                <a:latin typeface="Arial"/>
                <a:cs typeface="Arial"/>
              </a:rPr>
              <a:t>for </a:t>
            </a:r>
            <a:r>
              <a:rPr sz="1000" spc="-5" dirty="0">
                <a:latin typeface="Arial"/>
                <a:cs typeface="Arial"/>
              </a:rPr>
              <a:t>(locally created)  files to be organized and stored in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so-called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buckets</a:t>
            </a:r>
            <a:r>
              <a:rPr sz="1000" spc="-10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289560" marR="5080">
              <a:lnSpc>
                <a:spcPct val="100000"/>
              </a:lnSpc>
              <a:spcBef>
                <a:spcPts val="585"/>
              </a:spcBef>
            </a:pP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Application</a:t>
            </a:r>
            <a:r>
              <a:rPr sz="1000" spc="-5" dirty="0">
                <a:latin typeface="Arial"/>
                <a:cs typeface="Arial"/>
              </a:rPr>
              <a:t>: Actual applications, such as office suites </a:t>
            </a:r>
            <a:r>
              <a:rPr sz="1000" spc="-10" dirty="0">
                <a:latin typeface="Arial"/>
                <a:cs typeface="Arial"/>
              </a:rPr>
              <a:t>(text </a:t>
            </a:r>
            <a:r>
              <a:rPr sz="1000" spc="-5" dirty="0">
                <a:latin typeface="Arial"/>
                <a:cs typeface="Arial"/>
              </a:rPr>
              <a:t>processors,  spreadsheet applications, presentation applications). </a:t>
            </a:r>
            <a:r>
              <a:rPr sz="1000" spc="-10" dirty="0">
                <a:latin typeface="Arial"/>
                <a:cs typeface="Arial"/>
              </a:rPr>
              <a:t>Comparable </a:t>
            </a:r>
            <a:r>
              <a:rPr sz="1000" spc="-5" dirty="0">
                <a:latin typeface="Arial"/>
                <a:cs typeface="Arial"/>
              </a:rPr>
              <a:t>to the  suite of apps shipped with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OSes.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0" y="3326968"/>
            <a:ext cx="4608195" cy="129539"/>
            <a:chOff x="0" y="3326968"/>
            <a:chExt cx="4608195" cy="129539"/>
          </a:xfrm>
        </p:grpSpPr>
        <p:sp>
          <p:nvSpPr>
            <p:cNvPr id="21" name="object 21"/>
            <p:cNvSpPr/>
            <p:nvPr/>
          </p:nvSpPr>
          <p:spPr>
            <a:xfrm>
              <a:off x="0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2303995" y="129031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1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03995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2303995" y="129031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6713" y="3331252"/>
            <a:ext cx="59499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10" action="ppaction://hlinksldjump"/>
              </a:rPr>
              <a:t>Cloud</a:t>
            </a:r>
            <a:r>
              <a:rPr sz="600" spc="-35" dirty="0">
                <a:solidFill>
                  <a:srgbClr val="04064C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10" action="ppaction://hlinksldjump"/>
              </a:rPr>
              <a:t>computing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35 /</a:t>
            </a:r>
            <a:r>
              <a:rPr spc="-70" dirty="0"/>
              <a:t> </a:t>
            </a:r>
            <a:r>
              <a:rPr spc="-5" dirty="0"/>
              <a:t>56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45415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16580" algn="l"/>
              </a:tabLst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 </a:t>
            </a:r>
            <a:r>
              <a:rPr sz="600" spc="-20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Types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of</a:t>
            </a:r>
            <a:r>
              <a:rPr sz="600" spc="70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distributed</a:t>
            </a:r>
            <a:r>
              <a:rPr sz="600" spc="1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systems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High performance distributed</a:t>
            </a:r>
            <a:r>
              <a:rPr sz="600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computing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29032"/>
            <a:ext cx="4608195" cy="321945"/>
          </a:xfrm>
          <a:prstGeom prst="rect">
            <a:avLst/>
          </a:prstGeom>
          <a:solidFill>
            <a:srgbClr val="FFE600"/>
          </a:solidFill>
        </p:spPr>
        <p:txBody>
          <a:bodyPr vert="horz" wrap="square" lIns="0" tIns="6223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490"/>
              </a:spcBef>
            </a:pPr>
            <a:r>
              <a:rPr spc="10" dirty="0"/>
              <a:t>Is </a:t>
            </a:r>
            <a:r>
              <a:rPr spc="15" dirty="0"/>
              <a:t>cloud computing</a:t>
            </a:r>
            <a:r>
              <a:rPr spc="-10" dirty="0"/>
              <a:t> </a:t>
            </a:r>
            <a:r>
              <a:rPr spc="5" dirty="0"/>
              <a:t>cost-effective?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7743" y="596074"/>
            <a:ext cx="4483735" cy="752475"/>
            <a:chOff x="87743" y="596074"/>
            <a:chExt cx="4483735" cy="752475"/>
          </a:xfrm>
        </p:grpSpPr>
        <p:sp>
          <p:nvSpPr>
            <p:cNvPr id="5" name="object 5"/>
            <p:cNvSpPr/>
            <p:nvPr/>
          </p:nvSpPr>
          <p:spPr>
            <a:xfrm>
              <a:off x="87743" y="596074"/>
              <a:ext cx="4432935" cy="175895"/>
            </a:xfrm>
            <a:custGeom>
              <a:avLst/>
              <a:gdLst/>
              <a:ahLst/>
              <a:cxnLst/>
              <a:rect l="l" t="t" r="r" b="b"/>
              <a:pathLst>
                <a:path w="4432935" h="175895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635"/>
                  </a:lnTo>
                  <a:lnTo>
                    <a:pt x="4432567" y="175635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CB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7744" y="759053"/>
              <a:ext cx="4432566" cy="5060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8544" y="1246505"/>
              <a:ext cx="101600" cy="1016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9344" y="1233804"/>
              <a:ext cx="4381715" cy="1143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1" y="640308"/>
              <a:ext cx="50749" cy="6061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743" y="803329"/>
              <a:ext cx="4432935" cy="494030"/>
            </a:xfrm>
            <a:custGeom>
              <a:avLst/>
              <a:gdLst/>
              <a:ahLst/>
              <a:cxnLst/>
              <a:rect l="l" t="t" r="r" b="b"/>
              <a:pathLst>
                <a:path w="4432935" h="494030">
                  <a:moveTo>
                    <a:pt x="4432567" y="0"/>
                  </a:moveTo>
                  <a:lnTo>
                    <a:pt x="0" y="0"/>
                  </a:lnTo>
                  <a:lnTo>
                    <a:pt x="0" y="443175"/>
                  </a:lnTo>
                  <a:lnTo>
                    <a:pt x="4008" y="462900"/>
                  </a:lnTo>
                  <a:lnTo>
                    <a:pt x="14922" y="479053"/>
                  </a:lnTo>
                  <a:lnTo>
                    <a:pt x="31075" y="489967"/>
                  </a:lnTo>
                  <a:lnTo>
                    <a:pt x="50800" y="493975"/>
                  </a:lnTo>
                  <a:lnTo>
                    <a:pt x="4381767" y="493975"/>
                  </a:lnTo>
                  <a:lnTo>
                    <a:pt x="4401492" y="489967"/>
                  </a:lnTo>
                  <a:lnTo>
                    <a:pt x="4417644" y="479053"/>
                  </a:lnTo>
                  <a:lnTo>
                    <a:pt x="4428558" y="462900"/>
                  </a:lnTo>
                  <a:lnTo>
                    <a:pt x="4432567" y="443175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1" y="678399"/>
              <a:ext cx="0" cy="587375"/>
            </a:xfrm>
            <a:custGeom>
              <a:avLst/>
              <a:gdLst/>
              <a:ahLst/>
              <a:cxnLst/>
              <a:rect l="l" t="t" r="r" b="b"/>
              <a:pathLst>
                <a:path h="587375">
                  <a:moveTo>
                    <a:pt x="0" y="5871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1" y="6656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1" y="6529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1" y="6402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87743" y="1449234"/>
            <a:ext cx="4483735" cy="1812925"/>
            <a:chOff x="87743" y="1449234"/>
            <a:chExt cx="4483735" cy="1812925"/>
          </a:xfrm>
        </p:grpSpPr>
        <p:sp>
          <p:nvSpPr>
            <p:cNvPr id="16" name="object 16"/>
            <p:cNvSpPr/>
            <p:nvPr/>
          </p:nvSpPr>
          <p:spPr>
            <a:xfrm>
              <a:off x="87743" y="1449234"/>
              <a:ext cx="4432935" cy="181610"/>
            </a:xfrm>
            <a:custGeom>
              <a:avLst/>
              <a:gdLst/>
              <a:ahLst/>
              <a:cxnLst/>
              <a:rect l="l" t="t" r="r" b="b"/>
              <a:pathLst>
                <a:path w="4432935" h="181610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200"/>
                  </a:lnTo>
                  <a:lnTo>
                    <a:pt x="4432567" y="181200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CB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7744" y="1617776"/>
              <a:ext cx="4432566" cy="5060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8544" y="3160445"/>
              <a:ext cx="101600" cy="1016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9344" y="3147745"/>
              <a:ext cx="4381715" cy="1143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20311" y="1493469"/>
              <a:ext cx="50749" cy="166697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743" y="1662049"/>
              <a:ext cx="4432935" cy="1549400"/>
            </a:xfrm>
            <a:custGeom>
              <a:avLst/>
              <a:gdLst/>
              <a:ahLst/>
              <a:cxnLst/>
              <a:rect l="l" t="t" r="r" b="b"/>
              <a:pathLst>
                <a:path w="4432935" h="1549400">
                  <a:moveTo>
                    <a:pt x="4432567" y="0"/>
                  </a:moveTo>
                  <a:lnTo>
                    <a:pt x="0" y="0"/>
                  </a:lnTo>
                  <a:lnTo>
                    <a:pt x="0" y="1498396"/>
                  </a:lnTo>
                  <a:lnTo>
                    <a:pt x="4008" y="1518121"/>
                  </a:lnTo>
                  <a:lnTo>
                    <a:pt x="14922" y="1534274"/>
                  </a:lnTo>
                  <a:lnTo>
                    <a:pt x="31075" y="1545188"/>
                  </a:lnTo>
                  <a:lnTo>
                    <a:pt x="50800" y="1549197"/>
                  </a:lnTo>
                  <a:lnTo>
                    <a:pt x="4381767" y="1549197"/>
                  </a:lnTo>
                  <a:lnTo>
                    <a:pt x="4401492" y="1545188"/>
                  </a:lnTo>
                  <a:lnTo>
                    <a:pt x="4417644" y="1534274"/>
                  </a:lnTo>
                  <a:lnTo>
                    <a:pt x="4428558" y="1518121"/>
                  </a:lnTo>
                  <a:lnTo>
                    <a:pt x="4432567" y="1498396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11" y="1531543"/>
              <a:ext cx="0" cy="1648460"/>
            </a:xfrm>
            <a:custGeom>
              <a:avLst/>
              <a:gdLst/>
              <a:ahLst/>
              <a:cxnLst/>
              <a:rect l="l" t="t" r="r" b="b"/>
              <a:pathLst>
                <a:path h="1648460">
                  <a:moveTo>
                    <a:pt x="0" y="164795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11" y="15188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11" y="15061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11" y="14934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9557" y="1739239"/>
              <a:ext cx="76809" cy="7680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08965" y="546373"/>
            <a:ext cx="4358640" cy="14624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425"/>
              </a:spcBef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Observation</a:t>
            </a:r>
            <a:endParaRPr sz="1000" dirty="0">
              <a:latin typeface="Arial"/>
              <a:cs typeface="Arial"/>
            </a:endParaRPr>
          </a:p>
          <a:p>
            <a:pPr marL="29209" marR="309245" indent="-4445" algn="just">
              <a:lnSpc>
                <a:spcPct val="100000"/>
              </a:lnSpc>
              <a:spcBef>
                <a:spcPts val="325"/>
              </a:spcBef>
            </a:pPr>
            <a:r>
              <a:rPr sz="1000" spc="-5" dirty="0">
                <a:latin typeface="Arial"/>
                <a:cs typeface="Arial"/>
              </a:rPr>
              <a:t>An </a:t>
            </a:r>
            <a:r>
              <a:rPr sz="1000" dirty="0">
                <a:latin typeface="Arial"/>
                <a:cs typeface="Arial"/>
              </a:rPr>
              <a:t>important </a:t>
            </a:r>
            <a:r>
              <a:rPr sz="1000" spc="-5" dirty="0">
                <a:latin typeface="Arial"/>
                <a:cs typeface="Arial"/>
              </a:rPr>
              <a:t>reason </a:t>
            </a:r>
            <a:r>
              <a:rPr sz="1000" spc="-15" dirty="0">
                <a:latin typeface="Arial"/>
                <a:cs typeface="Arial"/>
              </a:rPr>
              <a:t>for </a:t>
            </a:r>
            <a:r>
              <a:rPr sz="1000" spc="-5" dirty="0">
                <a:latin typeface="Arial"/>
                <a:cs typeface="Arial"/>
              </a:rPr>
              <a:t>the success of cloud computing is that it allows  organizations to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outsource</a:t>
            </a:r>
            <a:r>
              <a:rPr sz="1000" spc="-5" dirty="0">
                <a:latin typeface="Arial"/>
                <a:cs typeface="Arial"/>
              </a:rPr>
              <a:t>their IT infrastructure: hardware and software.  Essential question: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is outsourcing also cheaper</a:t>
            </a:r>
            <a:r>
              <a:rPr sz="1000" spc="-5" dirty="0">
                <a:latin typeface="Arial"/>
                <a:cs typeface="Arial"/>
              </a:rPr>
              <a:t>?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50" dirty="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Approach</a:t>
            </a:r>
            <a:endParaRPr sz="1000" dirty="0">
              <a:latin typeface="Arial"/>
              <a:cs typeface="Arial"/>
            </a:endParaRPr>
          </a:p>
          <a:p>
            <a:pPr marL="306070" marR="43180">
              <a:lnSpc>
                <a:spcPct val="100000"/>
              </a:lnSpc>
              <a:spcBef>
                <a:spcPts val="690"/>
              </a:spcBef>
            </a:pPr>
            <a:r>
              <a:rPr sz="1000" spc="-5" dirty="0">
                <a:latin typeface="Arial"/>
                <a:cs typeface="Arial"/>
              </a:rPr>
              <a:t>Consider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enterprise </a:t>
            </a:r>
            <a:r>
              <a:rPr sz="1000" spc="-10" dirty="0">
                <a:solidFill>
                  <a:srgbClr val="FA0000"/>
                </a:solidFill>
                <a:latin typeface="Arial"/>
                <a:cs typeface="Arial"/>
              </a:rPr>
              <a:t>applications</a:t>
            </a:r>
            <a:r>
              <a:rPr sz="1000" spc="-10" dirty="0">
                <a:latin typeface="Arial"/>
                <a:cs typeface="Arial"/>
              </a:rPr>
              <a:t>, modeled as a collection of</a:t>
            </a:r>
            <a:r>
              <a:rPr sz="1000" spc="-10" dirty="0">
                <a:solidFill>
                  <a:srgbClr val="FA0000"/>
                </a:solidFill>
                <a:latin typeface="Arial"/>
                <a:cs typeface="Arial"/>
              </a:rPr>
              <a:t>components</a:t>
            </a:r>
            <a:r>
              <a:rPr sz="1000" spc="-10" dirty="0">
                <a:latin typeface="Arial"/>
                <a:cs typeface="Arial"/>
              </a:rPr>
              <a:t>,  </a:t>
            </a:r>
            <a:r>
              <a:rPr sz="1000" spc="-5" dirty="0">
                <a:latin typeface="Arial"/>
                <a:cs typeface="Arial"/>
              </a:rPr>
              <a:t>each component </a:t>
            </a:r>
            <a:r>
              <a:rPr sz="1000" i="1" dirty="0">
                <a:latin typeface="Arial"/>
                <a:cs typeface="Arial"/>
              </a:rPr>
              <a:t>C</a:t>
            </a:r>
            <a:r>
              <a:rPr sz="1050" i="1" baseline="-15873" dirty="0">
                <a:latin typeface="Arial"/>
                <a:cs typeface="Arial"/>
              </a:rPr>
              <a:t>i </a:t>
            </a:r>
            <a:r>
              <a:rPr sz="1000" spc="-5" dirty="0">
                <a:latin typeface="Arial"/>
                <a:cs typeface="Arial"/>
              </a:rPr>
              <a:t>requiring </a:t>
            </a:r>
            <a:r>
              <a:rPr sz="1000" i="1" dirty="0">
                <a:latin typeface="Arial"/>
                <a:cs typeface="Arial"/>
              </a:rPr>
              <a:t>N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84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servers.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69557" y="2118804"/>
            <a:ext cx="354330" cy="1002030"/>
            <a:chOff x="269557" y="2118804"/>
            <a:chExt cx="354330" cy="1002030"/>
          </a:xfrm>
        </p:grpSpPr>
        <p:sp>
          <p:nvSpPr>
            <p:cNvPr id="29" name="object 29"/>
            <p:cNvSpPr/>
            <p:nvPr/>
          </p:nvSpPr>
          <p:spPr>
            <a:xfrm>
              <a:off x="269557" y="2118804"/>
              <a:ext cx="76809" cy="768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69557" y="2525077"/>
              <a:ext cx="76809" cy="7680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61581" y="2755112"/>
              <a:ext cx="61874" cy="6187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61581" y="3058769"/>
              <a:ext cx="61874" cy="6187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02932" y="2058929"/>
            <a:ext cx="3992879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Arial"/>
                <a:cs typeface="Arial"/>
              </a:rPr>
              <a:t>Application </a:t>
            </a:r>
            <a:r>
              <a:rPr sz="1000" spc="-10" dirty="0">
                <a:latin typeface="Arial"/>
                <a:cs typeface="Arial"/>
              </a:rPr>
              <a:t>now </a:t>
            </a:r>
            <a:r>
              <a:rPr sz="1000" spc="-5" dirty="0">
                <a:latin typeface="Arial"/>
                <a:cs typeface="Arial"/>
              </a:rPr>
              <a:t>becomes a</a:t>
            </a:r>
            <a:r>
              <a:rPr lang="en-US" sz="1000" spc="-5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directed 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graph</a:t>
            </a:r>
            <a:r>
              <a:rPr sz="1000" spc="-10" dirty="0">
                <a:latin typeface="Arial"/>
                <a:cs typeface="Arial"/>
              </a:rPr>
              <a:t>, </a:t>
            </a:r>
            <a:r>
              <a:rPr sz="1000" spc="-5" dirty="0">
                <a:latin typeface="Arial"/>
                <a:cs typeface="Arial"/>
              </a:rPr>
              <a:t>with a </a:t>
            </a:r>
            <a:r>
              <a:rPr sz="1000" spc="-10" dirty="0">
                <a:latin typeface="Arial"/>
                <a:cs typeface="Arial"/>
              </a:rPr>
              <a:t>vertex </a:t>
            </a:r>
            <a:r>
              <a:rPr sz="1000" spc="-5" dirty="0">
                <a:latin typeface="Arial"/>
                <a:cs typeface="Arial"/>
              </a:rPr>
              <a:t>representing</a:t>
            </a:r>
            <a:r>
              <a:rPr sz="1000" spc="1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77532" y="2161533"/>
            <a:ext cx="3978275" cy="1000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143510">
              <a:lnSpc>
                <a:spcPct val="1494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component, and an arc </a:t>
            </a:r>
            <a:r>
              <a:rPr sz="1000" i="1" spc="-280" dirty="0">
                <a:latin typeface="DejaVu Sans Condensed"/>
                <a:cs typeface="DejaVu Sans Condensed"/>
              </a:rPr>
              <a:t>(</a:t>
            </a:r>
            <a:r>
              <a:rPr sz="1500" i="1" spc="-419" baseline="38888" dirty="0">
                <a:latin typeface="DejaVu Sans Condensed"/>
                <a:cs typeface="DejaVu Sans Condensed"/>
              </a:rPr>
              <a:t>−</a:t>
            </a:r>
            <a:r>
              <a:rPr sz="1000" i="1" spc="-280" dirty="0">
                <a:latin typeface="Arial"/>
                <a:cs typeface="Arial"/>
              </a:rPr>
              <a:t>i</a:t>
            </a:r>
            <a:r>
              <a:rPr sz="1500" i="1" spc="-419" baseline="38888" dirty="0">
                <a:latin typeface="DejaVu Sans Condensed"/>
                <a:cs typeface="DejaVu Sans Condensed"/>
              </a:rPr>
              <a:t>→</a:t>
            </a:r>
            <a:r>
              <a:rPr sz="1000" i="1" spc="-280" dirty="0">
                <a:latin typeface="LM Roman Dunhill 10"/>
                <a:cs typeface="LM Roman Dunhill 10"/>
              </a:rPr>
              <a:t>, </a:t>
            </a:r>
            <a:r>
              <a:rPr sz="1000" i="1" spc="55" dirty="0">
                <a:latin typeface="Arial"/>
                <a:cs typeface="Arial"/>
              </a:rPr>
              <a:t>j</a:t>
            </a:r>
            <a:r>
              <a:rPr sz="1000" i="1" spc="55" dirty="0">
                <a:latin typeface="DejaVu Sans Condensed"/>
                <a:cs typeface="DejaVu Sans Condensed"/>
              </a:rPr>
              <a:t>) </a:t>
            </a:r>
            <a:r>
              <a:rPr sz="1000" spc="-5" dirty="0">
                <a:latin typeface="Arial"/>
                <a:cs typeface="Arial"/>
              </a:rPr>
              <a:t>representing data flowing from </a:t>
            </a:r>
            <a:r>
              <a:rPr sz="1000" i="1" dirty="0">
                <a:latin typeface="Arial"/>
                <a:cs typeface="Arial"/>
              </a:rPr>
              <a:t>C</a:t>
            </a:r>
            <a:r>
              <a:rPr sz="1050" i="1" baseline="-15873" dirty="0">
                <a:latin typeface="Arial"/>
                <a:cs typeface="Arial"/>
              </a:rPr>
              <a:t>i </a:t>
            </a:r>
            <a:r>
              <a:rPr sz="1000" spc="-5" dirty="0">
                <a:latin typeface="Arial"/>
                <a:cs typeface="Arial"/>
              </a:rPr>
              <a:t>to </a:t>
            </a:r>
            <a:r>
              <a:rPr sz="1000" i="1" dirty="0">
                <a:latin typeface="Arial"/>
                <a:cs typeface="Arial"/>
              </a:rPr>
              <a:t>C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-135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.  </a:t>
            </a:r>
            <a:r>
              <a:rPr sz="1000" spc="-50" dirty="0">
                <a:latin typeface="Arial"/>
                <a:cs typeface="Arial"/>
              </a:rPr>
              <a:t>Two </a:t>
            </a:r>
            <a:r>
              <a:rPr sz="1000" spc="-5" dirty="0">
                <a:latin typeface="Arial"/>
                <a:cs typeface="Arial"/>
              </a:rPr>
              <a:t>associated weights per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arc:</a:t>
            </a:r>
            <a:endParaRPr sz="1000" dirty="0">
              <a:latin typeface="Arial"/>
              <a:cs typeface="Arial"/>
            </a:endParaRPr>
          </a:p>
          <a:p>
            <a:pPr marL="314960" marR="30480">
              <a:lnSpc>
                <a:spcPct val="100000"/>
              </a:lnSpc>
              <a:spcBef>
                <a:spcPts val="495"/>
              </a:spcBef>
            </a:pPr>
            <a:r>
              <a:rPr sz="1000" i="1" spc="20" dirty="0">
                <a:latin typeface="Arial"/>
                <a:cs typeface="Arial"/>
              </a:rPr>
              <a:t>T</a:t>
            </a:r>
            <a:r>
              <a:rPr sz="1050" i="1" spc="30" baseline="-15873" dirty="0">
                <a:latin typeface="Arial"/>
                <a:cs typeface="Arial"/>
              </a:rPr>
              <a:t>i</a:t>
            </a:r>
            <a:r>
              <a:rPr sz="1050" i="1" spc="30" baseline="-15873" dirty="0">
                <a:latin typeface="LM Roman Dunhill 10"/>
                <a:cs typeface="LM Roman Dunhill 10"/>
              </a:rPr>
              <a:t>,</a:t>
            </a:r>
            <a:r>
              <a:rPr sz="1050" i="1" spc="30" baseline="-15873" dirty="0">
                <a:latin typeface="Arial"/>
                <a:cs typeface="Arial"/>
              </a:rPr>
              <a:t>j </a:t>
            </a:r>
            <a:r>
              <a:rPr sz="1000" spc="-5" dirty="0">
                <a:latin typeface="Arial"/>
                <a:cs typeface="Arial"/>
              </a:rPr>
              <a:t>is the number of transactions per time unit that causes a data  </a:t>
            </a:r>
            <a:r>
              <a:rPr sz="1000" spc="-10" dirty="0">
                <a:latin typeface="Arial"/>
                <a:cs typeface="Arial"/>
              </a:rPr>
              <a:t>flow </a:t>
            </a:r>
            <a:r>
              <a:rPr sz="1000" spc="-5" dirty="0">
                <a:latin typeface="Arial"/>
                <a:cs typeface="Arial"/>
              </a:rPr>
              <a:t>from </a:t>
            </a:r>
            <a:r>
              <a:rPr sz="1000" i="1" dirty="0">
                <a:latin typeface="Arial"/>
                <a:cs typeface="Arial"/>
              </a:rPr>
              <a:t>C</a:t>
            </a:r>
            <a:r>
              <a:rPr sz="1050" i="1" baseline="-15873" dirty="0">
                <a:latin typeface="Arial"/>
                <a:cs typeface="Arial"/>
              </a:rPr>
              <a:t>i </a:t>
            </a:r>
            <a:r>
              <a:rPr sz="1000" spc="-5" dirty="0">
                <a:latin typeface="Arial"/>
                <a:cs typeface="Arial"/>
              </a:rPr>
              <a:t>to </a:t>
            </a:r>
            <a:r>
              <a:rPr sz="1000" i="1" dirty="0">
                <a:latin typeface="Arial"/>
                <a:cs typeface="Arial"/>
              </a:rPr>
              <a:t>C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 dirty="0">
              <a:latin typeface="Arial"/>
              <a:cs typeface="Arial"/>
            </a:endParaRPr>
          </a:p>
          <a:p>
            <a:pPr marL="314960">
              <a:lnSpc>
                <a:spcPts val="1190"/>
              </a:lnSpc>
            </a:pPr>
            <a:r>
              <a:rPr sz="1000" i="1" spc="20" dirty="0">
                <a:latin typeface="Arial"/>
                <a:cs typeface="Arial"/>
              </a:rPr>
              <a:t>S</a:t>
            </a:r>
            <a:r>
              <a:rPr sz="1050" i="1" spc="30" baseline="-15873" dirty="0">
                <a:latin typeface="Arial"/>
                <a:cs typeface="Arial"/>
              </a:rPr>
              <a:t>i</a:t>
            </a:r>
            <a:r>
              <a:rPr sz="1050" i="1" spc="30" baseline="-15873" dirty="0">
                <a:latin typeface="LM Roman Dunhill 10"/>
                <a:cs typeface="LM Roman Dunhill 10"/>
              </a:rPr>
              <a:t>,</a:t>
            </a:r>
            <a:r>
              <a:rPr sz="1050" i="1" spc="30" baseline="-15873" dirty="0">
                <a:latin typeface="Arial"/>
                <a:cs typeface="Arial"/>
              </a:rPr>
              <a:t>j </a:t>
            </a:r>
            <a:r>
              <a:rPr sz="1000" spc="-5" dirty="0">
                <a:latin typeface="Arial"/>
                <a:cs typeface="Arial"/>
              </a:rPr>
              <a:t>is the total amount of data associated with </a:t>
            </a:r>
            <a:r>
              <a:rPr sz="1000" i="1" spc="20" dirty="0">
                <a:latin typeface="Arial"/>
                <a:cs typeface="Arial"/>
              </a:rPr>
              <a:t>T</a:t>
            </a:r>
            <a:r>
              <a:rPr sz="1050" i="1" spc="30" baseline="-15873" dirty="0">
                <a:latin typeface="Arial"/>
                <a:cs typeface="Arial"/>
              </a:rPr>
              <a:t>i</a:t>
            </a:r>
            <a:r>
              <a:rPr sz="1050" i="1" spc="30" baseline="-15873" dirty="0">
                <a:latin typeface="LM Roman Dunhill 10"/>
                <a:cs typeface="LM Roman Dunhill 10"/>
              </a:rPr>
              <a:t>,</a:t>
            </a:r>
            <a:r>
              <a:rPr sz="1050" i="1" spc="30" baseline="-15873" dirty="0">
                <a:latin typeface="Arial"/>
                <a:cs typeface="Arial"/>
              </a:rPr>
              <a:t>j</a:t>
            </a:r>
            <a:r>
              <a:rPr sz="1050" i="1" spc="-179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0" y="3326968"/>
            <a:ext cx="4608195" cy="129539"/>
            <a:chOff x="0" y="3326968"/>
            <a:chExt cx="4608195" cy="129539"/>
          </a:xfrm>
        </p:grpSpPr>
        <p:sp>
          <p:nvSpPr>
            <p:cNvPr id="36" name="object 36"/>
            <p:cNvSpPr/>
            <p:nvPr/>
          </p:nvSpPr>
          <p:spPr>
            <a:xfrm>
              <a:off x="0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2303995" y="129031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1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03995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2303995" y="129031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6713" y="3331252"/>
            <a:ext cx="59499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15" action="ppaction://hlinksldjump"/>
              </a:rPr>
              <a:t>Cloud</a:t>
            </a:r>
            <a:r>
              <a:rPr sz="600" spc="-35" dirty="0">
                <a:solidFill>
                  <a:srgbClr val="04064C"/>
                </a:solidFill>
                <a:latin typeface="Arial"/>
                <a:cs typeface="Arial"/>
                <a:hlinkClick r:id="rId15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15" action="ppaction://hlinksldjump"/>
              </a:rPr>
              <a:t>computing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36 /</a:t>
            </a:r>
            <a:r>
              <a:rPr spc="-70" dirty="0"/>
              <a:t> </a:t>
            </a:r>
            <a:r>
              <a:rPr spc="-5" dirty="0"/>
              <a:t>56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45415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16580" algn="l"/>
              </a:tabLst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 </a:t>
            </a:r>
            <a:r>
              <a:rPr sz="600" spc="-20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Types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of</a:t>
            </a:r>
            <a:r>
              <a:rPr sz="600" spc="70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distributed</a:t>
            </a:r>
            <a:r>
              <a:rPr sz="600" spc="1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systems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High performance distributed</a:t>
            </a:r>
            <a:r>
              <a:rPr sz="600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computing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29032"/>
            <a:ext cx="4608195" cy="321945"/>
          </a:xfrm>
          <a:prstGeom prst="rect">
            <a:avLst/>
          </a:prstGeom>
          <a:solidFill>
            <a:srgbClr val="FFE600"/>
          </a:solidFill>
        </p:spPr>
        <p:txBody>
          <a:bodyPr vert="horz" wrap="square" lIns="0" tIns="6223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490"/>
              </a:spcBef>
            </a:pPr>
            <a:r>
              <a:rPr spc="10" dirty="0"/>
              <a:t>Is </a:t>
            </a:r>
            <a:r>
              <a:rPr spc="15" dirty="0"/>
              <a:t>cloud computing</a:t>
            </a:r>
            <a:r>
              <a:rPr spc="-10" dirty="0"/>
              <a:t> </a:t>
            </a:r>
            <a:r>
              <a:rPr spc="5" dirty="0"/>
              <a:t>cost-effective?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7743" y="874648"/>
            <a:ext cx="4483735" cy="751205"/>
            <a:chOff x="87743" y="874648"/>
            <a:chExt cx="4483735" cy="751205"/>
          </a:xfrm>
        </p:grpSpPr>
        <p:sp>
          <p:nvSpPr>
            <p:cNvPr id="5" name="object 5"/>
            <p:cNvSpPr/>
            <p:nvPr/>
          </p:nvSpPr>
          <p:spPr>
            <a:xfrm>
              <a:off x="87743" y="874648"/>
              <a:ext cx="4432935" cy="183515"/>
            </a:xfrm>
            <a:custGeom>
              <a:avLst/>
              <a:gdLst/>
              <a:ahLst/>
              <a:cxnLst/>
              <a:rect l="l" t="t" r="r" b="b"/>
              <a:pathLst>
                <a:path w="4432935" h="183515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2971"/>
                  </a:lnTo>
                  <a:lnTo>
                    <a:pt x="4432567" y="182971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CB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7744" y="1044968"/>
              <a:ext cx="4432566" cy="5060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8544" y="1523695"/>
              <a:ext cx="101600" cy="1016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9344" y="1510995"/>
              <a:ext cx="4381715" cy="1143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1" y="918883"/>
              <a:ext cx="50749" cy="60481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743" y="1089248"/>
              <a:ext cx="4432935" cy="485775"/>
            </a:xfrm>
            <a:custGeom>
              <a:avLst/>
              <a:gdLst/>
              <a:ahLst/>
              <a:cxnLst/>
              <a:rect l="l" t="t" r="r" b="b"/>
              <a:pathLst>
                <a:path w="4432935" h="485775">
                  <a:moveTo>
                    <a:pt x="4432567" y="0"/>
                  </a:moveTo>
                  <a:lnTo>
                    <a:pt x="0" y="0"/>
                  </a:lnTo>
                  <a:lnTo>
                    <a:pt x="0" y="434446"/>
                  </a:lnTo>
                  <a:lnTo>
                    <a:pt x="4008" y="454171"/>
                  </a:lnTo>
                  <a:lnTo>
                    <a:pt x="14922" y="470324"/>
                  </a:lnTo>
                  <a:lnTo>
                    <a:pt x="31075" y="481238"/>
                  </a:lnTo>
                  <a:lnTo>
                    <a:pt x="50800" y="485247"/>
                  </a:lnTo>
                  <a:lnTo>
                    <a:pt x="4381767" y="485247"/>
                  </a:lnTo>
                  <a:lnTo>
                    <a:pt x="4401492" y="481238"/>
                  </a:lnTo>
                  <a:lnTo>
                    <a:pt x="4417644" y="470324"/>
                  </a:lnTo>
                  <a:lnTo>
                    <a:pt x="4428558" y="454171"/>
                  </a:lnTo>
                  <a:lnTo>
                    <a:pt x="4432567" y="434446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1" y="956981"/>
              <a:ext cx="0" cy="586105"/>
            </a:xfrm>
            <a:custGeom>
              <a:avLst/>
              <a:gdLst/>
              <a:ahLst/>
              <a:cxnLst/>
              <a:rect l="l" t="t" r="r" b="b"/>
              <a:pathLst>
                <a:path h="586105">
                  <a:moveTo>
                    <a:pt x="0" y="5857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1" y="9442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1" y="9315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1" y="9188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87743" y="1726425"/>
            <a:ext cx="4432935" cy="183515"/>
          </a:xfrm>
          <a:custGeom>
            <a:avLst/>
            <a:gdLst/>
            <a:ahLst/>
            <a:cxnLst/>
            <a:rect l="l" t="t" r="r" b="b"/>
            <a:pathLst>
              <a:path w="4432935" h="183514">
                <a:moveTo>
                  <a:pt x="43817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2971"/>
                </a:lnTo>
                <a:lnTo>
                  <a:pt x="4432567" y="182971"/>
                </a:lnTo>
                <a:lnTo>
                  <a:pt x="4432567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2" y="4008"/>
                </a:lnTo>
                <a:lnTo>
                  <a:pt x="4381767" y="0"/>
                </a:lnTo>
                <a:close/>
              </a:path>
            </a:pathLst>
          </a:custGeom>
          <a:solidFill>
            <a:srgbClr val="FCBB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5044" y="813124"/>
            <a:ext cx="4128770" cy="108140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63500" algn="just">
              <a:lnSpc>
                <a:spcPct val="100000"/>
              </a:lnSpc>
              <a:spcBef>
                <a:spcPts val="505"/>
              </a:spcBef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Migration</a:t>
            </a:r>
            <a:r>
              <a:rPr sz="1000" spc="-10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plan</a:t>
            </a:r>
            <a:endParaRPr sz="1000" dirty="0">
              <a:latin typeface="Arial"/>
              <a:cs typeface="Arial"/>
            </a:endParaRPr>
          </a:p>
          <a:p>
            <a:pPr marL="63500" marR="55880" algn="just">
              <a:lnSpc>
                <a:spcPct val="100000"/>
              </a:lnSpc>
              <a:spcBef>
                <a:spcPts val="400"/>
              </a:spcBef>
            </a:pPr>
            <a:r>
              <a:rPr sz="1000" spc="-5" dirty="0">
                <a:latin typeface="Arial"/>
                <a:cs typeface="Arial"/>
              </a:rPr>
              <a:t>Figure out </a:t>
            </a:r>
            <a:r>
              <a:rPr sz="1000" spc="-15" dirty="0">
                <a:latin typeface="Arial"/>
                <a:cs typeface="Arial"/>
              </a:rPr>
              <a:t>for </a:t>
            </a:r>
            <a:r>
              <a:rPr sz="1000" spc="-5" dirty="0">
                <a:latin typeface="Arial"/>
                <a:cs typeface="Arial"/>
              </a:rPr>
              <a:t>each component </a:t>
            </a:r>
            <a:r>
              <a:rPr sz="1000" i="1" dirty="0">
                <a:latin typeface="Arial"/>
                <a:cs typeface="Arial"/>
              </a:rPr>
              <a:t>C</a:t>
            </a:r>
            <a:r>
              <a:rPr sz="1050" i="1" baseline="-15873" dirty="0">
                <a:latin typeface="Arial"/>
                <a:cs typeface="Arial"/>
              </a:rPr>
              <a:t>i </a:t>
            </a:r>
            <a:r>
              <a:rPr sz="1000" spc="-5" dirty="0">
                <a:latin typeface="Arial"/>
                <a:cs typeface="Arial"/>
              </a:rPr>
              <a:t>, </a:t>
            </a:r>
            <a:r>
              <a:rPr sz="1000" spc="-10" dirty="0">
                <a:latin typeface="Arial"/>
                <a:cs typeface="Arial"/>
              </a:rPr>
              <a:t>how many </a:t>
            </a:r>
            <a:r>
              <a:rPr sz="1000" i="1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1050" i="1" baseline="-15873" dirty="0">
                <a:solidFill>
                  <a:srgbClr val="FF0000"/>
                </a:solidFill>
                <a:latin typeface="Arial"/>
                <a:cs typeface="Arial"/>
              </a:rPr>
              <a:t>i </a:t>
            </a:r>
            <a:r>
              <a:rPr sz="1000" spc="-5" dirty="0">
                <a:solidFill>
                  <a:srgbClr val="FF0000"/>
                </a:solidFill>
                <a:latin typeface="Arial"/>
                <a:cs typeface="Arial"/>
              </a:rPr>
              <a:t>of its </a:t>
            </a:r>
            <a:r>
              <a:rPr sz="1000" i="1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1050" i="1" baseline="-15873" dirty="0">
                <a:solidFill>
                  <a:srgbClr val="FF0000"/>
                </a:solidFill>
                <a:latin typeface="Arial"/>
                <a:cs typeface="Arial"/>
              </a:rPr>
              <a:t>i </a:t>
            </a:r>
            <a:r>
              <a:rPr sz="1000" spc="-5" dirty="0">
                <a:solidFill>
                  <a:srgbClr val="FF0000"/>
                </a:solidFill>
                <a:latin typeface="Arial"/>
                <a:cs typeface="Arial"/>
              </a:rPr>
              <a:t>servers should  </a:t>
            </a:r>
            <a:r>
              <a:rPr sz="1000" spc="-10" dirty="0">
                <a:solidFill>
                  <a:srgbClr val="FF0000"/>
                </a:solidFill>
                <a:latin typeface="Arial"/>
                <a:cs typeface="Arial"/>
              </a:rPr>
              <a:t>migrate</a:t>
            </a:r>
            <a:r>
              <a:rPr sz="1000" spc="-10" dirty="0">
                <a:latin typeface="Arial"/>
                <a:cs typeface="Arial"/>
              </a:rPr>
              <a:t>, </a:t>
            </a:r>
            <a:r>
              <a:rPr sz="1000" spc="-5" dirty="0">
                <a:latin typeface="Arial"/>
                <a:cs typeface="Arial"/>
              </a:rPr>
              <a:t>such that the </a:t>
            </a:r>
            <a:r>
              <a:rPr sz="1000" dirty="0">
                <a:latin typeface="Arial"/>
                <a:cs typeface="Arial"/>
              </a:rPr>
              <a:t>monetary </a:t>
            </a:r>
            <a:r>
              <a:rPr sz="1000" spc="-5" dirty="0">
                <a:latin typeface="Arial"/>
                <a:cs typeface="Arial"/>
              </a:rPr>
              <a:t>benefits reduced </a:t>
            </a:r>
            <a:r>
              <a:rPr sz="1000" spc="-15" dirty="0">
                <a:latin typeface="Arial"/>
                <a:cs typeface="Arial"/>
              </a:rPr>
              <a:t>by </a:t>
            </a:r>
            <a:r>
              <a:rPr sz="1000" spc="-5" dirty="0">
                <a:latin typeface="Arial"/>
                <a:cs typeface="Arial"/>
              </a:rPr>
              <a:t>additional costs </a:t>
            </a:r>
            <a:r>
              <a:rPr sz="1000" spc="-15" dirty="0">
                <a:latin typeface="Arial"/>
                <a:cs typeface="Arial"/>
              </a:rPr>
              <a:t>for  </a:t>
            </a:r>
            <a:r>
              <a:rPr sz="1000" dirty="0">
                <a:latin typeface="Arial"/>
                <a:cs typeface="Arial"/>
              </a:rPr>
              <a:t>Internet </a:t>
            </a:r>
            <a:r>
              <a:rPr sz="1000" spc="-5" dirty="0">
                <a:latin typeface="Arial"/>
                <a:cs typeface="Arial"/>
              </a:rPr>
              <a:t>communication, are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maximal.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00" dirty="0">
              <a:latin typeface="Arial"/>
              <a:cs typeface="Arial"/>
            </a:endParaRPr>
          </a:p>
          <a:p>
            <a:pPr marL="63500" algn="just">
              <a:lnSpc>
                <a:spcPct val="100000"/>
              </a:lnSpc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Requirements migration</a:t>
            </a:r>
            <a:r>
              <a:rPr sz="1000" spc="-10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plan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7743" y="1770640"/>
            <a:ext cx="4483735" cy="1073785"/>
            <a:chOff x="87743" y="1770640"/>
            <a:chExt cx="4483735" cy="1073785"/>
          </a:xfrm>
        </p:grpSpPr>
        <p:sp>
          <p:nvSpPr>
            <p:cNvPr id="18" name="object 18"/>
            <p:cNvSpPr/>
            <p:nvPr/>
          </p:nvSpPr>
          <p:spPr>
            <a:xfrm>
              <a:off x="87744" y="1896745"/>
              <a:ext cx="4432566" cy="5060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8544" y="2742564"/>
              <a:ext cx="101600" cy="1016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89344" y="2729864"/>
              <a:ext cx="4381715" cy="1143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11" y="1770659"/>
              <a:ext cx="50749" cy="97190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743" y="1941007"/>
              <a:ext cx="4432935" cy="852805"/>
            </a:xfrm>
            <a:custGeom>
              <a:avLst/>
              <a:gdLst/>
              <a:ahLst/>
              <a:cxnLst/>
              <a:rect l="l" t="t" r="r" b="b"/>
              <a:pathLst>
                <a:path w="4432935" h="852805">
                  <a:moveTo>
                    <a:pt x="4432567" y="0"/>
                  </a:moveTo>
                  <a:lnTo>
                    <a:pt x="0" y="0"/>
                  </a:lnTo>
                  <a:lnTo>
                    <a:pt x="0" y="801557"/>
                  </a:lnTo>
                  <a:lnTo>
                    <a:pt x="4008" y="821282"/>
                  </a:lnTo>
                  <a:lnTo>
                    <a:pt x="14922" y="837435"/>
                  </a:lnTo>
                  <a:lnTo>
                    <a:pt x="31075" y="848349"/>
                  </a:lnTo>
                  <a:lnTo>
                    <a:pt x="50800" y="852358"/>
                  </a:lnTo>
                  <a:lnTo>
                    <a:pt x="4381767" y="852358"/>
                  </a:lnTo>
                  <a:lnTo>
                    <a:pt x="4401492" y="848349"/>
                  </a:lnTo>
                  <a:lnTo>
                    <a:pt x="4417644" y="837435"/>
                  </a:lnTo>
                  <a:lnTo>
                    <a:pt x="4428558" y="821282"/>
                  </a:lnTo>
                  <a:lnTo>
                    <a:pt x="4432567" y="801557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11" y="1808740"/>
              <a:ext cx="0" cy="953135"/>
            </a:xfrm>
            <a:custGeom>
              <a:avLst/>
              <a:gdLst/>
              <a:ahLst/>
              <a:cxnLst/>
              <a:rect l="l" t="t" r="r" b="b"/>
              <a:pathLst>
                <a:path h="953135">
                  <a:moveTo>
                    <a:pt x="0" y="95287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11" y="179604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11" y="178334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11" y="177064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12991" y="2003247"/>
              <a:ext cx="134416" cy="13441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46392" y="2002261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12991" y="2230996"/>
            <a:ext cx="134416" cy="13441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46392" y="2229998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12991" y="2458732"/>
            <a:ext cx="134416" cy="13441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246392" y="2457125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02932" y="1898326"/>
            <a:ext cx="4079875" cy="86106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000" spc="-15" dirty="0">
                <a:latin typeface="Arial"/>
                <a:cs typeface="Arial"/>
              </a:rPr>
              <a:t>Policy </a:t>
            </a:r>
            <a:r>
              <a:rPr sz="1000" spc="-5" dirty="0">
                <a:latin typeface="Arial"/>
                <a:cs typeface="Arial"/>
              </a:rPr>
              <a:t>constraints are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met.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000" spc="-5" dirty="0">
                <a:latin typeface="Arial"/>
                <a:cs typeface="Arial"/>
              </a:rPr>
              <a:t>Additional latencies do not violate specific </a:t>
            </a:r>
            <a:r>
              <a:rPr sz="1000" spc="-10" dirty="0">
                <a:latin typeface="Arial"/>
                <a:cs typeface="Arial"/>
              </a:rPr>
              <a:t>delay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constraints.</a:t>
            </a:r>
            <a:endParaRPr sz="10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95"/>
              </a:spcBef>
            </a:pPr>
            <a:r>
              <a:rPr sz="1000" spc="-10" dirty="0">
                <a:latin typeface="Arial"/>
                <a:cs typeface="Arial"/>
              </a:rPr>
              <a:t>All </a:t>
            </a:r>
            <a:r>
              <a:rPr sz="1000" spc="-15" dirty="0">
                <a:latin typeface="Arial"/>
                <a:cs typeface="Arial"/>
              </a:rPr>
              <a:t>transactions continue </a:t>
            </a:r>
            <a:r>
              <a:rPr sz="1000" spc="-10" dirty="0">
                <a:latin typeface="Arial"/>
                <a:cs typeface="Arial"/>
              </a:rPr>
              <a:t>to </a:t>
            </a:r>
            <a:r>
              <a:rPr sz="1000" spc="-15" dirty="0">
                <a:latin typeface="Arial"/>
                <a:cs typeface="Arial"/>
              </a:rPr>
              <a:t>operate </a:t>
            </a:r>
            <a:r>
              <a:rPr sz="1000" spc="-10" dirty="0">
                <a:latin typeface="Arial"/>
                <a:cs typeface="Arial"/>
              </a:rPr>
              <a:t>correctly; </a:t>
            </a:r>
            <a:r>
              <a:rPr sz="1000" spc="-15" dirty="0">
                <a:latin typeface="Arial"/>
                <a:cs typeface="Arial"/>
              </a:rPr>
              <a:t>requests or data are not </a:t>
            </a:r>
            <a:r>
              <a:rPr sz="1000" spc="-10" dirty="0">
                <a:latin typeface="Arial"/>
                <a:cs typeface="Arial"/>
              </a:rPr>
              <a:t>lost  </a:t>
            </a:r>
            <a:r>
              <a:rPr sz="1000" spc="-5" dirty="0">
                <a:latin typeface="Arial"/>
                <a:cs typeface="Arial"/>
              </a:rPr>
              <a:t>during a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transaction.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0" y="3326968"/>
            <a:ext cx="4608195" cy="129539"/>
            <a:chOff x="0" y="3326968"/>
            <a:chExt cx="4608195" cy="129539"/>
          </a:xfrm>
        </p:grpSpPr>
        <p:sp>
          <p:nvSpPr>
            <p:cNvPr id="35" name="object 35"/>
            <p:cNvSpPr/>
            <p:nvPr/>
          </p:nvSpPr>
          <p:spPr>
            <a:xfrm>
              <a:off x="0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2303995" y="129032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1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03995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2303995" y="129031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6713" y="3331252"/>
            <a:ext cx="59499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13" action="ppaction://hlinksldjump"/>
              </a:rPr>
              <a:t>Cloud</a:t>
            </a:r>
            <a:r>
              <a:rPr sz="600" spc="-35" dirty="0">
                <a:solidFill>
                  <a:srgbClr val="04064C"/>
                </a:solidFill>
                <a:latin typeface="Arial"/>
                <a:cs typeface="Arial"/>
                <a:hlinkClick r:id="rId1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13" action="ppaction://hlinksldjump"/>
              </a:rPr>
              <a:t>computing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37 /</a:t>
            </a:r>
            <a:r>
              <a:rPr spc="-70" dirty="0"/>
              <a:t> </a:t>
            </a:r>
            <a:r>
              <a:rPr spc="-5" dirty="0"/>
              <a:t>56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388</TotalTime>
  <Words>906</Words>
  <Application>Microsoft Office PowerPoint</Application>
  <PresentationFormat>Custom</PresentationFormat>
  <Paragraphs>155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DejaVu Sans Condensed</vt:lpstr>
      <vt:lpstr>LM Roman Dunhill 10</vt:lpstr>
      <vt:lpstr>Office Theme</vt:lpstr>
      <vt:lpstr>PowerPoint Presentation</vt:lpstr>
      <vt:lpstr>PowerPoint Presentation</vt:lpstr>
      <vt:lpstr>PowerPoint Presentation</vt:lpstr>
      <vt:lpstr>Parallel computing</vt:lpstr>
      <vt:lpstr>Distributed shared memory systems</vt:lpstr>
      <vt:lpstr>Cluster computing</vt:lpstr>
      <vt:lpstr>Beowulf Cluster functioning</vt:lpstr>
      <vt:lpstr>Beowulf Cluster functioning</vt:lpstr>
      <vt:lpstr>Grid computing</vt:lpstr>
      <vt:lpstr>Architecture for grid computing</vt:lpstr>
      <vt:lpstr>Cloud computing</vt:lpstr>
      <vt:lpstr>Cloud computing</vt:lpstr>
      <vt:lpstr>Is cloud computing cost-effective?</vt:lpstr>
      <vt:lpstr>Is cloud computing cost-effective?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   (3rd Edition)</dc:title>
  <dc:creator>Dr. Danish Mahmood</dc:creator>
  <cp:lastModifiedBy>hp</cp:lastModifiedBy>
  <cp:revision>33</cp:revision>
  <dcterms:created xsi:type="dcterms:W3CDTF">2021-10-07T08:48:26Z</dcterms:created>
  <dcterms:modified xsi:type="dcterms:W3CDTF">2026-02-25T15:45:57Z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2017-02-25T00:00:00Z</vt:filetime>
  </property>
  <property fmtid="{D5CDD505-2E9C-101B-9397-08002B2CF9AE}" pid="3" name="Creator">
    <vt:lpwstr>LaTeX with Beamer class version 3.36</vt:lpwstr>
  </property>
  <property fmtid="{D5CDD505-2E9C-101B-9397-08002B2CF9AE}" pid="4" name="LastSaved">
    <vt:filetime>2021-10-07T00:00:00Z</vt:filetime>
  </property>
</Properties>
</file>