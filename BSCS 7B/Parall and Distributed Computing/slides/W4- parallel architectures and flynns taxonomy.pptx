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0" r:id="rId2"/>
    <p:sldId id="269" r:id="rId3"/>
    <p:sldId id="270" r:id="rId4"/>
    <p:sldId id="271" r:id="rId5"/>
    <p:sldId id="258" r:id="rId6"/>
    <p:sldId id="259" r:id="rId7"/>
    <p:sldId id="260" r:id="rId8"/>
    <p:sldId id="261" r:id="rId9"/>
    <p:sldId id="262" r:id="rId10"/>
    <p:sldId id="277" r:id="rId11"/>
    <p:sldId id="263" r:id="rId12"/>
    <p:sldId id="280" r:id="rId13"/>
    <p:sldId id="281" r:id="rId14"/>
    <p:sldId id="283" r:id="rId15"/>
    <p:sldId id="284" r:id="rId16"/>
    <p:sldId id="282" r:id="rId17"/>
    <p:sldId id="264" r:id="rId18"/>
    <p:sldId id="272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19F57-6848-C23C-6205-01EE42088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7137C-0F3E-7FD3-D093-50106946D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CB20F-ABC1-47B2-46AC-1D74208D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2AD53-1874-47F1-72E9-5586A9234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BBD3C-7274-40FF-84CA-CA33A0B8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56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4797-B3E9-F3A3-5951-039424B5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B265F-9E6E-C72C-DAA8-7F58F87D7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C7AF8-4A0D-86EC-2C47-C2A767892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EE5FD-2D38-1476-D86A-88179C14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CD65A-DEAB-9805-D4EA-9B43FC9E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82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877ED-E6FC-EF53-BFCE-648B8817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8BBD4-1B81-DA92-8A91-C6D9333F5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6E879-2A62-B858-4E2D-79507AB53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16E9-5361-45BC-A330-850556D8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4FB1F-1D5D-5771-284C-E3A58AB9B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70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6C2CF-DF2B-F4B1-6DE3-C30F6C1E2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BDC4E-8C47-D0B2-CD55-F96B5AB02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8EC63F-3A3B-4602-BD97-60B3C4C88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85C6C4-84A4-9D66-22D5-212821621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F63A0-0DD3-F522-7149-7ADD6A90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A400A-9C32-F068-E7DA-4A14A70C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4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A4AE2-AF91-A92D-F8B7-A5049DB05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ABF02-F413-37C5-D982-3C485734D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F9E65-73D3-E0D1-EED2-AF291EAEB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B8FD23-0FEE-6279-4C6A-B2941405A8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F1BE07-09C7-58E0-1A8C-1D4C36E0D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588F41-2C81-09D3-26A8-96CB1023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4BA912-A112-E5D9-ED17-D2082DAA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DDBFD-6393-D3E4-101E-225FF7BE9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9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DB68-1C76-3B41-B74F-4C8C17B8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A0D5FF-1858-AFB7-BDCE-F0579BD8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49276-013E-5A72-400E-056573859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334B1-56DA-9D92-8253-A3D6431E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80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EA9B5A-A09F-6432-B3D0-1ED0A6F3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1234C-42A7-EB40-63F0-CB3486D62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18BC0-AEAB-26F7-2631-F17827B73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1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BCA9F-20C2-C728-9E81-E5E8ECDB3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50C20-E8DE-BDB8-5408-067EB031F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E838C-4A5E-D40D-2E17-7C2136D97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9D5D5-D168-57CD-5C40-F67F20BF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AE86B-D61B-88D1-AA5B-472A697C3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1455C-0FF1-64A5-E750-DE6EBF703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62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13EAD-5F5E-5270-0ED1-27EA2991B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ABFA7-40AB-0EA9-CA6F-18C5676A93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1998C-8BEA-A9AB-E57E-09D9A2E1A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899658-E0C8-800C-0E09-904EFC4A8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1A53A-D8A7-6A80-0C06-B3332A57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FE3CC-08FE-EE09-0390-2CEC9553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81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7CDAA-0628-CC27-D68F-67953AA3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98E251-F420-D3B2-7623-1D18EAC7D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26AA7-10F4-0869-F9A2-E72207B2E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E2D01-CA60-0551-D7E9-6C9E32F4E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16854-86E9-4C30-07AB-AF953FEE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9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FDEFC-6C48-0D6D-A644-D1C7E2FF3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269C4-F451-595D-6268-41DE1FEBF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E7B85-303F-A2E2-FF11-3E98DF20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79F3-5A70-4992-F1E1-9F87391B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ED73C-A640-F3C5-3108-015F8615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66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1" y="2032794"/>
            <a:ext cx="10363201" cy="613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4" y="3840482"/>
            <a:ext cx="8534400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Remote Procedure Call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CS-4513, D-Term 2007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89" b="0" i="0">
                <a:solidFill>
                  <a:srgbClr val="04064C"/>
                </a:solidFill>
                <a:latin typeface="Arial"/>
                <a:cs typeface="Arial"/>
              </a:defRPr>
            </a:lvl1pPr>
          </a:lstStyle>
          <a:p>
            <a:pPr marL="75487">
              <a:spcBef>
                <a:spcPts val="139"/>
              </a:spcBef>
            </a:pPr>
            <a:fld id="{81D60167-4931-47E6-BA6A-407CBD079E47}" type="slidenum">
              <a:rPr lang="en-US" spc="-10" smtClean="0"/>
              <a:pPr marL="75487">
                <a:spcBef>
                  <a:spcPts val="139"/>
                </a:spcBef>
              </a:pPr>
              <a:t>‹#›</a:t>
            </a:fld>
            <a:r>
              <a:rPr lang="en-US" spc="-10"/>
              <a:t> /</a:t>
            </a:r>
            <a:r>
              <a:rPr lang="en-US" spc="-139"/>
              <a:t> </a:t>
            </a:r>
            <a:r>
              <a:rPr lang="en-US" spc="-10"/>
              <a:t>49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329678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1AB2AD-170B-A36B-B39C-4A262922A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8F5D7-CE4E-D1C0-4959-CA3AEF35D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ED2F4-EA01-D1DB-B9CB-C9D9F3A48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3D168-2321-488E-87FD-D47589E1D04D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AE294-F504-9B26-0C30-EC2C7CDDA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86726-4761-B60B-7620-20E3570BD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FC517-AB37-426A-9053-BC5A7DD14D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621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500+ Cloud Computing Pictures [HD] | Download Free Images on Unsplas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" y="256063"/>
            <a:ext cx="11784329" cy="6601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5460" y="423633"/>
            <a:ext cx="116846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Parallel and Distributed Computing</a:t>
            </a:r>
          </a:p>
          <a:p>
            <a:r>
              <a:rPr lang="en-US" sz="2800" dirty="0">
                <a:solidFill>
                  <a:srgbClr val="FFC000"/>
                </a:solidFill>
              </a:rPr>
              <a:t>Parallel models and Communication</a:t>
            </a:r>
          </a:p>
          <a:p>
            <a:endParaRPr lang="en-US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447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D94A81-0CF1-1B0F-007A-C4126CF2D4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247729"/>
              </p:ext>
            </p:extLst>
          </p:nvPr>
        </p:nvGraphicFramePr>
        <p:xfrm>
          <a:off x="934453" y="2764449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508622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893103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Past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Present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329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Single CPU → Sequential Programs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Multi-Core CPUs, GPUs, Clusters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265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MHz race (clock speed scaling)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Core count &amp; parallel throughput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862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Moore's Law (frequency scaling)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Power wall → parallelism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730410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7C51512A-7D7A-D687-8CF4-26B0E998F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432" y="279542"/>
            <a:ext cx="768015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“We don’t get faster by waiting for CPUs; we must design faster algorithms!”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28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5AD1D2-F0B8-7D70-EFDA-918479C3F053}"/>
              </a:ext>
            </a:extLst>
          </p:cNvPr>
          <p:cNvSpPr txBox="1"/>
          <p:nvPr/>
        </p:nvSpPr>
        <p:spPr>
          <a:xfrm>
            <a:off x="369922" y="446908"/>
            <a:ext cx="96403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Serial vs Parallel Thinking</a:t>
            </a:r>
          </a:p>
          <a:p>
            <a:pPr>
              <a:buNone/>
            </a:pPr>
            <a:endParaRPr lang="en-US" sz="20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Serial mindset</a:t>
            </a:r>
            <a:r>
              <a:rPr lang="en-US" sz="1600" dirty="0"/>
              <a:t> → "Do task A completely, then B, then C"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Parallel mindset</a:t>
            </a:r>
            <a:r>
              <a:rPr lang="en-US" sz="1600" dirty="0"/>
              <a:t> → "Can I break A, B, C into chunks and execute together?"</a:t>
            </a:r>
          </a:p>
          <a:p>
            <a:pPr>
              <a:buNone/>
            </a:pPr>
            <a:r>
              <a:rPr lang="en-US" sz="1600" dirty="0"/>
              <a:t>Example:</a:t>
            </a:r>
            <a:br>
              <a:rPr lang="en-US" sz="1600" dirty="0"/>
            </a:br>
            <a:r>
              <a:rPr lang="en-US" sz="1600" i="1" dirty="0"/>
              <a:t>Serial carpenter builds a chair alone.</a:t>
            </a:r>
            <a:br>
              <a:rPr lang="en-US" sz="1600" dirty="0"/>
            </a:br>
            <a:r>
              <a:rPr lang="en-US" sz="1600" i="1" dirty="0"/>
              <a:t>Parallel workshop assigns legs, backrest, and frame to different workers.</a:t>
            </a:r>
            <a:endParaRPr lang="en-US" sz="1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E75612-27D7-80BC-D1E5-28BD2C8FB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619281"/>
              </p:ext>
            </p:extLst>
          </p:nvPr>
        </p:nvGraphicFramePr>
        <p:xfrm>
          <a:off x="369922" y="4160957"/>
          <a:ext cx="10515600" cy="23774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85982281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618458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813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Faster execution using more cores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750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Problem Size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solve larger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16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add more machines instead of buying super-expensive single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059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Cost-Effective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Clusters of cheap machines &gt; single supercomputer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72655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3E833C2-CCED-FEA9-B18C-7D0A8866C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9253" y="3577617"/>
            <a:ext cx="230543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Parallelism?</a:t>
            </a:r>
          </a:p>
        </p:txBody>
      </p:sp>
    </p:spTree>
    <p:extLst>
      <p:ext uri="{BB962C8B-B14F-4D97-AF65-F5344CB8AC3E}">
        <p14:creationId xmlns:p14="http://schemas.microsoft.com/office/powerpoint/2010/main" val="1765280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BCDDE-5805-9064-7C0F-88332B15FC47}"/>
              </a:ext>
            </a:extLst>
          </p:cNvPr>
          <p:cNvSpPr txBox="1"/>
          <p:nvPr/>
        </p:nvSpPr>
        <p:spPr>
          <a:xfrm>
            <a:off x="475246" y="338435"/>
            <a:ext cx="105155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Parallel Computing:</a:t>
            </a:r>
            <a:br>
              <a:rPr lang="en-US" sz="2800" dirty="0"/>
            </a:br>
            <a:r>
              <a:rPr lang="en-US" sz="2800" i="1" dirty="0"/>
              <a:t>Executing multiple operations simultaneously to solve a problem faster than a single processor could.</a:t>
            </a:r>
            <a:endParaRPr lang="en-US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1195F4-8245-3183-5A3B-70D6A4E45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792809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107335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293662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Scenario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56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Multiple users browsing on a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Task Parallelism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580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GPU rendering pixels of an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 Parallelism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867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Video streaming buffer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Pipelining (staged parallelism)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57496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1C3D252-65EB-690F-EF50-F87B2D206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880958"/>
            <a:ext cx="9364579" cy="335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Parallelism in Daily Life</a:t>
            </a:r>
          </a:p>
        </p:txBody>
      </p:sp>
    </p:spTree>
    <p:extLst>
      <p:ext uri="{BB962C8B-B14F-4D97-AF65-F5344CB8AC3E}">
        <p14:creationId xmlns:p14="http://schemas.microsoft.com/office/powerpoint/2010/main" val="230317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2B3148-FBE5-24B9-51DD-C25FD7E9070B}"/>
              </a:ext>
            </a:extLst>
          </p:cNvPr>
          <p:cNvSpPr txBox="1"/>
          <p:nvPr/>
        </p:nvSpPr>
        <p:spPr>
          <a:xfrm>
            <a:off x="272415" y="147112"/>
            <a:ext cx="1164717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Serial vs. Parallel (the mental shift)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Serial (traditional)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One instruction at a time on one processor.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Problems solved step-by-step.</a:t>
            </a:r>
            <a:br>
              <a:rPr lang="en-US" sz="2000" dirty="0"/>
            </a:br>
            <a:r>
              <a:rPr lang="en-US" sz="2000" b="1" dirty="0"/>
              <a:t>Parallel (modern)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Break the problem into parts that can run </a:t>
            </a:r>
            <a:r>
              <a:rPr lang="en-US" sz="2000" b="1" dirty="0"/>
              <a:t>concurrently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Each part runs its own instructions </a:t>
            </a:r>
            <a:r>
              <a:rPr lang="en-US" sz="2000" b="1" dirty="0"/>
              <a:t>at the same time</a:t>
            </a:r>
            <a:r>
              <a:rPr lang="en-US" sz="2000" dirty="0"/>
              <a:t> on different processors/cores.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Needs some coordination (who does what, when to exchange data).</a:t>
            </a:r>
          </a:p>
          <a:p>
            <a:pPr>
              <a:buNone/>
            </a:pPr>
            <a:r>
              <a:rPr lang="en-US" sz="2000" b="1" dirty="0"/>
              <a:t>Rule of thumb:</a:t>
            </a:r>
            <a:r>
              <a:rPr lang="en-US" sz="2000" dirty="0"/>
              <a:t> If parts of your problem </a:t>
            </a:r>
            <a:r>
              <a:rPr lang="en-US" sz="2000" b="1" dirty="0"/>
              <a:t>don’t depend</a:t>
            </a:r>
            <a:r>
              <a:rPr lang="en-US" sz="2000" dirty="0"/>
              <a:t> on each other (or depend only occasionally), you can often parallelize.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9BB640-8185-49B7-0C85-1118DC0B5D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94019"/>
              </p:ext>
            </p:extLst>
          </p:nvPr>
        </p:nvGraphicFramePr>
        <p:xfrm>
          <a:off x="2343149" y="4266605"/>
          <a:ext cx="6743701" cy="1463040"/>
        </p:xfrm>
        <a:graphic>
          <a:graphicData uri="http://schemas.openxmlformats.org/drawingml/2006/table">
            <a:tbl>
              <a:tblPr/>
              <a:tblGrid>
                <a:gridCol w="3956949">
                  <a:extLst>
                    <a:ext uri="{9D8B030D-6E8A-4147-A177-3AD203B41FA5}">
                      <a16:colId xmlns:a16="http://schemas.microsoft.com/office/drawing/2014/main" val="3069195693"/>
                    </a:ext>
                  </a:extLst>
                </a:gridCol>
                <a:gridCol w="2786752">
                  <a:extLst>
                    <a:ext uri="{9D8B030D-6E8A-4147-A177-3AD203B41FA5}">
                      <a16:colId xmlns:a16="http://schemas.microsoft.com/office/drawing/2014/main" val="4166202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Serial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Parallel Execution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9553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Single 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cores/nodes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118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One step at a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Many tasks at once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0579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coordination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Needs synchronization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605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697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8E5BA7-214C-D0A7-9A9B-911D9D0030D4}"/>
              </a:ext>
            </a:extLst>
          </p:cNvPr>
          <p:cNvSpPr txBox="1"/>
          <p:nvPr/>
        </p:nvSpPr>
        <p:spPr>
          <a:xfrm>
            <a:off x="240030" y="539604"/>
            <a:ext cx="1012698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Why go parallel?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Speed / Cost</a:t>
            </a:r>
            <a:br>
              <a:rPr lang="en-US" dirty="0"/>
            </a:br>
            <a:r>
              <a:rPr lang="en-US" dirty="0"/>
              <a:t>More cores ⇒ less time; clusters can be built with commodity parts.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Solve bigger problems</a:t>
            </a:r>
            <a:br>
              <a:rPr lang="en-US" dirty="0"/>
            </a:br>
            <a:r>
              <a:rPr lang="en-US" dirty="0"/>
              <a:t>Serial programs may run out of RAM/time; parallel machines combine resources.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Concurrency</a:t>
            </a:r>
            <a:br>
              <a:rPr lang="en-US" dirty="0"/>
            </a:br>
            <a:r>
              <a:rPr lang="en-US" dirty="0"/>
              <a:t>Real systems have many things happening at once; parallel hardware matches that reality.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Use non-local resources</a:t>
            </a:r>
            <a:br>
              <a:rPr lang="en-US" dirty="0"/>
            </a:br>
            <a:r>
              <a:rPr lang="en-US" dirty="0"/>
              <a:t>Tap remote machines when local ones are insufficient (clusters/clouds).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31438E7-C726-3BF1-611C-DEF25102B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108608"/>
              </p:ext>
            </p:extLst>
          </p:nvPr>
        </p:nvGraphicFramePr>
        <p:xfrm>
          <a:off x="1948703" y="4531680"/>
          <a:ext cx="7684569" cy="1828800"/>
        </p:xfrm>
        <a:graphic>
          <a:graphicData uri="http://schemas.openxmlformats.org/drawingml/2006/table">
            <a:tbl>
              <a:tblPr/>
              <a:tblGrid>
                <a:gridCol w="2312051">
                  <a:extLst>
                    <a:ext uri="{9D8B030D-6E8A-4147-A177-3AD203B41FA5}">
                      <a16:colId xmlns:a16="http://schemas.microsoft.com/office/drawing/2014/main" val="2691357388"/>
                    </a:ext>
                  </a:extLst>
                </a:gridCol>
                <a:gridCol w="5372518">
                  <a:extLst>
                    <a:ext uri="{9D8B030D-6E8A-4147-A177-3AD203B41FA5}">
                      <a16:colId xmlns:a16="http://schemas.microsoft.com/office/drawing/2014/main" val="554353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Why it matters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417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Finish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952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Solve bigger problems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960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Commodity clusters cheaper than 1 big 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942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Resource 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 remote GPUs/cloud nodes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705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0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1986DA-9958-61DF-90D9-F91A0A24496A}"/>
              </a:ext>
            </a:extLst>
          </p:cNvPr>
          <p:cNvSpPr txBox="1"/>
          <p:nvPr/>
        </p:nvSpPr>
        <p:spPr>
          <a:xfrm>
            <a:off x="1196" y="195885"/>
            <a:ext cx="1116530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Flynn’s Taxonomy (4 architectural “modes”)</a:t>
            </a:r>
          </a:p>
          <a:p>
            <a:pPr>
              <a:buNone/>
            </a:pPr>
            <a:r>
              <a:rPr lang="en-US" sz="1600" dirty="0"/>
              <a:t>Think in terms of the number of </a:t>
            </a:r>
            <a:r>
              <a:rPr lang="en-US" sz="1600" b="1" dirty="0"/>
              <a:t>instruction streams</a:t>
            </a:r>
            <a:r>
              <a:rPr lang="en-US" sz="1600" dirty="0"/>
              <a:t> and </a:t>
            </a:r>
            <a:r>
              <a:rPr lang="en-US" sz="1600" b="1" dirty="0"/>
              <a:t>data streams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SISD</a:t>
            </a:r>
            <a:r>
              <a:rPr lang="en-US" sz="1600" dirty="0"/>
              <a:t> (Single Instruction, Single Data)</a:t>
            </a:r>
            <a:br>
              <a:rPr lang="en-US" sz="1600" dirty="0"/>
            </a:br>
            <a:r>
              <a:rPr lang="en-US" sz="1600" dirty="0"/>
              <a:t>Classic serial machine; one instruction sequence over one data stream. </a:t>
            </a:r>
            <a:r>
              <a:rPr lang="en-US" sz="1600" b="1" dirty="0"/>
              <a:t>Example:</a:t>
            </a:r>
            <a:r>
              <a:rPr lang="en-US" sz="1600" dirty="0"/>
              <a:t> Simple C loop on single CPU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SIMD</a:t>
            </a:r>
            <a:r>
              <a:rPr lang="en-US" sz="1600" dirty="0"/>
              <a:t> (Single Instruction, Multiple Data)</a:t>
            </a:r>
            <a:br>
              <a:rPr lang="en-US" sz="1600" dirty="0"/>
            </a:br>
            <a:r>
              <a:rPr lang="en-US" sz="1600" dirty="0"/>
              <a:t>Many processing elements run </a:t>
            </a:r>
            <a:r>
              <a:rPr lang="en-US" sz="1600" b="1" dirty="0"/>
              <a:t>the same instruction</a:t>
            </a:r>
            <a:r>
              <a:rPr lang="en-US" sz="1600" dirty="0"/>
              <a:t> over </a:t>
            </a:r>
            <a:r>
              <a:rPr lang="en-US" sz="1600" b="1" dirty="0"/>
              <a:t>different data</a:t>
            </a:r>
            <a:r>
              <a:rPr lang="en-US" sz="1600" dirty="0"/>
              <a:t>. Works best for </a:t>
            </a:r>
            <a:r>
              <a:rPr lang="en-US" sz="1600" b="1" dirty="0"/>
              <a:t>image processing, arrays-</a:t>
            </a:r>
            <a:r>
              <a:rPr lang="en-US" sz="1600" dirty="0"/>
              <a:t>Great for image/graphics, vector operations; lockstep and deterministic.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MISD</a:t>
            </a:r>
            <a:r>
              <a:rPr lang="en-US" sz="1600" dirty="0"/>
              <a:t> (Multiple Instruction, Single Data)</a:t>
            </a:r>
            <a:br>
              <a:rPr lang="en-US" sz="1600" dirty="0"/>
            </a:br>
            <a:r>
              <a:rPr lang="en-US" sz="1600" dirty="0"/>
              <a:t>Multiple instruction streams consume the </a:t>
            </a:r>
            <a:r>
              <a:rPr lang="en-US" sz="1600" b="1" dirty="0"/>
              <a:t>same</a:t>
            </a:r>
            <a:r>
              <a:rPr lang="en-US" sz="1600" dirty="0"/>
              <a:t> data stream.</a:t>
            </a:r>
            <a:br>
              <a:rPr lang="en-US" sz="1600" dirty="0"/>
            </a:br>
            <a:r>
              <a:rPr lang="en-US" sz="1600" dirty="0"/>
              <a:t>Rare in practice; shows up as special pipelines/fault-tolerant schemes.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MIMD</a:t>
            </a:r>
            <a:r>
              <a:rPr lang="en-US" sz="1600" dirty="0"/>
              <a:t> (Multiple Instruction, Multiple Data)</a:t>
            </a:r>
            <a:br>
              <a:rPr lang="en-US" sz="1600" dirty="0"/>
            </a:br>
            <a:r>
              <a:rPr lang="en-US" sz="1600" dirty="0"/>
              <a:t>Each processor runs its </a:t>
            </a:r>
            <a:r>
              <a:rPr lang="en-US" sz="1600" b="1" dirty="0"/>
              <a:t>own program</a:t>
            </a:r>
            <a:r>
              <a:rPr lang="en-US" sz="1600" dirty="0"/>
              <a:t> on </a:t>
            </a:r>
            <a:r>
              <a:rPr lang="en-US" sz="1600" b="1" dirty="0"/>
              <a:t>its own data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Very general; can be synchronous/asynchronous, </a:t>
            </a:r>
          </a:p>
          <a:p>
            <a:r>
              <a:rPr lang="en-US" sz="1600" dirty="0"/>
              <a:t>deterministic or not.</a:t>
            </a:r>
            <a:br>
              <a:rPr lang="en-US" sz="1600" dirty="0"/>
            </a:br>
            <a:r>
              <a:rPr lang="en-US" sz="1600" dirty="0"/>
              <a:t>(Most general-purpose multicore/cluster systems land here.)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AE9968-A61B-F90C-8DAE-B245ABC4E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990225"/>
              </p:ext>
            </p:extLst>
          </p:nvPr>
        </p:nvGraphicFramePr>
        <p:xfrm>
          <a:off x="326048" y="4807928"/>
          <a:ext cx="10515600" cy="16764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596377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746931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036476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895013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Instruction Streams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Data Streams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052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Classic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134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SIMD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GPU vector ops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337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MISD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Fault tolerance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97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MIMD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Cluster/Multicore 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30531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058CF87-95E1-ADF8-05DC-DD9965174A14}"/>
              </a:ext>
            </a:extLst>
          </p:cNvPr>
          <p:cNvSpPr txBox="1"/>
          <p:nvPr/>
        </p:nvSpPr>
        <p:spPr>
          <a:xfrm>
            <a:off x="7782814" y="3427539"/>
            <a:ext cx="4106779" cy="1169551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MISD &amp; MIMD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MISD: Rare, used in </a:t>
            </a:r>
            <a:r>
              <a:rPr lang="en-US" sz="1400" b="1" dirty="0"/>
              <a:t>critical systems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MIMD: Most general-purpose HPC systems → </a:t>
            </a:r>
            <a:r>
              <a:rPr lang="en-US" sz="1400" b="1" dirty="0"/>
              <a:t>each core runs its own program section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896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7B97A2-FC2E-FB27-4532-9200A3604DBC}"/>
              </a:ext>
            </a:extLst>
          </p:cNvPr>
          <p:cNvSpPr txBox="1"/>
          <p:nvPr/>
        </p:nvSpPr>
        <p:spPr>
          <a:xfrm>
            <a:off x="1200150" y="899220"/>
            <a:ext cx="10092689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Hardware reality (what “parallel” looks like today)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CPUs</a:t>
            </a:r>
            <a:r>
              <a:rPr lang="en-US" dirty="0"/>
              <a:t> have multiple </a:t>
            </a:r>
            <a:r>
              <a:rPr lang="en-US" b="1" dirty="0"/>
              <a:t>cores</a:t>
            </a:r>
            <a:r>
              <a:rPr lang="en-US" dirty="0"/>
              <a:t>; each core can have multiple </a:t>
            </a:r>
            <a:r>
              <a:rPr lang="en-US" b="1" dirty="0"/>
              <a:t>hardware threads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motherboard/CPU package can have multiple </a:t>
            </a:r>
            <a:r>
              <a:rPr lang="en-US" b="1" dirty="0"/>
              <a:t>sockets</a:t>
            </a:r>
            <a:r>
              <a:rPr lang="en-US" dirty="0"/>
              <a:t> (each with memory).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node</a:t>
            </a:r>
            <a:r>
              <a:rPr lang="en-US" dirty="0"/>
              <a:t> is a “computer in a box” (CPUs, memory, NICs).</a:t>
            </a:r>
            <a:br>
              <a:rPr lang="en-US" dirty="0"/>
            </a:br>
            <a:r>
              <a:rPr lang="en-US" dirty="0"/>
              <a:t>Supercomputers = </a:t>
            </a:r>
            <a:r>
              <a:rPr lang="en-US" b="1" dirty="0"/>
              <a:t>many nodes</a:t>
            </a:r>
            <a:r>
              <a:rPr lang="en-US" dirty="0"/>
              <a:t> connected by a </a:t>
            </a:r>
            <a:r>
              <a:rPr lang="en-US" b="1" dirty="0"/>
              <a:t>network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Key terms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Task</a:t>
            </a:r>
            <a:r>
              <a:rPr lang="en-US" dirty="0"/>
              <a:t>: a logical chunk of work (your program or a piece of it).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Pipelining</a:t>
            </a:r>
            <a:r>
              <a:rPr lang="en-US" dirty="0"/>
              <a:t>: split work into staged steps (assembly line); multiple inputs flow through the stages concurrently.</a:t>
            </a:r>
          </a:p>
        </p:txBody>
      </p:sp>
    </p:spTree>
    <p:extLst>
      <p:ext uri="{BB962C8B-B14F-4D97-AF65-F5344CB8AC3E}">
        <p14:creationId xmlns:p14="http://schemas.microsoft.com/office/powerpoint/2010/main" val="564710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8D9EE-B561-917B-5101-DEB457E10A43}"/>
              </a:ext>
            </a:extLst>
          </p:cNvPr>
          <p:cNvSpPr txBox="1"/>
          <p:nvPr/>
        </p:nvSpPr>
        <p:spPr>
          <a:xfrm>
            <a:off x="433136" y="515501"/>
            <a:ext cx="10908632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Memory architectures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b="1" u="sng" dirty="0"/>
              <a:t>A) Shared Memory</a:t>
            </a:r>
          </a:p>
          <a:p>
            <a:pPr>
              <a:buNone/>
            </a:pPr>
            <a:r>
              <a:rPr lang="en-US" sz="1600" dirty="0"/>
              <a:t>All processors can </a:t>
            </a:r>
            <a:r>
              <a:rPr lang="en-US" sz="1600" b="1" dirty="0"/>
              <a:t>address the same memory</a:t>
            </a:r>
            <a:r>
              <a:rPr lang="en-US" sz="1600" dirty="0"/>
              <a:t> (global address space).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UMA (Uniform Memory Access)</a:t>
            </a:r>
            <a:br>
              <a:rPr lang="en-US" sz="1600" dirty="0"/>
            </a:br>
            <a:r>
              <a:rPr lang="en-US" sz="1600" dirty="0"/>
              <a:t>Equal access time to memory; often called </a:t>
            </a:r>
            <a:r>
              <a:rPr lang="en-US" sz="1600" b="1" dirty="0"/>
              <a:t>CC-UMA</a:t>
            </a:r>
            <a:r>
              <a:rPr lang="en-US" sz="1600" dirty="0"/>
              <a:t> if caches are kept coherent in hardware.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NUMA (Non-Uniform Memory Access)</a:t>
            </a:r>
            <a:br>
              <a:rPr lang="en-US" sz="1600" dirty="0"/>
            </a:br>
            <a:r>
              <a:rPr lang="en-US" sz="1600" dirty="0"/>
              <a:t>Access time depends on which socket the memory lives on; can be </a:t>
            </a:r>
            <a:r>
              <a:rPr lang="en-US" sz="1600" b="1" dirty="0"/>
              <a:t>CC-NUMA</a:t>
            </a:r>
            <a:r>
              <a:rPr lang="en-US" sz="1600" dirty="0"/>
              <a:t> if coherence maintained.</a:t>
            </a:r>
          </a:p>
          <a:p>
            <a:pPr>
              <a:buNone/>
            </a:pPr>
            <a:r>
              <a:rPr lang="en-US" sz="1600" b="1" dirty="0"/>
              <a:t>Pros:</a:t>
            </a:r>
            <a:r>
              <a:rPr lang="en-US" sz="1600" dirty="0"/>
              <a:t> Simple to program (everyone “sees” the same memory).</a:t>
            </a:r>
            <a:br>
              <a:rPr lang="en-US" sz="1600" dirty="0"/>
            </a:br>
            <a:r>
              <a:rPr lang="en-US" sz="1600" b="1" dirty="0"/>
              <a:t>Cons:</a:t>
            </a:r>
            <a:r>
              <a:rPr lang="en-US" sz="1600" dirty="0"/>
              <a:t> Contention, scalability limits, coherence overhead.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b="1" u="sng" dirty="0"/>
              <a:t>B) Distributed Memory</a:t>
            </a:r>
          </a:p>
          <a:p>
            <a:pPr>
              <a:buNone/>
            </a:pPr>
            <a:r>
              <a:rPr lang="en-US" sz="1600" dirty="0"/>
              <a:t>Each processor/node has </a:t>
            </a:r>
            <a:r>
              <a:rPr lang="en-US" sz="1600" b="1" dirty="0"/>
              <a:t>its own local memory</a:t>
            </a:r>
            <a:r>
              <a:rPr lang="en-US" sz="1600" dirty="0"/>
              <a:t>; no global address space.</a:t>
            </a:r>
            <a:br>
              <a:rPr lang="en-US" sz="1600" dirty="0"/>
            </a:br>
            <a:r>
              <a:rPr lang="en-US" sz="1600" dirty="0"/>
              <a:t>To access remote data, tasks </a:t>
            </a:r>
            <a:r>
              <a:rPr lang="en-US" sz="1600" b="1" dirty="0"/>
              <a:t>explicitly communicate</a:t>
            </a:r>
            <a:r>
              <a:rPr lang="en-US" sz="1600" dirty="0"/>
              <a:t> (e.g., over a network).</a:t>
            </a:r>
          </a:p>
          <a:p>
            <a:pPr>
              <a:buNone/>
            </a:pPr>
            <a:r>
              <a:rPr lang="en-US" sz="1600" b="1" dirty="0"/>
              <a:t>Pros:</a:t>
            </a:r>
            <a:r>
              <a:rPr lang="en-US" sz="1600" dirty="0"/>
              <a:t> Scales very well; each processor hits local RAM fast; cost-effective.</a:t>
            </a:r>
            <a:br>
              <a:rPr lang="en-US" sz="1600" dirty="0"/>
            </a:br>
            <a:r>
              <a:rPr lang="en-US" sz="1600" b="1" dirty="0"/>
              <a:t>Cons:</a:t>
            </a:r>
            <a:r>
              <a:rPr lang="en-US" sz="1600" dirty="0"/>
              <a:t> Programmer must manage communication and synchronization.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b="1" u="sng" dirty="0"/>
              <a:t>C) Hybrid (most top systems today)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Each node: shared memory (CPUs/GPUs).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Cluster: nodes connected via network → </a:t>
            </a:r>
            <a:r>
              <a:rPr lang="en-US" sz="1600" b="1" dirty="0"/>
              <a:t>distributed</a:t>
            </a:r>
            <a:r>
              <a:rPr lang="en-US" sz="1600" dirty="0"/>
              <a:t> across nodes.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Trend: hybrid remains the dominant high-performance design.</a:t>
            </a:r>
          </a:p>
        </p:txBody>
      </p:sp>
    </p:spTree>
    <p:extLst>
      <p:ext uri="{BB962C8B-B14F-4D97-AF65-F5344CB8AC3E}">
        <p14:creationId xmlns:p14="http://schemas.microsoft.com/office/powerpoint/2010/main" val="3572790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F83EE1-F26E-A6E3-FC3C-B3ED5ACC6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708791"/>
              </p:ext>
            </p:extLst>
          </p:nvPr>
        </p:nvGraphicFramePr>
        <p:xfrm>
          <a:off x="712470" y="1911822"/>
          <a:ext cx="10515600" cy="256032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2813202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118254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74345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4209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Memory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Ease of 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467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Shared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One address 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Limited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Easy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237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Distributed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Per-node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Harder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1641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Hybrid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Combined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751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6319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E0AD37-53F8-F3B2-BFC1-55A3CF61B97B}"/>
              </a:ext>
            </a:extLst>
          </p:cNvPr>
          <p:cNvSpPr txBox="1"/>
          <p:nvPr/>
        </p:nvSpPr>
        <p:spPr>
          <a:xfrm>
            <a:off x="705852" y="648116"/>
            <a:ext cx="10635915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Parallel programming models </a:t>
            </a:r>
          </a:p>
          <a:p>
            <a:pPr>
              <a:buNone/>
            </a:pPr>
            <a:endParaRPr lang="en-US" sz="2400" b="1" dirty="0"/>
          </a:p>
          <a:p>
            <a:pPr>
              <a:buFont typeface="+mj-lt"/>
              <a:buAutoNum type="arabicPeriod"/>
            </a:pPr>
            <a:r>
              <a:rPr lang="en-US" b="1" dirty="0"/>
              <a:t>Shared Memory (without threads)</a:t>
            </a:r>
            <a:br>
              <a:rPr lang="en-US" dirty="0"/>
            </a:br>
            <a:r>
              <a:rPr lang="en-US" dirty="0"/>
              <a:t>Multiple tasks access the same memory; synchronization primitives required.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Threads (on shared memory)</a:t>
            </a:r>
            <a:br>
              <a:rPr lang="en-US" dirty="0"/>
            </a:br>
            <a:r>
              <a:rPr lang="en-US" dirty="0"/>
              <a:t>Lightweight parallelism within a process (e.g., POSIX threads, OpenMP).</a:t>
            </a:r>
            <a:br>
              <a:rPr lang="en-US" dirty="0"/>
            </a:br>
            <a:r>
              <a:rPr lang="en-US" dirty="0"/>
              <a:t>Good for multicore CPUs; careful with locks, races, false sharing.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Distributed Memory / Message Passing</a:t>
            </a:r>
            <a:br>
              <a:rPr lang="en-US" dirty="0"/>
            </a:br>
            <a:r>
              <a:rPr lang="en-US" dirty="0"/>
              <a:t>Separate processes on separate nodes exchange messages (e.g., </a:t>
            </a:r>
            <a:r>
              <a:rPr lang="en-US" b="1" dirty="0"/>
              <a:t>MPI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Scales across clusters; you explicitly control data movement.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Parallel</a:t>
            </a:r>
            <a:br>
              <a:rPr lang="en-US" dirty="0"/>
            </a:br>
            <a:r>
              <a:rPr lang="en-US" dirty="0"/>
              <a:t>Apply the </a:t>
            </a:r>
            <a:r>
              <a:rPr lang="en-US" b="1" dirty="0"/>
              <a:t>same</a:t>
            </a:r>
            <a:r>
              <a:rPr lang="en-US" dirty="0"/>
              <a:t> operation over many data elements (maps/reductions, GPU kernels).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SPMD / MPMD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SPMD</a:t>
            </a:r>
            <a:r>
              <a:rPr lang="en-US" dirty="0"/>
              <a:t>: many processes run the </a:t>
            </a:r>
            <a:r>
              <a:rPr lang="en-US" b="1" dirty="0"/>
              <a:t>same</a:t>
            </a:r>
            <a:r>
              <a:rPr lang="en-US" dirty="0"/>
              <a:t> program on different data.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MPMD</a:t>
            </a:r>
            <a:r>
              <a:rPr lang="en-US" dirty="0"/>
              <a:t>: different programs for different roles.</a:t>
            </a:r>
          </a:p>
          <a:p>
            <a:pPr marL="742950" lvl="1" indent="-285750">
              <a:buFont typeface="+mj-lt"/>
              <a:buAutoNum type="arabicPeriod"/>
            </a:pPr>
            <a:endParaRPr lang="en-US" dirty="0"/>
          </a:p>
          <a:p>
            <a:pPr>
              <a:buNone/>
            </a:pPr>
            <a:r>
              <a:rPr lang="en-US" b="1" dirty="0"/>
              <a:t>Choosing a model: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Single machine, multi-core → threads/shared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Many nodes → MPI or hybrid (threads + MPI).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Heavy vector math/graphics → SIMD/GPU data-parallel kernels.</a:t>
            </a:r>
          </a:p>
        </p:txBody>
      </p:sp>
    </p:spTree>
    <p:extLst>
      <p:ext uri="{BB962C8B-B14F-4D97-AF65-F5344CB8AC3E}">
        <p14:creationId xmlns:p14="http://schemas.microsoft.com/office/powerpoint/2010/main" val="3952565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3801F9-44A6-CC23-FF65-661C81D595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580722"/>
              </p:ext>
            </p:extLst>
          </p:nvPr>
        </p:nvGraphicFramePr>
        <p:xfrm>
          <a:off x="255662" y="866221"/>
          <a:ext cx="10425081" cy="4386756"/>
        </p:xfrm>
        <a:graphic>
          <a:graphicData uri="http://schemas.openxmlformats.org/drawingml/2006/table">
            <a:tbl>
              <a:tblPr/>
              <a:tblGrid>
                <a:gridCol w="3475027">
                  <a:extLst>
                    <a:ext uri="{9D8B030D-6E8A-4147-A177-3AD203B41FA5}">
                      <a16:colId xmlns:a16="http://schemas.microsoft.com/office/drawing/2014/main" val="2364791519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2206916060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311371180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Architecture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Explanation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Real-World Example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5751985"/>
                  </a:ext>
                </a:extLst>
              </a:tr>
              <a:tr h="1722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UMA – </a:t>
                      </a:r>
                      <a:r>
                        <a:rPr lang="en-US" sz="1800" b="0" dirty="0"/>
                        <a:t>Uniform Memory Access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All processors/cores </a:t>
                      </a:r>
                      <a:r>
                        <a:rPr lang="en-US" sz="1800" b="0" u="sng" dirty="0"/>
                        <a:t>access memory with equal latency</a:t>
                      </a:r>
                      <a:r>
                        <a:rPr lang="en-US" sz="1800" b="0" dirty="0"/>
                        <a:t>. There is one shared memory controller, and any core accessing any memory location takes the same time.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u="sng" dirty="0"/>
                        <a:t>Small to medium-sized desktops and servers </a:t>
                      </a:r>
                      <a:r>
                        <a:rPr lang="en-US" sz="1800" b="0" dirty="0"/>
                        <a:t>where memory is directly attached and equally reachable by all CPU cores.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217013"/>
                  </a:ext>
                </a:extLst>
              </a:tr>
              <a:tr h="22663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NUMA – </a:t>
                      </a:r>
                      <a:r>
                        <a:rPr lang="en-US" sz="1800" b="0" dirty="0"/>
                        <a:t>Non-Uniform Memory Access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Memory is divided per socket. </a:t>
                      </a:r>
                      <a:r>
                        <a:rPr lang="en-US" sz="1800" b="0" u="sng" dirty="0"/>
                        <a:t>Each CPU socket has its own local memory. A core can access its own memory faster, but accessing memory of another socket takes more time due to interconnect </a:t>
                      </a:r>
                      <a:r>
                        <a:rPr lang="en-US" sz="1800" b="0" dirty="0"/>
                        <a:t>(e.g., QPI, Infinity Fabric).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/>
                        <a:t>Modern multi-socket Xeon, EPYC, </a:t>
                      </a:r>
                      <a:r>
                        <a:rPr lang="en-US" sz="1800" b="0" dirty="0" err="1"/>
                        <a:t>Threadripper</a:t>
                      </a:r>
                      <a:r>
                        <a:rPr lang="en-US" sz="1800" b="0" dirty="0"/>
                        <a:t> servers. </a:t>
                      </a:r>
                      <a:r>
                        <a:rPr lang="en-US" sz="1800" b="0" u="sng" dirty="0"/>
                        <a:t>2 CPUs → each CPU has its own RAM region → accessing remote RAM is slower by design.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1936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AB441E2-4FC3-0334-2BEB-A151EC95CF2D}"/>
              </a:ext>
            </a:extLst>
          </p:cNvPr>
          <p:cNvSpPr txBox="1"/>
          <p:nvPr/>
        </p:nvSpPr>
        <p:spPr>
          <a:xfrm>
            <a:off x="960505" y="185656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Parallel programming models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40793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0B456E-5210-2EFD-9CBC-A6FE77D901D3}"/>
              </a:ext>
            </a:extLst>
          </p:cNvPr>
          <p:cNvSpPr txBox="1"/>
          <p:nvPr/>
        </p:nvSpPr>
        <p:spPr>
          <a:xfrm>
            <a:off x="731520" y="747317"/>
            <a:ext cx="1084707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NUMA Insights </a:t>
            </a:r>
          </a:p>
          <a:p>
            <a:pPr>
              <a:buNone/>
            </a:pPr>
            <a:r>
              <a:rPr lang="en-US" dirty="0"/>
              <a:t>When using NUMA, performance depends on </a:t>
            </a:r>
            <a:r>
              <a:rPr lang="en-US" b="1" dirty="0"/>
              <a:t>how memory is allocated vs. which core accesses it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Thread Pinning</a:t>
            </a:r>
            <a:br>
              <a:rPr lang="en-US" dirty="0"/>
            </a:br>
            <a:r>
              <a:rPr lang="en-US" dirty="0"/>
              <a:t>Assigning a thread to a </a:t>
            </a:r>
            <a:r>
              <a:rPr lang="en-US" b="1" dirty="0"/>
              <a:t>specific CPU core or socket</a:t>
            </a:r>
            <a:r>
              <a:rPr lang="en-US" dirty="0"/>
              <a:t>.</a:t>
            </a:r>
            <a:br>
              <a:rPr lang="en-US" dirty="0"/>
            </a:br>
            <a:r>
              <a:rPr lang="en-US" i="1" dirty="0"/>
              <a:t>If a thread runs on Socket 0 but its memory is on Socket 1 → unnecessary latency occurs.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“First-Touch” Memory Policy</a:t>
            </a:r>
            <a:br>
              <a:rPr lang="en-US" dirty="0"/>
            </a:br>
            <a:r>
              <a:rPr lang="en-US" dirty="0"/>
              <a:t>Most modern OS follow this strategy:</a:t>
            </a:r>
            <a:br>
              <a:rPr lang="en-US" dirty="0"/>
            </a:br>
            <a:r>
              <a:rPr lang="en-US" dirty="0"/>
              <a:t>➤ </a:t>
            </a:r>
            <a:r>
              <a:rPr lang="en-US" b="1" dirty="0"/>
              <a:t>Memory is allocated physically in the memory bank of the CPU core that first writes to it</a:t>
            </a:r>
            <a:r>
              <a:rPr lang="en-US" dirty="0"/>
              <a:t>, not when allocated in code.</a:t>
            </a:r>
          </a:p>
          <a:p>
            <a:pPr>
              <a:buNone/>
            </a:pPr>
            <a:r>
              <a:rPr lang="en-US" dirty="0"/>
              <a:t>✅ </a:t>
            </a:r>
            <a:r>
              <a:rPr lang="en-US" b="1" dirty="0"/>
              <a:t>Correct approach example: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Spawn threads.</a:t>
            </a:r>
          </a:p>
          <a:p>
            <a:pPr>
              <a:buFont typeface="+mj-lt"/>
              <a:buAutoNum type="arabicPeriod"/>
            </a:pPr>
            <a:r>
              <a:rPr lang="en-US" dirty="0"/>
              <a:t>Each thread initializes (touches) </a:t>
            </a:r>
            <a:r>
              <a:rPr lang="en-US" b="1" dirty="0"/>
              <a:t>its own portion of memory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That memory is now </a:t>
            </a:r>
            <a:r>
              <a:rPr lang="en-US" b="1" dirty="0"/>
              <a:t>physically local</a:t>
            </a:r>
            <a:r>
              <a:rPr lang="en-US" dirty="0"/>
              <a:t> to that socket → </a:t>
            </a:r>
            <a:r>
              <a:rPr lang="en-US" b="1" dirty="0"/>
              <a:t>best performance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❌ </a:t>
            </a:r>
            <a:r>
              <a:rPr lang="en-US" b="1" dirty="0"/>
              <a:t>Wrong approach 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initialized by </a:t>
            </a:r>
            <a:r>
              <a:rPr lang="en-US" b="1" dirty="0"/>
              <a:t>main thread only</a:t>
            </a:r>
            <a:r>
              <a:rPr lang="en-US" dirty="0"/>
              <a:t>, then used by many -&gt; entire memory stuck on one socket → remote access stalls performance.</a:t>
            </a:r>
          </a:p>
          <a:p>
            <a:pPr>
              <a:buNone/>
            </a:pPr>
            <a:r>
              <a:rPr lang="en-US" dirty="0"/>
              <a:t>📎 </a:t>
            </a:r>
            <a:r>
              <a:rPr lang="en-US" b="1" dirty="0"/>
              <a:t>Conclusion:</a:t>
            </a:r>
            <a:r>
              <a:rPr lang="en-US" dirty="0"/>
              <a:t> NUMA-aware programming means: </a:t>
            </a:r>
            <a:r>
              <a:rPr lang="en-US" b="1" dirty="0"/>
              <a:t>Pin threads + allocate memory locally = major performance boost.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474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C2947A-1253-1B4E-04C8-1B991DE3B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366097"/>
              </p:ext>
            </p:extLst>
          </p:nvPr>
        </p:nvGraphicFramePr>
        <p:xfrm>
          <a:off x="190111" y="909527"/>
          <a:ext cx="11790948" cy="5338579"/>
        </p:xfrm>
        <a:graphic>
          <a:graphicData uri="http://schemas.openxmlformats.org/drawingml/2006/table">
            <a:tbl>
              <a:tblPr/>
              <a:tblGrid>
                <a:gridCol w="3930316">
                  <a:extLst>
                    <a:ext uri="{9D8B030D-6E8A-4147-A177-3AD203B41FA5}">
                      <a16:colId xmlns:a16="http://schemas.microsoft.com/office/drawing/2014/main" val="4074800963"/>
                    </a:ext>
                  </a:extLst>
                </a:gridCol>
                <a:gridCol w="3930316">
                  <a:extLst>
                    <a:ext uri="{9D8B030D-6E8A-4147-A177-3AD203B41FA5}">
                      <a16:colId xmlns:a16="http://schemas.microsoft.com/office/drawing/2014/main" val="1084870823"/>
                    </a:ext>
                  </a:extLst>
                </a:gridCol>
                <a:gridCol w="3930316">
                  <a:extLst>
                    <a:ext uri="{9D8B030D-6E8A-4147-A177-3AD203B41FA5}">
                      <a16:colId xmlns:a16="http://schemas.microsoft.com/office/drawing/2014/main" val="2127811977"/>
                    </a:ext>
                  </a:extLst>
                </a:gridCol>
              </a:tblGrid>
              <a:tr h="414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u="sng" dirty="0"/>
                        <a:t>Model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u="sng" dirty="0"/>
                        <a:t>Explanation (Self Learning Friendly)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u="sng" dirty="0"/>
                        <a:t>Use Case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023078"/>
                  </a:ext>
                </a:extLst>
              </a:tr>
              <a:tr h="849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Shared Memory (OpenMP/pthreads)</a:t>
                      </a:r>
                      <a:endParaRPr lang="en-US" sz="150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Multiple threads </a:t>
                      </a:r>
                      <a:r>
                        <a:rPr lang="en-US" sz="1500" b="1" dirty="0"/>
                        <a:t>share the same memory address space</a:t>
                      </a:r>
                      <a:r>
                        <a:rPr lang="en-US" sz="1500" dirty="0"/>
                        <a:t>. They can directly read/write global variables. Must avoid conflicts using </a:t>
                      </a:r>
                      <a:r>
                        <a:rPr lang="en-US" sz="1500" b="1" dirty="0"/>
                        <a:t>locks or atomics</a:t>
                      </a:r>
                      <a:r>
                        <a:rPr lang="en-US" sz="1500" dirty="0"/>
                        <a:t>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Multi-core desktop/server inside one machine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13530"/>
                  </a:ext>
                </a:extLst>
              </a:tr>
              <a:tr h="8490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Distributed Memory (MPI)</a:t>
                      </a:r>
                      <a:endParaRPr lang="en-US" sz="1500" dirty="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Each process has </a:t>
                      </a:r>
                      <a:r>
                        <a:rPr lang="en-US" sz="1500" b="1" dirty="0"/>
                        <a:t>its own memory</a:t>
                      </a:r>
                      <a:r>
                        <a:rPr lang="en-US" sz="1500" dirty="0"/>
                        <a:t>. No shared global variables. </a:t>
                      </a:r>
                      <a:r>
                        <a:rPr lang="en-US" sz="1500" b="1" dirty="0"/>
                        <a:t>Communication happens via send/</a:t>
                      </a:r>
                      <a:r>
                        <a:rPr lang="en-US" sz="1500" b="1" dirty="0" err="1"/>
                        <a:t>recv</a:t>
                      </a:r>
                      <a:r>
                        <a:rPr lang="en-US" sz="1500" b="1" dirty="0"/>
                        <a:t> messages</a:t>
                      </a:r>
                      <a:r>
                        <a:rPr lang="en-US" sz="1500" dirty="0"/>
                        <a:t>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Cluster computing, supercomputers, cloud environments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466051"/>
                  </a:ext>
                </a:extLst>
              </a:tr>
              <a:tr h="11797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Data Parallelism (SIMD, CUDA, BLAS)</a:t>
                      </a:r>
                      <a:endParaRPr lang="en-US" sz="150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A </a:t>
                      </a:r>
                      <a:r>
                        <a:rPr lang="en-US" sz="1500" b="1" dirty="0"/>
                        <a:t>single operation</a:t>
                      </a:r>
                      <a:r>
                        <a:rPr lang="en-US" sz="1500" dirty="0"/>
                        <a:t> is applied to </a:t>
                      </a:r>
                      <a:r>
                        <a:rPr lang="en-US" sz="1500" b="1" dirty="0"/>
                        <a:t>all elements</a:t>
                      </a:r>
                      <a:r>
                        <a:rPr lang="en-US" sz="1500" dirty="0"/>
                        <a:t> of an array/vector at once. GPU kernels, SIMD instructions operate like this.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Image filtering, matrix multiplication, deep learning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906967"/>
                  </a:ext>
                </a:extLst>
              </a:tr>
              <a:tr h="887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SPMD / MPMD</a:t>
                      </a:r>
                      <a:endParaRPr lang="en-US" sz="150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/>
                        <a:t>SPMD:</a:t>
                      </a:r>
                      <a:r>
                        <a:rPr lang="en-US" sz="1500" dirty="0"/>
                        <a:t> One program running on all nodes/cores, but each </a:t>
                      </a:r>
                      <a:r>
                        <a:rPr lang="en-US" sz="1500" b="1" dirty="0"/>
                        <a:t>handles different data based on rank/ID.</a:t>
                      </a:r>
                      <a:endParaRPr lang="en-US" sz="1500" dirty="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dirty="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056586"/>
                  </a:ext>
                </a:extLst>
              </a:tr>
              <a:tr h="371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/>
                        <a:t>MPMD:</a:t>
                      </a:r>
                      <a:r>
                        <a:rPr lang="en-US" sz="1500"/>
                        <a:t> Different programs running together in cooperation.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SPMD = MPI apps, BLAST HPC.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950668"/>
                  </a:ext>
                </a:extLst>
              </a:tr>
              <a:tr h="530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MPMD = One program generates data, another visualizes simultaneously.</a:t>
                      </a:r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/>
                    </a:p>
                  </a:txBody>
                  <a:tcPr marL="53065" marR="53065" marT="26533" marB="265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500" dirty="0"/>
                    </a:p>
                  </a:txBody>
                  <a:tcPr marL="53065" marR="53065" marT="26533" marB="26533"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52463310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6FE43FC-E6F2-4802-8658-BD5083E15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35" y="219186"/>
            <a:ext cx="48686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Models Overview 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0128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FCA213-9516-5F2F-5429-C3638DDA346D}"/>
              </a:ext>
            </a:extLst>
          </p:cNvPr>
          <p:cNvSpPr txBox="1"/>
          <p:nvPr/>
        </p:nvSpPr>
        <p:spPr>
          <a:xfrm>
            <a:off x="585178" y="527386"/>
            <a:ext cx="10592338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Shared Memory Model 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dirty="0"/>
              <a:t>Used when </a:t>
            </a:r>
            <a:r>
              <a:rPr lang="en-US" sz="2000" b="1" dirty="0"/>
              <a:t>all threads live inside one process on the same node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Threads can directly access a </a:t>
            </a:r>
            <a:r>
              <a:rPr lang="en-US" sz="2000" b="1" dirty="0"/>
              <a:t>global array or variables in RAM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Problems it introduces: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Race Condition:</a:t>
            </a:r>
            <a:r>
              <a:rPr lang="en-US" sz="2000" dirty="0"/>
              <a:t> two threads write to the same variable → corrupted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False Sharing:</a:t>
            </a:r>
            <a:r>
              <a:rPr lang="en-US" sz="2000" dirty="0"/>
              <a:t> threads touch different variables </a:t>
            </a:r>
            <a:r>
              <a:rPr lang="en-US" sz="2000" b="1" dirty="0"/>
              <a:t>inside same cache line</a:t>
            </a:r>
            <a:r>
              <a:rPr lang="en-US" sz="2000" dirty="0"/>
              <a:t>, </a:t>
            </a:r>
            <a:r>
              <a:rPr lang="en-US" sz="2400" dirty="0"/>
              <a:t>causing</a:t>
            </a:r>
            <a:r>
              <a:rPr lang="en-US" sz="2000" dirty="0"/>
              <a:t> cache invalidations.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Need synchronization:</a:t>
            </a:r>
            <a:r>
              <a:rPr lang="en-US" sz="2000" dirty="0"/>
              <a:t> using </a:t>
            </a:r>
            <a:r>
              <a:rPr lang="en-US" sz="2000" b="1" dirty="0"/>
              <a:t>mutexes, barriers, atomic variables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Example (mental picture):</a:t>
            </a:r>
            <a:br>
              <a:rPr lang="en-US" sz="2000" dirty="0"/>
            </a:br>
            <a:r>
              <a:rPr lang="en-US" sz="2000" i="1" dirty="0"/>
              <a:t>Imagine 4 people writing on the same whiteboard. They can collaborate fast, but if two erase/write same area — chaos.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6885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4EBDFE-2192-1D8F-31BA-23803990AEAA}"/>
              </a:ext>
            </a:extLst>
          </p:cNvPr>
          <p:cNvSpPr txBox="1"/>
          <p:nvPr/>
        </p:nvSpPr>
        <p:spPr>
          <a:xfrm>
            <a:off x="930265" y="765463"/>
            <a:ext cx="1026414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Message Passing (MPI) Model 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b="1" dirty="0"/>
              <a:t>No shared memory.</a:t>
            </a:r>
            <a:r>
              <a:rPr lang="en-US" sz="2000" dirty="0"/>
              <a:t> Every process works in </a:t>
            </a:r>
            <a:r>
              <a:rPr lang="en-US" sz="2000" b="1" dirty="0"/>
              <a:t>its own RAM</a:t>
            </a:r>
            <a:r>
              <a:rPr lang="en-US" sz="2000" dirty="0"/>
              <a:t>, even if nodes are physically in same rack.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Communication is done via: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</a:rPr>
              <a:t>MPI_Send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</a:rPr>
              <a:t>MPI_Recv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</a:rPr>
              <a:t>MPI_Bcast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 (broadcast one to many)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Courier New" panose="02070309020205020404" pitchFamily="49" charset="0"/>
              </a:rPr>
              <a:t>MPI_Reduce</a:t>
            </a:r>
            <a:r>
              <a:rPr lang="en-US" sz="2000" dirty="0">
                <a:latin typeface="Courier New" panose="02070309020205020404" pitchFamily="49" charset="0"/>
              </a:rPr>
              <a:t>()</a:t>
            </a:r>
            <a:r>
              <a:rPr lang="en-US" sz="2000" dirty="0"/>
              <a:t> (collect and combine results)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Scales to thousands of processes</a:t>
            </a:r>
            <a:r>
              <a:rPr lang="en-US" sz="2000" dirty="0"/>
              <a:t> — used by Top500 supercomputers.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>
              <a:buNone/>
            </a:pPr>
            <a:r>
              <a:rPr lang="en-US" sz="2000" b="1" dirty="0"/>
              <a:t>Analogy:</a:t>
            </a:r>
            <a:br>
              <a:rPr lang="en-US" sz="2000" dirty="0"/>
            </a:br>
            <a:r>
              <a:rPr lang="en-US" sz="2000" dirty="0"/>
              <a:t>Each process = separate house. </a:t>
            </a:r>
            <a:r>
              <a:rPr lang="en-US" sz="2000" b="1" dirty="0"/>
              <a:t>No shared kitchen</a:t>
            </a:r>
            <a:r>
              <a:rPr lang="en-US" sz="2000" dirty="0"/>
              <a:t>, so people </a:t>
            </a:r>
            <a:r>
              <a:rPr lang="en-US" sz="2000" b="1" dirty="0"/>
              <a:t>send ingredients by courier (MPI messages)</a:t>
            </a:r>
            <a:r>
              <a:rPr lang="en-US" sz="2000" dirty="0"/>
              <a:t> rather than directly touching others’ memory.</a:t>
            </a:r>
          </a:p>
        </p:txBody>
      </p:sp>
    </p:spTree>
    <p:extLst>
      <p:ext uri="{BB962C8B-B14F-4D97-AF65-F5344CB8AC3E}">
        <p14:creationId xmlns:p14="http://schemas.microsoft.com/office/powerpoint/2010/main" val="2954490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BD573C-4CFE-E9E9-5A4F-EE9B789118EA}"/>
              </a:ext>
            </a:extLst>
          </p:cNvPr>
          <p:cNvSpPr txBox="1"/>
          <p:nvPr/>
        </p:nvSpPr>
        <p:spPr>
          <a:xfrm>
            <a:off x="255571" y="544104"/>
            <a:ext cx="11360016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Synchronous vs. Asynchronous execution (coordination style)</a:t>
            </a:r>
          </a:p>
          <a:p>
            <a:pPr>
              <a:buNone/>
            </a:pPr>
            <a:endParaRPr lang="en-US" sz="16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Synchronous: </a:t>
            </a:r>
            <a:r>
              <a:rPr lang="en-US" sz="1600" dirty="0"/>
              <a:t>Tasks proceed in a defined order or meet at barriers; easier to reason about; can be slower (idle time while waiting).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Asynchronous: </a:t>
            </a:r>
            <a:r>
              <a:rPr lang="en-US" sz="1600" dirty="0"/>
              <a:t>Tasks run independently; respond to events/messages when ready; often faster utilization but </a:t>
            </a:r>
            <a:r>
              <a:rPr lang="en-US" sz="1600" b="1" dirty="0"/>
              <a:t>more complex</a:t>
            </a:r>
            <a:r>
              <a:rPr lang="en-US" sz="1600" dirty="0"/>
              <a:t> to coordinate and debug.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4BFACB-89B3-E648-0345-592DDACC3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913377"/>
              </p:ext>
            </p:extLst>
          </p:nvPr>
        </p:nvGraphicFramePr>
        <p:xfrm>
          <a:off x="677779" y="3605462"/>
          <a:ext cx="10515600" cy="2225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6353902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20263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227434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175718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Human Analogy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Benefit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Drawback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29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Synchronous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Everyone must wait until </a:t>
                      </a:r>
                      <a:r>
                        <a:rPr lang="en-US" sz="1600" b="1" dirty="0"/>
                        <a:t>all reach checkpoint</a:t>
                      </a:r>
                      <a:r>
                        <a:rPr lang="en-US" sz="1600" dirty="0"/>
                        <a:t> (like students waiting before moving to next slide)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Easier logic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Idle time for faster workers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703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/>
                        <a:t>Asynchronous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People </a:t>
                      </a:r>
                      <a:r>
                        <a:rPr lang="en-US" sz="1600" b="1"/>
                        <a:t>finish work and move ahead</a:t>
                      </a:r>
                      <a:r>
                        <a:rPr lang="en-US" sz="1600"/>
                        <a:t> — no waiting, but need to </a:t>
                      </a:r>
                      <a:r>
                        <a:rPr lang="en-US" sz="1600" b="1"/>
                        <a:t>signal events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Faster throughput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Harder to coordinate correctly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8239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5B7565-FD45-8A0D-2148-0D2BD6CF24C1}"/>
              </a:ext>
            </a:extLst>
          </p:cNvPr>
          <p:cNvSpPr txBox="1"/>
          <p:nvPr/>
        </p:nvSpPr>
        <p:spPr>
          <a:xfrm>
            <a:off x="2642920" y="2341897"/>
            <a:ext cx="8972667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Example in MPI: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MPI_Barrier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 → synchronous (all must reach)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Courier New" panose="02070309020205020404" pitchFamily="49" charset="0"/>
              </a:rPr>
              <a:t>MPI_Isend</a:t>
            </a:r>
            <a:r>
              <a:rPr lang="en-US" sz="1600" dirty="0">
                <a:latin typeface="Courier New" panose="02070309020205020404" pitchFamily="49" charset="0"/>
              </a:rPr>
              <a:t>()</a:t>
            </a:r>
            <a:r>
              <a:rPr lang="en-US" sz="1600" dirty="0"/>
              <a:t> &amp; continue → asynchronous (no waiting)</a:t>
            </a:r>
          </a:p>
        </p:txBody>
      </p:sp>
    </p:spTree>
    <p:extLst>
      <p:ext uri="{BB962C8B-B14F-4D97-AF65-F5344CB8AC3E}">
        <p14:creationId xmlns:p14="http://schemas.microsoft.com/office/powerpoint/2010/main" val="4161468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EA982-E77D-AB00-3EA7-0A50F1249E21}"/>
              </a:ext>
            </a:extLst>
          </p:cNvPr>
          <p:cNvSpPr txBox="1"/>
          <p:nvPr/>
        </p:nvSpPr>
        <p:spPr>
          <a:xfrm>
            <a:off x="2406917" y="1255514"/>
            <a:ext cx="6093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Foundation Metrics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83253-E143-1662-FB9E-6559BD08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07" y="2176287"/>
            <a:ext cx="11401916" cy="296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5725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B82F33-4998-2EA5-DD3C-3EA0256E2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06" y="1114926"/>
            <a:ext cx="6192114" cy="26673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550816-5268-1797-849A-6CA991C22FB1}"/>
              </a:ext>
            </a:extLst>
          </p:cNvPr>
          <p:cNvSpPr txBox="1"/>
          <p:nvPr/>
        </p:nvSpPr>
        <p:spPr>
          <a:xfrm>
            <a:off x="738006" y="468595"/>
            <a:ext cx="74274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Amdahl’s Law Numerical Example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FD1ECC-26A6-8086-A9F2-38BBAA40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442" y="3779191"/>
            <a:ext cx="7401958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1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157895-E106-544F-A02C-322E89E56C08}"/>
                  </a:ext>
                </a:extLst>
              </p:cNvPr>
              <p:cNvSpPr txBox="1"/>
              <p:nvPr/>
            </p:nvSpPr>
            <p:spPr>
              <a:xfrm>
                <a:off x="625642" y="881589"/>
                <a:ext cx="11369462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Gustafson’s Law (Scaling Gain)</a:t>
                </a:r>
              </a:p>
              <a:p>
                <a:pPr>
                  <a:buNone/>
                </a:pPr>
                <a:endParaRPr lang="en-US" sz="20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d>
                        <m:d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SA" sz="2000" dirty="0"/>
              </a:p>
              <a:p>
                <a:pPr>
                  <a:buNone/>
                </a:pPr>
                <a:r>
                  <a:rPr lang="en-US" sz="2000" b="1" dirty="0"/>
                  <a:t>Where:</a:t>
                </a: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Problem size increases with more processors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Serial bottleneck effect reduces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157895-E106-544F-A02C-322E89E56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642" y="881589"/>
                <a:ext cx="11369462" cy="1938992"/>
              </a:xfrm>
              <a:prstGeom prst="rect">
                <a:avLst/>
              </a:prstGeom>
              <a:blipFill>
                <a:blip r:embed="rId2"/>
                <a:stretch>
                  <a:fillRect l="-590"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419CA8-222E-5391-DD10-5ED9283D7D24}"/>
                  </a:ext>
                </a:extLst>
              </p:cNvPr>
              <p:cNvSpPr txBox="1"/>
              <p:nvPr/>
            </p:nvSpPr>
            <p:spPr>
              <a:xfrm>
                <a:off x="673768" y="3635080"/>
                <a:ext cx="11321336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Example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P = 8 processors</a:t>
                </a: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f = 0.9</a:t>
                </a:r>
                <a:endParaRPr lang="en-US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d>
                        <m:dPr>
                          <m:ctrlPr>
                            <a:rPr lang="ar-SA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SA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SA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SA" sz="2000" i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ar-SA" sz="2000" dirty="0"/>
              </a:p>
              <a:p>
                <a:pPr>
                  <a:buNone/>
                </a:pPr>
                <a:r>
                  <a:rPr lang="en-US" sz="2000" b="1" dirty="0"/>
                  <a:t>Conclusion:</a:t>
                </a:r>
                <a:r>
                  <a:rPr lang="en-US" sz="2000" dirty="0"/>
                  <a:t> If you increase problem size as processors increase, efficiency is much better.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419CA8-222E-5391-DD10-5ED9283D7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8" y="3635080"/>
                <a:ext cx="11321336" cy="1631216"/>
              </a:xfrm>
              <a:prstGeom prst="rect">
                <a:avLst/>
              </a:prstGeom>
              <a:blipFill>
                <a:blip r:embed="rId3"/>
                <a:stretch>
                  <a:fillRect l="-592" t="-186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877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2039</Words>
  <Application>Microsoft Office PowerPoint</Application>
  <PresentationFormat>Widescreen</PresentationFormat>
  <Paragraphs>250</Paragraphs>
  <Slides>20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Danish Mahmood</dc:creator>
  <cp:lastModifiedBy>Rana Faisal Hayat</cp:lastModifiedBy>
  <cp:revision>10</cp:revision>
  <dcterms:created xsi:type="dcterms:W3CDTF">2025-10-17T07:08:04Z</dcterms:created>
  <dcterms:modified xsi:type="dcterms:W3CDTF">2026-03-09T09:47:35Z</dcterms:modified>
</cp:coreProperties>
</file>