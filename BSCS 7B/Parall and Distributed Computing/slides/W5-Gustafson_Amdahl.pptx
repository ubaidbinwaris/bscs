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65" r:id="rId7"/>
    <p:sldId id="336" r:id="rId8"/>
    <p:sldId id="346" r:id="rId9"/>
    <p:sldId id="337" r:id="rId10"/>
    <p:sldId id="343" r:id="rId11"/>
    <p:sldId id="344" r:id="rId12"/>
    <p:sldId id="267" r:id="rId13"/>
    <p:sldId id="270" r:id="rId14"/>
    <p:sldId id="271" r:id="rId15"/>
    <p:sldId id="278" r:id="rId16"/>
    <p:sldId id="347" r:id="rId17"/>
    <p:sldId id="279" r:id="rId18"/>
    <p:sldId id="284" r:id="rId19"/>
    <p:sldId id="287" r:id="rId20"/>
    <p:sldId id="348" r:id="rId21"/>
    <p:sldId id="349" r:id="rId22"/>
    <p:sldId id="350" r:id="rId23"/>
    <p:sldId id="351" r:id="rId24"/>
    <p:sldId id="352" r:id="rId25"/>
    <p:sldId id="288" r:id="rId26"/>
    <p:sldId id="290" r:id="rId27"/>
    <p:sldId id="292" r:id="rId28"/>
    <p:sldId id="294" r:id="rId29"/>
    <p:sldId id="296" r:id="rId30"/>
    <p:sldId id="298" r:id="rId31"/>
    <p:sldId id="300" r:id="rId32"/>
    <p:sldId id="302" r:id="rId33"/>
    <p:sldId id="304" r:id="rId34"/>
    <p:sldId id="306" r:id="rId35"/>
    <p:sldId id="308" r:id="rId36"/>
    <p:sldId id="310" r:id="rId37"/>
    <p:sldId id="312" r:id="rId38"/>
    <p:sldId id="314" r:id="rId39"/>
    <p:sldId id="316" r:id="rId40"/>
    <p:sldId id="318" r:id="rId41"/>
    <p:sldId id="320" r:id="rId42"/>
    <p:sldId id="322" r:id="rId43"/>
    <p:sldId id="324" r:id="rId44"/>
    <p:sldId id="326" r:id="rId45"/>
    <p:sldId id="328" r:id="rId46"/>
    <p:sldId id="330" r:id="rId47"/>
    <p:sldId id="332" r:id="rId48"/>
    <p:sldId id="334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Insights: Gustafson’s Law and Amdahl’s Law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Parallel Computing – Theoretical Limits &amp; Scaled Speedup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Introduction to Parallel Speedup Laws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140199"/>
          </a:xfrm>
        </p:spPr>
        <p:txBody>
          <a:bodyPr/>
          <a:lstStyle/>
          <a:p>
            <a:r>
              <a:rPr dirty="0"/>
              <a:t>Amdahl’s Law and Gustafson’s Law are fundamental in parallel computing.</a:t>
            </a:r>
          </a:p>
          <a:p>
            <a:pPr lvl="1"/>
            <a:r>
              <a:rPr dirty="0"/>
              <a:t>They analyze achievable performance improvements.</a:t>
            </a:r>
          </a:p>
          <a:p>
            <a:pPr lvl="1"/>
            <a:r>
              <a:rPr dirty="0"/>
              <a:t>They guide parallel system design decisions.</a:t>
            </a:r>
          </a:p>
          <a:p>
            <a:pPr lvl="1"/>
            <a:r>
              <a:rPr dirty="0"/>
              <a:t>They influence hardware scaling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Amdahl’s Law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16761"/>
            <a:ext cx="10972800" cy="4525963"/>
          </a:xfrm>
        </p:spPr>
        <p:txBody>
          <a:bodyPr/>
          <a:lstStyle/>
          <a:p>
            <a:r>
              <a:rPr dirty="0"/>
              <a:t>Provides maximum theoretical speedup for a fixed workload.</a:t>
            </a:r>
          </a:p>
          <a:p>
            <a:pPr lvl="1"/>
            <a:r>
              <a:rPr dirty="0"/>
              <a:t>Based on fraction of code that can be parallelized.</a:t>
            </a:r>
          </a:p>
          <a:p>
            <a:pPr lvl="1"/>
            <a:r>
              <a:rPr dirty="0"/>
              <a:t>Shows diminishing returns as processors increase.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571241"/>
            <a:ext cx="10972800" cy="2362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Let:</a:t>
            </a:r>
          </a:p>
          <a:p>
            <a:pPr lvl="1"/>
            <a:r>
              <a:rPr lang="en-US" dirty="0" smtClean="0"/>
              <a:t>P = parallel fraction of program</a:t>
            </a:r>
          </a:p>
          <a:p>
            <a:pPr lvl="1"/>
            <a:r>
              <a:rPr lang="en-US" dirty="0" smtClean="0"/>
              <a:t>N = number of processors</a:t>
            </a:r>
          </a:p>
          <a:p>
            <a:r>
              <a:rPr lang="en-US" dirty="0" smtClean="0"/>
              <a:t>Speedup S(N) = 1 / [ (1 − P) + (P / N) ]</a:t>
            </a:r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468880" y="1305560"/>
            <a:ext cx="7101840" cy="5638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Maximum Speedup for Fixed Problem Size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Amdahl’s Law –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561079"/>
          </a:xfrm>
        </p:spPr>
        <p:txBody>
          <a:bodyPr/>
          <a:lstStyle/>
          <a:p>
            <a:r>
              <a:rPr dirty="0"/>
              <a:t>If serial portion is large → speedup is limited.</a:t>
            </a:r>
          </a:p>
          <a:p>
            <a:pPr lvl="1"/>
            <a:r>
              <a:rPr dirty="0"/>
              <a:t>Even infinite processors cannot exceed limit:</a:t>
            </a:r>
          </a:p>
          <a:p>
            <a:r>
              <a:rPr dirty="0"/>
              <a:t>S(∞) = 1 / (1 − P)</a:t>
            </a:r>
          </a:p>
          <a:p>
            <a:pPr lvl="1"/>
            <a:r>
              <a:rPr dirty="0"/>
              <a:t>Represents upper bound of strong scaling.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03518"/>
            <a:ext cx="10972800" cy="1143000"/>
          </a:xfrm>
        </p:spPr>
        <p:txBody>
          <a:bodyPr/>
          <a:lstStyle/>
          <a:p>
            <a:r>
              <a:t>Gustafson’s Law –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01520"/>
            <a:ext cx="10972800" cy="4124644"/>
          </a:xfrm>
        </p:spPr>
        <p:txBody>
          <a:bodyPr/>
          <a:lstStyle/>
          <a:p>
            <a:r>
              <a:rPr dirty="0"/>
              <a:t>Assumes problem size increases with processor count.</a:t>
            </a:r>
          </a:p>
          <a:p>
            <a:pPr lvl="1"/>
            <a:r>
              <a:rPr dirty="0"/>
              <a:t>More optimistic than Amdahl’s Law.</a:t>
            </a:r>
          </a:p>
          <a:p>
            <a:pPr lvl="1"/>
            <a:r>
              <a:rPr dirty="0"/>
              <a:t>Focuses on weak scaling behavior.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601721"/>
            <a:ext cx="10972800" cy="2392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Let:</a:t>
            </a:r>
          </a:p>
          <a:p>
            <a:pPr lvl="1"/>
            <a:r>
              <a:rPr lang="en-US" dirty="0" smtClean="0"/>
              <a:t>α = serial fraction</a:t>
            </a:r>
          </a:p>
          <a:p>
            <a:pPr lvl="1"/>
            <a:r>
              <a:rPr lang="en-US" dirty="0" smtClean="0"/>
              <a:t>N = number of processors</a:t>
            </a:r>
          </a:p>
          <a:p>
            <a:r>
              <a:rPr lang="en-US" dirty="0" smtClean="0"/>
              <a:t>Speedup S(N) = N − α (N − 1)</a:t>
            </a:r>
            <a:endParaRPr lang="en-US" dirty="0"/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296160" y="1209356"/>
            <a:ext cx="7701280" cy="66548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mtClean="0"/>
              <a:t>Scaled Speedup with Increasing Problem Size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Gustafson’s Law –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3368039"/>
          </a:xfrm>
        </p:spPr>
        <p:txBody>
          <a:bodyPr/>
          <a:lstStyle/>
          <a:p>
            <a:r>
              <a:rPr dirty="0"/>
              <a:t>As N increases, speedup grows nearly linearly.</a:t>
            </a:r>
          </a:p>
          <a:p>
            <a:pPr lvl="1"/>
            <a:r>
              <a:rPr dirty="0"/>
              <a:t>Works when workload scales with hardware.</a:t>
            </a:r>
          </a:p>
          <a:p>
            <a:pPr lvl="1"/>
            <a:r>
              <a:rPr dirty="0"/>
              <a:t>Encourages building large-scale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059814"/>
          </a:xfrm>
        </p:spPr>
        <p:txBody>
          <a:bodyPr/>
          <a:lstStyle/>
          <a:p>
            <a:r>
              <a:rPr dirty="0"/>
              <a:t>Interpretation &amp; Decision Framework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to Deduce Meaning After Computing Amdahl &amp; Gustafson Results</a:t>
            </a:r>
          </a:p>
        </p:txBody>
      </p:sp>
    </p:spTree>
    <p:extLst>
      <p:ext uri="{BB962C8B-B14F-4D97-AF65-F5344CB8AC3E}">
        <p14:creationId xmlns:p14="http://schemas.microsoft.com/office/powerpoint/2010/main" val="2856412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66859"/>
            <a:ext cx="6299200" cy="1143000"/>
          </a:xfrm>
        </p:spPr>
        <p:txBody>
          <a:bodyPr>
            <a:normAutofit/>
          </a:bodyPr>
          <a:lstStyle/>
          <a:p>
            <a:r>
              <a:rPr sz="3600" dirty="0"/>
              <a:t>Fixed Problem Size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9081"/>
            <a:ext cx="6299200" cy="1650999"/>
          </a:xfrm>
        </p:spPr>
        <p:txBody>
          <a:bodyPr>
            <a:normAutofit/>
          </a:bodyPr>
          <a:lstStyle/>
          <a:p>
            <a:r>
              <a:rPr sz="2400" dirty="0"/>
              <a:t>Use Amdahl’s Law.</a:t>
            </a:r>
          </a:p>
          <a:p>
            <a:pPr lvl="1"/>
            <a:r>
              <a:rPr sz="2000" dirty="0"/>
              <a:t>Focus on minimizing serial portion.</a:t>
            </a:r>
          </a:p>
          <a:p>
            <a:pPr lvl="1"/>
            <a:r>
              <a:rPr sz="2000" dirty="0"/>
              <a:t>Parallelization has hard upper bound.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3251518"/>
            <a:ext cx="6299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Scaled Problem Size Scenario</a:t>
            </a:r>
            <a:endParaRPr lang="en-US" sz="36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4505961"/>
            <a:ext cx="6299200" cy="18948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Use Gustafson’s Law.</a:t>
            </a:r>
          </a:p>
          <a:p>
            <a:pPr lvl="1"/>
            <a:r>
              <a:rPr lang="en-US" sz="2000" dirty="0" smtClean="0"/>
              <a:t>Increase workload with processors.</a:t>
            </a:r>
          </a:p>
          <a:p>
            <a:pPr lvl="1"/>
            <a:r>
              <a:rPr lang="en-US" sz="2000" dirty="0" smtClean="0"/>
              <a:t>Higher effective speedup achievable.</a:t>
            </a:r>
            <a:endParaRPr lang="en-US" sz="20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6085840" y="2037080"/>
            <a:ext cx="6096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Decision Making Insights</a:t>
            </a:r>
            <a:endParaRPr lang="en-US" sz="36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725920" y="3362643"/>
            <a:ext cx="5455920" cy="194563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smtClean="0"/>
              <a:t>Parallelization Strategy: Fixed vs Scaled workload.</a:t>
            </a:r>
          </a:p>
          <a:p>
            <a:pPr lvl="1"/>
            <a:r>
              <a:rPr lang="en-US" sz="2000" dirty="0" smtClean="0"/>
              <a:t>Resource Allocation: Add processors or optimize code?</a:t>
            </a:r>
          </a:p>
          <a:p>
            <a:pPr lvl="1"/>
            <a:r>
              <a:rPr lang="en-US" sz="2000" dirty="0" smtClean="0"/>
              <a:t>Problem Reformulation: Increase parallel fraction.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887727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080" y="139942"/>
            <a:ext cx="4521200" cy="599122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sz="2400" dirty="0"/>
              <a:t>Step 1: Identify Scaling 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080" y="873760"/>
            <a:ext cx="4521200" cy="1844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dirty="0"/>
              <a:t>Fixed workload → Use Amdahl (Strong Scaling)</a:t>
            </a:r>
          </a:p>
          <a:p>
            <a:pPr lvl="1"/>
            <a:r>
              <a:rPr sz="1600" dirty="0"/>
              <a:t>Growing workload → Use Gustafson (Weak Scaling)</a:t>
            </a:r>
          </a:p>
          <a:p>
            <a:pPr lvl="1"/>
            <a:r>
              <a:rPr sz="1600" dirty="0"/>
              <a:t>Ask: Are we speeding up the same job or solving a bigger job?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86080" y="2517141"/>
            <a:ext cx="43078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Step 2: Compare Both Speedups</a:t>
            </a:r>
            <a:endParaRPr lang="en-US" sz="24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6080" y="3459482"/>
            <a:ext cx="4307840" cy="1858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If Amdahl &lt;&lt; Gustafson → System benefits only if workload scales</a:t>
            </a:r>
          </a:p>
          <a:p>
            <a:pPr lvl="1"/>
            <a:r>
              <a:rPr lang="en-US" sz="1600" dirty="0" smtClean="0"/>
              <a:t>If Both High → Good parallel fraction; scaling justified</a:t>
            </a:r>
          </a:p>
          <a:p>
            <a:pPr lvl="1"/>
            <a:r>
              <a:rPr lang="en-US" sz="1600" dirty="0" smtClean="0"/>
              <a:t>If Both Low → Large serial bottleneck; optimize algorithm</a:t>
            </a:r>
            <a:endParaRPr lang="en-US" sz="16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693920" y="671909"/>
            <a:ext cx="4582160" cy="40370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Step 3: Evaluate Efficiency</a:t>
            </a:r>
            <a:endParaRPr lang="en-US" sz="24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856480" y="1155863"/>
            <a:ext cx="4582160" cy="16999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Efficiency E(N) = S(N) / N</a:t>
            </a:r>
          </a:p>
          <a:p>
            <a:pPr lvl="1"/>
            <a:r>
              <a:rPr lang="en-US" sz="1600" dirty="0" smtClean="0"/>
              <a:t>If E drops sharply → Adding processors is wasteful</a:t>
            </a:r>
          </a:p>
          <a:p>
            <a:pPr lvl="1"/>
            <a:r>
              <a:rPr lang="en-US" sz="1600" dirty="0" smtClean="0"/>
              <a:t>Check marginal gain: S(2N) / S(N)</a:t>
            </a:r>
          </a:p>
          <a:p>
            <a:pPr lvl="1"/>
            <a:r>
              <a:rPr lang="en-US" sz="1600" dirty="0" smtClean="0"/>
              <a:t>If doubling CPUs gives &lt;10% improvement → Not cost-effective</a:t>
            </a:r>
            <a:endParaRPr lang="en-US" sz="16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4663440" y="2793842"/>
            <a:ext cx="393192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Step 4: Serial Fraction Strategy</a:t>
            </a:r>
            <a:endParaRPr lang="en-US" sz="24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4907280" y="3816190"/>
            <a:ext cx="3931920" cy="2056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Reducing serial fraction α improves performance more than adding CPUs</a:t>
            </a:r>
          </a:p>
          <a:p>
            <a:pPr lvl="1"/>
            <a:r>
              <a:rPr lang="en-US" sz="1600" dirty="0" smtClean="0"/>
              <a:t>Optimization priority: Reduce synchronization, I/O, locks</a:t>
            </a:r>
          </a:p>
          <a:p>
            <a:pPr lvl="1"/>
            <a:r>
              <a:rPr lang="en-US" sz="1600" dirty="0" smtClean="0"/>
              <a:t>Measure effective serial fraction including overhead</a:t>
            </a:r>
            <a:endParaRPr lang="en-US" sz="1600" dirty="0"/>
          </a:p>
        </p:txBody>
      </p:sp>
      <p:sp>
        <p:nvSpPr>
          <p:cNvPr id="10" name="Title 1"/>
          <p:cNvSpPr txBox="1">
            <a:spLocks/>
          </p:cNvSpPr>
          <p:nvPr/>
        </p:nvSpPr>
        <p:spPr>
          <a:xfrm>
            <a:off x="8757920" y="2647712"/>
            <a:ext cx="343408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 smtClean="0"/>
              <a:t>Step 5: Real-World Design Decisions</a:t>
            </a:r>
            <a:endParaRPr lang="en-US" sz="2400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808720" y="3832461"/>
            <a:ext cx="3220720" cy="281709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/>
              <a:t>HPC fixed dataset → Optimize serial part (Amdahl dominates)</a:t>
            </a:r>
          </a:p>
          <a:p>
            <a:pPr lvl="1"/>
            <a:r>
              <a:rPr lang="en-US" sz="1600" dirty="0" smtClean="0"/>
              <a:t>HPC higher resolution → Scale problem (Gustafson applies)</a:t>
            </a:r>
          </a:p>
          <a:p>
            <a:pPr lvl="1"/>
            <a:r>
              <a:rPr lang="en-US" sz="1600" dirty="0" smtClean="0"/>
              <a:t>HTC / Cloud workloads → Ensure low coordination overhead</a:t>
            </a:r>
          </a:p>
          <a:p>
            <a:pPr lvl="1"/>
            <a:r>
              <a:rPr lang="en-US" sz="1600" dirty="0" smtClean="0"/>
              <a:t>Cost &amp; energy must be considered alongside speedup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68280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320" y="254000"/>
            <a:ext cx="9062720" cy="6705600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0" y="1671321"/>
            <a:ext cx="3495040" cy="3527119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Core Variables</a:t>
            </a:r>
          </a:p>
          <a:p>
            <a:pPr marL="0" indent="0">
              <a:buNone/>
            </a:pPr>
            <a:r>
              <a:rPr lang="en-US" sz="1800" dirty="0"/>
              <a:t>alpha = serial fraction</a:t>
            </a:r>
            <a:br>
              <a:rPr lang="en-US" sz="1800" dirty="0"/>
            </a:br>
            <a:r>
              <a:rPr lang="en-US" sz="1800" dirty="0"/>
              <a:t>P = parallel fraction</a:t>
            </a:r>
            <a:br>
              <a:rPr lang="en-US" sz="1800" dirty="0"/>
            </a:br>
            <a:r>
              <a:rPr lang="en-US" sz="1800" dirty="0"/>
              <a:t>N = number of processors</a:t>
            </a:r>
            <a:br>
              <a:rPr lang="en-US" sz="1800" dirty="0"/>
            </a:br>
            <a:r>
              <a:rPr lang="en-US" sz="1800" dirty="0"/>
              <a:t>S(N) = speedup using N processors</a:t>
            </a:r>
            <a:br>
              <a:rPr lang="en-US" sz="1800" dirty="0"/>
            </a:br>
            <a:r>
              <a:rPr lang="en-US" sz="1800" dirty="0"/>
              <a:t>E(N) = efficiency using N processors</a:t>
            </a:r>
            <a:br>
              <a:rPr lang="en-US" sz="1800" dirty="0"/>
            </a:br>
            <a:r>
              <a:rPr lang="en-US" sz="1800" dirty="0"/>
              <a:t>T1 = execution time on 1 processor</a:t>
            </a:r>
            <a:br>
              <a:rPr lang="en-US" sz="1800" dirty="0"/>
            </a:br>
            <a:r>
              <a:rPr lang="en-US" sz="1800" dirty="0"/>
              <a:t>TN = execution time on N processors</a:t>
            </a:r>
            <a:br>
              <a:rPr lang="en-US" sz="1800" dirty="0"/>
            </a:br>
            <a:r>
              <a:rPr lang="en-US" sz="1800" dirty="0"/>
              <a:t>S(infinity) = theoretical maximum speedup</a:t>
            </a:r>
          </a:p>
          <a:p>
            <a:pPr marL="0"/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2001926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4165600" cy="2973122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/>
              <a:t>Core Variables</a:t>
            </a:r>
          </a:p>
          <a:p>
            <a:pPr marL="0" indent="0">
              <a:buNone/>
            </a:pPr>
            <a:r>
              <a:rPr lang="en-US" sz="1800" dirty="0"/>
              <a:t>alpha = serial fraction</a:t>
            </a:r>
            <a:br>
              <a:rPr lang="en-US" sz="1800" dirty="0"/>
            </a:br>
            <a:r>
              <a:rPr lang="en-US" sz="1800" dirty="0"/>
              <a:t>P = parallel fraction</a:t>
            </a:r>
            <a:br>
              <a:rPr lang="en-US" sz="1800" dirty="0"/>
            </a:br>
            <a:r>
              <a:rPr lang="en-US" sz="1800" dirty="0"/>
              <a:t>N = number of processors</a:t>
            </a:r>
            <a:br>
              <a:rPr lang="en-US" sz="1800" dirty="0"/>
            </a:br>
            <a:r>
              <a:rPr lang="en-US" sz="1800" dirty="0"/>
              <a:t>S(N) = speedup using N processors</a:t>
            </a:r>
            <a:br>
              <a:rPr lang="en-US" sz="1800" dirty="0"/>
            </a:br>
            <a:r>
              <a:rPr lang="en-US" sz="1800" dirty="0"/>
              <a:t>E(N) = efficiency using N processors</a:t>
            </a:r>
            <a:br>
              <a:rPr lang="en-US" sz="1800" dirty="0"/>
            </a:br>
            <a:r>
              <a:rPr lang="en-US" sz="1800" dirty="0"/>
              <a:t>T1 = execution time on 1 processor</a:t>
            </a:r>
            <a:br>
              <a:rPr lang="en-US" sz="1800" dirty="0"/>
            </a:br>
            <a:r>
              <a:rPr lang="en-US" sz="1800" dirty="0"/>
              <a:t>TN = execution time on N processors</a:t>
            </a:r>
            <a:br>
              <a:rPr lang="en-US" sz="1800" dirty="0"/>
            </a:br>
            <a:r>
              <a:rPr lang="en-US" sz="1800" dirty="0"/>
              <a:t>S(infinity) = theoretical maximum speedup</a:t>
            </a:r>
          </a:p>
          <a:p>
            <a:pPr marL="0"/>
            <a:endParaRPr lang="en-US" sz="1800" b="1" dirty="0"/>
          </a:p>
        </p:txBody>
      </p:sp>
      <p:sp>
        <p:nvSpPr>
          <p:cNvPr id="4" name="Rectangle 3"/>
          <p:cNvSpPr/>
          <p:nvPr/>
        </p:nvSpPr>
        <p:spPr>
          <a:xfrm>
            <a:off x="619760" y="5031045"/>
            <a:ext cx="27025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Relationships</a:t>
            </a:r>
          </a:p>
          <a:p>
            <a:r>
              <a:rPr lang="en-US" dirty="0"/>
              <a:t>P = 1 − alpha</a:t>
            </a:r>
            <a:br>
              <a:rPr lang="en-US" dirty="0"/>
            </a:br>
            <a:r>
              <a:rPr lang="en-US" dirty="0" err="1"/>
              <a:t>alpha</a:t>
            </a:r>
            <a:r>
              <a:rPr lang="en-US" dirty="0"/>
              <a:t> = 1 − 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41520" y="440960"/>
            <a:ext cx="3606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Amdahl’s Law (Strong Scaling)</a:t>
            </a:r>
          </a:p>
          <a:p>
            <a:r>
              <a:rPr lang="en-US" dirty="0"/>
              <a:t>S(N) = 1 / [ alpha + (1 − alpha)/N ]</a:t>
            </a:r>
          </a:p>
          <a:p>
            <a:r>
              <a:rPr lang="en-US" dirty="0"/>
              <a:t>or</a:t>
            </a:r>
          </a:p>
          <a:p>
            <a:r>
              <a:rPr lang="en-US" dirty="0"/>
              <a:t>S(N) = 1 / [ (1 − P) + P/N ]</a:t>
            </a:r>
          </a:p>
          <a:p>
            <a:r>
              <a:rPr lang="en-US" dirty="0"/>
              <a:t>Maximum speedup:</a:t>
            </a:r>
          </a:p>
          <a:p>
            <a:r>
              <a:rPr lang="en-US" dirty="0"/>
              <a:t>S(infinity) = 1 / alpha</a:t>
            </a:r>
          </a:p>
          <a:p>
            <a:r>
              <a:rPr lang="en-US" dirty="0"/>
              <a:t>Efficiency:</a:t>
            </a:r>
          </a:p>
          <a:p>
            <a:r>
              <a:rPr lang="en-US" dirty="0"/>
              <a:t>E(N) = S(N) / N</a:t>
            </a:r>
          </a:p>
        </p:txBody>
      </p:sp>
      <p:sp>
        <p:nvSpPr>
          <p:cNvPr id="6" name="Rectangle 5"/>
          <p:cNvSpPr/>
          <p:nvPr/>
        </p:nvSpPr>
        <p:spPr>
          <a:xfrm>
            <a:off x="8016240" y="442805"/>
            <a:ext cx="406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Gustafson’s Law (Weak Scaling)</a:t>
            </a:r>
          </a:p>
          <a:p>
            <a:r>
              <a:rPr lang="en-US" dirty="0"/>
              <a:t>S_G(N) = N − alpha (N − 1)</a:t>
            </a:r>
          </a:p>
          <a:p>
            <a:r>
              <a:rPr lang="en-US" dirty="0"/>
              <a:t>Equivalent form:</a:t>
            </a:r>
          </a:p>
          <a:p>
            <a:r>
              <a:rPr lang="en-US" dirty="0"/>
              <a:t>S_G(N) = alpha + (1 − alpha) N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4760" y="3303003"/>
            <a:ext cx="443992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Quick Interpretation Cheat Sheet</a:t>
            </a:r>
          </a:p>
          <a:p>
            <a:r>
              <a:rPr lang="en-US" dirty="0"/>
              <a:t>If alpha small → system scalable</a:t>
            </a:r>
            <a:br>
              <a:rPr lang="en-US" dirty="0"/>
            </a:br>
            <a:r>
              <a:rPr lang="en-US" dirty="0"/>
              <a:t>If E(N) drops sharply → over-parallelization</a:t>
            </a:r>
            <a:br>
              <a:rPr lang="en-US" dirty="0"/>
            </a:br>
            <a:r>
              <a:rPr lang="en-US" dirty="0"/>
              <a:t>If S(infinity) small → optimize serial portion</a:t>
            </a:r>
            <a:br>
              <a:rPr lang="en-US" dirty="0"/>
            </a:br>
            <a:r>
              <a:rPr lang="en-US" dirty="0"/>
              <a:t>If S_G(N) ≈ N → near-linear weak scaling</a:t>
            </a:r>
          </a:p>
        </p:txBody>
      </p:sp>
    </p:spTree>
    <p:extLst>
      <p:ext uri="{BB962C8B-B14F-4D97-AF65-F5344CB8AC3E}">
        <p14:creationId xmlns:p14="http://schemas.microsoft.com/office/powerpoint/2010/main" val="214054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Amdahl’s Law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Predicting speedup limits.</a:t>
            </a:r>
          </a:p>
          <a:p>
            <a:pPr lvl="1"/>
            <a:r>
              <a:rPr dirty="0"/>
              <a:t>2. Identifying serial bottlenecks.</a:t>
            </a:r>
          </a:p>
          <a:p>
            <a:pPr lvl="1"/>
            <a:r>
              <a:rPr dirty="0"/>
              <a:t>3. Guiding optimization of parallel algorithms.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9600" y="34242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Gustafson’s Law Applications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4749801"/>
            <a:ext cx="10972800" cy="18135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1. Designing scalable parallel systems.</a:t>
            </a:r>
          </a:p>
          <a:p>
            <a:pPr lvl="1"/>
            <a:r>
              <a:rPr lang="en-US" dirty="0" smtClean="0"/>
              <a:t>2. Supporting large dataset processing.</a:t>
            </a:r>
          </a:p>
          <a:p>
            <a:pPr lvl="1"/>
            <a:r>
              <a:rPr lang="en-US" dirty="0" smtClean="0"/>
              <a:t>3. Predicting scalability in </a:t>
            </a:r>
            <a:r>
              <a:rPr lang="en-US" dirty="0" err="1" smtClean="0"/>
              <a:t>exascale</a:t>
            </a:r>
            <a:r>
              <a:rPr lang="en-US" dirty="0" smtClean="0"/>
              <a:t> systems.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Real-World Applications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07758"/>
            <a:ext cx="5151120" cy="1143000"/>
          </a:xfrm>
        </p:spPr>
        <p:txBody>
          <a:bodyPr/>
          <a:lstStyle/>
          <a:p>
            <a:r>
              <a:rPr sz="3600" b="1" dirty="0"/>
              <a:t>Scientific Simulations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16761"/>
            <a:ext cx="4409440" cy="1722119"/>
          </a:xfrm>
        </p:spPr>
        <p:txBody>
          <a:bodyPr/>
          <a:lstStyle/>
          <a:p>
            <a:r>
              <a:rPr dirty="0"/>
              <a:t>Climate modeling</a:t>
            </a:r>
          </a:p>
          <a:p>
            <a:pPr lvl="1"/>
            <a:r>
              <a:rPr dirty="0"/>
              <a:t>Fluid dynamics</a:t>
            </a:r>
          </a:p>
          <a:p>
            <a:pPr lvl="1"/>
            <a:r>
              <a:rPr dirty="0"/>
              <a:t>Materials science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772160" y="3678238"/>
            <a:ext cx="335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 smtClean="0"/>
              <a:t>Data Analytics</a:t>
            </a:r>
            <a:endParaRPr lang="en-US" sz="3600" b="1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4648518"/>
            <a:ext cx="4053840" cy="21840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Machine learning</a:t>
            </a:r>
          </a:p>
          <a:p>
            <a:pPr lvl="1"/>
            <a:r>
              <a:rPr lang="en-US" dirty="0" smtClean="0"/>
              <a:t>Data mining</a:t>
            </a:r>
          </a:p>
          <a:p>
            <a:pPr lvl="1"/>
            <a:r>
              <a:rPr lang="en-US" dirty="0" smtClean="0"/>
              <a:t>Big data processing</a:t>
            </a: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5760720" y="2652078"/>
            <a:ext cx="485648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smtClean="0"/>
              <a:t>High-Performance Computing</a:t>
            </a:r>
            <a:endParaRPr lang="en-US" sz="3600" b="1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760720" y="3977641"/>
            <a:ext cx="4958080" cy="22301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Supercomputers</a:t>
            </a:r>
          </a:p>
          <a:p>
            <a:pPr lvl="1"/>
            <a:r>
              <a:rPr lang="en-US" smtClean="0"/>
              <a:t>Cloud computing platforms</a:t>
            </a:r>
          </a:p>
          <a:p>
            <a:pPr lvl="1"/>
            <a:r>
              <a:rPr lang="en-US" smtClean="0"/>
              <a:t>Distributed computing infrastructures</a:t>
            </a:r>
            <a:endParaRPr lang="en-US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83920" y="-28575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Real-World Applications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Numerical Example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AEA982-E77D-AB00-3EA7-0A50F1249E21}"/>
              </a:ext>
            </a:extLst>
          </p:cNvPr>
          <p:cNvSpPr txBox="1"/>
          <p:nvPr/>
        </p:nvSpPr>
        <p:spPr>
          <a:xfrm>
            <a:off x="2406917" y="1255514"/>
            <a:ext cx="609399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Foundation Metrics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883253-E143-1662-FB9E-6559BD084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07" y="2176287"/>
            <a:ext cx="11605671" cy="2963390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425907" y="5197456"/>
            <a:ext cx="1121749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S, high 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algorithm scales well; overheads/serial fraction small.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S, low 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good absolute speed but diminishing returns (likely overheads or load imbalance).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 S even for large 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serial bottleneck dominates (increase parallel fraction or reduce sync/I/O).</a:t>
            </a:r>
          </a:p>
        </p:txBody>
      </p:sp>
    </p:spTree>
    <p:extLst>
      <p:ext uri="{BB962C8B-B14F-4D97-AF65-F5344CB8AC3E}">
        <p14:creationId xmlns:p14="http://schemas.microsoft.com/office/powerpoint/2010/main" val="1924411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03518"/>
            <a:ext cx="10972800" cy="756840"/>
          </a:xfrm>
        </p:spPr>
        <p:txBody>
          <a:bodyPr>
            <a:normAutofit/>
          </a:bodyPr>
          <a:lstStyle/>
          <a:p>
            <a:r>
              <a:rPr sz="3200" dirty="0"/>
              <a:t>Given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96740"/>
            <a:ext cx="10972800" cy="1021713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sz="2000" dirty="0"/>
              <a:t>Serial fraction = 20% (0.2)</a:t>
            </a:r>
          </a:p>
          <a:p>
            <a:pPr marL="457200" lvl="1" indent="0" algn="ctr">
              <a:buNone/>
            </a:pPr>
            <a:r>
              <a:rPr sz="2000" dirty="0"/>
              <a:t>Parallel fraction = 80% (0.8)</a:t>
            </a:r>
          </a:p>
          <a:p>
            <a:pPr marL="457200" lvl="1" indent="0" algn="ctr">
              <a:buNone/>
            </a:pPr>
            <a:r>
              <a:rPr sz="2000" dirty="0"/>
              <a:t>Processors N = 16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9600" y="2398078"/>
            <a:ext cx="4714240" cy="568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 smtClean="0"/>
              <a:t>Amdahl’s Law Calculation</a:t>
            </a:r>
            <a:endParaRPr lang="en-US" sz="24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2941321"/>
            <a:ext cx="5567680" cy="22097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 smtClean="0"/>
              <a:t>S(16) = 1 / [0.2 + (0.8 / 16)]</a:t>
            </a:r>
          </a:p>
          <a:p>
            <a:pPr lvl="1"/>
            <a:r>
              <a:rPr lang="en-US" sz="1800" dirty="0" smtClean="0"/>
              <a:t>S(16) = 1 / [0.2 + 0.05]</a:t>
            </a:r>
          </a:p>
          <a:p>
            <a:pPr lvl="1"/>
            <a:r>
              <a:rPr lang="en-US" sz="1800" dirty="0" smtClean="0"/>
              <a:t>S(16) = 1 / 0.25</a:t>
            </a:r>
          </a:p>
          <a:p>
            <a:pPr lvl="1"/>
            <a:r>
              <a:rPr lang="en-US" sz="1800" dirty="0" smtClean="0"/>
              <a:t>S(16) = 4</a:t>
            </a:r>
            <a:endParaRPr lang="en-US" sz="1800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132320" y="2398078"/>
            <a:ext cx="3931920" cy="5686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240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Gustafson’s Law Calculation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132320" y="2941321"/>
            <a:ext cx="4155440" cy="19761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/>
              <a:t>S(16) = 16 − 0.2(15)</a:t>
            </a:r>
          </a:p>
          <a:p>
            <a:pPr lvl="1"/>
            <a:r>
              <a:rPr lang="en-US" sz="1800" dirty="0" smtClean="0"/>
              <a:t>S(16) = 16 − 3</a:t>
            </a:r>
          </a:p>
          <a:p>
            <a:pPr lvl="1"/>
            <a:r>
              <a:rPr lang="en-US" sz="1800" dirty="0" smtClean="0"/>
              <a:t>S(16) = 13</a:t>
            </a:r>
            <a:endParaRPr lang="en-US" sz="18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365760" y="4389756"/>
            <a:ext cx="10972800" cy="639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 algn="ctr">
              <a:spcBef>
                <a:spcPct val="0"/>
              </a:spcBef>
              <a:buNone/>
              <a:defRPr sz="3600"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Interpretation of Results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3120" y="5084844"/>
            <a:ext cx="10972800" cy="3403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 smtClean="0"/>
              <a:t>Amdahl: Fixed workload limited to 4× speedup.</a:t>
            </a:r>
          </a:p>
          <a:p>
            <a:pPr marL="0" indent="0" algn="ctr">
              <a:buNone/>
            </a:pPr>
            <a:r>
              <a:rPr lang="en-US" sz="1800" dirty="0" smtClean="0"/>
              <a:t>Gustafson: Scaled workload achieves ~13× speedup.</a:t>
            </a:r>
          </a:p>
          <a:p>
            <a:pPr marL="0" indent="0" algn="ctr">
              <a:buNone/>
            </a:pPr>
            <a:r>
              <a:rPr lang="en-US" sz="1800" dirty="0" smtClean="0"/>
              <a:t>Scaling context determines which law applies.</a:t>
            </a:r>
            <a:endParaRPr lang="en-US" sz="1800" dirty="0"/>
          </a:p>
        </p:txBody>
      </p:sp>
      <p:sp>
        <p:nvSpPr>
          <p:cNvPr id="10" name="Rectangle 9"/>
          <p:cNvSpPr/>
          <p:nvPr/>
        </p:nvSpPr>
        <p:spPr>
          <a:xfrm>
            <a:off x="526330" y="2118996"/>
            <a:ext cx="36615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Speedup S(N) = 1 / [ (1 − P) + (P / N) ]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7367719" y="2095658"/>
            <a:ext cx="2861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Speedup S(N) = N − α (N − 1)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49999"/>
            <a:ext cx="3477050" cy="801254"/>
          </a:xfrm>
        </p:spPr>
        <p:txBody>
          <a:bodyPr>
            <a:normAutofit fontScale="90000"/>
          </a:bodyPr>
          <a:lstStyle/>
          <a:p>
            <a:r>
              <a:rPr sz="3600" dirty="0"/>
              <a:t>Scaling in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77721"/>
            <a:ext cx="5191760" cy="1691639"/>
          </a:xfrm>
        </p:spPr>
        <p:txBody>
          <a:bodyPr>
            <a:normAutofit fontScale="70000" lnSpcReduction="20000"/>
          </a:bodyPr>
          <a:lstStyle/>
          <a:p>
            <a:r>
              <a:rPr dirty="0"/>
              <a:t>Increasing problem size (larger simulation</a:t>
            </a:r>
            <a:r>
              <a:rPr dirty="0" smtClean="0"/>
              <a:t>).</a:t>
            </a:r>
            <a:endParaRPr lang="en-US" dirty="0" smtClean="0"/>
          </a:p>
          <a:p>
            <a:r>
              <a:rPr dirty="0" smtClean="0"/>
              <a:t>Increasing </a:t>
            </a:r>
            <a:r>
              <a:rPr dirty="0"/>
              <a:t>dataset size (big data systems</a:t>
            </a:r>
            <a:r>
              <a:rPr dirty="0" smtClean="0"/>
              <a:t>).</a:t>
            </a:r>
            <a:endParaRPr lang="en-US" dirty="0" smtClean="0"/>
          </a:p>
          <a:p>
            <a:r>
              <a:rPr dirty="0" smtClean="0"/>
              <a:t>Increasing </a:t>
            </a:r>
            <a:r>
              <a:rPr dirty="0"/>
              <a:t>user load (web applications).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380480" y="1249998"/>
            <a:ext cx="3934129" cy="6122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smtClean="0"/>
              <a:t>Hardware Scaling</a:t>
            </a:r>
            <a:endParaRPr lang="en-US" sz="36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380480" y="2006601"/>
            <a:ext cx="5191760" cy="176275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Adding more processors (horizontal scaling).</a:t>
            </a:r>
          </a:p>
          <a:p>
            <a:r>
              <a:rPr lang="en-US" smtClean="0"/>
              <a:t>Using GPUs or accelerators.</a:t>
            </a:r>
          </a:p>
          <a:p>
            <a:r>
              <a:rPr lang="en-US" smtClean="0"/>
              <a:t>Upgrading infrastructure for parallel workloads.</a:t>
            </a:r>
            <a:endParaRPr lang="en-US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751840" y="4277360"/>
            <a:ext cx="10972800" cy="604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Important Clarification</a:t>
            </a:r>
            <a:endParaRPr lang="en-US" sz="36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751840" y="5064443"/>
            <a:ext cx="10972800" cy="132619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Gustafson’s Law assumes workload scales with processors.</a:t>
            </a:r>
          </a:p>
          <a:p>
            <a:r>
              <a:rPr lang="en-US" sz="2400" dirty="0" smtClean="0"/>
              <a:t>It is not simply adding hardware without increasing work.</a:t>
            </a:r>
          </a:p>
          <a:p>
            <a:r>
              <a:rPr lang="en-US" sz="2400" dirty="0" smtClean="0"/>
              <a:t>True benefit occurs when computation grows with resources.</a:t>
            </a:r>
            <a:endParaRPr lang="en-US" sz="2400" dirty="0"/>
          </a:p>
        </p:txBody>
      </p:sp>
      <p:sp>
        <p:nvSpPr>
          <p:cNvPr id="8" name="Title 1"/>
          <p:cNvSpPr txBox="1">
            <a:spLocks/>
          </p:cNvSpPr>
          <p:nvPr/>
        </p:nvSpPr>
        <p:spPr>
          <a:xfrm>
            <a:off x="853440" y="525147"/>
            <a:ext cx="10363200" cy="663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What Does Scaling Mean?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smtClean="0"/>
              <a:t>Numerical </a:t>
            </a:r>
            <a:r>
              <a:rPr dirty="0"/>
              <a:t>Exercises (with Solutions)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Amdahl’s Law • Gustafson’s Law • Efficiency • Bottlenecks • Scaling Decisions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0913" y="502276"/>
            <a:ext cx="860308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Example 1 — Basic Speedup and Efficiency</a:t>
            </a:r>
          </a:p>
          <a:p>
            <a:r>
              <a:rPr lang="en-US" dirty="0" smtClean="0"/>
              <a:t>A sequential program takes </a:t>
            </a:r>
            <a:r>
              <a:rPr lang="en-US" b="1" dirty="0" smtClean="0"/>
              <a:t>100 seconds</a:t>
            </a:r>
            <a:r>
              <a:rPr lang="en-US" dirty="0" smtClean="0"/>
              <a:t> to execute.</a:t>
            </a:r>
            <a:br>
              <a:rPr lang="en-US" dirty="0" smtClean="0"/>
            </a:br>
            <a:r>
              <a:rPr lang="en-US" dirty="0" smtClean="0"/>
              <a:t>When parallelized on </a:t>
            </a:r>
            <a:r>
              <a:rPr lang="en-US" b="1" dirty="0" smtClean="0"/>
              <a:t>4 cores</a:t>
            </a:r>
            <a:r>
              <a:rPr lang="en-US" dirty="0" smtClean="0"/>
              <a:t>, the execution time becomes </a:t>
            </a:r>
            <a:r>
              <a:rPr lang="en-US" b="1" dirty="0" smtClean="0"/>
              <a:t>30 seconds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Find:</a:t>
            </a:r>
            <a:endParaRPr lang="en-US" dirty="0" smtClean="0"/>
          </a:p>
          <a:p>
            <a:pPr>
              <a:buFont typeface="+mj-lt"/>
              <a:buAutoNum type="arabicPeriod"/>
            </a:pPr>
            <a:r>
              <a:rPr lang="en-US" dirty="0" smtClean="0"/>
              <a:t>Speedup</a:t>
            </a:r>
          </a:p>
          <a:p>
            <a:pPr>
              <a:buFont typeface="+mj-lt"/>
              <a:buAutoNum type="arabicPeriod"/>
            </a:pPr>
            <a:r>
              <a:rPr lang="en-US" dirty="0" smtClean="0"/>
              <a:t>Efficiency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411" y="2621990"/>
            <a:ext cx="5466411" cy="238502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107843" y="5372404"/>
            <a:ext cx="84013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Interpretation: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 program runs 3.33× faster and uses 83% of the available parallel capacity efficiently.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0234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549" y="503890"/>
            <a:ext cx="655534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Example 2 — Amdahl’s Law Application</a:t>
            </a:r>
          </a:p>
          <a:p>
            <a:r>
              <a:rPr lang="en-US" dirty="0" smtClean="0"/>
              <a:t>A program is </a:t>
            </a:r>
            <a:r>
              <a:rPr lang="en-US" b="1" dirty="0" smtClean="0"/>
              <a:t>25% sequential</a:t>
            </a:r>
            <a:r>
              <a:rPr lang="en-US" dirty="0" smtClean="0"/>
              <a:t> and </a:t>
            </a:r>
            <a:r>
              <a:rPr lang="en-US" b="1" dirty="0" smtClean="0"/>
              <a:t>75% parallelizable</a:t>
            </a:r>
            <a:r>
              <a:rPr lang="en-US" dirty="0" smtClean="0"/>
              <a:t>.</a:t>
            </a:r>
            <a:br>
              <a:rPr lang="en-US" dirty="0" smtClean="0"/>
            </a:br>
            <a:r>
              <a:rPr lang="en-US" dirty="0" smtClean="0"/>
              <a:t>Compute speedup on </a:t>
            </a:r>
            <a:r>
              <a:rPr lang="en-US" b="1" dirty="0" smtClean="0"/>
              <a:t>8 processors</a:t>
            </a:r>
            <a:r>
              <a:rPr lang="en-US" dirty="0" smtClean="0"/>
              <a:t>.</a:t>
            </a:r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Interpretation: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Even with 8 processors, sequential bottlenecks limit total speedup to only 2.9×.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856" y="2110524"/>
            <a:ext cx="8439150" cy="2058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4322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8440" y="359055"/>
            <a:ext cx="6096000" cy="59093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Example 3 — Gustafson’s Law (Scaled Problem Size)</a:t>
            </a:r>
          </a:p>
          <a:p>
            <a:r>
              <a:rPr lang="en-US" dirty="0" smtClean="0"/>
              <a:t>If 10% of a task is sequential and 90% is parallelizable, find the </a:t>
            </a:r>
            <a:r>
              <a:rPr lang="en-US" b="1" dirty="0" smtClean="0"/>
              <a:t>speedup</a:t>
            </a:r>
            <a:r>
              <a:rPr lang="en-US" dirty="0" smtClean="0"/>
              <a:t> for 16 cores.</a:t>
            </a:r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Interpretation: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When workload scales with more cores, efficiency remains high — nearly linear scalability.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410" y="1832287"/>
            <a:ext cx="5626256" cy="183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830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6468277" y="225963"/>
            <a:ext cx="533427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b="1" dirty="0" smtClean="0"/>
              <a:t>SOLUTION: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Parallel Image Pipeline — Speedup &amp; Efficiency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Given (per image tile)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System: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20 worker nodes, work-stealing scheduler</a:t>
            </a:r>
            <a:b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Assumptions: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perfect load balance; linear scale with problem size; negligible scheduling overhead outside stated sync cost.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863" y="2255147"/>
            <a:ext cx="5753100" cy="43053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31284" y="112270"/>
            <a:ext cx="587679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Example 4 — </a:t>
            </a:r>
            <a:r>
              <a:rPr lang="en-US" dirty="0" smtClean="0"/>
              <a:t>A parallel image processing pipeline runs on 20 worker nodes using a work-stealing scheduler. Each image tile passes through the following three stages: 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Assume:  The workload is perfectly balanced across all nodes (no idling).  The workload scales linearly with problem size (i.e., more tiles keep all 20 nodes busy). </a:t>
            </a:r>
          </a:p>
          <a:p>
            <a:pPr marL="342900" indent="-342900">
              <a:buAutoNum type="arabicPeriod"/>
            </a:pPr>
            <a:r>
              <a:rPr lang="en-US" dirty="0" smtClean="0"/>
              <a:t>Using Amdahl’s Law, calculate the maximum overall speedup achievable on 20 nodes. </a:t>
            </a:r>
          </a:p>
          <a:p>
            <a:pPr marL="342900" indent="-342900">
              <a:buAutoNum type="arabicPeriod"/>
            </a:pPr>
            <a:r>
              <a:rPr lang="en-US" dirty="0" smtClean="0"/>
              <a:t>2. Using Gustafson’s Law, compute the projected speedup assuming the workload scales with problem size.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/>
          </p:nvPr>
        </p:nvGraphicFramePr>
        <p:xfrm>
          <a:off x="359803" y="1471243"/>
          <a:ext cx="5823665" cy="1828800"/>
        </p:xfrm>
        <a:graphic>
          <a:graphicData uri="http://schemas.openxmlformats.org/drawingml/2006/table">
            <a:tbl>
              <a:tblPr/>
              <a:tblGrid>
                <a:gridCol w="1689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9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4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600" b="1" dirty="0"/>
                        <a:t>Stage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Fraction of total 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Parallelism characteristics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/>
                        <a:t>Filtering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perfectly parallelizable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Segmentation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0.30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10% serial (sync), 90% parallelizable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/>
                        <a:t>Compression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0.20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fully serial (I/O ordering)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0794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58" y="96659"/>
            <a:ext cx="7419572" cy="38641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958" y="3858237"/>
            <a:ext cx="7780488" cy="1748709"/>
          </a:xfrm>
          <a:prstGeom prst="rect">
            <a:avLst/>
          </a:prstGeo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43942" y="5781419"/>
            <a:ext cx="107152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 workload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23% serial portion caps speedup at ~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3.7×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on 20 nodes.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 a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scaled workload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keeps all nodes busy, projected speedup is ~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15.6×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~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78% efficiency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01786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1: Amdahl Speedup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program has parallel fraction P = 0.90 and runs on N = 12 processors.</a:t>
            </a:r>
          </a:p>
          <a:p>
            <a:pPr lvl="1"/>
            <a:r>
              <a:t>Compute the theoretical speedup S(N) using Amdahl’s Law.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92480" y="3337245"/>
            <a:ext cx="10972800" cy="27889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mtClean="0"/>
              <a:t>Amdahl: S(N) = 1 / [(1−P) + P/N]</a:t>
            </a:r>
          </a:p>
          <a:p>
            <a:pPr lvl="1"/>
            <a:r>
              <a:rPr lang="pt-BR" smtClean="0"/>
              <a:t>S(12) = 1 / [0.10 + 0.90/12]</a:t>
            </a:r>
          </a:p>
          <a:p>
            <a:pPr lvl="1"/>
            <a:r>
              <a:rPr lang="pt-BR" smtClean="0"/>
              <a:t>0.90/12 = 0.075</a:t>
            </a:r>
          </a:p>
          <a:p>
            <a:pPr lvl="1"/>
            <a:r>
              <a:rPr lang="pt-BR" smtClean="0"/>
              <a:t>Denominator = 0.10 + 0.075 = 0.175</a:t>
            </a:r>
          </a:p>
          <a:p>
            <a:pPr lvl="1"/>
            <a:r>
              <a:rPr lang="pt-BR" smtClean="0"/>
              <a:t>S(12) = 1 / 0.175 = 5.714</a:t>
            </a:r>
            <a:endParaRPr lang="pt-BR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2: Maximum Speedup Limit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program is 8% serial (serial fraction = 0.08).</a:t>
            </a:r>
          </a:p>
          <a:p>
            <a:pPr lvl="1"/>
            <a:r>
              <a:t>What is the maximum possible speedup as N → ∞?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449321"/>
            <a:ext cx="10972800" cy="17627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Amdahl limit: S(∞) = 1 / α</a:t>
            </a:r>
          </a:p>
          <a:p>
            <a:pPr lvl="1"/>
            <a:r>
              <a:rPr lang="en-US" smtClean="0"/>
              <a:t>α = 0.08</a:t>
            </a:r>
          </a:p>
          <a:p>
            <a:pPr lvl="1"/>
            <a:r>
              <a:rPr lang="en-US" smtClean="0"/>
              <a:t>S(∞) = 1 / 0.08 = 12.5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3: Processors Needed (Amdahl)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Parallel fraction P = 0.95. Target speedup is at least 10×.</a:t>
            </a:r>
          </a:p>
          <a:p>
            <a:pPr lvl="1"/>
            <a:r>
              <a:t>Find the minimum integer N such that S(N) ≥ 10.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2880045"/>
            <a:ext cx="10972800" cy="32461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mtClean="0"/>
              <a:t>S(N) = 1 / [(1−P) + P/N]</a:t>
            </a:r>
          </a:p>
          <a:p>
            <a:pPr lvl="1"/>
            <a:r>
              <a:rPr lang="pt-BR" smtClean="0"/>
              <a:t>Need 1 / [0.05 + 0.95/N] ≥ 10</a:t>
            </a:r>
          </a:p>
          <a:p>
            <a:pPr lvl="1"/>
            <a:r>
              <a:rPr lang="pt-BR" smtClean="0"/>
              <a:t>So 0.05 + 0.95/N ≤ 0.1</a:t>
            </a:r>
          </a:p>
          <a:p>
            <a:pPr lvl="1"/>
            <a:r>
              <a:rPr lang="pt-BR" smtClean="0"/>
              <a:t>0.95/N ≤ 0.05</a:t>
            </a:r>
          </a:p>
          <a:p>
            <a:pPr lvl="1"/>
            <a:r>
              <a:rPr lang="pt-BR" smtClean="0"/>
              <a:t>N ≥ 0.95/0.05 = 19</a:t>
            </a:r>
          </a:p>
          <a:p>
            <a:pPr lvl="1"/>
            <a:r>
              <a:rPr lang="pt-BR" smtClean="0"/>
              <a:t>Minimum N = 19</a:t>
            </a:r>
            <a:endParaRPr lang="pt-BR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4: Parallel 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program achieves speedup S = 18 on N = 32 processors.</a:t>
            </a:r>
          </a:p>
          <a:p>
            <a:pPr lvl="1"/>
            <a:r>
              <a:t>Compute efficiency E.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296921"/>
            <a:ext cx="10972800" cy="14681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mtClean="0"/>
              <a:t>Efficiency: E = S/N</a:t>
            </a:r>
          </a:p>
          <a:p>
            <a:pPr lvl="1"/>
            <a:r>
              <a:rPr lang="pt-BR" smtClean="0"/>
              <a:t>E = 18/32 = 0.5625 = 56.25%</a:t>
            </a:r>
            <a:endParaRPr lang="pt-BR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5: Runtime on N Processors (Amdahl)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Single-processor time T1 = 200 seconds.</a:t>
            </a:r>
          </a:p>
          <a:p>
            <a:pPr lvl="1"/>
            <a:r>
              <a:t>Parallel fraction P = 0.85, N = 10.</a:t>
            </a:r>
          </a:p>
          <a:p>
            <a:pPr lvl="1"/>
            <a:r>
              <a:t>Find Tp.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418525"/>
            <a:ext cx="10972800" cy="27076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Amdahl gives speedup S(N) = 1 / [(1−P)+P/N]</a:t>
            </a:r>
          </a:p>
          <a:p>
            <a:pPr lvl="1"/>
            <a:r>
              <a:rPr lang="en-US" smtClean="0"/>
              <a:t>S(10) = 1 / [0.15 + 0.85/10]</a:t>
            </a:r>
          </a:p>
          <a:p>
            <a:pPr lvl="1"/>
            <a:r>
              <a:rPr lang="en-US" smtClean="0"/>
              <a:t>0.85/10 = 0.085 → denominator = 0.235</a:t>
            </a:r>
          </a:p>
          <a:p>
            <a:pPr lvl="1"/>
            <a:r>
              <a:rPr lang="en-US" smtClean="0"/>
              <a:t>S(10) = 1/0.235 = 4.255</a:t>
            </a:r>
          </a:p>
          <a:p>
            <a:pPr lvl="1"/>
            <a:r>
              <a:rPr lang="en-US" smtClean="0"/>
              <a:t>Tp = T1 / S = 200 / 4.255 ≈ 47.0 s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6: Gustafson Speedup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Serial fraction α = 0.12, N = 64 processors.</a:t>
            </a:r>
          </a:p>
          <a:p>
            <a:pPr lvl="1"/>
            <a:r>
              <a:t>Compute scaled speedup using Gustafson’s Law.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022601"/>
            <a:ext cx="10972800" cy="22707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mtClean="0"/>
              <a:t>Gustafson: S(N) = N − α(N−1)</a:t>
            </a:r>
          </a:p>
          <a:p>
            <a:pPr lvl="1"/>
            <a:r>
              <a:rPr lang="pt-BR" smtClean="0"/>
              <a:t>S(64) = 64 − 0.12×63</a:t>
            </a:r>
          </a:p>
          <a:p>
            <a:pPr lvl="1"/>
            <a:r>
              <a:rPr lang="pt-BR" smtClean="0"/>
              <a:t>0.12×63 = 7.56</a:t>
            </a:r>
          </a:p>
          <a:p>
            <a:pPr lvl="1"/>
            <a:r>
              <a:rPr lang="pt-BR" smtClean="0"/>
              <a:t>S(64) = 64 − 7.56 = 56.44</a:t>
            </a:r>
            <a:endParaRPr lang="pt-BR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7: Compare Amdahl vs Gustafson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workload has serial fraction α = 0.05 and N = 32.</a:t>
            </a:r>
          </a:p>
          <a:p>
            <a:pPr lvl="1"/>
            <a:r>
              <a:t>Compute: (a) Amdahl speedup, (b) Gustafson speedup.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2981961"/>
            <a:ext cx="10972800" cy="34493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mtClean="0"/>
              <a:t>(a) Amdahl: S = 1 / [α + (1−α)/N]</a:t>
            </a:r>
          </a:p>
          <a:p>
            <a:pPr lvl="1"/>
            <a:r>
              <a:rPr lang="pt-BR" smtClean="0"/>
              <a:t>S = 1 / [0.05 + 0.95/32]</a:t>
            </a:r>
          </a:p>
          <a:p>
            <a:pPr lvl="1"/>
            <a:r>
              <a:rPr lang="pt-BR" smtClean="0"/>
              <a:t>0.95/32 = 0.0296875 → denom = 0.0796875</a:t>
            </a:r>
          </a:p>
          <a:p>
            <a:pPr lvl="1"/>
            <a:r>
              <a:rPr lang="pt-BR" smtClean="0"/>
              <a:t>Amdahl S ≈ 12.55</a:t>
            </a:r>
          </a:p>
          <a:p>
            <a:r>
              <a:rPr lang="pt-BR" smtClean="0"/>
              <a:t>(b) Gustafson: S = N − α(N−1)</a:t>
            </a:r>
          </a:p>
          <a:p>
            <a:pPr lvl="1"/>
            <a:r>
              <a:rPr lang="pt-BR" smtClean="0"/>
              <a:t>S = 32 − 0.05×31 = 32 − 1.55 = 30.45</a:t>
            </a:r>
            <a:endParaRPr lang="pt-BR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Problem 8: Estimate Serial Fraction from Speedup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Measured speedup S = 6 on N = 8 processors (assume Amdahl applies).</a:t>
            </a:r>
          </a:p>
          <a:p>
            <a:pPr lvl="1"/>
            <a:r>
              <a:t>Estimate serial fraction α.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337561"/>
            <a:ext cx="10972800" cy="32969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Amdahl: S = 1 / [</a:t>
            </a:r>
            <a:r>
              <a:rPr lang="el-GR" smtClean="0"/>
              <a:t>α + (1−α)/</a:t>
            </a:r>
            <a:r>
              <a:rPr lang="en-US" smtClean="0"/>
              <a:t>N]</a:t>
            </a:r>
          </a:p>
          <a:p>
            <a:pPr lvl="1"/>
            <a:r>
              <a:rPr lang="en-US" smtClean="0"/>
              <a:t>So 1/S = </a:t>
            </a:r>
            <a:r>
              <a:rPr lang="el-GR" smtClean="0"/>
              <a:t>α + (1−α)/</a:t>
            </a:r>
            <a:r>
              <a:rPr lang="en-US" smtClean="0"/>
              <a:t>N</a:t>
            </a:r>
          </a:p>
          <a:p>
            <a:pPr lvl="1"/>
            <a:r>
              <a:rPr lang="en-US" smtClean="0"/>
              <a:t>1/6 = </a:t>
            </a:r>
            <a:r>
              <a:rPr lang="el-GR" smtClean="0"/>
              <a:t>α + (1−α)/8</a:t>
            </a:r>
          </a:p>
          <a:p>
            <a:pPr lvl="1"/>
            <a:r>
              <a:rPr lang="en-US" smtClean="0"/>
              <a:t>Multiply by 8: 8/6 = 8</a:t>
            </a:r>
            <a:r>
              <a:rPr lang="el-GR" smtClean="0"/>
              <a:t>α + (1−α) = 7α + 1</a:t>
            </a:r>
          </a:p>
          <a:p>
            <a:pPr lvl="1"/>
            <a:r>
              <a:rPr lang="el-GR" smtClean="0"/>
              <a:t>8/6 − 1 = 7α</a:t>
            </a:r>
          </a:p>
          <a:p>
            <a:pPr lvl="1"/>
            <a:r>
              <a:rPr lang="el-GR" smtClean="0"/>
              <a:t>2/6 = 7α → α = (2/6)/7 = 2/42 = 0.0476 (≈ 4.76%)</a:t>
            </a:r>
            <a:endParaRPr lang="el-GR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9: Communication Overhead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program has ideal parallel fraction P = 0.92.</a:t>
            </a:r>
          </a:p>
          <a:p>
            <a:pPr lvl="1"/>
            <a:r>
              <a:t>However, overhead adds 5% extra serial time (relative to total).</a:t>
            </a:r>
          </a:p>
          <a:p>
            <a:pPr lvl="1"/>
            <a:r>
              <a:t>Approximate new serial fraction α' and compute Amdahl speedup for N = 16.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11200" y="3683001"/>
            <a:ext cx="10972800" cy="28295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 smtClean="0"/>
              <a:t>Original serial fraction </a:t>
            </a:r>
            <a:r>
              <a:rPr lang="el-GR" sz="2400" dirty="0" smtClean="0"/>
              <a:t>α = 1−</a:t>
            </a:r>
            <a:r>
              <a:rPr lang="en-US" sz="2400" dirty="0" smtClean="0"/>
              <a:t>P = 0.08</a:t>
            </a:r>
          </a:p>
          <a:p>
            <a:pPr lvl="1"/>
            <a:r>
              <a:rPr lang="en-US" sz="2000" dirty="0" smtClean="0"/>
              <a:t>Overhead adds 0.05 to serial fraction → </a:t>
            </a:r>
            <a:r>
              <a:rPr lang="el-GR" sz="2000" dirty="0" smtClean="0"/>
              <a:t>α' ≈ 0.13</a:t>
            </a:r>
          </a:p>
          <a:p>
            <a:pPr lvl="1"/>
            <a:r>
              <a:rPr lang="en-US" sz="2000" dirty="0" smtClean="0"/>
              <a:t>Parallel fraction becomes (1−</a:t>
            </a:r>
            <a:r>
              <a:rPr lang="el-GR" sz="2000" dirty="0" smtClean="0"/>
              <a:t>α') = 0.87</a:t>
            </a:r>
          </a:p>
          <a:p>
            <a:r>
              <a:rPr lang="en-US" sz="2400" dirty="0" smtClean="0"/>
              <a:t>Amdahl: S = 1 / [</a:t>
            </a:r>
            <a:r>
              <a:rPr lang="el-GR" sz="2400" dirty="0" smtClean="0"/>
              <a:t>α' + (1−α')/</a:t>
            </a:r>
            <a:r>
              <a:rPr lang="en-US" sz="2400" dirty="0" smtClean="0"/>
              <a:t>N]</a:t>
            </a:r>
          </a:p>
          <a:p>
            <a:pPr lvl="1"/>
            <a:r>
              <a:rPr lang="en-US" sz="2000" dirty="0" smtClean="0"/>
              <a:t>S(16) = 1 / [0.13 + 0.87/16]</a:t>
            </a:r>
          </a:p>
          <a:p>
            <a:pPr lvl="1"/>
            <a:r>
              <a:rPr lang="en-US" sz="2000" dirty="0" smtClean="0"/>
              <a:t>0.87/16 = 0.054375 → </a:t>
            </a:r>
            <a:r>
              <a:rPr lang="en-US" sz="2000" dirty="0" err="1" smtClean="0"/>
              <a:t>denom</a:t>
            </a:r>
            <a:r>
              <a:rPr lang="en-US" sz="2000" dirty="0" smtClean="0"/>
              <a:t> = 0.184375</a:t>
            </a:r>
          </a:p>
          <a:p>
            <a:pPr lvl="1"/>
            <a:r>
              <a:rPr lang="en-US" sz="2000" dirty="0" smtClean="0"/>
              <a:t>S ≈ 5.42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10: Find Serial Fraction (Gustafson)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Scaled speedup measured S = 120 on N = 128 processors (assume Gustafson).</a:t>
            </a:r>
          </a:p>
          <a:p>
            <a:pPr lvl="1"/>
            <a:r>
              <a:t>Estimate serial fraction α.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398521"/>
            <a:ext cx="10972800" cy="22199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Gustafson: S = N − </a:t>
            </a:r>
            <a:r>
              <a:rPr lang="el-GR" smtClean="0"/>
              <a:t>α(</a:t>
            </a:r>
            <a:r>
              <a:rPr lang="en-US" smtClean="0"/>
              <a:t>N−1)</a:t>
            </a:r>
          </a:p>
          <a:p>
            <a:pPr lvl="1"/>
            <a:r>
              <a:rPr lang="en-US" smtClean="0"/>
              <a:t>120 = 128 − </a:t>
            </a:r>
            <a:r>
              <a:rPr lang="el-GR" smtClean="0"/>
              <a:t>α×127</a:t>
            </a:r>
          </a:p>
          <a:p>
            <a:pPr lvl="1"/>
            <a:r>
              <a:rPr lang="el-GR" smtClean="0"/>
              <a:t>α×127 = 128 − 120 = 8</a:t>
            </a:r>
          </a:p>
          <a:p>
            <a:pPr lvl="1"/>
            <a:r>
              <a:rPr lang="el-GR" smtClean="0"/>
              <a:t>α = 8/127 = 0.0630 (≈ 6.30%)</a:t>
            </a:r>
            <a:endParaRPr lang="el-GR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11: Diminishing Returns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Parallel fraction P = 0.98.</a:t>
            </a:r>
          </a:p>
          <a:p>
            <a:pPr lvl="1"/>
            <a:r>
              <a:t>Compute speedup for N=50 and N=100 using Amdahl. Comment on gains.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611881"/>
            <a:ext cx="10972800" cy="23012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S(50)=1/[0.02+0.98/50]=1/[0.02+0.0196]=1/0.0396=25.25</a:t>
            </a:r>
          </a:p>
          <a:p>
            <a:pPr lvl="1"/>
            <a:r>
              <a:rPr lang="en-US" smtClean="0"/>
              <a:t>S(100)=1/[0.02+0.98/100]=1/[0.02+0.0098]=1/0.0298=33.56</a:t>
            </a:r>
          </a:p>
          <a:p>
            <a:r>
              <a:rPr lang="en-US" smtClean="0"/>
              <a:t>Doubling processors from 50→100 increases speedup only 25.25→33.56 (limited by 2% serial).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12: Efficiency at Scale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Problem 11, compute efficiency at N=50 and N=100.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2976722"/>
            <a:ext cx="10972800" cy="17729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E(50)=S/N=25.25/50=0.505=50.5%</a:t>
            </a:r>
          </a:p>
          <a:p>
            <a:pPr lvl="1"/>
            <a:r>
              <a:rPr lang="en-US" smtClean="0"/>
              <a:t>E(100)=33.56/100=0.3356=33.6%</a:t>
            </a:r>
          </a:p>
          <a:p>
            <a:pPr lvl="1"/>
            <a:r>
              <a:rPr lang="en-US" smtClean="0"/>
              <a:t>Efficiency drops as N increases due to fixed serial fraction.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13: When Adding CPUs Stops Helping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Parallel fraction P = 0.90.</a:t>
            </a:r>
          </a:p>
          <a:p>
            <a:pPr lvl="1"/>
            <a:r>
              <a:t>At what N does increasing N to 2N improve speedup by less than 10%? (Use Amdahl; approximate numerically.)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286761"/>
            <a:ext cx="10972800" cy="30937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We compare S(2N)/S(N) &lt; 1.10</a:t>
            </a:r>
          </a:p>
          <a:p>
            <a:pPr lvl="1"/>
            <a:r>
              <a:rPr lang="en-US" smtClean="0"/>
              <a:t>S(N)=1/[0.10+0.90/N]. Try N=40: S=1/[0.10+0.0225]=1/0.1225=8.163</a:t>
            </a:r>
          </a:p>
          <a:p>
            <a:pPr lvl="1"/>
            <a:r>
              <a:rPr lang="en-US" smtClean="0"/>
              <a:t>S(80)=1/[0.10+0.01125]=1/0.11125=8.988</a:t>
            </a:r>
          </a:p>
          <a:p>
            <a:pPr lvl="1"/>
            <a:r>
              <a:rPr lang="en-US" smtClean="0"/>
              <a:t>Ratio=8.988/8.163=1.101 (≈10.1%)</a:t>
            </a:r>
          </a:p>
          <a:p>
            <a:pPr lvl="1"/>
            <a:r>
              <a:rPr lang="en-US" smtClean="0"/>
              <a:t>Try N=45: S=1/[0.10+0.02]=1/0.12=8.333</a:t>
            </a:r>
          </a:p>
          <a:p>
            <a:pPr lvl="1"/>
            <a:r>
              <a:rPr lang="en-US" smtClean="0"/>
              <a:t>S(90)=1/[0.10+0.01]=1/0.11=9.091</a:t>
            </a:r>
          </a:p>
          <a:p>
            <a:pPr lvl="1"/>
            <a:r>
              <a:rPr lang="en-US" smtClean="0"/>
              <a:t>Ratio=9.091/8.333=1.091 (&lt;10%)</a:t>
            </a:r>
          </a:p>
          <a:p>
            <a:pPr lvl="1"/>
            <a:r>
              <a:rPr lang="en-US" smtClean="0"/>
              <a:t>So around N ≈ 45 processors, doubling gives &lt;10% gain.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Problem 14: Serial/Parallel Time 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job takes T1 = 500 s on 1 CPU.</a:t>
            </a:r>
          </a:p>
          <a:p>
            <a:pPr lvl="1"/>
            <a:r>
              <a:t>Serial fraction α = 0.15, N=20.</a:t>
            </a:r>
          </a:p>
          <a:p>
            <a:pPr lvl="1"/>
            <a:r>
              <a:t>Find Tp and time saved.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580768"/>
            <a:ext cx="10972800" cy="27482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Amdahl speedup: S=1/[0.15+0.85/20]</a:t>
            </a:r>
          </a:p>
          <a:p>
            <a:pPr lvl="1"/>
            <a:r>
              <a:rPr lang="en-US" smtClean="0"/>
              <a:t>0.85/20=0.0425 → denom=0.1925</a:t>
            </a:r>
          </a:p>
          <a:p>
            <a:pPr lvl="1"/>
            <a:r>
              <a:rPr lang="en-US" smtClean="0"/>
              <a:t>S=1/0.1925=5.195</a:t>
            </a:r>
          </a:p>
          <a:p>
            <a:pPr lvl="1"/>
            <a:r>
              <a:rPr lang="en-US" smtClean="0"/>
              <a:t>Tp=500/5.195=96.2 s</a:t>
            </a:r>
          </a:p>
          <a:p>
            <a:pPr lvl="1"/>
            <a:r>
              <a:rPr lang="en-US" smtClean="0"/>
              <a:t>Time saved = 500−96.2=403.8 s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15: Scaled Workload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Serial fraction α=0.10, N=64. Gustafson speedup Sg= ?</a:t>
            </a:r>
          </a:p>
          <a:p>
            <a:pPr lvl="1"/>
            <a:r>
              <a:t>If 1 CPU can solve size=1 in 1 hour, what size can 64 CPUs solve in ~1 hour (idealized)?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0720" y="3936685"/>
            <a:ext cx="10972800" cy="14376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Gustafson: Sg = 64 − 0.10×63 = 64 − 6.3 = 57.7</a:t>
            </a:r>
          </a:p>
          <a:p>
            <a:pPr lvl="1"/>
            <a:r>
              <a:rPr lang="en-US" smtClean="0"/>
              <a:t>Scaled interpretation: In the same time, system can solve ~57.7× larger workload than 1 CPU (idealized).</a:t>
            </a:r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16: Find P from Amdahl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Speedup S=9 on N=12 (Amdahl). Estimate P (parallel fraction).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2981961"/>
            <a:ext cx="10972800" cy="225043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1/S = (1−P)+P/N</a:t>
            </a:r>
          </a:p>
          <a:p>
            <a:pPr lvl="1"/>
            <a:r>
              <a:rPr lang="en-US" dirty="0" smtClean="0"/>
              <a:t>1/9 = 1−P + P/12 = 1 − P(1 − 1/12)=1 − P(11/12)</a:t>
            </a:r>
          </a:p>
          <a:p>
            <a:pPr lvl="1"/>
            <a:r>
              <a:rPr lang="en-US" dirty="0" smtClean="0"/>
              <a:t>So P(11/12)=1−1/9=8/9</a:t>
            </a:r>
          </a:p>
          <a:p>
            <a:r>
              <a:rPr lang="en-US" dirty="0" smtClean="0"/>
              <a:t>P = (8/9)×(12/11)=96/99=0.9697 (≈96.97%)</a:t>
            </a:r>
            <a:endParaRPr 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17: Target Efficiency Constraint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 require efficiency E ≥ 0.60 for P=0.96 (Amdahl).</a:t>
            </a:r>
          </a:p>
          <a:p>
            <a:pPr lvl="1"/>
            <a:r>
              <a:t>Find maximum N that still meets E ≥ 0.60.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2839721"/>
            <a:ext cx="10972800" cy="34899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mtClean="0"/>
              <a:t>Efficiency E = S/N, with S=1/[(1−P)+P/N]</a:t>
            </a:r>
          </a:p>
          <a:p>
            <a:pPr lvl="1"/>
            <a:r>
              <a:rPr lang="pt-BR" smtClean="0"/>
              <a:t>Compute S(N)=1/[0.04+0.96/N]</a:t>
            </a:r>
          </a:p>
          <a:p>
            <a:pPr lvl="1"/>
            <a:r>
              <a:rPr lang="pt-BR" smtClean="0"/>
              <a:t>Need S/N ≥ 0.60 → 1/[N(0.04+0.96/N)] ≥ 0.60</a:t>
            </a:r>
          </a:p>
          <a:p>
            <a:pPr lvl="1"/>
            <a:r>
              <a:rPr lang="pt-BR" smtClean="0"/>
              <a:t>Simplify: 1/[0.04N + 0.96] ≥ 0.60</a:t>
            </a:r>
          </a:p>
          <a:p>
            <a:pPr lvl="1"/>
            <a:r>
              <a:rPr lang="pt-BR" smtClean="0"/>
              <a:t>So 0.04N + 0.96 ≤ 1/0.60 = 1.6667</a:t>
            </a:r>
          </a:p>
          <a:p>
            <a:pPr lvl="1"/>
            <a:r>
              <a:rPr lang="pt-BR" smtClean="0"/>
              <a:t>0.04N ≤ 0.7067 → N ≤ 17.67</a:t>
            </a:r>
          </a:p>
          <a:p>
            <a:pPr lvl="1"/>
            <a:r>
              <a:rPr lang="pt-BR" smtClean="0"/>
              <a:t>Maximum integer N = 17</a:t>
            </a:r>
            <a:endParaRPr lang="pt-BR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18: Amdahl vs Gustafson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α=0.08, N=128. Compute both speedups and state which scenario fits:</a:t>
            </a:r>
          </a:p>
          <a:p>
            <a:pPr lvl="1"/>
            <a:r>
              <a:t>(a) fixed dataset, (b) growing dataset.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738880"/>
            <a:ext cx="10972800" cy="238728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/>
              <a:t>Amdahl: </a:t>
            </a:r>
            <a:r>
              <a:rPr lang="en-US" sz="2400" dirty="0" smtClean="0"/>
              <a:t>S=1/[0.08+0.92/128]=1/[0.08+0.0071875]=1/0.0871875=11.47</a:t>
            </a:r>
          </a:p>
          <a:p>
            <a:r>
              <a:rPr lang="en-US" sz="2800" dirty="0" smtClean="0"/>
              <a:t>Gustafson: S=128−0.08×127=128−10.16=117.84</a:t>
            </a:r>
          </a:p>
          <a:p>
            <a:pPr lvl="1"/>
            <a:endParaRPr lang="en-US" sz="2400" dirty="0" smtClean="0"/>
          </a:p>
          <a:p>
            <a:r>
              <a:rPr lang="en-US" sz="2800" dirty="0" smtClean="0"/>
              <a:t>Fixed dataset → Amdahl more realistic; Growing dataset → Gustafson more relevant.</a:t>
            </a:r>
            <a:endParaRPr lang="en-US" sz="2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19: Mixed Workload Speedup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system runs 60% time on a parallelizable kernel (P=0.95 within kernel),</a:t>
            </a:r>
          </a:p>
          <a:p>
            <a:pPr lvl="1"/>
            <a:r>
              <a:t>40% time on serial I/O. Using N=32, estimate overall Amdahl speedup.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4018281"/>
            <a:ext cx="10972800" cy="2412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smtClean="0"/>
              <a:t>Overall serial fraction includes all serial I/O plus kernel serial part.</a:t>
            </a:r>
          </a:p>
          <a:p>
            <a:pPr lvl="1"/>
            <a:r>
              <a:rPr lang="en-US" sz="2400" smtClean="0"/>
              <a:t>Kernel serial part = 0.60×(1−0.95)=0.60×0.05=0.03</a:t>
            </a:r>
          </a:p>
          <a:p>
            <a:pPr lvl="1"/>
            <a:r>
              <a:rPr lang="en-US" sz="2400" smtClean="0"/>
              <a:t>Serial I/O = 0.40</a:t>
            </a:r>
          </a:p>
          <a:p>
            <a:pPr lvl="1"/>
            <a:r>
              <a:rPr lang="en-US" sz="2400" smtClean="0"/>
              <a:t>Total serial </a:t>
            </a:r>
            <a:r>
              <a:rPr lang="el-GR" sz="2400" smtClean="0"/>
              <a:t>α = 0.43, </a:t>
            </a:r>
            <a:r>
              <a:rPr lang="en-US" sz="2400" smtClean="0"/>
              <a:t>parallel part = 0.57</a:t>
            </a:r>
          </a:p>
          <a:p>
            <a:pPr lvl="1"/>
            <a:r>
              <a:rPr lang="en-US" sz="2400" smtClean="0"/>
              <a:t>S=1/[0.43+0.57/32]=1/[0.43+0.0178125]=1/0.4478125=2.233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20: Determine if More CPUs Worth 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job takes 10 hours on 1 CPU. P=0.97.</a:t>
            </a:r>
          </a:p>
          <a:p>
            <a:pPr lvl="1"/>
            <a:r>
              <a:t>Compute Tp on N=64 and N=128. Is doubling CPUs worth it?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154681"/>
            <a:ext cx="10972800" cy="27279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S(64)=1/[0.03+0.97/64]=1/[0.03+0.015156]=1/0.045156=22.14</a:t>
            </a:r>
          </a:p>
          <a:p>
            <a:pPr lvl="1"/>
            <a:r>
              <a:rPr lang="en-US" smtClean="0"/>
              <a:t>Tp(64)=10/22.14=0.452 h ≈ 27.1 min</a:t>
            </a:r>
          </a:p>
          <a:p>
            <a:pPr lvl="1"/>
            <a:r>
              <a:rPr lang="en-US" smtClean="0"/>
              <a:t>S(128)=1/[0.03+0.97/128]=1/[0.03+0.007578]=1/0.037578=26.61</a:t>
            </a:r>
          </a:p>
          <a:p>
            <a:pPr lvl="1"/>
            <a:r>
              <a:rPr lang="en-US" smtClean="0"/>
              <a:t>Tp(128)=10/26.61=0.376 h ≈ 22.6 min</a:t>
            </a:r>
          </a:p>
          <a:p>
            <a:pPr lvl="1"/>
            <a:r>
              <a:rPr lang="en-US" smtClean="0"/>
              <a:t>Doubling CPUs saves ~4.5 minutes → often not worth extra cost.</a:t>
            </a:r>
            <a:endParaRPr 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21: Gustafson for Service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 service has α=0.03 per request (serial coordination), N=48 servers.</a:t>
            </a:r>
          </a:p>
          <a:p>
            <a:pPr lvl="1"/>
            <a:r>
              <a:t>Compute Gustafson speedup and interpret for scaling users.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896361"/>
            <a:ext cx="10972800" cy="16814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Sg=48−0.03×47=48−1.41=46.59</a:t>
            </a:r>
          </a:p>
          <a:p>
            <a:pPr lvl="1"/>
            <a:r>
              <a:rPr lang="en-US" smtClean="0"/>
              <a:t>Interpretation: with proportional load growth, capacity scales ~46.6× over single server (idealized).</a:t>
            </a:r>
            <a:endParaRPr lang="en-US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22: Serial Reduction Benefit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Amdahl scenario: N=64, P=0.95. Compute S.</a:t>
            </a:r>
          </a:p>
          <a:p>
            <a:pPr lvl="1"/>
            <a:r>
              <a:t>Then improve code to P=0.98 and recompute. Compare gains.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591561"/>
            <a:ext cx="10972800" cy="223011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S1=1/[0.05+0.95/64]=1/[0.05+0.014844]=1/0.064844=15.42</a:t>
            </a:r>
          </a:p>
          <a:p>
            <a:pPr lvl="1"/>
            <a:r>
              <a:rPr lang="en-US" smtClean="0"/>
              <a:t>S2=1/[0.02+0.98/64]=1/[0.02+0.015313]=1/0.035313=28.33</a:t>
            </a:r>
          </a:p>
          <a:p>
            <a:r>
              <a:rPr lang="en-US" smtClean="0"/>
              <a:t>Reducing serial fraction yields much bigger improvement than adding CPUs.</a:t>
            </a:r>
            <a:endParaRPr lang="en-U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23: Solve for α from Amdahl Limit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Maximum observed speedup saturates near 20× even with many CPUs.</a:t>
            </a:r>
          </a:p>
          <a:p>
            <a:pPr lvl="1"/>
            <a:r>
              <a:t>Estimate serial fraction α.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3794761"/>
            <a:ext cx="10972800" cy="12039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mtClean="0"/>
              <a:t>Amdahl limit: S(∞)=1/</a:t>
            </a:r>
            <a:r>
              <a:rPr lang="el-GR" smtClean="0"/>
              <a:t>α</a:t>
            </a:r>
          </a:p>
          <a:p>
            <a:pPr lvl="1"/>
            <a:r>
              <a:rPr lang="el-GR" smtClean="0"/>
              <a:t>20 = 1/α → α = 0.05 (5% </a:t>
            </a:r>
            <a:r>
              <a:rPr lang="en-US" smtClean="0"/>
              <a:t>serial)</a:t>
            </a:r>
            <a:endParaRPr 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Problem 24: Combined Metric (Speedup &amp; Efficiency)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 α=0.06, N=24 (Amdahl): compute speedup and efficiency.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2738121"/>
            <a:ext cx="10972800" cy="132587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mtClean="0"/>
              <a:t>S=1/[0.06+0.94/24]=1/[0.06+0.039167]=1/0.099167=10.08</a:t>
            </a:r>
          </a:p>
          <a:p>
            <a:r>
              <a:rPr lang="pt-BR" smtClean="0"/>
              <a:t>E=S/N=10.08/24=0.42=42%</a:t>
            </a:r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2892</Words>
  <Application>Microsoft Office PowerPoint</Application>
  <PresentationFormat>Widescreen</PresentationFormat>
  <Paragraphs>401</Paragraphs>
  <Slides>48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Insights: Gustafson’s Law and Amdahl’s Law</vt:lpstr>
      <vt:lpstr>Introduction to Parallel Speedup Laws</vt:lpstr>
      <vt:lpstr>Amdahl’s Law – Definition</vt:lpstr>
      <vt:lpstr>Amdahl’s Law – Interpretation</vt:lpstr>
      <vt:lpstr>Gustafson’s Law – Definition</vt:lpstr>
      <vt:lpstr>Gustafson’s Law – Interpretation</vt:lpstr>
      <vt:lpstr>Interpretation &amp; Decision Framework</vt:lpstr>
      <vt:lpstr>Fixed Problem Size Scenario</vt:lpstr>
      <vt:lpstr>Step 1: Identify Scaling Scenario</vt:lpstr>
      <vt:lpstr>PowerPoint Presentation</vt:lpstr>
      <vt:lpstr>PowerPoint Presentation</vt:lpstr>
      <vt:lpstr>Amdahl’s Law Applications</vt:lpstr>
      <vt:lpstr>Real-World Applications</vt:lpstr>
      <vt:lpstr>Scientific Simulations</vt:lpstr>
      <vt:lpstr>Numerical Example Analysis</vt:lpstr>
      <vt:lpstr>PowerPoint Presentation</vt:lpstr>
      <vt:lpstr>Given Problem</vt:lpstr>
      <vt:lpstr>Scaling in Practice</vt:lpstr>
      <vt:lpstr>Numerical Exercises (with Solutions)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Problem 1: Amdahl Speedup</vt:lpstr>
      <vt:lpstr>Problem 2: Maximum Speedup Limit</vt:lpstr>
      <vt:lpstr>Problem 3: Processors Needed (Amdahl)</vt:lpstr>
      <vt:lpstr>Problem 4: Parallel Efficiency</vt:lpstr>
      <vt:lpstr>Problem 5: Runtime on N Processors (Amdahl)</vt:lpstr>
      <vt:lpstr>Problem 6: Gustafson Speedup</vt:lpstr>
      <vt:lpstr>Problem 7: Compare Amdahl vs Gustafson</vt:lpstr>
      <vt:lpstr>Problem 8: Estimate Serial Fraction from Speedup</vt:lpstr>
      <vt:lpstr>Problem 9: Communication Overhead Impact</vt:lpstr>
      <vt:lpstr>Problem 10: Find Serial Fraction (Gustafson)</vt:lpstr>
      <vt:lpstr>Problem 11: Diminishing Returns</vt:lpstr>
      <vt:lpstr>Problem 12: Efficiency at Scale</vt:lpstr>
      <vt:lpstr>Problem 13: When Adding CPUs Stops Helping</vt:lpstr>
      <vt:lpstr>Problem 14: Serial/Parallel Time Decomposition</vt:lpstr>
      <vt:lpstr>Problem 15: Scaled Workload Interpretation</vt:lpstr>
      <vt:lpstr>Problem 16: Find P from Amdahl Data</vt:lpstr>
      <vt:lpstr>Problem 17: Target Efficiency Constraint</vt:lpstr>
      <vt:lpstr>Problem 18: Amdahl vs Gustafson Decision</vt:lpstr>
      <vt:lpstr>Problem 19: Mixed Workload Speedup</vt:lpstr>
      <vt:lpstr>Problem 20: Determine if More CPUs Worth It</vt:lpstr>
      <vt:lpstr>Problem 21: Gustafson for Service Scaling</vt:lpstr>
      <vt:lpstr>Problem 22: Serial Reduction Benefit</vt:lpstr>
      <vt:lpstr>Problem 23: Solve for α from Amdahl Limit</vt:lpstr>
      <vt:lpstr>Problem 24: Combined Metric (Speedup &amp; Efficiency)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Insights: Gustafson’s Law and Amdahl’s Law</dc:title>
  <dc:subject/>
  <dc:creator>Danish Mahmood</dc:creator>
  <cp:keywords/>
  <dc:description>generated using python-pptx</dc:description>
  <cp:lastModifiedBy>Danish Mahmood</cp:lastModifiedBy>
  <cp:revision>10</cp:revision>
  <dcterms:created xsi:type="dcterms:W3CDTF">2013-01-27T09:14:16Z</dcterms:created>
  <dcterms:modified xsi:type="dcterms:W3CDTF">2026-02-15T18:54:51Z</dcterms:modified>
  <cp:category/>
</cp:coreProperties>
</file>