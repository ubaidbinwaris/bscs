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0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3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3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6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2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8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0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7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4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5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F05A4-C93B-48A0-BA36-96FFFD6F36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E50F5-D0BB-4BFC-AE81-0591583D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Numerical examples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Performance analysis- Parallel and Distributed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1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EAEA982-E77D-AB00-3EA7-0A50F1249E21}"/>
              </a:ext>
            </a:extLst>
          </p:cNvPr>
          <p:cNvSpPr txBox="1"/>
          <p:nvPr/>
        </p:nvSpPr>
        <p:spPr>
          <a:xfrm>
            <a:off x="2406917" y="1255514"/>
            <a:ext cx="6093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Foundation Metrics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1883253-E143-1662-FB9E-6559BD08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07" y="2176287"/>
            <a:ext cx="11605671" cy="2963390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25907" y="5197456"/>
            <a:ext cx="112174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S, high 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scales well; overheads/serial fraction small.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S, low 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good absolute speed but diminishing returns (likely overheads or load imbalance).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S even for large 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serial bottleneck dominates (increase parallel fraction or reduce sync/I/O).</a:t>
            </a:r>
          </a:p>
        </p:txBody>
      </p:sp>
    </p:spTree>
    <p:extLst>
      <p:ext uri="{BB962C8B-B14F-4D97-AF65-F5344CB8AC3E}">
        <p14:creationId xmlns:p14="http://schemas.microsoft.com/office/powerpoint/2010/main" val="332114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913" y="502276"/>
            <a:ext cx="86030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 1 — Basic Speedup and Efficiency</a:t>
            </a:r>
          </a:p>
          <a:p>
            <a:r>
              <a:rPr lang="en-US" dirty="0" smtClean="0"/>
              <a:t>A sequential program takes </a:t>
            </a:r>
            <a:r>
              <a:rPr lang="en-US" b="1" dirty="0" smtClean="0"/>
              <a:t>100 seconds</a:t>
            </a:r>
            <a:r>
              <a:rPr lang="en-US" dirty="0" smtClean="0"/>
              <a:t> to execute.</a:t>
            </a:r>
            <a:br>
              <a:rPr lang="en-US" dirty="0" smtClean="0"/>
            </a:br>
            <a:r>
              <a:rPr lang="en-US" dirty="0" smtClean="0"/>
              <a:t>When parallelized on </a:t>
            </a:r>
            <a:r>
              <a:rPr lang="en-US" b="1" dirty="0" smtClean="0"/>
              <a:t>4 cores</a:t>
            </a:r>
            <a:r>
              <a:rPr lang="en-US" dirty="0" smtClean="0"/>
              <a:t>, the execution time becomes </a:t>
            </a:r>
            <a:r>
              <a:rPr lang="en-US" b="1" dirty="0" smtClean="0"/>
              <a:t>30 seconds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Find: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Speedup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Efficiency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11" y="2621990"/>
            <a:ext cx="5466411" cy="238502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7843" y="5372404"/>
            <a:ext cx="84013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program runs 3.33× faster and uses 83% of the available parallel capacity efficiently.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64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549" y="503890"/>
            <a:ext cx="655534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 2 — Amdahl’s Law Application</a:t>
            </a:r>
          </a:p>
          <a:p>
            <a:r>
              <a:rPr lang="en-US" dirty="0" smtClean="0"/>
              <a:t>A program is </a:t>
            </a:r>
            <a:r>
              <a:rPr lang="en-US" b="1" dirty="0" smtClean="0"/>
              <a:t>25% sequential</a:t>
            </a:r>
            <a:r>
              <a:rPr lang="en-US" dirty="0" smtClean="0"/>
              <a:t> and </a:t>
            </a:r>
            <a:r>
              <a:rPr lang="en-US" b="1" dirty="0" smtClean="0"/>
              <a:t>75% parallelizable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Compute speedup on </a:t>
            </a:r>
            <a:r>
              <a:rPr lang="en-US" b="1" dirty="0" smtClean="0"/>
              <a:t>8 processors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Even with 8 processors, sequential bottlenecks limit total speedup to only 2.9×.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56" y="2110524"/>
            <a:ext cx="8439150" cy="205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9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8440" y="359055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Example 3 — Gustafson’s Law (Scaled Problem Size)</a:t>
            </a:r>
          </a:p>
          <a:p>
            <a:r>
              <a:rPr lang="en-US" dirty="0" smtClean="0"/>
              <a:t>If 10% of a task is sequential and 90% is parallelizable, find the </a:t>
            </a:r>
            <a:r>
              <a:rPr lang="en-US" b="1" dirty="0" smtClean="0"/>
              <a:t>speedup</a:t>
            </a:r>
            <a:r>
              <a:rPr lang="en-US" dirty="0" smtClean="0"/>
              <a:t> for 16 cores.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When workload scales with more cores, efficiency remains high — nearly linear scalability.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410" y="1832287"/>
            <a:ext cx="5626256" cy="183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1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68277" y="225963"/>
            <a:ext cx="533427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 smtClean="0"/>
              <a:t>SOLUTION: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Parallel Image Pipeline — Speedup &amp;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Given (per image tile)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System: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20 worker nodes, work-stealing scheduler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Assumptions: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perfect load balance; linear scale with problem size; negligible scheduling overhead outside stated sync cost.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863" y="2255147"/>
            <a:ext cx="5753100" cy="4305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1284" y="112270"/>
            <a:ext cx="587679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 4 — </a:t>
            </a:r>
            <a:r>
              <a:rPr lang="en-US" dirty="0" smtClean="0"/>
              <a:t>A parallel image processing pipeline runs on 20 worker nodes using a work-stealing scheduler. Each image tile passes through the following three stages: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Assume:  The workload is perfectly balanced across all nodes (no idling).  The workload scales linearly with problem size (i.e., more tiles keep all 20 nodes busy). </a:t>
            </a:r>
          </a:p>
          <a:p>
            <a:pPr marL="342900" indent="-342900">
              <a:buAutoNum type="arabicPeriod"/>
            </a:pPr>
            <a:r>
              <a:rPr lang="en-US" dirty="0" smtClean="0"/>
              <a:t>Using Amdahl’s Law, calculate the maximum overall speedup achievable on 20 nodes. </a:t>
            </a:r>
          </a:p>
          <a:p>
            <a:pPr marL="342900" indent="-342900">
              <a:buAutoNum type="arabicPeriod"/>
            </a:pPr>
            <a:r>
              <a:rPr lang="en-US" dirty="0" smtClean="0"/>
              <a:t>2. Using Gustafson’s Law, compute the projected speedup assuming the workload scales with problem size.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663150"/>
              </p:ext>
            </p:extLst>
          </p:nvPr>
        </p:nvGraphicFramePr>
        <p:xfrm>
          <a:off x="359803" y="1471243"/>
          <a:ext cx="5823665" cy="1828800"/>
        </p:xfrm>
        <a:graphic>
          <a:graphicData uri="http://schemas.openxmlformats.org/drawingml/2006/table">
            <a:tbl>
              <a:tblPr/>
              <a:tblGrid>
                <a:gridCol w="1689816"/>
                <a:gridCol w="1429555"/>
                <a:gridCol w="270429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Fraction of total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Parallelism characteristics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perfectly parallelizable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10% serial (sync), 90% parallelizable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Compression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fully serial (I/O ordering)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46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58" y="96659"/>
            <a:ext cx="7419572" cy="38641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58" y="3858237"/>
            <a:ext cx="7780488" cy="1748709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3942" y="5781419"/>
            <a:ext cx="107152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workload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23% serial portion caps speedup at ~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3.7×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20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scaled workload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keeps all nodes busy, projected speedup is ~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15.6×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~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78% efficiency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616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316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Numerical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Danish Mehmood</dc:creator>
  <cp:lastModifiedBy>Dr. Danish Mehmood</cp:lastModifiedBy>
  <cp:revision>5</cp:revision>
  <dcterms:created xsi:type="dcterms:W3CDTF">2025-10-22T09:26:47Z</dcterms:created>
  <dcterms:modified xsi:type="dcterms:W3CDTF">2025-10-22T09:55:02Z</dcterms:modified>
</cp:coreProperties>
</file>