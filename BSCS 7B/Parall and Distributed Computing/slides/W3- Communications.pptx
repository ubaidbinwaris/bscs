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310" r:id="rId2"/>
    <p:sldId id="256" r:id="rId3"/>
    <p:sldId id="356" r:id="rId4"/>
    <p:sldId id="314" r:id="rId5"/>
    <p:sldId id="315" r:id="rId6"/>
    <p:sldId id="257" r:id="rId7"/>
    <p:sldId id="316" r:id="rId8"/>
    <p:sldId id="258" r:id="rId9"/>
    <p:sldId id="259" r:id="rId10"/>
    <p:sldId id="392" r:id="rId11"/>
    <p:sldId id="330" r:id="rId12"/>
    <p:sldId id="332" r:id="rId13"/>
    <p:sldId id="333" r:id="rId14"/>
    <p:sldId id="334" r:id="rId15"/>
    <p:sldId id="335" r:id="rId16"/>
    <p:sldId id="390" r:id="rId17"/>
    <p:sldId id="261" r:id="rId18"/>
    <p:sldId id="262" r:id="rId19"/>
    <p:sldId id="317" r:id="rId20"/>
    <p:sldId id="318" r:id="rId21"/>
    <p:sldId id="320" r:id="rId22"/>
    <p:sldId id="267" r:id="rId23"/>
    <p:sldId id="393" r:id="rId24"/>
    <p:sldId id="394" r:id="rId25"/>
  </p:sldIdLst>
  <p:sldSz cx="615315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8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74" autoAdjust="0"/>
    <p:restoredTop sz="87367" autoAdjust="0"/>
  </p:normalViewPr>
  <p:slideViewPr>
    <p:cSldViewPr>
      <p:cViewPr varScale="1">
        <p:scale>
          <a:sx n="174" d="100"/>
          <a:sy n="174" d="100"/>
        </p:scale>
        <p:origin x="156" y="138"/>
      </p:cViewPr>
      <p:guideLst>
        <p:guide orient="horz" pos="2880"/>
        <p:guide pos="288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5BA8F68C-4FD8-474D-9C03-4A81228629F9}" type="datetimeFigureOut">
              <a:rPr lang="en-US" smtClean="0"/>
              <a:t>3/9/2026</a:t>
            </a:fld>
            <a:endParaRPr lang="en-US"/>
          </a:p>
        </p:txBody>
      </p:sp>
      <p:sp>
        <p:nvSpPr>
          <p:cNvPr id="4" name="Slide Image Placeholder 3"/>
          <p:cNvSpPr>
            <a:spLocks noGrp="1" noRot="1" noChangeAspect="1"/>
          </p:cNvSpPr>
          <p:nvPr>
            <p:ph type="sldImg" idx="2"/>
          </p:nvPr>
        </p:nvSpPr>
        <p:spPr>
          <a:xfrm>
            <a:off x="1152525" y="260350"/>
            <a:ext cx="2305050" cy="12969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44650"/>
            <a:ext cx="3689350" cy="1557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3DBB60DC-45CA-4F65-B4F0-AA6A21B9C1CE}" type="slidenum">
              <a:rPr lang="en-US" smtClean="0"/>
              <a:t>‹#›</a:t>
            </a:fld>
            <a:endParaRPr lang="en-US"/>
          </a:p>
        </p:txBody>
      </p:sp>
    </p:spTree>
    <p:extLst>
      <p:ext uri="{BB962C8B-B14F-4D97-AF65-F5344CB8AC3E}">
        <p14:creationId xmlns:p14="http://schemas.microsoft.com/office/powerpoint/2010/main" val="4292098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260350"/>
            <a:ext cx="2305050" cy="1296988"/>
          </a:xfrm>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Additional transport protocols are regularly proposed. For example, to support</a:t>
            </a:r>
          </a:p>
          <a:p>
            <a:r>
              <a:rPr lang="en-US" sz="1200" kern="1200" dirty="0">
                <a:solidFill>
                  <a:schemeClr val="tx1"/>
                </a:solidFill>
                <a:latin typeface="+mn-lt"/>
                <a:ea typeface="+mn-ea"/>
                <a:cs typeface="+mn-cs"/>
              </a:rPr>
              <a:t>real-time data transfer, the </a:t>
            </a:r>
            <a:r>
              <a:rPr lang="en-US" sz="1200" b="1" kern="1200" dirty="0">
                <a:solidFill>
                  <a:schemeClr val="tx1"/>
                </a:solidFill>
                <a:latin typeface="+mn-lt"/>
                <a:ea typeface="+mn-ea"/>
                <a:cs typeface="+mn-cs"/>
              </a:rPr>
              <a:t>Real-time Transport Protocol (RTP) has been</a:t>
            </a:r>
          </a:p>
          <a:p>
            <a:r>
              <a:rPr lang="en-US" sz="1200" kern="1200" dirty="0">
                <a:solidFill>
                  <a:schemeClr val="tx1"/>
                </a:solidFill>
                <a:latin typeface="+mn-lt"/>
                <a:ea typeface="+mn-ea"/>
                <a:cs typeface="+mn-cs"/>
              </a:rPr>
              <a:t>deﬁned. RTP is a framework protocol in the sense that it speciﬁes packet formats</a:t>
            </a:r>
          </a:p>
          <a:p>
            <a:r>
              <a:rPr lang="en-US" sz="1200" kern="1200" dirty="0">
                <a:solidFill>
                  <a:schemeClr val="tx1"/>
                </a:solidFill>
                <a:latin typeface="+mn-lt"/>
                <a:ea typeface="+mn-ea"/>
                <a:cs typeface="+mn-cs"/>
              </a:rPr>
              <a:t>for real-time data without providing the actual mechanisms for guaranteeing</a:t>
            </a:r>
          </a:p>
          <a:p>
            <a:r>
              <a:rPr lang="en-US" sz="1200" kern="1200" dirty="0">
                <a:solidFill>
                  <a:schemeClr val="tx1"/>
                </a:solidFill>
                <a:latin typeface="+mn-lt"/>
                <a:ea typeface="+mn-ea"/>
                <a:cs typeface="+mn-cs"/>
              </a:rPr>
              <a:t>data delivery. In addition, it speciﬁes a protocol for monitoring and controlling</a:t>
            </a:r>
          </a:p>
          <a:p>
            <a:r>
              <a:rPr lang="en-US" sz="1200" kern="1200" dirty="0">
                <a:solidFill>
                  <a:schemeClr val="tx1"/>
                </a:solidFill>
                <a:latin typeface="+mn-lt"/>
                <a:ea typeface="+mn-ea"/>
                <a:cs typeface="+mn-cs"/>
              </a:rPr>
              <a:t>data transfer of RTP packets [</a:t>
            </a:r>
            <a:r>
              <a:rPr lang="en-US" sz="1200" kern="1200" dirty="0" err="1">
                <a:solidFill>
                  <a:schemeClr val="tx1"/>
                </a:solidFill>
                <a:latin typeface="+mn-lt"/>
                <a:ea typeface="+mn-ea"/>
                <a:cs typeface="+mn-cs"/>
              </a:rPr>
              <a:t>Schulzrinne</a:t>
            </a:r>
            <a:r>
              <a:rPr lang="en-US" sz="1200" kern="1200" dirty="0">
                <a:solidFill>
                  <a:schemeClr val="tx1"/>
                </a:solidFill>
                <a:latin typeface="+mn-lt"/>
                <a:ea typeface="+mn-ea"/>
                <a:cs typeface="+mn-cs"/>
              </a:rPr>
              <a:t> et al., 2003]. Likewise, the </a:t>
            </a:r>
            <a:r>
              <a:rPr lang="en-US" sz="1200" b="1" kern="1200" dirty="0">
                <a:solidFill>
                  <a:schemeClr val="tx1"/>
                </a:solidFill>
                <a:latin typeface="+mn-lt"/>
                <a:ea typeface="+mn-ea"/>
                <a:cs typeface="+mn-cs"/>
              </a:rPr>
              <a:t>Streaming</a:t>
            </a:r>
          </a:p>
          <a:p>
            <a:r>
              <a:rPr lang="en-US" sz="1200" b="1" kern="1200" dirty="0">
                <a:solidFill>
                  <a:schemeClr val="tx1"/>
                </a:solidFill>
                <a:latin typeface="+mn-lt"/>
                <a:ea typeface="+mn-ea"/>
                <a:cs typeface="+mn-cs"/>
              </a:rPr>
              <a:t>Control Transmission Protocol (SCTP) has been proposed as an alternative to</a:t>
            </a:r>
          </a:p>
          <a:p>
            <a:r>
              <a:rPr lang="en-US" sz="1200" kern="1200" dirty="0">
                <a:solidFill>
                  <a:schemeClr val="tx1"/>
                </a:solidFill>
                <a:latin typeface="+mn-lt"/>
                <a:ea typeface="+mn-ea"/>
                <a:cs typeface="+mn-cs"/>
              </a:rPr>
              <a:t>TCP [Stewart, 2007]. The main difference between SCTP and TCP is that SCTP</a:t>
            </a:r>
          </a:p>
          <a:p>
            <a:r>
              <a:rPr lang="en-US" sz="1200" kern="1200" dirty="0">
                <a:solidFill>
                  <a:schemeClr val="tx1"/>
                </a:solidFill>
                <a:latin typeface="+mn-lt"/>
                <a:ea typeface="+mn-ea"/>
                <a:cs typeface="+mn-cs"/>
              </a:rPr>
              <a:t>groups data into messages, whereas TCP merely moves bytes between processes.</a:t>
            </a:r>
          </a:p>
          <a:p>
            <a:r>
              <a:rPr lang="en-US" sz="1200" kern="1200" dirty="0">
                <a:solidFill>
                  <a:schemeClr val="tx1"/>
                </a:solidFill>
                <a:latin typeface="+mn-lt"/>
                <a:ea typeface="+mn-ea"/>
                <a:cs typeface="+mn-cs"/>
              </a:rPr>
              <a:t>Doing so may simplify application development.</a:t>
            </a:r>
            <a:endParaRPr lang="en-US" dirty="0"/>
          </a:p>
        </p:txBody>
      </p:sp>
      <p:sp>
        <p:nvSpPr>
          <p:cNvPr id="4" name="Slide Number Placeholder 3"/>
          <p:cNvSpPr>
            <a:spLocks noGrp="1"/>
          </p:cNvSpPr>
          <p:nvPr>
            <p:ph type="sldNum" sz="quarter" idx="10"/>
          </p:nvPr>
        </p:nvSpPr>
        <p:spPr/>
        <p:txBody>
          <a:bodyPr/>
          <a:lstStyle/>
          <a:p>
            <a:fld id="{3DBB60DC-45CA-4F65-B4F0-AA6A21B9C1CE}" type="slidenum">
              <a:rPr lang="en-US" smtClean="0"/>
              <a:t>9</a:t>
            </a:fld>
            <a:endParaRPr lang="en-US"/>
          </a:p>
        </p:txBody>
      </p:sp>
    </p:spTree>
    <p:extLst>
      <p:ext uri="{BB962C8B-B14F-4D97-AF65-F5344CB8AC3E}">
        <p14:creationId xmlns:p14="http://schemas.microsoft.com/office/powerpoint/2010/main" val="3526225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61487" y="1072833"/>
            <a:ext cx="5230178" cy="2154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922974" y="1938021"/>
            <a:ext cx="4307205" cy="153888"/>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Remote Procedure Call</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r>
              <a:rPr lang="en-US"/>
              <a:t>CS-4513, D-Term 2007</a:t>
            </a:r>
          </a:p>
        </p:txBody>
      </p:sp>
      <p:sp>
        <p:nvSpPr>
          <p:cNvPr id="6" name="Holder 6"/>
          <p:cNvSpPr>
            <a:spLocks noGrp="1"/>
          </p:cNvSpPr>
          <p:nvPr>
            <p:ph type="sldNum" sz="quarter" idx="7"/>
          </p:nvPr>
        </p:nvSpPr>
        <p:spPr/>
        <p:txBody>
          <a:bodyPr lIns="0" tIns="0" rIns="0" bIns="0"/>
          <a:lstStyle>
            <a:lvl1pPr>
              <a:defRPr sz="600" b="0" i="0">
                <a:solidFill>
                  <a:srgbClr val="04064C"/>
                </a:solidFill>
                <a:latin typeface="Arial"/>
                <a:cs typeface="Arial"/>
              </a:defRPr>
            </a:lvl1pPr>
          </a:lstStyle>
          <a:p>
            <a:pPr marL="38098">
              <a:spcBef>
                <a:spcPts val="70"/>
              </a:spcBef>
            </a:pPr>
            <a:fld id="{81D60167-4931-47E6-BA6A-407CBD079E47}" type="slidenum">
              <a:rPr lang="en-US" spc="-5" smtClean="0"/>
              <a:pPr marL="38098">
                <a:spcBef>
                  <a:spcPts val="70"/>
                </a:spcBef>
              </a:pPr>
              <a:t>‹#›</a:t>
            </a:fld>
            <a:r>
              <a:rPr lang="en-US" spc="-5"/>
              <a:t> /</a:t>
            </a:r>
            <a:r>
              <a:rPr lang="en-US" spc="-70"/>
              <a:t> </a:t>
            </a:r>
            <a:r>
              <a:rPr lang="en-US" spc="-5"/>
              <a:t>49</a:t>
            </a:r>
            <a:endParaRPr lang="en-US"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0" y="129034"/>
            <a:ext cx="6153150" cy="215444"/>
          </a:xfrm>
        </p:spPr>
        <p:txBody>
          <a:bodyPr lIns="0" tIns="0" rIns="0" bIns="0"/>
          <a:lstStyle>
            <a:lvl1pPr>
              <a:defRPr sz="1400" b="0" i="0">
                <a:solidFill>
                  <a:srgbClr val="04064C"/>
                </a:solidFill>
                <a:latin typeface="Arial"/>
                <a:cs typeface="Arial"/>
              </a:defRPr>
            </a:lvl1pPr>
          </a:lstStyle>
          <a:p>
            <a:endParaRPr/>
          </a:p>
        </p:txBody>
      </p:sp>
      <p:sp>
        <p:nvSpPr>
          <p:cNvPr id="3" name="Holder 3"/>
          <p:cNvSpPr>
            <a:spLocks noGrp="1"/>
          </p:cNvSpPr>
          <p:nvPr>
            <p:ph type="body" idx="1"/>
          </p:nvPr>
        </p:nvSpPr>
        <p:spPr>
          <a:xfrm>
            <a:off x="167966" y="1068319"/>
            <a:ext cx="5594620" cy="153888"/>
          </a:xfrm>
        </p:spPr>
        <p:txBody>
          <a:bodyPr lIns="0" tIns="0" rIns="0" bIns="0"/>
          <a:lstStyle>
            <a:lvl1pPr>
              <a:defRPr sz="1000" b="0" i="0">
                <a:solidFill>
                  <a:srgbClr val="0000FA"/>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Remote Procedure Call</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r>
              <a:rPr lang="en-US"/>
              <a:t>CS-4513, D-Term 2007</a:t>
            </a:r>
          </a:p>
        </p:txBody>
      </p:sp>
      <p:sp>
        <p:nvSpPr>
          <p:cNvPr id="6" name="Holder 6"/>
          <p:cNvSpPr>
            <a:spLocks noGrp="1"/>
          </p:cNvSpPr>
          <p:nvPr>
            <p:ph type="sldNum" sz="quarter" idx="7"/>
          </p:nvPr>
        </p:nvSpPr>
        <p:spPr/>
        <p:txBody>
          <a:bodyPr lIns="0" tIns="0" rIns="0" bIns="0"/>
          <a:lstStyle>
            <a:lvl1pPr>
              <a:defRPr sz="600" b="0" i="0">
                <a:solidFill>
                  <a:srgbClr val="04064C"/>
                </a:solidFill>
                <a:latin typeface="Arial"/>
                <a:cs typeface="Arial"/>
              </a:defRPr>
            </a:lvl1pPr>
          </a:lstStyle>
          <a:p>
            <a:pPr marL="38098">
              <a:spcBef>
                <a:spcPts val="70"/>
              </a:spcBef>
            </a:pPr>
            <a:fld id="{81D60167-4931-47E6-BA6A-407CBD079E47}" type="slidenum">
              <a:rPr lang="en-US" spc="-5" smtClean="0"/>
              <a:pPr marL="38098">
                <a:spcBef>
                  <a:spcPts val="70"/>
                </a:spcBef>
              </a:pPr>
              <a:t>‹#›</a:t>
            </a:fld>
            <a:r>
              <a:rPr lang="en-US" spc="-5"/>
              <a:t> /</a:t>
            </a:r>
            <a:r>
              <a:rPr lang="en-US" spc="-70"/>
              <a:t> </a:t>
            </a:r>
            <a:r>
              <a:rPr lang="en-US" spc="-5"/>
              <a:t>49</a:t>
            </a:r>
            <a:endParaRPr lang="en-US"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0" y="129034"/>
            <a:ext cx="6153150" cy="215444"/>
          </a:xfrm>
        </p:spPr>
        <p:txBody>
          <a:bodyPr lIns="0" tIns="0" rIns="0" bIns="0"/>
          <a:lstStyle>
            <a:lvl1pPr>
              <a:defRPr sz="1400" b="0" i="0">
                <a:solidFill>
                  <a:srgbClr val="04064C"/>
                </a:solidFill>
                <a:latin typeface="Arial"/>
                <a:cs typeface="Arial"/>
              </a:defRPr>
            </a:lvl1pPr>
          </a:lstStyle>
          <a:p>
            <a:endParaRPr/>
          </a:p>
        </p:txBody>
      </p:sp>
      <p:sp>
        <p:nvSpPr>
          <p:cNvPr id="3" name="Holder 3"/>
          <p:cNvSpPr>
            <a:spLocks noGrp="1"/>
          </p:cNvSpPr>
          <p:nvPr>
            <p:ph sz="half" idx="2"/>
          </p:nvPr>
        </p:nvSpPr>
        <p:spPr>
          <a:xfrm>
            <a:off x="307659" y="795973"/>
            <a:ext cx="2676620" cy="15388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168872" y="795973"/>
            <a:ext cx="2676620" cy="15388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a:t>Remote Procedure Call</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r>
              <a:rPr lang="en-US"/>
              <a:t>CS-4513, D-Term 2007</a:t>
            </a:r>
          </a:p>
        </p:txBody>
      </p:sp>
      <p:sp>
        <p:nvSpPr>
          <p:cNvPr id="7" name="Holder 7"/>
          <p:cNvSpPr>
            <a:spLocks noGrp="1"/>
          </p:cNvSpPr>
          <p:nvPr>
            <p:ph type="sldNum" sz="quarter" idx="7"/>
          </p:nvPr>
        </p:nvSpPr>
        <p:spPr/>
        <p:txBody>
          <a:bodyPr lIns="0" tIns="0" rIns="0" bIns="0"/>
          <a:lstStyle>
            <a:lvl1pPr>
              <a:defRPr sz="600" b="0" i="0">
                <a:solidFill>
                  <a:srgbClr val="04064C"/>
                </a:solidFill>
                <a:latin typeface="Arial"/>
                <a:cs typeface="Arial"/>
              </a:defRPr>
            </a:lvl1pPr>
          </a:lstStyle>
          <a:p>
            <a:pPr marL="38098">
              <a:spcBef>
                <a:spcPts val="70"/>
              </a:spcBef>
            </a:pPr>
            <a:fld id="{81D60167-4931-47E6-BA6A-407CBD079E47}" type="slidenum">
              <a:rPr lang="en-US" spc="-5" smtClean="0"/>
              <a:pPr marL="38098">
                <a:spcBef>
                  <a:spcPts val="70"/>
                </a:spcBef>
              </a:pPr>
              <a:t>‹#›</a:t>
            </a:fld>
            <a:r>
              <a:rPr lang="en-US" spc="-5"/>
              <a:t> /</a:t>
            </a:r>
            <a:r>
              <a:rPr lang="en-US" spc="-70"/>
              <a:t> </a:t>
            </a:r>
            <a:r>
              <a:rPr lang="en-US" spc="-5"/>
              <a:t>49</a:t>
            </a:r>
            <a:endParaRPr lang="en-US"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0" y="129034"/>
            <a:ext cx="6153150" cy="215444"/>
          </a:xfrm>
        </p:spPr>
        <p:txBody>
          <a:bodyPr lIns="0" tIns="0" rIns="0" bIns="0"/>
          <a:lstStyle>
            <a:lvl1pPr>
              <a:defRPr sz="1400" b="0" i="0">
                <a:solidFill>
                  <a:srgbClr val="04064C"/>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rPr lang="en-US"/>
              <a:t>Remote Procedure Call</a:t>
            </a:r>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r>
              <a:rPr lang="en-US"/>
              <a:t>CS-4513, D-Term 2007</a:t>
            </a:r>
          </a:p>
        </p:txBody>
      </p:sp>
      <p:sp>
        <p:nvSpPr>
          <p:cNvPr id="5" name="Holder 5"/>
          <p:cNvSpPr>
            <a:spLocks noGrp="1"/>
          </p:cNvSpPr>
          <p:nvPr>
            <p:ph type="sldNum" sz="quarter" idx="7"/>
          </p:nvPr>
        </p:nvSpPr>
        <p:spPr/>
        <p:txBody>
          <a:bodyPr lIns="0" tIns="0" rIns="0" bIns="0"/>
          <a:lstStyle>
            <a:lvl1pPr>
              <a:defRPr sz="600" b="0" i="0">
                <a:solidFill>
                  <a:srgbClr val="04064C"/>
                </a:solidFill>
                <a:latin typeface="Arial"/>
                <a:cs typeface="Arial"/>
              </a:defRPr>
            </a:lvl1pPr>
          </a:lstStyle>
          <a:p>
            <a:pPr marL="38098">
              <a:spcBef>
                <a:spcPts val="70"/>
              </a:spcBef>
            </a:pPr>
            <a:fld id="{81D60167-4931-47E6-BA6A-407CBD079E47}" type="slidenum">
              <a:rPr lang="en-US" spc="-5" smtClean="0"/>
              <a:pPr marL="38098">
                <a:spcBef>
                  <a:spcPts val="70"/>
                </a:spcBef>
              </a:pPr>
              <a:t>‹#›</a:t>
            </a:fld>
            <a:r>
              <a:rPr lang="en-US" spc="-5"/>
              <a:t> /</a:t>
            </a:r>
            <a:r>
              <a:rPr lang="en-US" spc="-70"/>
              <a:t> </a:t>
            </a:r>
            <a:r>
              <a:rPr lang="en-US" spc="-5"/>
              <a:t>49</a:t>
            </a:r>
            <a:endParaRPr lang="en-US"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7112" y="671994"/>
            <a:ext cx="5916686" cy="82550"/>
          </a:xfrm>
          <a:custGeom>
            <a:avLst/>
            <a:gdLst/>
            <a:ahLst/>
            <a:cxnLst/>
            <a:rect l="l" t="t" r="r" b="b"/>
            <a:pathLst>
              <a:path w="4432935" h="82550">
                <a:moveTo>
                  <a:pt x="4381767" y="0"/>
                </a:moveTo>
                <a:lnTo>
                  <a:pt x="50800" y="0"/>
                </a:lnTo>
                <a:lnTo>
                  <a:pt x="31075" y="4008"/>
                </a:lnTo>
                <a:lnTo>
                  <a:pt x="14922" y="14922"/>
                </a:lnTo>
                <a:lnTo>
                  <a:pt x="4008" y="31075"/>
                </a:lnTo>
                <a:lnTo>
                  <a:pt x="0" y="50800"/>
                </a:lnTo>
                <a:lnTo>
                  <a:pt x="0" y="82384"/>
                </a:lnTo>
                <a:lnTo>
                  <a:pt x="4432567" y="82384"/>
                </a:lnTo>
                <a:lnTo>
                  <a:pt x="4432567" y="50800"/>
                </a:lnTo>
                <a:lnTo>
                  <a:pt x="4428558" y="31075"/>
                </a:lnTo>
                <a:lnTo>
                  <a:pt x="4417644" y="14922"/>
                </a:lnTo>
                <a:lnTo>
                  <a:pt x="4401492" y="4008"/>
                </a:lnTo>
                <a:lnTo>
                  <a:pt x="4381767" y="0"/>
                </a:lnTo>
                <a:close/>
              </a:path>
            </a:pathLst>
          </a:custGeom>
          <a:solidFill>
            <a:srgbClr val="FFE200"/>
          </a:solidFill>
        </p:spPr>
        <p:txBody>
          <a:bodyPr wrap="square" lIns="0" tIns="0" rIns="0" bIns="0" rtlCol="0"/>
          <a:lstStyle/>
          <a:p>
            <a:endParaRPr sz="1800"/>
          </a:p>
        </p:txBody>
      </p:sp>
      <p:sp>
        <p:nvSpPr>
          <p:cNvPr id="17" name="bg object 17"/>
          <p:cNvSpPr/>
          <p:nvPr/>
        </p:nvSpPr>
        <p:spPr>
          <a:xfrm>
            <a:off x="184918" y="1225334"/>
            <a:ext cx="135605" cy="101600"/>
          </a:xfrm>
          <a:prstGeom prst="rect">
            <a:avLst/>
          </a:prstGeom>
          <a:blipFill>
            <a:blip r:embed="rId2" cstate="print"/>
            <a:stretch>
              <a:fillRect/>
            </a:stretch>
          </a:blipFill>
        </p:spPr>
        <p:txBody>
          <a:bodyPr wrap="square" lIns="0" tIns="0" rIns="0" bIns="0" rtlCol="0"/>
          <a:lstStyle/>
          <a:p>
            <a:endParaRPr sz="1800"/>
          </a:p>
        </p:txBody>
      </p:sp>
      <p:sp>
        <p:nvSpPr>
          <p:cNvPr id="18" name="bg object 18"/>
          <p:cNvSpPr/>
          <p:nvPr/>
        </p:nvSpPr>
        <p:spPr>
          <a:xfrm>
            <a:off x="252720" y="1212634"/>
            <a:ext cx="5848322" cy="114300"/>
          </a:xfrm>
          <a:prstGeom prst="rect">
            <a:avLst/>
          </a:prstGeom>
          <a:blipFill>
            <a:blip r:embed="rId3" cstate="print"/>
            <a:stretch>
              <a:fillRect/>
            </a:stretch>
          </a:blipFill>
        </p:spPr>
        <p:txBody>
          <a:bodyPr wrap="square" lIns="0" tIns="0" rIns="0" bIns="0" rtlCol="0"/>
          <a:lstStyle/>
          <a:p>
            <a:endParaRPr sz="1800"/>
          </a:p>
        </p:txBody>
      </p:sp>
      <p:sp>
        <p:nvSpPr>
          <p:cNvPr id="19" name="bg object 19"/>
          <p:cNvSpPr/>
          <p:nvPr/>
        </p:nvSpPr>
        <p:spPr>
          <a:xfrm>
            <a:off x="6033310" y="722566"/>
            <a:ext cx="67735" cy="502767"/>
          </a:xfrm>
          <a:prstGeom prst="rect">
            <a:avLst/>
          </a:prstGeom>
          <a:blipFill>
            <a:blip r:embed="rId4" cstate="print"/>
            <a:stretch>
              <a:fillRect/>
            </a:stretch>
          </a:blipFill>
        </p:spPr>
        <p:txBody>
          <a:bodyPr wrap="square" lIns="0" tIns="0" rIns="0" bIns="0" rtlCol="0"/>
          <a:lstStyle/>
          <a:p>
            <a:endParaRPr sz="1800"/>
          </a:p>
        </p:txBody>
      </p:sp>
      <p:sp>
        <p:nvSpPr>
          <p:cNvPr id="20" name="bg object 20"/>
          <p:cNvSpPr/>
          <p:nvPr/>
        </p:nvSpPr>
        <p:spPr>
          <a:xfrm>
            <a:off x="117112" y="716422"/>
            <a:ext cx="5916686" cy="560070"/>
          </a:xfrm>
          <a:custGeom>
            <a:avLst/>
            <a:gdLst/>
            <a:ahLst/>
            <a:cxnLst/>
            <a:rect l="l" t="t" r="r" b="b"/>
            <a:pathLst>
              <a:path w="4432935" h="560069">
                <a:moveTo>
                  <a:pt x="4432567" y="0"/>
                </a:moveTo>
                <a:lnTo>
                  <a:pt x="0" y="0"/>
                </a:lnTo>
                <a:lnTo>
                  <a:pt x="0" y="508911"/>
                </a:lnTo>
                <a:lnTo>
                  <a:pt x="4008" y="528636"/>
                </a:lnTo>
                <a:lnTo>
                  <a:pt x="14922" y="544789"/>
                </a:lnTo>
                <a:lnTo>
                  <a:pt x="31075" y="555703"/>
                </a:lnTo>
                <a:lnTo>
                  <a:pt x="50800" y="559712"/>
                </a:lnTo>
                <a:lnTo>
                  <a:pt x="4381767" y="559712"/>
                </a:lnTo>
                <a:lnTo>
                  <a:pt x="4401492" y="555703"/>
                </a:lnTo>
                <a:lnTo>
                  <a:pt x="4417644" y="544789"/>
                </a:lnTo>
                <a:lnTo>
                  <a:pt x="4428558" y="528636"/>
                </a:lnTo>
                <a:lnTo>
                  <a:pt x="4432567" y="508911"/>
                </a:lnTo>
                <a:lnTo>
                  <a:pt x="4432567" y="0"/>
                </a:lnTo>
                <a:close/>
              </a:path>
            </a:pathLst>
          </a:custGeom>
          <a:solidFill>
            <a:srgbClr val="FFE200"/>
          </a:solidFill>
        </p:spPr>
        <p:txBody>
          <a:bodyPr wrap="square" lIns="0" tIns="0" rIns="0" bIns="0" rtlCol="0"/>
          <a:lstStyle/>
          <a:p>
            <a:endParaRPr sz="1800"/>
          </a:p>
        </p:txBody>
      </p:sp>
      <p:sp>
        <p:nvSpPr>
          <p:cNvPr id="21" name="bg object 21"/>
          <p:cNvSpPr/>
          <p:nvPr/>
        </p:nvSpPr>
        <p:spPr>
          <a:xfrm>
            <a:off x="6033308" y="760658"/>
            <a:ext cx="0" cy="483870"/>
          </a:xfrm>
          <a:custGeom>
            <a:avLst/>
            <a:gdLst/>
            <a:ahLst/>
            <a:cxnLst/>
            <a:rect l="l" t="t" r="r" b="b"/>
            <a:pathLst>
              <a:path h="483869">
                <a:moveTo>
                  <a:pt x="0" y="483724"/>
                </a:moveTo>
                <a:lnTo>
                  <a:pt x="0" y="0"/>
                </a:lnTo>
              </a:path>
            </a:pathLst>
          </a:custGeom>
          <a:ln w="3175">
            <a:solidFill>
              <a:srgbClr val="7F7F7F"/>
            </a:solidFill>
          </a:ln>
        </p:spPr>
        <p:txBody>
          <a:bodyPr wrap="square" lIns="0" tIns="0" rIns="0" bIns="0" rtlCol="0"/>
          <a:lstStyle/>
          <a:p>
            <a:endParaRPr sz="1800"/>
          </a:p>
        </p:txBody>
      </p:sp>
      <p:sp>
        <p:nvSpPr>
          <p:cNvPr id="22" name="bg object 22"/>
          <p:cNvSpPr/>
          <p:nvPr/>
        </p:nvSpPr>
        <p:spPr>
          <a:xfrm>
            <a:off x="6033308" y="747958"/>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800"/>
          </a:p>
        </p:txBody>
      </p:sp>
      <p:sp>
        <p:nvSpPr>
          <p:cNvPr id="23" name="bg object 23"/>
          <p:cNvSpPr/>
          <p:nvPr/>
        </p:nvSpPr>
        <p:spPr>
          <a:xfrm>
            <a:off x="6033308" y="735258"/>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800"/>
          </a:p>
        </p:txBody>
      </p:sp>
      <p:sp>
        <p:nvSpPr>
          <p:cNvPr id="24" name="bg object 24"/>
          <p:cNvSpPr/>
          <p:nvPr/>
        </p:nvSpPr>
        <p:spPr>
          <a:xfrm>
            <a:off x="6033308" y="722558"/>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800"/>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en-US"/>
              <a:t>Remote Procedure Call</a:t>
            </a:r>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r>
              <a:rPr lang="en-US"/>
              <a:t>CS-4513, D-Term 2007</a:t>
            </a:r>
          </a:p>
        </p:txBody>
      </p:sp>
      <p:sp>
        <p:nvSpPr>
          <p:cNvPr id="4" name="Holder 4"/>
          <p:cNvSpPr>
            <a:spLocks noGrp="1"/>
          </p:cNvSpPr>
          <p:nvPr>
            <p:ph type="sldNum" sz="quarter" idx="7"/>
          </p:nvPr>
        </p:nvSpPr>
        <p:spPr/>
        <p:txBody>
          <a:bodyPr lIns="0" tIns="0" rIns="0" bIns="0"/>
          <a:lstStyle>
            <a:lvl1pPr>
              <a:defRPr sz="600" b="0" i="0">
                <a:solidFill>
                  <a:srgbClr val="04064C"/>
                </a:solidFill>
                <a:latin typeface="Arial"/>
                <a:cs typeface="Arial"/>
              </a:defRPr>
            </a:lvl1pPr>
          </a:lstStyle>
          <a:p>
            <a:pPr marL="38098">
              <a:spcBef>
                <a:spcPts val="70"/>
              </a:spcBef>
            </a:pPr>
            <a:fld id="{81D60167-4931-47E6-BA6A-407CBD079E47}" type="slidenum">
              <a:rPr lang="en-US" spc="-5" smtClean="0"/>
              <a:pPr marL="38098">
                <a:spcBef>
                  <a:spcPts val="70"/>
                </a:spcBef>
              </a:pPr>
              <a:t>‹#›</a:t>
            </a:fld>
            <a:r>
              <a:rPr lang="en-US" spc="-5"/>
              <a:t> /</a:t>
            </a:r>
            <a:r>
              <a:rPr lang="en-US" spc="-70"/>
              <a:t> </a:t>
            </a:r>
            <a:r>
              <a:rPr lang="en-US" spc="-5"/>
              <a:t>49</a:t>
            </a:r>
            <a:endParaRPr lang="en-US" spc="-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 y="1"/>
            <a:ext cx="3075727" cy="129539"/>
          </a:xfrm>
          <a:custGeom>
            <a:avLst/>
            <a:gdLst/>
            <a:ahLst/>
            <a:cxnLst/>
            <a:rect l="l" t="t" r="r" b="b"/>
            <a:pathLst>
              <a:path w="2304415" h="129539">
                <a:moveTo>
                  <a:pt x="2303995" y="0"/>
                </a:moveTo>
                <a:lnTo>
                  <a:pt x="0" y="0"/>
                </a:lnTo>
                <a:lnTo>
                  <a:pt x="0" y="129032"/>
                </a:lnTo>
                <a:lnTo>
                  <a:pt x="2303995" y="129032"/>
                </a:lnTo>
                <a:lnTo>
                  <a:pt x="2303995" y="0"/>
                </a:lnTo>
                <a:close/>
              </a:path>
            </a:pathLst>
          </a:custGeom>
          <a:solidFill>
            <a:srgbClr val="FCC11E"/>
          </a:solidFill>
        </p:spPr>
        <p:txBody>
          <a:bodyPr wrap="square" lIns="0" tIns="0" rIns="0" bIns="0" rtlCol="0"/>
          <a:lstStyle/>
          <a:p>
            <a:endParaRPr sz="1800"/>
          </a:p>
        </p:txBody>
      </p:sp>
      <p:sp>
        <p:nvSpPr>
          <p:cNvPr id="2" name="Holder 2"/>
          <p:cNvSpPr>
            <a:spLocks noGrp="1"/>
          </p:cNvSpPr>
          <p:nvPr>
            <p:ph type="title"/>
          </p:nvPr>
        </p:nvSpPr>
        <p:spPr>
          <a:xfrm>
            <a:off x="0" y="129033"/>
            <a:ext cx="6153150" cy="215444"/>
          </a:xfrm>
          <a:prstGeom prst="rect">
            <a:avLst/>
          </a:prstGeom>
        </p:spPr>
        <p:txBody>
          <a:bodyPr wrap="square" lIns="0" tIns="0" rIns="0" bIns="0">
            <a:spAutoFit/>
          </a:bodyPr>
          <a:lstStyle>
            <a:lvl1pPr>
              <a:defRPr sz="1400" b="0" i="0">
                <a:solidFill>
                  <a:srgbClr val="04064C"/>
                </a:solidFill>
                <a:latin typeface="Arial"/>
                <a:cs typeface="Arial"/>
              </a:defRPr>
            </a:lvl1pPr>
          </a:lstStyle>
          <a:p>
            <a:endParaRPr/>
          </a:p>
        </p:txBody>
      </p:sp>
      <p:sp>
        <p:nvSpPr>
          <p:cNvPr id="3" name="Holder 3"/>
          <p:cNvSpPr>
            <a:spLocks noGrp="1"/>
          </p:cNvSpPr>
          <p:nvPr>
            <p:ph type="body" idx="1"/>
          </p:nvPr>
        </p:nvSpPr>
        <p:spPr>
          <a:xfrm>
            <a:off x="167966" y="1068318"/>
            <a:ext cx="5594620" cy="153888"/>
          </a:xfrm>
          <a:prstGeom prst="rect">
            <a:avLst/>
          </a:prstGeom>
        </p:spPr>
        <p:txBody>
          <a:bodyPr wrap="square" lIns="0" tIns="0" rIns="0" bIns="0">
            <a:spAutoFit/>
          </a:bodyPr>
          <a:lstStyle>
            <a:lvl1pPr>
              <a:defRPr sz="1000" b="0" i="0">
                <a:solidFill>
                  <a:srgbClr val="0000FA"/>
                </a:solidFill>
                <a:latin typeface="Arial"/>
                <a:cs typeface="Arial"/>
              </a:defRPr>
            </a:lvl1pPr>
          </a:lstStyle>
          <a:p>
            <a:endParaRPr/>
          </a:p>
        </p:txBody>
      </p:sp>
      <p:sp>
        <p:nvSpPr>
          <p:cNvPr id="4" name="Holder 4"/>
          <p:cNvSpPr>
            <a:spLocks noGrp="1"/>
          </p:cNvSpPr>
          <p:nvPr>
            <p:ph type="ftr" sz="quarter" idx="5"/>
          </p:nvPr>
        </p:nvSpPr>
        <p:spPr>
          <a:xfrm>
            <a:off x="2092071" y="3218500"/>
            <a:ext cx="1969008" cy="276999"/>
          </a:xfrm>
          <a:prstGeom prst="rect">
            <a:avLst/>
          </a:prstGeom>
        </p:spPr>
        <p:txBody>
          <a:bodyPr wrap="square" lIns="0" tIns="0" rIns="0" bIns="0">
            <a:spAutoFit/>
          </a:bodyPr>
          <a:lstStyle>
            <a:lvl1pPr algn="ctr">
              <a:defRPr>
                <a:solidFill>
                  <a:schemeClr val="tx1">
                    <a:tint val="75000"/>
                  </a:schemeClr>
                </a:solidFill>
              </a:defRPr>
            </a:lvl1pPr>
          </a:lstStyle>
          <a:p>
            <a:r>
              <a:rPr lang="en-US"/>
              <a:t>Remote Procedure Call</a:t>
            </a:r>
            <a:endParaRPr/>
          </a:p>
        </p:txBody>
      </p:sp>
      <p:sp>
        <p:nvSpPr>
          <p:cNvPr id="5" name="Holder 5"/>
          <p:cNvSpPr>
            <a:spLocks noGrp="1"/>
          </p:cNvSpPr>
          <p:nvPr>
            <p:ph type="dt" sz="half" idx="6"/>
          </p:nvPr>
        </p:nvSpPr>
        <p:spPr>
          <a:xfrm>
            <a:off x="307659" y="3218499"/>
            <a:ext cx="1415225" cy="276999"/>
          </a:xfrm>
          <a:prstGeom prst="rect">
            <a:avLst/>
          </a:prstGeom>
        </p:spPr>
        <p:txBody>
          <a:bodyPr wrap="square" lIns="0" tIns="0" rIns="0" bIns="0">
            <a:spAutoFit/>
          </a:bodyPr>
          <a:lstStyle>
            <a:lvl1pPr algn="l">
              <a:defRPr>
                <a:solidFill>
                  <a:schemeClr val="tx1">
                    <a:tint val="75000"/>
                  </a:schemeClr>
                </a:solidFill>
              </a:defRPr>
            </a:lvl1pPr>
          </a:lstStyle>
          <a:p>
            <a:r>
              <a:rPr lang="en-US"/>
              <a:t>CS-4513, D-Term 2007</a:t>
            </a:r>
          </a:p>
        </p:txBody>
      </p:sp>
      <p:sp>
        <p:nvSpPr>
          <p:cNvPr id="6" name="Holder 6"/>
          <p:cNvSpPr>
            <a:spLocks noGrp="1"/>
          </p:cNvSpPr>
          <p:nvPr>
            <p:ph type="sldNum" sz="quarter" idx="7"/>
          </p:nvPr>
        </p:nvSpPr>
        <p:spPr>
          <a:xfrm>
            <a:off x="5683663" y="3331254"/>
            <a:ext cx="378003" cy="92333"/>
          </a:xfrm>
          <a:prstGeom prst="rect">
            <a:avLst/>
          </a:prstGeom>
        </p:spPr>
        <p:txBody>
          <a:bodyPr wrap="square" lIns="0" tIns="0" rIns="0" bIns="0">
            <a:spAutoFit/>
          </a:bodyPr>
          <a:lstStyle>
            <a:lvl1pPr>
              <a:defRPr sz="600" b="0" i="0">
                <a:solidFill>
                  <a:srgbClr val="04064C"/>
                </a:solidFill>
                <a:latin typeface="Arial"/>
                <a:cs typeface="Arial"/>
              </a:defRPr>
            </a:lvl1pPr>
          </a:lstStyle>
          <a:p>
            <a:pPr marL="38098">
              <a:spcBef>
                <a:spcPts val="70"/>
              </a:spcBef>
            </a:pPr>
            <a:fld id="{81D60167-4931-47E6-BA6A-407CBD079E47}" type="slidenum">
              <a:rPr lang="en-US" spc="-5" smtClean="0"/>
              <a:pPr marL="38098">
                <a:spcBef>
                  <a:spcPts val="70"/>
                </a:spcBef>
              </a:pPr>
              <a:t>‹#›</a:t>
            </a:fld>
            <a:r>
              <a:rPr lang="en-US" spc="-5"/>
              <a:t> /</a:t>
            </a:r>
            <a:r>
              <a:rPr lang="en-US" spc="-70"/>
              <a:t> </a:t>
            </a:r>
            <a:r>
              <a:rPr lang="en-US" spc="-5"/>
              <a:t>49</a:t>
            </a:r>
            <a:endParaRPr lang="en-US"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181">
        <a:defRPr>
          <a:latin typeface="+mn-lt"/>
          <a:ea typeface="+mn-ea"/>
          <a:cs typeface="+mn-cs"/>
        </a:defRPr>
      </a:lvl2pPr>
      <a:lvl3pPr marL="914361">
        <a:defRPr>
          <a:latin typeface="+mn-lt"/>
          <a:ea typeface="+mn-ea"/>
          <a:cs typeface="+mn-cs"/>
        </a:defRPr>
      </a:lvl3pPr>
      <a:lvl4pPr marL="1371542">
        <a:defRPr>
          <a:latin typeface="+mn-lt"/>
          <a:ea typeface="+mn-ea"/>
          <a:cs typeface="+mn-cs"/>
        </a:defRPr>
      </a:lvl4pPr>
      <a:lvl5pPr marL="1828722">
        <a:defRPr>
          <a:latin typeface="+mn-lt"/>
          <a:ea typeface="+mn-ea"/>
          <a:cs typeface="+mn-cs"/>
        </a:defRPr>
      </a:lvl5pPr>
      <a:lvl6pPr marL="2285902">
        <a:defRPr>
          <a:latin typeface="+mn-lt"/>
          <a:ea typeface="+mn-ea"/>
          <a:cs typeface="+mn-cs"/>
        </a:defRPr>
      </a:lvl6pPr>
      <a:lvl7pPr marL="2743083">
        <a:defRPr>
          <a:latin typeface="+mn-lt"/>
          <a:ea typeface="+mn-ea"/>
          <a:cs typeface="+mn-cs"/>
        </a:defRPr>
      </a:lvl7pPr>
      <a:lvl8pPr marL="3200263">
        <a:defRPr>
          <a:latin typeface="+mn-lt"/>
          <a:ea typeface="+mn-ea"/>
          <a:cs typeface="+mn-cs"/>
        </a:defRPr>
      </a:lvl8pPr>
      <a:lvl9pPr marL="3657444">
        <a:defRPr>
          <a:latin typeface="+mn-lt"/>
          <a:ea typeface="+mn-ea"/>
          <a:cs typeface="+mn-cs"/>
        </a:defRPr>
      </a:lvl9pPr>
    </p:bodyStyle>
    <p:otherStyle>
      <a:lvl1pPr marL="0">
        <a:defRPr>
          <a:latin typeface="+mn-lt"/>
          <a:ea typeface="+mn-ea"/>
          <a:cs typeface="+mn-cs"/>
        </a:defRPr>
      </a:lvl1pPr>
      <a:lvl2pPr marL="457181">
        <a:defRPr>
          <a:latin typeface="+mn-lt"/>
          <a:ea typeface="+mn-ea"/>
          <a:cs typeface="+mn-cs"/>
        </a:defRPr>
      </a:lvl2pPr>
      <a:lvl3pPr marL="914361">
        <a:defRPr>
          <a:latin typeface="+mn-lt"/>
          <a:ea typeface="+mn-ea"/>
          <a:cs typeface="+mn-cs"/>
        </a:defRPr>
      </a:lvl3pPr>
      <a:lvl4pPr marL="1371542">
        <a:defRPr>
          <a:latin typeface="+mn-lt"/>
          <a:ea typeface="+mn-ea"/>
          <a:cs typeface="+mn-cs"/>
        </a:defRPr>
      </a:lvl4pPr>
      <a:lvl5pPr marL="1828722">
        <a:defRPr>
          <a:latin typeface="+mn-lt"/>
          <a:ea typeface="+mn-ea"/>
          <a:cs typeface="+mn-cs"/>
        </a:defRPr>
      </a:lvl5pPr>
      <a:lvl6pPr marL="2285902">
        <a:defRPr>
          <a:latin typeface="+mn-lt"/>
          <a:ea typeface="+mn-ea"/>
          <a:cs typeface="+mn-cs"/>
        </a:defRPr>
      </a:lvl6pPr>
      <a:lvl7pPr marL="2743083">
        <a:defRPr>
          <a:latin typeface="+mn-lt"/>
          <a:ea typeface="+mn-ea"/>
          <a:cs typeface="+mn-cs"/>
        </a:defRPr>
      </a:lvl7pPr>
      <a:lvl8pPr marL="3200263">
        <a:defRPr>
          <a:latin typeface="+mn-lt"/>
          <a:ea typeface="+mn-ea"/>
          <a:cs typeface="+mn-cs"/>
        </a:defRPr>
      </a:lvl8pPr>
      <a:lvl9pPr marL="3657444">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 Target="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 Target="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slide" Target="slide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0.png"/><Relationship Id="rId10" Type="http://schemas.openxmlformats.org/officeDocument/2006/relationships/image" Target="../media/image16.png"/><Relationship Id="rId4" Type="http://schemas.openxmlformats.org/officeDocument/2006/relationships/image" Target="../media/image2.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 Target="slide8.xml"/><Relationship Id="rId7" Type="http://schemas.openxmlformats.org/officeDocument/2006/relationships/image" Target="../media/image20.png"/><Relationship Id="rId12" Type="http://schemas.openxmlformats.org/officeDocument/2006/relationships/image" Target="../media/image24.png"/><Relationship Id="rId2" Type="http://schemas.openxmlformats.org/officeDocument/2006/relationships/slide" Target="slide6.xml"/><Relationship Id="rId1" Type="http://schemas.openxmlformats.org/officeDocument/2006/relationships/slideLayout" Target="../slideLayouts/slideLayout2.xml"/><Relationship Id="rId6" Type="http://schemas.openxmlformats.org/officeDocument/2006/relationships/image" Target="../media/image2.png"/><Relationship Id="rId11" Type="http://schemas.openxmlformats.org/officeDocument/2006/relationships/image" Target="../media/image23.png"/><Relationship Id="rId5" Type="http://schemas.openxmlformats.org/officeDocument/2006/relationships/image" Target="../media/image19.png"/><Relationship Id="rId10" Type="http://schemas.openxmlformats.org/officeDocument/2006/relationships/image" Target="../media/image22.png"/><Relationship Id="rId4" Type="http://schemas.openxmlformats.org/officeDocument/2006/relationships/image" Target="../media/image18.pn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15.png"/><Relationship Id="rId3" Type="http://schemas.openxmlformats.org/officeDocument/2006/relationships/slide" Target="slide6.xml"/><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slide" Target="slide9.xml"/><Relationship Id="rId9" Type="http://schemas.openxmlformats.org/officeDocument/2006/relationships/image" Target="../media/image29.png"/><Relationship Id="rId1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slide" Target="slide17.xml"/><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slide" Target="slide15.xml"/><Relationship Id="rId2" Type="http://schemas.openxmlformats.org/officeDocument/2006/relationships/slide" Target="slide6.xml"/><Relationship Id="rId16"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18.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18" Type="http://schemas.openxmlformats.org/officeDocument/2006/relationships/image" Target="../media/image61.png"/><Relationship Id="rId3" Type="http://schemas.openxmlformats.org/officeDocument/2006/relationships/slide" Target="slide18.xml"/><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60.png"/><Relationship Id="rId2" Type="http://schemas.openxmlformats.org/officeDocument/2006/relationships/slide" Target="slide6.xml"/><Relationship Id="rId16" Type="http://schemas.openxmlformats.org/officeDocument/2006/relationships/image" Target="../media/image59.png"/><Relationship Id="rId20"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54.png"/><Relationship Id="rId5" Type="http://schemas.openxmlformats.org/officeDocument/2006/relationships/image" Target="../media/image49.png"/><Relationship Id="rId15" Type="http://schemas.openxmlformats.org/officeDocument/2006/relationships/image" Target="../media/image58.png"/><Relationship Id="rId10" Type="http://schemas.openxmlformats.org/officeDocument/2006/relationships/image" Target="../media/image53.png"/><Relationship Id="rId19" Type="http://schemas.openxmlformats.org/officeDocument/2006/relationships/image" Target="../media/image62.png"/><Relationship Id="rId4" Type="http://schemas.openxmlformats.org/officeDocument/2006/relationships/image" Target="../media/image48.png"/><Relationship Id="rId9" Type="http://schemas.openxmlformats.org/officeDocument/2006/relationships/image" Target="../media/image52.png"/><Relationship Id="rId14" Type="http://schemas.openxmlformats.org/officeDocument/2006/relationships/image" Target="../media/image57.png"/></Relationships>
</file>

<file path=ppt/slides/_rels/slide19.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slide" Target="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slide" Target="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 Target="slide22.xml"/><Relationship Id="rId7" Type="http://schemas.openxmlformats.org/officeDocument/2006/relationships/image" Target="../media/image66.png"/><Relationship Id="rId2" Type="http://schemas.openxmlformats.org/officeDocument/2006/relationships/slide" Target="slide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65.png"/><Relationship Id="rId10" Type="http://schemas.openxmlformats.org/officeDocument/2006/relationships/image" Target="../media/image16.png"/><Relationship Id="rId4" Type="http://schemas.openxmlformats.org/officeDocument/2006/relationships/image" Target="../media/image64.png"/><Relationship Id="rId9"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4"/>
          </p:nvPr>
        </p:nvSpPr>
        <p:spPr/>
        <p:txBody>
          <a:bodyPr/>
          <a:lstStyle/>
          <a:p>
            <a:endParaRPr lang="en-US"/>
          </a:p>
        </p:txBody>
      </p:sp>
      <p:pic>
        <p:nvPicPr>
          <p:cNvPr id="2050" name="Picture 2" descr="500+ Cloud Computing Pictures [HD] | Download Free Images on Unsplas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25" y="129033"/>
            <a:ext cx="4610100" cy="333171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71525" y="148367"/>
            <a:ext cx="4545988" cy="707886"/>
          </a:xfrm>
          <a:prstGeom prst="rect">
            <a:avLst/>
          </a:prstGeom>
          <a:noFill/>
        </p:spPr>
        <p:txBody>
          <a:bodyPr wrap="none" rtlCol="0">
            <a:spAutoFit/>
          </a:bodyPr>
          <a:lstStyle/>
          <a:p>
            <a:r>
              <a:rPr lang="en-US" sz="2400" dirty="0">
                <a:solidFill>
                  <a:schemeClr val="tx2">
                    <a:lumMod val="40000"/>
                    <a:lumOff val="60000"/>
                  </a:schemeClr>
                </a:solidFill>
              </a:rPr>
              <a:t>Parallel and Distributed Computing</a:t>
            </a:r>
          </a:p>
          <a:p>
            <a:r>
              <a:rPr lang="en-US" sz="1600" dirty="0">
                <a:solidFill>
                  <a:srgbClr val="FFC000"/>
                </a:solidFill>
              </a:rPr>
              <a:t>Communications</a:t>
            </a:r>
          </a:p>
        </p:txBody>
      </p:sp>
    </p:spTree>
    <p:extLst>
      <p:ext uri="{BB962C8B-B14F-4D97-AF65-F5344CB8AC3E}">
        <p14:creationId xmlns:p14="http://schemas.microsoft.com/office/powerpoint/2010/main" val="2590447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83828" y="638995"/>
            <a:ext cx="1783714" cy="545021"/>
          </a:xfrm>
          <a:prstGeom prst="rect">
            <a:avLst/>
          </a:prstGeom>
        </p:spPr>
        <p:txBody>
          <a:bodyPr vert="horz" wrap="square" lIns="0" tIns="110490" rIns="0" bIns="0" rtlCol="0">
            <a:spAutoFit/>
          </a:bodyPr>
          <a:lstStyle/>
          <a:p>
            <a:pPr algn="ctr">
              <a:spcBef>
                <a:spcPts val="870"/>
              </a:spcBef>
            </a:pPr>
            <a:r>
              <a:rPr sz="1400" b="1" spc="10" dirty="0">
                <a:solidFill>
                  <a:srgbClr val="04064C"/>
                </a:solidFill>
                <a:latin typeface="Arial"/>
                <a:cs typeface="Arial"/>
              </a:rPr>
              <a:t>Distributed</a:t>
            </a:r>
            <a:r>
              <a:rPr sz="1400" b="1" spc="-40" dirty="0">
                <a:solidFill>
                  <a:srgbClr val="04064C"/>
                </a:solidFill>
                <a:latin typeface="Arial"/>
                <a:cs typeface="Arial"/>
              </a:rPr>
              <a:t> </a:t>
            </a:r>
            <a:r>
              <a:rPr sz="1400" b="1" spc="20" dirty="0">
                <a:solidFill>
                  <a:srgbClr val="04064C"/>
                </a:solidFill>
                <a:latin typeface="Arial"/>
                <a:cs typeface="Arial"/>
              </a:rPr>
              <a:t>Systems</a:t>
            </a:r>
            <a:endParaRPr sz="1400">
              <a:latin typeface="Arial"/>
              <a:cs typeface="Arial"/>
            </a:endParaRPr>
          </a:p>
          <a:p>
            <a:pPr marL="3810" algn="ctr">
              <a:spcBef>
                <a:spcPts val="509"/>
              </a:spcBef>
            </a:pPr>
            <a:r>
              <a:rPr sz="1000" spc="-5" dirty="0">
                <a:solidFill>
                  <a:srgbClr val="04064C"/>
                </a:solidFill>
                <a:latin typeface="Arial"/>
                <a:cs typeface="Arial"/>
              </a:rPr>
              <a:t>(3rd</a:t>
            </a:r>
            <a:r>
              <a:rPr sz="1000" spc="-10" dirty="0">
                <a:solidFill>
                  <a:srgbClr val="04064C"/>
                </a:solidFill>
                <a:latin typeface="Arial"/>
                <a:cs typeface="Arial"/>
              </a:rPr>
              <a:t> </a:t>
            </a:r>
            <a:r>
              <a:rPr sz="1000" spc="-5" dirty="0">
                <a:solidFill>
                  <a:srgbClr val="04064C"/>
                </a:solidFill>
                <a:latin typeface="Arial"/>
                <a:cs typeface="Arial"/>
              </a:rPr>
              <a:t>Edition)</a:t>
            </a:r>
            <a:endParaRPr sz="1000">
              <a:latin typeface="Arial"/>
              <a:cs typeface="Arial"/>
            </a:endParaRPr>
          </a:p>
        </p:txBody>
      </p:sp>
      <p:grpSp>
        <p:nvGrpSpPr>
          <p:cNvPr id="3" name="object 3"/>
          <p:cNvGrpSpPr/>
          <p:nvPr/>
        </p:nvGrpSpPr>
        <p:grpSpPr>
          <a:xfrm>
            <a:off x="859270" y="1807364"/>
            <a:ext cx="4483735" cy="1163955"/>
            <a:chOff x="87743" y="1807362"/>
            <a:chExt cx="4483735" cy="1163955"/>
          </a:xfrm>
        </p:grpSpPr>
        <p:sp>
          <p:nvSpPr>
            <p:cNvPr id="4" name="object 4"/>
            <p:cNvSpPr/>
            <p:nvPr/>
          </p:nvSpPr>
          <p:spPr>
            <a:xfrm>
              <a:off x="87743" y="1807362"/>
              <a:ext cx="4432935" cy="82550"/>
            </a:xfrm>
            <a:custGeom>
              <a:avLst/>
              <a:gdLst/>
              <a:ahLst/>
              <a:cxnLst/>
              <a:rect l="l" t="t" r="r" b="b"/>
              <a:pathLst>
                <a:path w="4432935" h="82550">
                  <a:moveTo>
                    <a:pt x="4381767" y="0"/>
                  </a:moveTo>
                  <a:lnTo>
                    <a:pt x="50800" y="0"/>
                  </a:lnTo>
                  <a:lnTo>
                    <a:pt x="31075" y="4008"/>
                  </a:lnTo>
                  <a:lnTo>
                    <a:pt x="14922" y="14922"/>
                  </a:lnTo>
                  <a:lnTo>
                    <a:pt x="4008" y="31075"/>
                  </a:lnTo>
                  <a:lnTo>
                    <a:pt x="0" y="50800"/>
                  </a:lnTo>
                  <a:lnTo>
                    <a:pt x="0" y="82384"/>
                  </a:lnTo>
                  <a:lnTo>
                    <a:pt x="4432567" y="82384"/>
                  </a:lnTo>
                  <a:lnTo>
                    <a:pt x="4432567" y="50800"/>
                  </a:lnTo>
                  <a:lnTo>
                    <a:pt x="4428558" y="31075"/>
                  </a:lnTo>
                  <a:lnTo>
                    <a:pt x="4417644" y="14922"/>
                  </a:lnTo>
                  <a:lnTo>
                    <a:pt x="4401492" y="4008"/>
                  </a:lnTo>
                  <a:lnTo>
                    <a:pt x="4381767" y="0"/>
                  </a:lnTo>
                  <a:close/>
                </a:path>
              </a:pathLst>
            </a:custGeom>
            <a:solidFill>
              <a:srgbClr val="FEEDC0"/>
            </a:solidFill>
          </p:spPr>
          <p:txBody>
            <a:bodyPr wrap="square" lIns="0" tIns="0" rIns="0" bIns="0" rtlCol="0"/>
            <a:lstStyle/>
            <a:p>
              <a:endParaRPr/>
            </a:p>
          </p:txBody>
        </p:sp>
        <p:sp>
          <p:nvSpPr>
            <p:cNvPr id="5" name="object 5"/>
            <p:cNvSpPr/>
            <p:nvPr/>
          </p:nvSpPr>
          <p:spPr>
            <a:xfrm>
              <a:off x="138544" y="2869552"/>
              <a:ext cx="101600" cy="10160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189344" y="2856852"/>
              <a:ext cx="4381715" cy="1143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520311" y="1857933"/>
              <a:ext cx="50749" cy="1011618"/>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87743" y="1851775"/>
              <a:ext cx="4432935" cy="1068705"/>
            </a:xfrm>
            <a:custGeom>
              <a:avLst/>
              <a:gdLst/>
              <a:ahLst/>
              <a:cxnLst/>
              <a:rect l="l" t="t" r="r" b="b"/>
              <a:pathLst>
                <a:path w="4432935" h="1068705">
                  <a:moveTo>
                    <a:pt x="4432567" y="0"/>
                  </a:moveTo>
                  <a:lnTo>
                    <a:pt x="0" y="0"/>
                  </a:lnTo>
                  <a:lnTo>
                    <a:pt x="0" y="1017776"/>
                  </a:lnTo>
                  <a:lnTo>
                    <a:pt x="4008" y="1037501"/>
                  </a:lnTo>
                  <a:lnTo>
                    <a:pt x="14922" y="1053654"/>
                  </a:lnTo>
                  <a:lnTo>
                    <a:pt x="31075" y="1064568"/>
                  </a:lnTo>
                  <a:lnTo>
                    <a:pt x="50800" y="1068577"/>
                  </a:lnTo>
                  <a:lnTo>
                    <a:pt x="4381767" y="1068577"/>
                  </a:lnTo>
                  <a:lnTo>
                    <a:pt x="4401492" y="1064568"/>
                  </a:lnTo>
                  <a:lnTo>
                    <a:pt x="4417644" y="1053654"/>
                  </a:lnTo>
                  <a:lnTo>
                    <a:pt x="4428558" y="1037501"/>
                  </a:lnTo>
                  <a:lnTo>
                    <a:pt x="4432567" y="1017776"/>
                  </a:lnTo>
                  <a:lnTo>
                    <a:pt x="4432567" y="0"/>
                  </a:lnTo>
                  <a:close/>
                </a:path>
              </a:pathLst>
            </a:custGeom>
            <a:solidFill>
              <a:srgbClr val="FEEDC0"/>
            </a:solidFill>
          </p:spPr>
          <p:txBody>
            <a:bodyPr wrap="square" lIns="0" tIns="0" rIns="0" bIns="0" rtlCol="0"/>
            <a:lstStyle/>
            <a:p>
              <a:endParaRPr/>
            </a:p>
          </p:txBody>
        </p:sp>
        <p:sp>
          <p:nvSpPr>
            <p:cNvPr id="9" name="object 9"/>
            <p:cNvSpPr/>
            <p:nvPr/>
          </p:nvSpPr>
          <p:spPr>
            <a:xfrm>
              <a:off x="4520311" y="1896012"/>
              <a:ext cx="0" cy="993140"/>
            </a:xfrm>
            <a:custGeom>
              <a:avLst/>
              <a:gdLst/>
              <a:ahLst/>
              <a:cxnLst/>
              <a:rect l="l" t="t" r="r" b="b"/>
              <a:pathLst>
                <a:path h="993139">
                  <a:moveTo>
                    <a:pt x="0" y="992589"/>
                  </a:moveTo>
                  <a:lnTo>
                    <a:pt x="0" y="0"/>
                  </a:lnTo>
                </a:path>
              </a:pathLst>
            </a:custGeom>
            <a:ln w="3175">
              <a:solidFill>
                <a:srgbClr val="7F7F7F"/>
              </a:solidFill>
            </a:ln>
          </p:spPr>
          <p:txBody>
            <a:bodyPr wrap="square" lIns="0" tIns="0" rIns="0" bIns="0" rtlCol="0"/>
            <a:lstStyle/>
            <a:p>
              <a:endParaRPr/>
            </a:p>
          </p:txBody>
        </p:sp>
        <p:sp>
          <p:nvSpPr>
            <p:cNvPr id="10" name="object 10"/>
            <p:cNvSpPr/>
            <p:nvPr/>
          </p:nvSpPr>
          <p:spPr>
            <a:xfrm>
              <a:off x="4520311" y="1883312"/>
              <a:ext cx="0" cy="12700"/>
            </a:xfrm>
            <a:custGeom>
              <a:avLst/>
              <a:gdLst/>
              <a:ahLst/>
              <a:cxnLst/>
              <a:rect l="l" t="t" r="r" b="b"/>
              <a:pathLst>
                <a:path h="12700">
                  <a:moveTo>
                    <a:pt x="0" y="12699"/>
                  </a:moveTo>
                  <a:lnTo>
                    <a:pt x="0" y="0"/>
                  </a:lnTo>
                </a:path>
              </a:pathLst>
            </a:custGeom>
            <a:ln w="3175">
              <a:solidFill>
                <a:srgbClr val="AFAFAF"/>
              </a:solidFill>
            </a:ln>
          </p:spPr>
          <p:txBody>
            <a:bodyPr wrap="square" lIns="0" tIns="0" rIns="0" bIns="0" rtlCol="0"/>
            <a:lstStyle/>
            <a:p>
              <a:endParaRPr/>
            </a:p>
          </p:txBody>
        </p:sp>
        <p:sp>
          <p:nvSpPr>
            <p:cNvPr id="11" name="object 11"/>
            <p:cNvSpPr/>
            <p:nvPr/>
          </p:nvSpPr>
          <p:spPr>
            <a:xfrm>
              <a:off x="4520311" y="1870612"/>
              <a:ext cx="0" cy="12700"/>
            </a:xfrm>
            <a:custGeom>
              <a:avLst/>
              <a:gdLst/>
              <a:ahLst/>
              <a:cxnLst/>
              <a:rect l="l" t="t" r="r" b="b"/>
              <a:pathLst>
                <a:path h="12700">
                  <a:moveTo>
                    <a:pt x="0" y="12699"/>
                  </a:moveTo>
                  <a:lnTo>
                    <a:pt x="0" y="0"/>
                  </a:lnTo>
                </a:path>
              </a:pathLst>
            </a:custGeom>
            <a:ln w="3175">
              <a:solidFill>
                <a:srgbClr val="CECECE"/>
              </a:solidFill>
            </a:ln>
          </p:spPr>
          <p:txBody>
            <a:bodyPr wrap="square" lIns="0" tIns="0" rIns="0" bIns="0" rtlCol="0"/>
            <a:lstStyle/>
            <a:p>
              <a:endParaRPr/>
            </a:p>
          </p:txBody>
        </p:sp>
        <p:sp>
          <p:nvSpPr>
            <p:cNvPr id="12" name="object 12"/>
            <p:cNvSpPr/>
            <p:nvPr/>
          </p:nvSpPr>
          <p:spPr>
            <a:xfrm>
              <a:off x="4520311" y="1857912"/>
              <a:ext cx="0" cy="12700"/>
            </a:xfrm>
            <a:custGeom>
              <a:avLst/>
              <a:gdLst/>
              <a:ahLst/>
              <a:cxnLst/>
              <a:rect l="l" t="t" r="r" b="b"/>
              <a:pathLst>
                <a:path h="12700">
                  <a:moveTo>
                    <a:pt x="0" y="12699"/>
                  </a:moveTo>
                  <a:lnTo>
                    <a:pt x="0" y="0"/>
                  </a:lnTo>
                </a:path>
              </a:pathLst>
            </a:custGeom>
            <a:ln w="3175">
              <a:solidFill>
                <a:srgbClr val="EFEFEF"/>
              </a:solidFill>
            </a:ln>
          </p:spPr>
          <p:txBody>
            <a:bodyPr wrap="square" lIns="0" tIns="0" rIns="0" bIns="0" rtlCol="0"/>
            <a:lstStyle/>
            <a:p>
              <a:endParaRPr/>
            </a:p>
          </p:txBody>
        </p:sp>
      </p:grpSp>
      <p:sp>
        <p:nvSpPr>
          <p:cNvPr id="13" name="object 13"/>
          <p:cNvSpPr txBox="1"/>
          <p:nvPr/>
        </p:nvSpPr>
        <p:spPr>
          <a:xfrm>
            <a:off x="1923656" y="2023819"/>
            <a:ext cx="2303780" cy="879087"/>
          </a:xfrm>
          <a:prstGeom prst="rect">
            <a:avLst/>
          </a:prstGeom>
        </p:spPr>
        <p:txBody>
          <a:bodyPr vert="horz" wrap="square" lIns="0" tIns="17145" rIns="0" bIns="0" rtlCol="0">
            <a:spAutoFit/>
          </a:bodyPr>
          <a:lstStyle/>
          <a:p>
            <a:pPr algn="ctr">
              <a:spcBef>
                <a:spcPts val="135"/>
              </a:spcBef>
            </a:pPr>
            <a:r>
              <a:rPr sz="1400" spc="15" dirty="0">
                <a:latin typeface="Arial"/>
                <a:cs typeface="Arial"/>
              </a:rPr>
              <a:t>Chapter 04:</a:t>
            </a:r>
            <a:r>
              <a:rPr sz="1400" spc="40" dirty="0">
                <a:latin typeface="Arial"/>
                <a:cs typeface="Arial"/>
              </a:rPr>
              <a:t> </a:t>
            </a:r>
            <a:r>
              <a:rPr sz="1400" spc="15" dirty="0">
                <a:latin typeface="Arial"/>
                <a:cs typeface="Arial"/>
              </a:rPr>
              <a:t>Communication</a:t>
            </a:r>
            <a:endParaRPr sz="1400" dirty="0">
              <a:latin typeface="Arial"/>
              <a:cs typeface="Arial"/>
            </a:endParaRPr>
          </a:p>
          <a:p>
            <a:pPr marL="3810" algn="ctr">
              <a:spcBef>
                <a:spcPts val="1170"/>
              </a:spcBef>
            </a:pPr>
            <a:r>
              <a:rPr sz="1100" spc="-20" dirty="0">
                <a:latin typeface="Arial"/>
                <a:cs typeface="Arial"/>
              </a:rPr>
              <a:t>Version: </a:t>
            </a:r>
            <a:r>
              <a:rPr sz="1100" spc="-5" dirty="0">
                <a:latin typeface="Arial"/>
                <a:cs typeface="Arial"/>
              </a:rPr>
              <a:t>February 25,</a:t>
            </a:r>
            <a:r>
              <a:rPr sz="1100" spc="70" dirty="0">
                <a:latin typeface="Arial"/>
                <a:cs typeface="Arial"/>
              </a:rPr>
              <a:t> </a:t>
            </a:r>
            <a:r>
              <a:rPr sz="1100" spc="-10" dirty="0">
                <a:latin typeface="Arial"/>
                <a:cs typeface="Arial"/>
              </a:rPr>
              <a:t>2017</a:t>
            </a:r>
            <a:endParaRPr lang="en-US" sz="1100" spc="-10" dirty="0">
              <a:latin typeface="Arial"/>
              <a:cs typeface="Arial"/>
            </a:endParaRPr>
          </a:p>
          <a:p>
            <a:pPr marL="3810" algn="ctr">
              <a:spcBef>
                <a:spcPts val="1170"/>
              </a:spcBef>
            </a:pPr>
            <a:r>
              <a:rPr lang="en-US" sz="1100" spc="-10" dirty="0">
                <a:latin typeface="Arial"/>
                <a:cs typeface="Arial"/>
              </a:rPr>
              <a:t>Revised: Oct 2021</a:t>
            </a:r>
            <a:endParaRPr sz="1100" dirty="0">
              <a:latin typeface="Arial"/>
              <a:cs typeface="Arial"/>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525" y="129032"/>
            <a:ext cx="4610100" cy="215444"/>
          </a:xfrm>
        </p:spPr>
        <p:txBody>
          <a:bodyPr/>
          <a:lstStyle/>
          <a:p>
            <a:r>
              <a:rPr lang="en-US" dirty="0"/>
              <a:t>Chapter 4- Communications</a:t>
            </a:r>
          </a:p>
        </p:txBody>
      </p:sp>
      <p:pic>
        <p:nvPicPr>
          <p:cNvPr id="7" name="Picture 6"/>
          <p:cNvPicPr>
            <a:picLocks noChangeAspect="1"/>
          </p:cNvPicPr>
          <p:nvPr/>
        </p:nvPicPr>
        <p:blipFill>
          <a:blip r:embed="rId2"/>
          <a:stretch>
            <a:fillRect/>
          </a:stretch>
        </p:blipFill>
        <p:spPr>
          <a:xfrm>
            <a:off x="1271589" y="830264"/>
            <a:ext cx="3609975" cy="1800225"/>
          </a:xfrm>
          <a:prstGeom prst="rect">
            <a:avLst/>
          </a:prstGeom>
        </p:spPr>
      </p:pic>
    </p:spTree>
    <p:extLst>
      <p:ext uri="{BB962C8B-B14F-4D97-AF65-F5344CB8AC3E}">
        <p14:creationId xmlns:p14="http://schemas.microsoft.com/office/powerpoint/2010/main" val="1378978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238" y="716"/>
            <a:ext cx="4541520" cy="104516"/>
          </a:xfrm>
          <a:prstGeom prst="rect">
            <a:avLst/>
          </a:prstGeom>
        </p:spPr>
        <p:txBody>
          <a:bodyPr vert="horz" wrap="square" lIns="0" tIns="12065" rIns="0" bIns="0" rtlCol="0">
            <a:spAutoFit/>
          </a:bodyPr>
          <a:lstStyle/>
          <a:p>
            <a:pPr marL="12700">
              <a:spcBef>
                <a:spcPts val="95"/>
              </a:spcBef>
              <a:tabLst>
                <a:tab pos="3853650" algn="l"/>
              </a:tabLst>
            </a:pPr>
            <a:r>
              <a:rPr sz="600" spc="-5" dirty="0">
                <a:solidFill>
                  <a:srgbClr val="04064C"/>
                </a:solidFill>
                <a:latin typeface="Arial"/>
                <a:cs typeface="Arial"/>
                <a:hlinkClick r:id="rId2" action="ppaction://hlinksldjump"/>
              </a:rPr>
              <a:t>Communication:</a:t>
            </a:r>
            <a:r>
              <a:rPr sz="600" spc="-5" dirty="0">
                <a:solidFill>
                  <a:srgbClr val="04064C"/>
                </a:solidFill>
                <a:latin typeface="Arial"/>
                <a:cs typeface="Arial"/>
              </a:rPr>
              <a:t> </a:t>
            </a:r>
            <a:r>
              <a:rPr sz="600" spc="10" dirty="0">
                <a:solidFill>
                  <a:srgbClr val="04064C"/>
                </a:solidFill>
                <a:latin typeface="Arial"/>
                <a:cs typeface="Arial"/>
              </a:rPr>
              <a:t> </a:t>
            </a:r>
            <a:r>
              <a:rPr sz="600" spc="-5" dirty="0">
                <a:solidFill>
                  <a:srgbClr val="04064C"/>
                </a:solidFill>
                <a:latin typeface="Arial"/>
                <a:cs typeface="Arial"/>
                <a:hlinkClick r:id="rId2" action="ppaction://hlinksldjump"/>
              </a:rPr>
              <a:t>Foundations</a:t>
            </a:r>
            <a:r>
              <a:rPr sz="600" spc="-5" dirty="0">
                <a:solidFill>
                  <a:srgbClr val="04064C"/>
                </a:solidFill>
                <a:latin typeface="Arial"/>
                <a:cs typeface="Arial"/>
              </a:rPr>
              <a:t>	</a:t>
            </a:r>
            <a:r>
              <a:rPr sz="600" spc="-10" dirty="0">
                <a:solidFill>
                  <a:srgbClr val="04064C"/>
                </a:solidFill>
                <a:latin typeface="Arial"/>
                <a:cs typeface="Arial"/>
                <a:hlinkClick r:id="rId2" action="ppaction://hlinksldjump"/>
              </a:rPr>
              <a:t>Layered</a:t>
            </a:r>
            <a:r>
              <a:rPr sz="600" spc="-15" dirty="0">
                <a:solidFill>
                  <a:srgbClr val="04064C"/>
                </a:solidFill>
                <a:latin typeface="Arial"/>
                <a:cs typeface="Arial"/>
                <a:hlinkClick r:id="rId2" action="ppaction://hlinksldjump"/>
              </a:rPr>
              <a:t> </a:t>
            </a:r>
            <a:r>
              <a:rPr sz="600" spc="-5" dirty="0">
                <a:solidFill>
                  <a:srgbClr val="04064C"/>
                </a:solidFill>
                <a:latin typeface="Arial"/>
                <a:cs typeface="Arial"/>
                <a:hlinkClick r:id="rId2" action="ppaction://hlinksldjump"/>
              </a:rPr>
              <a:t>Protocols</a:t>
            </a:r>
            <a:endParaRPr sz="600">
              <a:latin typeface="Arial"/>
              <a:cs typeface="Arial"/>
            </a:endParaRPr>
          </a:p>
        </p:txBody>
      </p:sp>
      <p:sp>
        <p:nvSpPr>
          <p:cNvPr id="3" name="object 3"/>
          <p:cNvSpPr txBox="1">
            <a:spLocks noGrp="1"/>
          </p:cNvSpPr>
          <p:nvPr>
            <p:ph type="title"/>
          </p:nvPr>
        </p:nvSpPr>
        <p:spPr>
          <a:xfrm>
            <a:off x="771526" y="129033"/>
            <a:ext cx="4608195" cy="278281"/>
          </a:xfrm>
          <a:prstGeom prst="rect">
            <a:avLst/>
          </a:prstGeom>
          <a:solidFill>
            <a:srgbClr val="FFE600"/>
          </a:solidFill>
        </p:spPr>
        <p:txBody>
          <a:bodyPr vert="horz" wrap="square" lIns="0" tIns="62230" rIns="0" bIns="0" rtlCol="0">
            <a:spAutoFit/>
          </a:bodyPr>
          <a:lstStyle/>
          <a:p>
            <a:pPr marL="107945">
              <a:spcBef>
                <a:spcPts val="490"/>
              </a:spcBef>
            </a:pPr>
            <a:r>
              <a:rPr lang="en-US" spc="15" dirty="0"/>
              <a:t>Overview</a:t>
            </a:r>
            <a:endParaRPr spc="15" dirty="0"/>
          </a:p>
        </p:txBody>
      </p:sp>
      <p:grpSp>
        <p:nvGrpSpPr>
          <p:cNvPr id="4" name="object 4"/>
          <p:cNvGrpSpPr/>
          <p:nvPr/>
        </p:nvGrpSpPr>
        <p:grpSpPr>
          <a:xfrm>
            <a:off x="838227" y="593129"/>
            <a:ext cx="4541533" cy="2733841"/>
            <a:chOff x="87743" y="593127"/>
            <a:chExt cx="4483735" cy="1824355"/>
          </a:xfrm>
        </p:grpSpPr>
        <p:sp>
          <p:nvSpPr>
            <p:cNvPr id="5" name="object 5"/>
            <p:cNvSpPr/>
            <p:nvPr/>
          </p:nvSpPr>
          <p:spPr>
            <a:xfrm>
              <a:off x="87743" y="593127"/>
              <a:ext cx="4432935" cy="82550"/>
            </a:xfrm>
            <a:custGeom>
              <a:avLst/>
              <a:gdLst/>
              <a:ahLst/>
              <a:cxnLst/>
              <a:rect l="l" t="t" r="r" b="b"/>
              <a:pathLst>
                <a:path w="4432935" h="82550">
                  <a:moveTo>
                    <a:pt x="4381767" y="0"/>
                  </a:moveTo>
                  <a:lnTo>
                    <a:pt x="50800" y="0"/>
                  </a:lnTo>
                  <a:lnTo>
                    <a:pt x="31075" y="4008"/>
                  </a:lnTo>
                  <a:lnTo>
                    <a:pt x="14922" y="14922"/>
                  </a:lnTo>
                  <a:lnTo>
                    <a:pt x="4008" y="31075"/>
                  </a:lnTo>
                  <a:lnTo>
                    <a:pt x="0" y="50800"/>
                  </a:lnTo>
                  <a:lnTo>
                    <a:pt x="0" y="82384"/>
                  </a:lnTo>
                  <a:lnTo>
                    <a:pt x="4432567" y="82384"/>
                  </a:lnTo>
                  <a:lnTo>
                    <a:pt x="4432567" y="50800"/>
                  </a:lnTo>
                  <a:lnTo>
                    <a:pt x="4428558" y="31075"/>
                  </a:lnTo>
                  <a:lnTo>
                    <a:pt x="4417644" y="14922"/>
                  </a:lnTo>
                  <a:lnTo>
                    <a:pt x="4401492" y="4008"/>
                  </a:lnTo>
                  <a:lnTo>
                    <a:pt x="4381767" y="0"/>
                  </a:lnTo>
                  <a:close/>
                </a:path>
              </a:pathLst>
            </a:custGeom>
            <a:solidFill>
              <a:srgbClr val="FEEDC0"/>
            </a:solidFill>
          </p:spPr>
          <p:txBody>
            <a:bodyPr wrap="square" lIns="0" tIns="0" rIns="0" bIns="0" rtlCol="0"/>
            <a:lstStyle/>
            <a:p>
              <a:endParaRPr/>
            </a:p>
          </p:txBody>
        </p:sp>
        <p:sp>
          <p:nvSpPr>
            <p:cNvPr id="6" name="object 6"/>
            <p:cNvSpPr/>
            <p:nvPr/>
          </p:nvSpPr>
          <p:spPr>
            <a:xfrm>
              <a:off x="138544" y="2315629"/>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89344" y="2302929"/>
              <a:ext cx="4381715"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520311" y="643686"/>
              <a:ext cx="50749" cy="167194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87743" y="637540"/>
              <a:ext cx="4432935" cy="1729105"/>
            </a:xfrm>
            <a:custGeom>
              <a:avLst/>
              <a:gdLst/>
              <a:ahLst/>
              <a:cxnLst/>
              <a:rect l="l" t="t" r="r" b="b"/>
              <a:pathLst>
                <a:path w="4432935" h="1729105">
                  <a:moveTo>
                    <a:pt x="4432567" y="0"/>
                  </a:moveTo>
                  <a:lnTo>
                    <a:pt x="0" y="0"/>
                  </a:lnTo>
                  <a:lnTo>
                    <a:pt x="0" y="1678089"/>
                  </a:lnTo>
                  <a:lnTo>
                    <a:pt x="4008" y="1697813"/>
                  </a:lnTo>
                  <a:lnTo>
                    <a:pt x="14922" y="1713966"/>
                  </a:lnTo>
                  <a:lnTo>
                    <a:pt x="31075" y="1724880"/>
                  </a:lnTo>
                  <a:lnTo>
                    <a:pt x="50800" y="1728889"/>
                  </a:lnTo>
                  <a:lnTo>
                    <a:pt x="4381767" y="1728889"/>
                  </a:lnTo>
                  <a:lnTo>
                    <a:pt x="4401492" y="1724880"/>
                  </a:lnTo>
                  <a:lnTo>
                    <a:pt x="4417644" y="1713966"/>
                  </a:lnTo>
                  <a:lnTo>
                    <a:pt x="4428558" y="1697813"/>
                  </a:lnTo>
                  <a:lnTo>
                    <a:pt x="4432567" y="1678089"/>
                  </a:lnTo>
                  <a:lnTo>
                    <a:pt x="4432567" y="0"/>
                  </a:lnTo>
                  <a:close/>
                </a:path>
              </a:pathLst>
            </a:custGeom>
            <a:solidFill>
              <a:srgbClr val="FEEDC0"/>
            </a:solidFill>
          </p:spPr>
          <p:txBody>
            <a:bodyPr wrap="square" lIns="0" tIns="0" rIns="0" bIns="0" rtlCol="0"/>
            <a:lstStyle/>
            <a:p>
              <a:endParaRPr/>
            </a:p>
          </p:txBody>
        </p:sp>
        <p:sp>
          <p:nvSpPr>
            <p:cNvPr id="10" name="object 10"/>
            <p:cNvSpPr/>
            <p:nvPr/>
          </p:nvSpPr>
          <p:spPr>
            <a:xfrm>
              <a:off x="4520311" y="681774"/>
              <a:ext cx="0" cy="1652905"/>
            </a:xfrm>
            <a:custGeom>
              <a:avLst/>
              <a:gdLst/>
              <a:ahLst/>
              <a:cxnLst/>
              <a:rect l="l" t="t" r="r" b="b"/>
              <a:pathLst>
                <a:path h="1652905">
                  <a:moveTo>
                    <a:pt x="0" y="1652904"/>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520311" y="66907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520311" y="65637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520311" y="64367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grpSp>
        <p:nvGrpSpPr>
          <p:cNvPr id="92" name="object 92"/>
          <p:cNvGrpSpPr/>
          <p:nvPr/>
        </p:nvGrpSpPr>
        <p:grpSpPr>
          <a:xfrm>
            <a:off x="771526" y="3326969"/>
            <a:ext cx="4608195" cy="129539"/>
            <a:chOff x="0" y="3326968"/>
            <a:chExt cx="4608195" cy="129539"/>
          </a:xfrm>
        </p:grpSpPr>
        <p:sp>
          <p:nvSpPr>
            <p:cNvPr id="93" name="object 93"/>
            <p:cNvSpPr/>
            <p:nvPr/>
          </p:nvSpPr>
          <p:spPr>
            <a:xfrm>
              <a:off x="0"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11E"/>
            </a:solidFill>
          </p:spPr>
          <p:txBody>
            <a:bodyPr wrap="square" lIns="0" tIns="0" rIns="0" bIns="0" rtlCol="0"/>
            <a:lstStyle/>
            <a:p>
              <a:endParaRPr/>
            </a:p>
          </p:txBody>
        </p:sp>
        <p:sp>
          <p:nvSpPr>
            <p:cNvPr id="94" name="object 94"/>
            <p:cNvSpPr/>
            <p:nvPr/>
          </p:nvSpPr>
          <p:spPr>
            <a:xfrm>
              <a:off x="2303995"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F50"/>
            </a:solidFill>
          </p:spPr>
          <p:txBody>
            <a:bodyPr wrap="square" lIns="0" tIns="0" rIns="0" bIns="0" rtlCol="0"/>
            <a:lstStyle/>
            <a:p>
              <a:endParaRPr/>
            </a:p>
          </p:txBody>
        </p:sp>
      </p:grpSp>
      <p:sp>
        <p:nvSpPr>
          <p:cNvPr id="95" name="object 95"/>
          <p:cNvSpPr txBox="1"/>
          <p:nvPr/>
        </p:nvSpPr>
        <p:spPr>
          <a:xfrm>
            <a:off x="838226" y="3331252"/>
            <a:ext cx="875665" cy="101310"/>
          </a:xfrm>
          <a:prstGeom prst="rect">
            <a:avLst/>
          </a:prstGeom>
        </p:spPr>
        <p:txBody>
          <a:bodyPr vert="horz" wrap="square" lIns="0" tIns="8890" rIns="0" bIns="0" rtlCol="0">
            <a:spAutoFit/>
          </a:bodyPr>
          <a:lstStyle/>
          <a:p>
            <a:pPr marL="12700">
              <a:spcBef>
                <a:spcPts val="70"/>
              </a:spcBef>
            </a:pPr>
            <a:r>
              <a:rPr sz="600" spc="-5" dirty="0">
                <a:solidFill>
                  <a:srgbClr val="04064C"/>
                </a:solidFill>
                <a:latin typeface="Arial"/>
                <a:cs typeface="Arial"/>
                <a:hlinkClick r:id="rId2" action="ppaction://hlinksldjump"/>
              </a:rPr>
              <a:t>The OSI reference</a:t>
            </a:r>
            <a:r>
              <a:rPr sz="600" spc="-45" dirty="0">
                <a:solidFill>
                  <a:srgbClr val="04064C"/>
                </a:solidFill>
                <a:latin typeface="Arial"/>
                <a:cs typeface="Arial"/>
                <a:hlinkClick r:id="rId2" action="ppaction://hlinksldjump"/>
              </a:rPr>
              <a:t> </a:t>
            </a:r>
            <a:r>
              <a:rPr sz="600" spc="-5" dirty="0">
                <a:solidFill>
                  <a:srgbClr val="04064C"/>
                </a:solidFill>
                <a:latin typeface="Arial"/>
                <a:cs typeface="Arial"/>
                <a:hlinkClick r:id="rId2" action="ppaction://hlinksldjump"/>
              </a:rPr>
              <a:t>model</a:t>
            </a:r>
            <a:endParaRPr sz="600">
              <a:latin typeface="Arial"/>
              <a:cs typeface="Arial"/>
            </a:endParaRPr>
          </a:p>
        </p:txBody>
      </p:sp>
      <p:sp>
        <p:nvSpPr>
          <p:cNvPr id="96" name="object 96"/>
          <p:cNvSpPr txBox="1"/>
          <p:nvPr/>
        </p:nvSpPr>
        <p:spPr>
          <a:xfrm>
            <a:off x="5072088" y="3331252"/>
            <a:ext cx="241300" cy="101310"/>
          </a:xfrm>
          <a:prstGeom prst="rect">
            <a:avLst/>
          </a:prstGeom>
        </p:spPr>
        <p:txBody>
          <a:bodyPr vert="horz" wrap="square" lIns="0" tIns="8890" rIns="0" bIns="0" rtlCol="0">
            <a:spAutoFit/>
          </a:bodyPr>
          <a:lstStyle/>
          <a:p>
            <a:pPr marL="38098">
              <a:spcBef>
                <a:spcPts val="70"/>
              </a:spcBef>
            </a:pPr>
            <a:fld id="{81D60167-4931-47E6-BA6A-407CBD079E47}" type="slidenum">
              <a:rPr sz="600" spc="-5" dirty="0">
                <a:solidFill>
                  <a:srgbClr val="04064C"/>
                </a:solidFill>
                <a:latin typeface="Arial"/>
                <a:cs typeface="Arial"/>
              </a:rPr>
              <a:pPr marL="38098">
                <a:spcBef>
                  <a:spcPts val="70"/>
                </a:spcBef>
              </a:pPr>
              <a:t>4</a:t>
            </a:fld>
            <a:r>
              <a:rPr sz="600" spc="-5" dirty="0">
                <a:solidFill>
                  <a:srgbClr val="04064C"/>
                </a:solidFill>
                <a:latin typeface="Arial"/>
                <a:cs typeface="Arial"/>
              </a:rPr>
              <a:t> /</a:t>
            </a:r>
            <a:r>
              <a:rPr sz="600" spc="-70" dirty="0">
                <a:solidFill>
                  <a:srgbClr val="04064C"/>
                </a:solidFill>
                <a:latin typeface="Arial"/>
                <a:cs typeface="Arial"/>
              </a:rPr>
              <a:t> </a:t>
            </a:r>
            <a:r>
              <a:rPr sz="600" spc="-5" dirty="0">
                <a:solidFill>
                  <a:srgbClr val="04064C"/>
                </a:solidFill>
                <a:latin typeface="Arial"/>
                <a:cs typeface="Arial"/>
              </a:rPr>
              <a:t>49</a:t>
            </a:r>
            <a:endParaRPr sz="600">
              <a:latin typeface="Arial"/>
              <a:cs typeface="Arial"/>
            </a:endParaRPr>
          </a:p>
        </p:txBody>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5188" y="739776"/>
            <a:ext cx="442595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4133423"/>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238" y="716"/>
            <a:ext cx="4541520" cy="104516"/>
          </a:xfrm>
          <a:prstGeom prst="rect">
            <a:avLst/>
          </a:prstGeom>
        </p:spPr>
        <p:txBody>
          <a:bodyPr vert="horz" wrap="square" lIns="0" tIns="12065" rIns="0" bIns="0" rtlCol="0">
            <a:spAutoFit/>
          </a:bodyPr>
          <a:lstStyle/>
          <a:p>
            <a:pPr marL="12700">
              <a:spcBef>
                <a:spcPts val="95"/>
              </a:spcBef>
              <a:tabLst>
                <a:tab pos="3853650" algn="l"/>
              </a:tabLst>
            </a:pPr>
            <a:r>
              <a:rPr sz="600" spc="-5" dirty="0">
                <a:solidFill>
                  <a:srgbClr val="04064C"/>
                </a:solidFill>
                <a:latin typeface="Arial"/>
                <a:cs typeface="Arial"/>
                <a:hlinkClick r:id="rId2" action="ppaction://hlinksldjump"/>
              </a:rPr>
              <a:t>Communication:</a:t>
            </a:r>
            <a:r>
              <a:rPr sz="600" spc="-5" dirty="0">
                <a:solidFill>
                  <a:srgbClr val="04064C"/>
                </a:solidFill>
                <a:latin typeface="Arial"/>
                <a:cs typeface="Arial"/>
              </a:rPr>
              <a:t> </a:t>
            </a:r>
            <a:r>
              <a:rPr sz="600" spc="10" dirty="0">
                <a:solidFill>
                  <a:srgbClr val="04064C"/>
                </a:solidFill>
                <a:latin typeface="Arial"/>
                <a:cs typeface="Arial"/>
              </a:rPr>
              <a:t> </a:t>
            </a:r>
            <a:r>
              <a:rPr sz="600" spc="-5" dirty="0">
                <a:solidFill>
                  <a:srgbClr val="04064C"/>
                </a:solidFill>
                <a:latin typeface="Arial"/>
                <a:cs typeface="Arial"/>
                <a:hlinkClick r:id="rId2" action="ppaction://hlinksldjump"/>
              </a:rPr>
              <a:t>Foundations</a:t>
            </a:r>
            <a:r>
              <a:rPr sz="600" spc="-5" dirty="0">
                <a:solidFill>
                  <a:srgbClr val="04064C"/>
                </a:solidFill>
                <a:latin typeface="Arial"/>
                <a:cs typeface="Arial"/>
              </a:rPr>
              <a:t>	</a:t>
            </a:r>
            <a:r>
              <a:rPr sz="600" spc="-10" dirty="0">
                <a:solidFill>
                  <a:srgbClr val="04064C"/>
                </a:solidFill>
                <a:latin typeface="Arial"/>
                <a:cs typeface="Arial"/>
                <a:hlinkClick r:id="rId2" action="ppaction://hlinksldjump"/>
              </a:rPr>
              <a:t>Layered</a:t>
            </a:r>
            <a:r>
              <a:rPr sz="600" spc="-15" dirty="0">
                <a:solidFill>
                  <a:srgbClr val="04064C"/>
                </a:solidFill>
                <a:latin typeface="Arial"/>
                <a:cs typeface="Arial"/>
                <a:hlinkClick r:id="rId2" action="ppaction://hlinksldjump"/>
              </a:rPr>
              <a:t> </a:t>
            </a:r>
            <a:r>
              <a:rPr sz="600" spc="-5" dirty="0">
                <a:solidFill>
                  <a:srgbClr val="04064C"/>
                </a:solidFill>
                <a:latin typeface="Arial"/>
                <a:cs typeface="Arial"/>
                <a:hlinkClick r:id="rId2" action="ppaction://hlinksldjump"/>
              </a:rPr>
              <a:t>Protocols</a:t>
            </a:r>
            <a:endParaRPr sz="600">
              <a:latin typeface="Arial"/>
              <a:cs typeface="Arial"/>
            </a:endParaRPr>
          </a:p>
        </p:txBody>
      </p:sp>
      <p:sp>
        <p:nvSpPr>
          <p:cNvPr id="3" name="object 3"/>
          <p:cNvSpPr txBox="1">
            <a:spLocks noGrp="1"/>
          </p:cNvSpPr>
          <p:nvPr>
            <p:ph type="title"/>
          </p:nvPr>
        </p:nvSpPr>
        <p:spPr>
          <a:xfrm>
            <a:off x="771526" y="129033"/>
            <a:ext cx="4608195" cy="278281"/>
          </a:xfrm>
          <a:prstGeom prst="rect">
            <a:avLst/>
          </a:prstGeom>
          <a:solidFill>
            <a:srgbClr val="FFE600"/>
          </a:solidFill>
        </p:spPr>
        <p:txBody>
          <a:bodyPr vert="horz" wrap="square" lIns="0" tIns="62230" rIns="0" bIns="0" rtlCol="0">
            <a:spAutoFit/>
          </a:bodyPr>
          <a:lstStyle/>
          <a:p>
            <a:pPr marL="107945">
              <a:spcBef>
                <a:spcPts val="490"/>
              </a:spcBef>
            </a:pPr>
            <a:r>
              <a:rPr lang="en-US" spc="15" dirty="0"/>
              <a:t>Layered protocols</a:t>
            </a:r>
            <a:endParaRPr spc="15" dirty="0"/>
          </a:p>
        </p:txBody>
      </p:sp>
      <p:grpSp>
        <p:nvGrpSpPr>
          <p:cNvPr id="4" name="object 4"/>
          <p:cNvGrpSpPr/>
          <p:nvPr/>
        </p:nvGrpSpPr>
        <p:grpSpPr>
          <a:xfrm>
            <a:off x="859270" y="593129"/>
            <a:ext cx="4483735" cy="2733841"/>
            <a:chOff x="87743" y="593127"/>
            <a:chExt cx="4483735" cy="1824355"/>
          </a:xfrm>
        </p:grpSpPr>
        <p:sp>
          <p:nvSpPr>
            <p:cNvPr id="5" name="object 5"/>
            <p:cNvSpPr/>
            <p:nvPr/>
          </p:nvSpPr>
          <p:spPr>
            <a:xfrm>
              <a:off x="87743" y="593127"/>
              <a:ext cx="4432935" cy="82550"/>
            </a:xfrm>
            <a:custGeom>
              <a:avLst/>
              <a:gdLst/>
              <a:ahLst/>
              <a:cxnLst/>
              <a:rect l="l" t="t" r="r" b="b"/>
              <a:pathLst>
                <a:path w="4432935" h="82550">
                  <a:moveTo>
                    <a:pt x="4381767" y="0"/>
                  </a:moveTo>
                  <a:lnTo>
                    <a:pt x="50800" y="0"/>
                  </a:lnTo>
                  <a:lnTo>
                    <a:pt x="31075" y="4008"/>
                  </a:lnTo>
                  <a:lnTo>
                    <a:pt x="14922" y="14922"/>
                  </a:lnTo>
                  <a:lnTo>
                    <a:pt x="4008" y="31075"/>
                  </a:lnTo>
                  <a:lnTo>
                    <a:pt x="0" y="50800"/>
                  </a:lnTo>
                  <a:lnTo>
                    <a:pt x="0" y="82384"/>
                  </a:lnTo>
                  <a:lnTo>
                    <a:pt x="4432567" y="82384"/>
                  </a:lnTo>
                  <a:lnTo>
                    <a:pt x="4432567" y="50800"/>
                  </a:lnTo>
                  <a:lnTo>
                    <a:pt x="4428558" y="31075"/>
                  </a:lnTo>
                  <a:lnTo>
                    <a:pt x="4417644" y="14922"/>
                  </a:lnTo>
                  <a:lnTo>
                    <a:pt x="4401492" y="4008"/>
                  </a:lnTo>
                  <a:lnTo>
                    <a:pt x="4381767" y="0"/>
                  </a:lnTo>
                  <a:close/>
                </a:path>
              </a:pathLst>
            </a:custGeom>
            <a:solidFill>
              <a:srgbClr val="FEEDC0"/>
            </a:solidFill>
          </p:spPr>
          <p:txBody>
            <a:bodyPr wrap="square" lIns="0" tIns="0" rIns="0" bIns="0" rtlCol="0"/>
            <a:lstStyle/>
            <a:p>
              <a:endParaRPr/>
            </a:p>
          </p:txBody>
        </p:sp>
        <p:sp>
          <p:nvSpPr>
            <p:cNvPr id="6" name="object 6"/>
            <p:cNvSpPr/>
            <p:nvPr/>
          </p:nvSpPr>
          <p:spPr>
            <a:xfrm>
              <a:off x="138544" y="2315629"/>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89344" y="2302929"/>
              <a:ext cx="4381715"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520311" y="643686"/>
              <a:ext cx="50749" cy="167194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87743" y="637540"/>
              <a:ext cx="4432935" cy="1729105"/>
            </a:xfrm>
            <a:custGeom>
              <a:avLst/>
              <a:gdLst/>
              <a:ahLst/>
              <a:cxnLst/>
              <a:rect l="l" t="t" r="r" b="b"/>
              <a:pathLst>
                <a:path w="4432935" h="1729105">
                  <a:moveTo>
                    <a:pt x="4432567" y="0"/>
                  </a:moveTo>
                  <a:lnTo>
                    <a:pt x="0" y="0"/>
                  </a:lnTo>
                  <a:lnTo>
                    <a:pt x="0" y="1678089"/>
                  </a:lnTo>
                  <a:lnTo>
                    <a:pt x="4008" y="1697813"/>
                  </a:lnTo>
                  <a:lnTo>
                    <a:pt x="14922" y="1713966"/>
                  </a:lnTo>
                  <a:lnTo>
                    <a:pt x="31075" y="1724880"/>
                  </a:lnTo>
                  <a:lnTo>
                    <a:pt x="50800" y="1728889"/>
                  </a:lnTo>
                  <a:lnTo>
                    <a:pt x="4381767" y="1728889"/>
                  </a:lnTo>
                  <a:lnTo>
                    <a:pt x="4401492" y="1724880"/>
                  </a:lnTo>
                  <a:lnTo>
                    <a:pt x="4417644" y="1713966"/>
                  </a:lnTo>
                  <a:lnTo>
                    <a:pt x="4428558" y="1697813"/>
                  </a:lnTo>
                  <a:lnTo>
                    <a:pt x="4432567" y="1678089"/>
                  </a:lnTo>
                  <a:lnTo>
                    <a:pt x="4432567" y="0"/>
                  </a:lnTo>
                  <a:close/>
                </a:path>
              </a:pathLst>
            </a:custGeom>
            <a:solidFill>
              <a:srgbClr val="FEEDC0"/>
            </a:solidFill>
          </p:spPr>
          <p:txBody>
            <a:bodyPr wrap="square" lIns="0" tIns="0" rIns="0" bIns="0" rtlCol="0"/>
            <a:lstStyle/>
            <a:p>
              <a:endParaRPr/>
            </a:p>
          </p:txBody>
        </p:sp>
        <p:sp>
          <p:nvSpPr>
            <p:cNvPr id="10" name="object 10"/>
            <p:cNvSpPr/>
            <p:nvPr/>
          </p:nvSpPr>
          <p:spPr>
            <a:xfrm>
              <a:off x="4520311" y="681774"/>
              <a:ext cx="0" cy="1652905"/>
            </a:xfrm>
            <a:custGeom>
              <a:avLst/>
              <a:gdLst/>
              <a:ahLst/>
              <a:cxnLst/>
              <a:rect l="l" t="t" r="r" b="b"/>
              <a:pathLst>
                <a:path h="1652905">
                  <a:moveTo>
                    <a:pt x="0" y="1652904"/>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520311" y="66907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520311" y="65637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520311" y="64367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grpSp>
        <p:nvGrpSpPr>
          <p:cNvPr id="92" name="object 92"/>
          <p:cNvGrpSpPr/>
          <p:nvPr/>
        </p:nvGrpSpPr>
        <p:grpSpPr>
          <a:xfrm>
            <a:off x="771526" y="3326969"/>
            <a:ext cx="4608195" cy="129539"/>
            <a:chOff x="0" y="3326968"/>
            <a:chExt cx="4608195" cy="129539"/>
          </a:xfrm>
        </p:grpSpPr>
        <p:sp>
          <p:nvSpPr>
            <p:cNvPr id="93" name="object 93"/>
            <p:cNvSpPr/>
            <p:nvPr/>
          </p:nvSpPr>
          <p:spPr>
            <a:xfrm>
              <a:off x="0"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11E"/>
            </a:solidFill>
          </p:spPr>
          <p:txBody>
            <a:bodyPr wrap="square" lIns="0" tIns="0" rIns="0" bIns="0" rtlCol="0"/>
            <a:lstStyle/>
            <a:p>
              <a:endParaRPr/>
            </a:p>
          </p:txBody>
        </p:sp>
        <p:sp>
          <p:nvSpPr>
            <p:cNvPr id="94" name="object 94"/>
            <p:cNvSpPr/>
            <p:nvPr/>
          </p:nvSpPr>
          <p:spPr>
            <a:xfrm>
              <a:off x="2303995"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F50"/>
            </a:solidFill>
          </p:spPr>
          <p:txBody>
            <a:bodyPr wrap="square" lIns="0" tIns="0" rIns="0" bIns="0" rtlCol="0"/>
            <a:lstStyle/>
            <a:p>
              <a:endParaRPr/>
            </a:p>
          </p:txBody>
        </p:sp>
      </p:grpSp>
      <p:sp>
        <p:nvSpPr>
          <p:cNvPr id="95" name="object 95"/>
          <p:cNvSpPr txBox="1"/>
          <p:nvPr/>
        </p:nvSpPr>
        <p:spPr>
          <a:xfrm>
            <a:off x="838226" y="3331252"/>
            <a:ext cx="875665" cy="101310"/>
          </a:xfrm>
          <a:prstGeom prst="rect">
            <a:avLst/>
          </a:prstGeom>
        </p:spPr>
        <p:txBody>
          <a:bodyPr vert="horz" wrap="square" lIns="0" tIns="8890" rIns="0" bIns="0" rtlCol="0">
            <a:spAutoFit/>
          </a:bodyPr>
          <a:lstStyle/>
          <a:p>
            <a:pPr marL="12700">
              <a:spcBef>
                <a:spcPts val="70"/>
              </a:spcBef>
            </a:pPr>
            <a:r>
              <a:rPr sz="600" spc="-5" dirty="0">
                <a:solidFill>
                  <a:srgbClr val="04064C"/>
                </a:solidFill>
                <a:latin typeface="Arial"/>
                <a:cs typeface="Arial"/>
                <a:hlinkClick r:id="rId2" action="ppaction://hlinksldjump"/>
              </a:rPr>
              <a:t>The OSI reference</a:t>
            </a:r>
            <a:r>
              <a:rPr sz="600" spc="-45" dirty="0">
                <a:solidFill>
                  <a:srgbClr val="04064C"/>
                </a:solidFill>
                <a:latin typeface="Arial"/>
                <a:cs typeface="Arial"/>
                <a:hlinkClick r:id="rId2" action="ppaction://hlinksldjump"/>
              </a:rPr>
              <a:t> </a:t>
            </a:r>
            <a:r>
              <a:rPr sz="600" spc="-5" dirty="0">
                <a:solidFill>
                  <a:srgbClr val="04064C"/>
                </a:solidFill>
                <a:latin typeface="Arial"/>
                <a:cs typeface="Arial"/>
                <a:hlinkClick r:id="rId2" action="ppaction://hlinksldjump"/>
              </a:rPr>
              <a:t>model</a:t>
            </a:r>
            <a:endParaRPr sz="600">
              <a:latin typeface="Arial"/>
              <a:cs typeface="Arial"/>
            </a:endParaRPr>
          </a:p>
        </p:txBody>
      </p:sp>
      <p:sp>
        <p:nvSpPr>
          <p:cNvPr id="96" name="object 96"/>
          <p:cNvSpPr txBox="1"/>
          <p:nvPr/>
        </p:nvSpPr>
        <p:spPr>
          <a:xfrm>
            <a:off x="5072088" y="3331252"/>
            <a:ext cx="241300" cy="101310"/>
          </a:xfrm>
          <a:prstGeom prst="rect">
            <a:avLst/>
          </a:prstGeom>
        </p:spPr>
        <p:txBody>
          <a:bodyPr vert="horz" wrap="square" lIns="0" tIns="8890" rIns="0" bIns="0" rtlCol="0">
            <a:spAutoFit/>
          </a:bodyPr>
          <a:lstStyle/>
          <a:p>
            <a:pPr marL="38098">
              <a:spcBef>
                <a:spcPts val="70"/>
              </a:spcBef>
            </a:pPr>
            <a:fld id="{81D60167-4931-47E6-BA6A-407CBD079E47}" type="slidenum">
              <a:rPr sz="600" spc="-5" dirty="0">
                <a:solidFill>
                  <a:srgbClr val="04064C"/>
                </a:solidFill>
                <a:latin typeface="Arial"/>
                <a:cs typeface="Arial"/>
              </a:rPr>
              <a:pPr marL="38098">
                <a:spcBef>
                  <a:spcPts val="70"/>
                </a:spcBef>
              </a:pPr>
              <a:t>5</a:t>
            </a:fld>
            <a:r>
              <a:rPr sz="600" spc="-5" dirty="0">
                <a:solidFill>
                  <a:srgbClr val="04064C"/>
                </a:solidFill>
                <a:latin typeface="Arial"/>
                <a:cs typeface="Arial"/>
              </a:rPr>
              <a:t> /</a:t>
            </a:r>
            <a:r>
              <a:rPr sz="600" spc="-70" dirty="0">
                <a:solidFill>
                  <a:srgbClr val="04064C"/>
                </a:solidFill>
                <a:latin typeface="Arial"/>
                <a:cs typeface="Arial"/>
              </a:rPr>
              <a:t> </a:t>
            </a:r>
            <a:r>
              <a:rPr sz="600" spc="-5" dirty="0">
                <a:solidFill>
                  <a:srgbClr val="04064C"/>
                </a:solidFill>
                <a:latin typeface="Arial"/>
                <a:cs typeface="Arial"/>
              </a:rPr>
              <a:t>49</a:t>
            </a:r>
            <a:endParaRPr sz="600">
              <a:latin typeface="Arial"/>
              <a:cs typeface="Arial"/>
            </a:endParaRPr>
          </a:p>
        </p:txBody>
      </p:sp>
      <p:sp>
        <p:nvSpPr>
          <p:cNvPr id="97" name="Rectangle 96"/>
          <p:cNvSpPr/>
          <p:nvPr/>
        </p:nvSpPr>
        <p:spPr>
          <a:xfrm>
            <a:off x="899184" y="654978"/>
            <a:ext cx="4282669" cy="1815882"/>
          </a:xfrm>
          <a:prstGeom prst="rect">
            <a:avLst/>
          </a:prstGeom>
        </p:spPr>
        <p:txBody>
          <a:bodyPr wrap="square">
            <a:spAutoFit/>
          </a:bodyPr>
          <a:lstStyle/>
          <a:p>
            <a:pPr algn="just"/>
            <a:r>
              <a:rPr lang="en-US" sz="1400" dirty="0"/>
              <a:t>When process </a:t>
            </a:r>
            <a:r>
              <a:rPr lang="en-US" sz="1400" dirty="0">
                <a:solidFill>
                  <a:srgbClr val="FF0000"/>
                </a:solidFill>
              </a:rPr>
              <a:t>P wants to communicate with process Q</a:t>
            </a:r>
            <a:r>
              <a:rPr lang="en-US" sz="1400" dirty="0"/>
              <a:t>, it </a:t>
            </a:r>
            <a:r>
              <a:rPr lang="en-US" sz="1400" dirty="0">
                <a:solidFill>
                  <a:srgbClr val="FF0000"/>
                </a:solidFill>
              </a:rPr>
              <a:t>ﬁrst builds a message in its own address space</a:t>
            </a:r>
            <a:r>
              <a:rPr lang="en-US" sz="1400" dirty="0"/>
              <a:t>. Then it </a:t>
            </a:r>
            <a:r>
              <a:rPr lang="en-US" sz="1400" dirty="0">
                <a:solidFill>
                  <a:srgbClr val="FF0000"/>
                </a:solidFill>
              </a:rPr>
              <a:t>executes a system call that causes the operating system to send the message over the network to Q</a:t>
            </a:r>
            <a:r>
              <a:rPr lang="en-US" sz="1400" dirty="0"/>
              <a:t>. </a:t>
            </a:r>
          </a:p>
          <a:p>
            <a:pPr algn="just"/>
            <a:endParaRPr lang="en-US" sz="1400" dirty="0"/>
          </a:p>
          <a:p>
            <a:pPr algn="just"/>
            <a:r>
              <a:rPr lang="en-US" sz="1400" dirty="0"/>
              <a:t>Although this basic idea sounds simple enough, in order to prevent chaos, </a:t>
            </a:r>
            <a:r>
              <a:rPr lang="en-US" sz="1400" dirty="0">
                <a:solidFill>
                  <a:srgbClr val="FF0000"/>
                </a:solidFill>
              </a:rPr>
              <a:t>P and Q have to agree on the meaning of the bits being sent</a:t>
            </a:r>
            <a:r>
              <a:rPr lang="en-US" sz="1400" dirty="0"/>
              <a:t>.</a:t>
            </a:r>
          </a:p>
        </p:txBody>
      </p:sp>
    </p:spTree>
    <p:extLst>
      <p:ext uri="{BB962C8B-B14F-4D97-AF65-F5344CB8AC3E}">
        <p14:creationId xmlns:p14="http://schemas.microsoft.com/office/powerpoint/2010/main" val="2619779736"/>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238" y="716"/>
            <a:ext cx="4541520" cy="104516"/>
          </a:xfrm>
          <a:prstGeom prst="rect">
            <a:avLst/>
          </a:prstGeom>
        </p:spPr>
        <p:txBody>
          <a:bodyPr vert="horz" wrap="square" lIns="0" tIns="12065" rIns="0" bIns="0" rtlCol="0">
            <a:spAutoFit/>
          </a:bodyPr>
          <a:lstStyle/>
          <a:p>
            <a:pPr marL="12700">
              <a:spcBef>
                <a:spcPts val="95"/>
              </a:spcBef>
              <a:tabLst>
                <a:tab pos="3853650" algn="l"/>
              </a:tabLst>
            </a:pPr>
            <a:r>
              <a:rPr sz="600" spc="-5" dirty="0">
                <a:solidFill>
                  <a:srgbClr val="04064C"/>
                </a:solidFill>
                <a:latin typeface="Arial"/>
                <a:cs typeface="Arial"/>
                <a:hlinkClick r:id="rId2" action="ppaction://hlinksldjump"/>
              </a:rPr>
              <a:t>Communication:</a:t>
            </a:r>
            <a:r>
              <a:rPr sz="600" spc="-5" dirty="0">
                <a:solidFill>
                  <a:srgbClr val="04064C"/>
                </a:solidFill>
                <a:latin typeface="Arial"/>
                <a:cs typeface="Arial"/>
              </a:rPr>
              <a:t> </a:t>
            </a:r>
            <a:r>
              <a:rPr sz="600" spc="10" dirty="0">
                <a:solidFill>
                  <a:srgbClr val="04064C"/>
                </a:solidFill>
                <a:latin typeface="Arial"/>
                <a:cs typeface="Arial"/>
              </a:rPr>
              <a:t> </a:t>
            </a:r>
            <a:r>
              <a:rPr sz="600" spc="-5" dirty="0">
                <a:solidFill>
                  <a:srgbClr val="04064C"/>
                </a:solidFill>
                <a:latin typeface="Arial"/>
                <a:cs typeface="Arial"/>
                <a:hlinkClick r:id="rId2" action="ppaction://hlinksldjump"/>
              </a:rPr>
              <a:t>Foundations</a:t>
            </a:r>
            <a:r>
              <a:rPr sz="600" spc="-5" dirty="0">
                <a:solidFill>
                  <a:srgbClr val="04064C"/>
                </a:solidFill>
                <a:latin typeface="Arial"/>
                <a:cs typeface="Arial"/>
              </a:rPr>
              <a:t>	</a:t>
            </a:r>
            <a:r>
              <a:rPr sz="600" spc="-10" dirty="0">
                <a:solidFill>
                  <a:srgbClr val="04064C"/>
                </a:solidFill>
                <a:latin typeface="Arial"/>
                <a:cs typeface="Arial"/>
                <a:hlinkClick r:id="rId2" action="ppaction://hlinksldjump"/>
              </a:rPr>
              <a:t>Layered</a:t>
            </a:r>
            <a:r>
              <a:rPr sz="600" spc="-15" dirty="0">
                <a:solidFill>
                  <a:srgbClr val="04064C"/>
                </a:solidFill>
                <a:latin typeface="Arial"/>
                <a:cs typeface="Arial"/>
                <a:hlinkClick r:id="rId2" action="ppaction://hlinksldjump"/>
              </a:rPr>
              <a:t> </a:t>
            </a:r>
            <a:r>
              <a:rPr sz="600" spc="-5" dirty="0">
                <a:solidFill>
                  <a:srgbClr val="04064C"/>
                </a:solidFill>
                <a:latin typeface="Arial"/>
                <a:cs typeface="Arial"/>
                <a:hlinkClick r:id="rId2" action="ppaction://hlinksldjump"/>
              </a:rPr>
              <a:t>Protocols</a:t>
            </a:r>
            <a:endParaRPr sz="600">
              <a:latin typeface="Arial"/>
              <a:cs typeface="Arial"/>
            </a:endParaRPr>
          </a:p>
        </p:txBody>
      </p:sp>
      <p:sp>
        <p:nvSpPr>
          <p:cNvPr id="3" name="object 3"/>
          <p:cNvSpPr txBox="1">
            <a:spLocks noGrp="1"/>
          </p:cNvSpPr>
          <p:nvPr>
            <p:ph type="title"/>
          </p:nvPr>
        </p:nvSpPr>
        <p:spPr>
          <a:xfrm>
            <a:off x="771526" y="129033"/>
            <a:ext cx="4608195" cy="278281"/>
          </a:xfrm>
          <a:prstGeom prst="rect">
            <a:avLst/>
          </a:prstGeom>
          <a:solidFill>
            <a:srgbClr val="FFE600"/>
          </a:solidFill>
        </p:spPr>
        <p:txBody>
          <a:bodyPr vert="horz" wrap="square" lIns="0" tIns="62230" rIns="0" bIns="0" rtlCol="0">
            <a:spAutoFit/>
          </a:bodyPr>
          <a:lstStyle/>
          <a:p>
            <a:pPr marL="107945">
              <a:spcBef>
                <a:spcPts val="490"/>
              </a:spcBef>
            </a:pPr>
            <a:r>
              <a:rPr spc="15" dirty="0"/>
              <a:t>Basic networking</a:t>
            </a:r>
            <a:r>
              <a:rPr spc="-10" dirty="0"/>
              <a:t> </a:t>
            </a:r>
            <a:r>
              <a:rPr spc="15" dirty="0"/>
              <a:t>model</a:t>
            </a:r>
            <a:r>
              <a:rPr lang="en-US" spc="15" dirty="0"/>
              <a:t>- OSI Ref Model</a:t>
            </a:r>
            <a:endParaRPr spc="15" dirty="0"/>
          </a:p>
        </p:txBody>
      </p:sp>
      <p:grpSp>
        <p:nvGrpSpPr>
          <p:cNvPr id="4" name="object 4"/>
          <p:cNvGrpSpPr/>
          <p:nvPr/>
        </p:nvGrpSpPr>
        <p:grpSpPr>
          <a:xfrm>
            <a:off x="859270" y="593129"/>
            <a:ext cx="4483735" cy="1824355"/>
            <a:chOff x="87743" y="593127"/>
            <a:chExt cx="4483735" cy="1824355"/>
          </a:xfrm>
        </p:grpSpPr>
        <p:sp>
          <p:nvSpPr>
            <p:cNvPr id="5" name="object 5"/>
            <p:cNvSpPr/>
            <p:nvPr/>
          </p:nvSpPr>
          <p:spPr>
            <a:xfrm>
              <a:off x="87743" y="593127"/>
              <a:ext cx="4432935" cy="82550"/>
            </a:xfrm>
            <a:custGeom>
              <a:avLst/>
              <a:gdLst/>
              <a:ahLst/>
              <a:cxnLst/>
              <a:rect l="l" t="t" r="r" b="b"/>
              <a:pathLst>
                <a:path w="4432935" h="82550">
                  <a:moveTo>
                    <a:pt x="4381767" y="0"/>
                  </a:moveTo>
                  <a:lnTo>
                    <a:pt x="50800" y="0"/>
                  </a:lnTo>
                  <a:lnTo>
                    <a:pt x="31075" y="4008"/>
                  </a:lnTo>
                  <a:lnTo>
                    <a:pt x="14922" y="14922"/>
                  </a:lnTo>
                  <a:lnTo>
                    <a:pt x="4008" y="31075"/>
                  </a:lnTo>
                  <a:lnTo>
                    <a:pt x="0" y="50800"/>
                  </a:lnTo>
                  <a:lnTo>
                    <a:pt x="0" y="82384"/>
                  </a:lnTo>
                  <a:lnTo>
                    <a:pt x="4432567" y="82384"/>
                  </a:lnTo>
                  <a:lnTo>
                    <a:pt x="4432567" y="50800"/>
                  </a:lnTo>
                  <a:lnTo>
                    <a:pt x="4428558" y="31075"/>
                  </a:lnTo>
                  <a:lnTo>
                    <a:pt x="4417644" y="14922"/>
                  </a:lnTo>
                  <a:lnTo>
                    <a:pt x="4401492" y="4008"/>
                  </a:lnTo>
                  <a:lnTo>
                    <a:pt x="4381767" y="0"/>
                  </a:lnTo>
                  <a:close/>
                </a:path>
              </a:pathLst>
            </a:custGeom>
            <a:solidFill>
              <a:srgbClr val="FEEDC0"/>
            </a:solidFill>
          </p:spPr>
          <p:txBody>
            <a:bodyPr wrap="square" lIns="0" tIns="0" rIns="0" bIns="0" rtlCol="0"/>
            <a:lstStyle/>
            <a:p>
              <a:endParaRPr/>
            </a:p>
          </p:txBody>
        </p:sp>
        <p:sp>
          <p:nvSpPr>
            <p:cNvPr id="6" name="object 6"/>
            <p:cNvSpPr/>
            <p:nvPr/>
          </p:nvSpPr>
          <p:spPr>
            <a:xfrm>
              <a:off x="138544" y="2315629"/>
              <a:ext cx="101600" cy="101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89344" y="2302929"/>
              <a:ext cx="4381715" cy="1143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520311" y="643686"/>
              <a:ext cx="50749" cy="1671942"/>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87743" y="637540"/>
              <a:ext cx="4432935" cy="1729105"/>
            </a:xfrm>
            <a:custGeom>
              <a:avLst/>
              <a:gdLst/>
              <a:ahLst/>
              <a:cxnLst/>
              <a:rect l="l" t="t" r="r" b="b"/>
              <a:pathLst>
                <a:path w="4432935" h="1729105">
                  <a:moveTo>
                    <a:pt x="4432567" y="0"/>
                  </a:moveTo>
                  <a:lnTo>
                    <a:pt x="0" y="0"/>
                  </a:lnTo>
                  <a:lnTo>
                    <a:pt x="0" y="1678089"/>
                  </a:lnTo>
                  <a:lnTo>
                    <a:pt x="4008" y="1697813"/>
                  </a:lnTo>
                  <a:lnTo>
                    <a:pt x="14922" y="1713966"/>
                  </a:lnTo>
                  <a:lnTo>
                    <a:pt x="31075" y="1724880"/>
                  </a:lnTo>
                  <a:lnTo>
                    <a:pt x="50800" y="1728889"/>
                  </a:lnTo>
                  <a:lnTo>
                    <a:pt x="4381767" y="1728889"/>
                  </a:lnTo>
                  <a:lnTo>
                    <a:pt x="4401492" y="1724880"/>
                  </a:lnTo>
                  <a:lnTo>
                    <a:pt x="4417644" y="1713966"/>
                  </a:lnTo>
                  <a:lnTo>
                    <a:pt x="4428558" y="1697813"/>
                  </a:lnTo>
                  <a:lnTo>
                    <a:pt x="4432567" y="1678089"/>
                  </a:lnTo>
                  <a:lnTo>
                    <a:pt x="4432567" y="0"/>
                  </a:lnTo>
                  <a:close/>
                </a:path>
              </a:pathLst>
            </a:custGeom>
            <a:solidFill>
              <a:srgbClr val="FEEDC0"/>
            </a:solidFill>
          </p:spPr>
          <p:txBody>
            <a:bodyPr wrap="square" lIns="0" tIns="0" rIns="0" bIns="0" rtlCol="0"/>
            <a:lstStyle/>
            <a:p>
              <a:endParaRPr/>
            </a:p>
          </p:txBody>
        </p:sp>
        <p:sp>
          <p:nvSpPr>
            <p:cNvPr id="10" name="object 10"/>
            <p:cNvSpPr/>
            <p:nvPr/>
          </p:nvSpPr>
          <p:spPr>
            <a:xfrm>
              <a:off x="4520311" y="681774"/>
              <a:ext cx="0" cy="1652905"/>
            </a:xfrm>
            <a:custGeom>
              <a:avLst/>
              <a:gdLst/>
              <a:ahLst/>
              <a:cxnLst/>
              <a:rect l="l" t="t" r="r" b="b"/>
              <a:pathLst>
                <a:path h="1652905">
                  <a:moveTo>
                    <a:pt x="0" y="1652904"/>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520311" y="66907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520311" y="65637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520311" y="64367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4" name="object 14"/>
          <p:cNvSpPr txBox="1"/>
          <p:nvPr/>
        </p:nvSpPr>
        <p:spPr>
          <a:xfrm>
            <a:off x="2040029" y="1964304"/>
            <a:ext cx="294005"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Physical</a:t>
            </a:r>
            <a:endParaRPr sz="550">
              <a:latin typeface="Arial"/>
              <a:cs typeface="Arial"/>
            </a:endParaRPr>
          </a:p>
        </p:txBody>
      </p:sp>
      <p:sp>
        <p:nvSpPr>
          <p:cNvPr id="15" name="object 15"/>
          <p:cNvSpPr txBox="1"/>
          <p:nvPr/>
        </p:nvSpPr>
        <p:spPr>
          <a:xfrm>
            <a:off x="2023200" y="1796591"/>
            <a:ext cx="306070"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Data</a:t>
            </a:r>
            <a:r>
              <a:rPr sz="550" spc="-45" dirty="0">
                <a:solidFill>
                  <a:srgbClr val="231F20"/>
                </a:solidFill>
                <a:latin typeface="Arial"/>
                <a:cs typeface="Arial"/>
              </a:rPr>
              <a:t> </a:t>
            </a:r>
            <a:r>
              <a:rPr sz="550" spc="5" dirty="0">
                <a:solidFill>
                  <a:srgbClr val="231F20"/>
                </a:solidFill>
                <a:latin typeface="Arial"/>
                <a:cs typeface="Arial"/>
              </a:rPr>
              <a:t>link</a:t>
            </a:r>
            <a:endParaRPr sz="550">
              <a:latin typeface="Arial"/>
              <a:cs typeface="Arial"/>
            </a:endParaRPr>
          </a:p>
        </p:txBody>
      </p:sp>
      <p:sp>
        <p:nvSpPr>
          <p:cNvPr id="16" name="object 16"/>
          <p:cNvSpPr txBox="1"/>
          <p:nvPr/>
        </p:nvSpPr>
        <p:spPr>
          <a:xfrm>
            <a:off x="2039287" y="1621707"/>
            <a:ext cx="290195"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Network</a:t>
            </a:r>
            <a:endParaRPr sz="550">
              <a:latin typeface="Arial"/>
              <a:cs typeface="Arial"/>
            </a:endParaRPr>
          </a:p>
        </p:txBody>
      </p:sp>
      <p:sp>
        <p:nvSpPr>
          <p:cNvPr id="17" name="object 17"/>
          <p:cNvSpPr txBox="1"/>
          <p:nvPr/>
        </p:nvSpPr>
        <p:spPr>
          <a:xfrm>
            <a:off x="1998083" y="1440072"/>
            <a:ext cx="331470" cy="99385"/>
          </a:xfrm>
          <a:prstGeom prst="rect">
            <a:avLst/>
          </a:prstGeom>
        </p:spPr>
        <p:txBody>
          <a:bodyPr vert="horz" wrap="square" lIns="0" tIns="14604" rIns="0" bIns="0" rtlCol="0">
            <a:spAutoFit/>
          </a:bodyPr>
          <a:lstStyle/>
          <a:p>
            <a:pPr marL="12700">
              <a:spcBef>
                <a:spcPts val="114"/>
              </a:spcBef>
            </a:pPr>
            <a:r>
              <a:rPr sz="550" spc="-15" dirty="0">
                <a:solidFill>
                  <a:srgbClr val="231F20"/>
                </a:solidFill>
                <a:latin typeface="Arial"/>
                <a:cs typeface="Arial"/>
              </a:rPr>
              <a:t>T</a:t>
            </a:r>
            <a:r>
              <a:rPr sz="550" spc="5" dirty="0">
                <a:solidFill>
                  <a:srgbClr val="231F20"/>
                </a:solidFill>
                <a:latin typeface="Arial"/>
                <a:cs typeface="Arial"/>
              </a:rPr>
              <a:t>ransport</a:t>
            </a:r>
            <a:endParaRPr sz="550">
              <a:latin typeface="Arial"/>
              <a:cs typeface="Arial"/>
            </a:endParaRPr>
          </a:p>
        </p:txBody>
      </p:sp>
      <p:sp>
        <p:nvSpPr>
          <p:cNvPr id="18" name="object 18"/>
          <p:cNvSpPr txBox="1"/>
          <p:nvPr/>
        </p:nvSpPr>
        <p:spPr>
          <a:xfrm>
            <a:off x="2040029" y="1248623"/>
            <a:ext cx="282575"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Session</a:t>
            </a:r>
            <a:endParaRPr sz="550">
              <a:latin typeface="Arial"/>
              <a:cs typeface="Arial"/>
            </a:endParaRPr>
          </a:p>
        </p:txBody>
      </p:sp>
      <p:sp>
        <p:nvSpPr>
          <p:cNvPr id="19" name="object 19"/>
          <p:cNvSpPr txBox="1"/>
          <p:nvPr/>
        </p:nvSpPr>
        <p:spPr>
          <a:xfrm>
            <a:off x="1943803" y="892677"/>
            <a:ext cx="378460"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Application</a:t>
            </a:r>
            <a:endParaRPr sz="550">
              <a:latin typeface="Arial"/>
              <a:cs typeface="Arial"/>
            </a:endParaRPr>
          </a:p>
        </p:txBody>
      </p:sp>
      <p:sp>
        <p:nvSpPr>
          <p:cNvPr id="20" name="object 20"/>
          <p:cNvSpPr txBox="1"/>
          <p:nvPr/>
        </p:nvSpPr>
        <p:spPr>
          <a:xfrm>
            <a:off x="1891650" y="1071794"/>
            <a:ext cx="430530"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Presentation</a:t>
            </a:r>
            <a:endParaRPr sz="550">
              <a:latin typeface="Arial"/>
              <a:cs typeface="Arial"/>
            </a:endParaRPr>
          </a:p>
        </p:txBody>
      </p:sp>
      <p:grpSp>
        <p:nvGrpSpPr>
          <p:cNvPr id="21" name="object 21"/>
          <p:cNvGrpSpPr/>
          <p:nvPr/>
        </p:nvGrpSpPr>
        <p:grpSpPr>
          <a:xfrm>
            <a:off x="2408608" y="668905"/>
            <a:ext cx="1733550" cy="1560830"/>
            <a:chOff x="1637083" y="668905"/>
            <a:chExt cx="1733550" cy="1560830"/>
          </a:xfrm>
        </p:grpSpPr>
        <p:sp>
          <p:nvSpPr>
            <p:cNvPr id="22" name="object 22"/>
            <p:cNvSpPr/>
            <p:nvPr/>
          </p:nvSpPr>
          <p:spPr>
            <a:xfrm>
              <a:off x="1754572" y="708345"/>
              <a:ext cx="1498600" cy="1518285"/>
            </a:xfrm>
            <a:custGeom>
              <a:avLst/>
              <a:gdLst/>
              <a:ahLst/>
              <a:cxnLst/>
              <a:rect l="l" t="t" r="r" b="b"/>
              <a:pathLst>
                <a:path w="1498600" h="1518285">
                  <a:moveTo>
                    <a:pt x="0" y="0"/>
                  </a:moveTo>
                  <a:lnTo>
                    <a:pt x="0" y="1517932"/>
                  </a:lnTo>
                  <a:lnTo>
                    <a:pt x="1498075" y="1517932"/>
                  </a:lnTo>
                  <a:lnTo>
                    <a:pt x="1498075" y="10360"/>
                  </a:lnTo>
                </a:path>
              </a:pathLst>
            </a:custGeom>
            <a:ln w="6864">
              <a:solidFill>
                <a:srgbClr val="231F20"/>
              </a:solidFill>
            </a:ln>
          </p:spPr>
          <p:txBody>
            <a:bodyPr wrap="square" lIns="0" tIns="0" rIns="0" bIns="0" rtlCol="0"/>
            <a:lstStyle/>
            <a:p>
              <a:endParaRPr/>
            </a:p>
          </p:txBody>
        </p:sp>
        <p:sp>
          <p:nvSpPr>
            <p:cNvPr id="23" name="object 23"/>
            <p:cNvSpPr/>
            <p:nvPr/>
          </p:nvSpPr>
          <p:spPr>
            <a:xfrm>
              <a:off x="1730806" y="668908"/>
              <a:ext cx="1545590" cy="53975"/>
            </a:xfrm>
            <a:custGeom>
              <a:avLst/>
              <a:gdLst/>
              <a:ahLst/>
              <a:cxnLst/>
              <a:rect l="l" t="t" r="r" b="b"/>
              <a:pathLst>
                <a:path w="1545589" h="53975">
                  <a:moveTo>
                    <a:pt x="47510" y="43180"/>
                  </a:moveTo>
                  <a:lnTo>
                    <a:pt x="23761" y="0"/>
                  </a:lnTo>
                  <a:lnTo>
                    <a:pt x="0" y="43180"/>
                  </a:lnTo>
                  <a:lnTo>
                    <a:pt x="47510" y="43180"/>
                  </a:lnTo>
                  <a:close/>
                </a:path>
                <a:path w="1545589" h="53975">
                  <a:moveTo>
                    <a:pt x="1545590" y="53543"/>
                  </a:moveTo>
                  <a:lnTo>
                    <a:pt x="1521828" y="10350"/>
                  </a:lnTo>
                  <a:lnTo>
                    <a:pt x="1498079" y="53543"/>
                  </a:lnTo>
                  <a:lnTo>
                    <a:pt x="1545590" y="53543"/>
                  </a:lnTo>
                  <a:close/>
                </a:path>
              </a:pathLst>
            </a:custGeom>
            <a:solidFill>
              <a:srgbClr val="231F20"/>
            </a:solidFill>
          </p:spPr>
          <p:txBody>
            <a:bodyPr wrap="square" lIns="0" tIns="0" rIns="0" bIns="0" rtlCol="0"/>
            <a:lstStyle/>
            <a:p>
              <a:endParaRPr/>
            </a:p>
          </p:txBody>
        </p:sp>
        <p:sp>
          <p:nvSpPr>
            <p:cNvPr id="24" name="object 24"/>
            <p:cNvSpPr/>
            <p:nvPr/>
          </p:nvSpPr>
          <p:spPr>
            <a:xfrm>
              <a:off x="1639337" y="876278"/>
              <a:ext cx="230504" cy="115570"/>
            </a:xfrm>
            <a:custGeom>
              <a:avLst/>
              <a:gdLst/>
              <a:ahLst/>
              <a:cxnLst/>
              <a:rect l="l" t="t" r="r" b="b"/>
              <a:pathLst>
                <a:path w="230505" h="115569">
                  <a:moveTo>
                    <a:pt x="230469" y="0"/>
                  </a:moveTo>
                  <a:lnTo>
                    <a:pt x="0" y="0"/>
                  </a:lnTo>
                  <a:lnTo>
                    <a:pt x="0" y="115237"/>
                  </a:lnTo>
                  <a:lnTo>
                    <a:pt x="230469" y="115237"/>
                  </a:lnTo>
                  <a:lnTo>
                    <a:pt x="230469" y="0"/>
                  </a:lnTo>
                  <a:close/>
                </a:path>
              </a:pathLst>
            </a:custGeom>
            <a:solidFill>
              <a:srgbClr val="FFFFFF"/>
            </a:solidFill>
          </p:spPr>
          <p:txBody>
            <a:bodyPr wrap="square" lIns="0" tIns="0" rIns="0" bIns="0" rtlCol="0"/>
            <a:lstStyle/>
            <a:p>
              <a:endParaRPr/>
            </a:p>
          </p:txBody>
        </p:sp>
        <p:sp>
          <p:nvSpPr>
            <p:cNvPr id="25" name="object 25"/>
            <p:cNvSpPr/>
            <p:nvPr/>
          </p:nvSpPr>
          <p:spPr>
            <a:xfrm>
              <a:off x="1639337" y="876278"/>
              <a:ext cx="230504" cy="115570"/>
            </a:xfrm>
            <a:custGeom>
              <a:avLst/>
              <a:gdLst/>
              <a:ahLst/>
              <a:cxnLst/>
              <a:rect l="l" t="t" r="r" b="b"/>
              <a:pathLst>
                <a:path w="230505" h="115569">
                  <a:moveTo>
                    <a:pt x="0" y="0"/>
                  </a:moveTo>
                  <a:lnTo>
                    <a:pt x="230469" y="0"/>
                  </a:lnTo>
                  <a:lnTo>
                    <a:pt x="230469" y="115237"/>
                  </a:lnTo>
                  <a:lnTo>
                    <a:pt x="0" y="115237"/>
                  </a:lnTo>
                  <a:lnTo>
                    <a:pt x="0" y="0"/>
                  </a:lnTo>
                  <a:close/>
                </a:path>
              </a:pathLst>
            </a:custGeom>
            <a:ln w="4508">
              <a:solidFill>
                <a:srgbClr val="231F20"/>
              </a:solidFill>
            </a:ln>
          </p:spPr>
          <p:txBody>
            <a:bodyPr wrap="square" lIns="0" tIns="0" rIns="0" bIns="0" rtlCol="0"/>
            <a:lstStyle/>
            <a:p>
              <a:endParaRPr/>
            </a:p>
          </p:txBody>
        </p:sp>
        <p:sp>
          <p:nvSpPr>
            <p:cNvPr id="26" name="object 26"/>
            <p:cNvSpPr/>
            <p:nvPr/>
          </p:nvSpPr>
          <p:spPr>
            <a:xfrm>
              <a:off x="1639337" y="1055400"/>
              <a:ext cx="230504" cy="115570"/>
            </a:xfrm>
            <a:custGeom>
              <a:avLst/>
              <a:gdLst/>
              <a:ahLst/>
              <a:cxnLst/>
              <a:rect l="l" t="t" r="r" b="b"/>
              <a:pathLst>
                <a:path w="230505" h="115569">
                  <a:moveTo>
                    <a:pt x="230469" y="0"/>
                  </a:moveTo>
                  <a:lnTo>
                    <a:pt x="0" y="0"/>
                  </a:lnTo>
                  <a:lnTo>
                    <a:pt x="0" y="115228"/>
                  </a:lnTo>
                  <a:lnTo>
                    <a:pt x="230469" y="115228"/>
                  </a:lnTo>
                  <a:lnTo>
                    <a:pt x="230469" y="0"/>
                  </a:lnTo>
                  <a:close/>
                </a:path>
              </a:pathLst>
            </a:custGeom>
            <a:solidFill>
              <a:srgbClr val="FFFFFF"/>
            </a:solidFill>
          </p:spPr>
          <p:txBody>
            <a:bodyPr wrap="square" lIns="0" tIns="0" rIns="0" bIns="0" rtlCol="0"/>
            <a:lstStyle/>
            <a:p>
              <a:endParaRPr/>
            </a:p>
          </p:txBody>
        </p:sp>
        <p:sp>
          <p:nvSpPr>
            <p:cNvPr id="27" name="object 27"/>
            <p:cNvSpPr/>
            <p:nvPr/>
          </p:nvSpPr>
          <p:spPr>
            <a:xfrm>
              <a:off x="1639337" y="1055400"/>
              <a:ext cx="230504" cy="115570"/>
            </a:xfrm>
            <a:custGeom>
              <a:avLst/>
              <a:gdLst/>
              <a:ahLst/>
              <a:cxnLst/>
              <a:rect l="l" t="t" r="r" b="b"/>
              <a:pathLst>
                <a:path w="230505" h="115569">
                  <a:moveTo>
                    <a:pt x="0" y="0"/>
                  </a:moveTo>
                  <a:lnTo>
                    <a:pt x="230469" y="0"/>
                  </a:lnTo>
                  <a:lnTo>
                    <a:pt x="230469" y="115228"/>
                  </a:lnTo>
                  <a:lnTo>
                    <a:pt x="0" y="115228"/>
                  </a:lnTo>
                  <a:lnTo>
                    <a:pt x="0" y="0"/>
                  </a:lnTo>
                  <a:close/>
                </a:path>
              </a:pathLst>
            </a:custGeom>
            <a:ln w="4508">
              <a:solidFill>
                <a:srgbClr val="231F20"/>
              </a:solidFill>
            </a:ln>
          </p:spPr>
          <p:txBody>
            <a:bodyPr wrap="square" lIns="0" tIns="0" rIns="0" bIns="0" rtlCol="0"/>
            <a:lstStyle/>
            <a:p>
              <a:endParaRPr/>
            </a:p>
          </p:txBody>
        </p:sp>
        <p:sp>
          <p:nvSpPr>
            <p:cNvPr id="28" name="object 28"/>
            <p:cNvSpPr/>
            <p:nvPr/>
          </p:nvSpPr>
          <p:spPr>
            <a:xfrm>
              <a:off x="3137419" y="876278"/>
              <a:ext cx="230504" cy="115570"/>
            </a:xfrm>
            <a:custGeom>
              <a:avLst/>
              <a:gdLst/>
              <a:ahLst/>
              <a:cxnLst/>
              <a:rect l="l" t="t" r="r" b="b"/>
              <a:pathLst>
                <a:path w="230504" h="115569">
                  <a:moveTo>
                    <a:pt x="230474" y="0"/>
                  </a:moveTo>
                  <a:lnTo>
                    <a:pt x="0" y="0"/>
                  </a:lnTo>
                  <a:lnTo>
                    <a:pt x="0" y="115237"/>
                  </a:lnTo>
                  <a:lnTo>
                    <a:pt x="230474" y="115237"/>
                  </a:lnTo>
                  <a:lnTo>
                    <a:pt x="230474" y="0"/>
                  </a:lnTo>
                  <a:close/>
                </a:path>
              </a:pathLst>
            </a:custGeom>
            <a:solidFill>
              <a:srgbClr val="FFFFFF"/>
            </a:solidFill>
          </p:spPr>
          <p:txBody>
            <a:bodyPr wrap="square" lIns="0" tIns="0" rIns="0" bIns="0" rtlCol="0"/>
            <a:lstStyle/>
            <a:p>
              <a:endParaRPr/>
            </a:p>
          </p:txBody>
        </p:sp>
        <p:sp>
          <p:nvSpPr>
            <p:cNvPr id="29" name="object 29"/>
            <p:cNvSpPr/>
            <p:nvPr/>
          </p:nvSpPr>
          <p:spPr>
            <a:xfrm>
              <a:off x="3137419" y="876278"/>
              <a:ext cx="230504" cy="115570"/>
            </a:xfrm>
            <a:custGeom>
              <a:avLst/>
              <a:gdLst/>
              <a:ahLst/>
              <a:cxnLst/>
              <a:rect l="l" t="t" r="r" b="b"/>
              <a:pathLst>
                <a:path w="230504" h="115569">
                  <a:moveTo>
                    <a:pt x="0" y="0"/>
                  </a:moveTo>
                  <a:lnTo>
                    <a:pt x="230474" y="0"/>
                  </a:lnTo>
                  <a:lnTo>
                    <a:pt x="230474" y="115237"/>
                  </a:lnTo>
                  <a:lnTo>
                    <a:pt x="0" y="115237"/>
                  </a:lnTo>
                  <a:lnTo>
                    <a:pt x="0" y="0"/>
                  </a:lnTo>
                  <a:close/>
                </a:path>
              </a:pathLst>
            </a:custGeom>
            <a:ln w="4508">
              <a:solidFill>
                <a:srgbClr val="231F20"/>
              </a:solidFill>
            </a:ln>
          </p:spPr>
          <p:txBody>
            <a:bodyPr wrap="square" lIns="0" tIns="0" rIns="0" bIns="0" rtlCol="0"/>
            <a:lstStyle/>
            <a:p>
              <a:endParaRPr/>
            </a:p>
          </p:txBody>
        </p:sp>
        <p:sp>
          <p:nvSpPr>
            <p:cNvPr id="30" name="object 30"/>
            <p:cNvSpPr/>
            <p:nvPr/>
          </p:nvSpPr>
          <p:spPr>
            <a:xfrm>
              <a:off x="3137419" y="1055400"/>
              <a:ext cx="230504" cy="115570"/>
            </a:xfrm>
            <a:custGeom>
              <a:avLst/>
              <a:gdLst/>
              <a:ahLst/>
              <a:cxnLst/>
              <a:rect l="l" t="t" r="r" b="b"/>
              <a:pathLst>
                <a:path w="230504" h="115569">
                  <a:moveTo>
                    <a:pt x="230474" y="0"/>
                  </a:moveTo>
                  <a:lnTo>
                    <a:pt x="0" y="0"/>
                  </a:lnTo>
                  <a:lnTo>
                    <a:pt x="0" y="115228"/>
                  </a:lnTo>
                  <a:lnTo>
                    <a:pt x="230474" y="115228"/>
                  </a:lnTo>
                  <a:lnTo>
                    <a:pt x="230474" y="0"/>
                  </a:lnTo>
                  <a:close/>
                </a:path>
              </a:pathLst>
            </a:custGeom>
            <a:solidFill>
              <a:srgbClr val="FFFFFF"/>
            </a:solidFill>
          </p:spPr>
          <p:txBody>
            <a:bodyPr wrap="square" lIns="0" tIns="0" rIns="0" bIns="0" rtlCol="0"/>
            <a:lstStyle/>
            <a:p>
              <a:endParaRPr/>
            </a:p>
          </p:txBody>
        </p:sp>
        <p:sp>
          <p:nvSpPr>
            <p:cNvPr id="31" name="object 31"/>
            <p:cNvSpPr/>
            <p:nvPr/>
          </p:nvSpPr>
          <p:spPr>
            <a:xfrm>
              <a:off x="3137419" y="1055400"/>
              <a:ext cx="230504" cy="115570"/>
            </a:xfrm>
            <a:custGeom>
              <a:avLst/>
              <a:gdLst/>
              <a:ahLst/>
              <a:cxnLst/>
              <a:rect l="l" t="t" r="r" b="b"/>
              <a:pathLst>
                <a:path w="230504" h="115569">
                  <a:moveTo>
                    <a:pt x="0" y="0"/>
                  </a:moveTo>
                  <a:lnTo>
                    <a:pt x="230474" y="0"/>
                  </a:lnTo>
                  <a:lnTo>
                    <a:pt x="230474" y="115228"/>
                  </a:lnTo>
                  <a:lnTo>
                    <a:pt x="0" y="115228"/>
                  </a:lnTo>
                  <a:lnTo>
                    <a:pt x="0" y="0"/>
                  </a:lnTo>
                  <a:close/>
                </a:path>
              </a:pathLst>
            </a:custGeom>
            <a:ln w="4508">
              <a:solidFill>
                <a:srgbClr val="231F20"/>
              </a:solidFill>
            </a:ln>
          </p:spPr>
          <p:txBody>
            <a:bodyPr wrap="square" lIns="0" tIns="0" rIns="0" bIns="0" rtlCol="0"/>
            <a:lstStyle/>
            <a:p>
              <a:endParaRPr/>
            </a:p>
          </p:txBody>
        </p:sp>
        <p:sp>
          <p:nvSpPr>
            <p:cNvPr id="32" name="object 32"/>
            <p:cNvSpPr/>
            <p:nvPr/>
          </p:nvSpPr>
          <p:spPr>
            <a:xfrm>
              <a:off x="1639337" y="1246759"/>
              <a:ext cx="230504" cy="115570"/>
            </a:xfrm>
            <a:custGeom>
              <a:avLst/>
              <a:gdLst/>
              <a:ahLst/>
              <a:cxnLst/>
              <a:rect l="l" t="t" r="r" b="b"/>
              <a:pathLst>
                <a:path w="230505" h="115569">
                  <a:moveTo>
                    <a:pt x="230469" y="0"/>
                  </a:moveTo>
                  <a:lnTo>
                    <a:pt x="0" y="0"/>
                  </a:lnTo>
                  <a:lnTo>
                    <a:pt x="0" y="115237"/>
                  </a:lnTo>
                  <a:lnTo>
                    <a:pt x="230469" y="115237"/>
                  </a:lnTo>
                  <a:lnTo>
                    <a:pt x="230469" y="0"/>
                  </a:lnTo>
                  <a:close/>
                </a:path>
              </a:pathLst>
            </a:custGeom>
            <a:solidFill>
              <a:srgbClr val="FFFFFF"/>
            </a:solidFill>
          </p:spPr>
          <p:txBody>
            <a:bodyPr wrap="square" lIns="0" tIns="0" rIns="0" bIns="0" rtlCol="0"/>
            <a:lstStyle/>
            <a:p>
              <a:endParaRPr/>
            </a:p>
          </p:txBody>
        </p:sp>
        <p:sp>
          <p:nvSpPr>
            <p:cNvPr id="33" name="object 33"/>
            <p:cNvSpPr/>
            <p:nvPr/>
          </p:nvSpPr>
          <p:spPr>
            <a:xfrm>
              <a:off x="1639337" y="1246759"/>
              <a:ext cx="230504" cy="115570"/>
            </a:xfrm>
            <a:custGeom>
              <a:avLst/>
              <a:gdLst/>
              <a:ahLst/>
              <a:cxnLst/>
              <a:rect l="l" t="t" r="r" b="b"/>
              <a:pathLst>
                <a:path w="230505" h="115569">
                  <a:moveTo>
                    <a:pt x="0" y="0"/>
                  </a:moveTo>
                  <a:lnTo>
                    <a:pt x="230469" y="0"/>
                  </a:lnTo>
                  <a:lnTo>
                    <a:pt x="230469" y="115237"/>
                  </a:lnTo>
                  <a:lnTo>
                    <a:pt x="0" y="115237"/>
                  </a:lnTo>
                  <a:lnTo>
                    <a:pt x="0" y="0"/>
                  </a:lnTo>
                  <a:close/>
                </a:path>
              </a:pathLst>
            </a:custGeom>
            <a:ln w="4508">
              <a:solidFill>
                <a:srgbClr val="231F20"/>
              </a:solidFill>
            </a:ln>
          </p:spPr>
          <p:txBody>
            <a:bodyPr wrap="square" lIns="0" tIns="0" rIns="0" bIns="0" rtlCol="0"/>
            <a:lstStyle/>
            <a:p>
              <a:endParaRPr/>
            </a:p>
          </p:txBody>
        </p:sp>
        <p:sp>
          <p:nvSpPr>
            <p:cNvPr id="34" name="object 34"/>
            <p:cNvSpPr/>
            <p:nvPr/>
          </p:nvSpPr>
          <p:spPr>
            <a:xfrm>
              <a:off x="3137419" y="1246759"/>
              <a:ext cx="230504" cy="115570"/>
            </a:xfrm>
            <a:custGeom>
              <a:avLst/>
              <a:gdLst/>
              <a:ahLst/>
              <a:cxnLst/>
              <a:rect l="l" t="t" r="r" b="b"/>
              <a:pathLst>
                <a:path w="230504" h="115569">
                  <a:moveTo>
                    <a:pt x="230474" y="0"/>
                  </a:moveTo>
                  <a:lnTo>
                    <a:pt x="0" y="0"/>
                  </a:lnTo>
                  <a:lnTo>
                    <a:pt x="0" y="115237"/>
                  </a:lnTo>
                  <a:lnTo>
                    <a:pt x="230474" y="115237"/>
                  </a:lnTo>
                  <a:lnTo>
                    <a:pt x="230474" y="0"/>
                  </a:lnTo>
                  <a:close/>
                </a:path>
              </a:pathLst>
            </a:custGeom>
            <a:solidFill>
              <a:srgbClr val="FFFFFF"/>
            </a:solidFill>
          </p:spPr>
          <p:txBody>
            <a:bodyPr wrap="square" lIns="0" tIns="0" rIns="0" bIns="0" rtlCol="0"/>
            <a:lstStyle/>
            <a:p>
              <a:endParaRPr/>
            </a:p>
          </p:txBody>
        </p:sp>
        <p:sp>
          <p:nvSpPr>
            <p:cNvPr id="35" name="object 35"/>
            <p:cNvSpPr/>
            <p:nvPr/>
          </p:nvSpPr>
          <p:spPr>
            <a:xfrm>
              <a:off x="3137419" y="1246759"/>
              <a:ext cx="230504" cy="115570"/>
            </a:xfrm>
            <a:custGeom>
              <a:avLst/>
              <a:gdLst/>
              <a:ahLst/>
              <a:cxnLst/>
              <a:rect l="l" t="t" r="r" b="b"/>
              <a:pathLst>
                <a:path w="230504" h="115569">
                  <a:moveTo>
                    <a:pt x="0" y="0"/>
                  </a:moveTo>
                  <a:lnTo>
                    <a:pt x="230474" y="0"/>
                  </a:lnTo>
                  <a:lnTo>
                    <a:pt x="230474" y="115237"/>
                  </a:lnTo>
                  <a:lnTo>
                    <a:pt x="0" y="115237"/>
                  </a:lnTo>
                  <a:lnTo>
                    <a:pt x="0" y="0"/>
                  </a:lnTo>
                  <a:close/>
                </a:path>
              </a:pathLst>
            </a:custGeom>
            <a:ln w="4508">
              <a:solidFill>
                <a:srgbClr val="231F20"/>
              </a:solidFill>
            </a:ln>
          </p:spPr>
          <p:txBody>
            <a:bodyPr wrap="square" lIns="0" tIns="0" rIns="0" bIns="0" rtlCol="0"/>
            <a:lstStyle/>
            <a:p>
              <a:endParaRPr/>
            </a:p>
          </p:txBody>
        </p:sp>
        <p:sp>
          <p:nvSpPr>
            <p:cNvPr id="36" name="object 36"/>
            <p:cNvSpPr/>
            <p:nvPr/>
          </p:nvSpPr>
          <p:spPr>
            <a:xfrm>
              <a:off x="1639337" y="1419615"/>
              <a:ext cx="230504" cy="115570"/>
            </a:xfrm>
            <a:custGeom>
              <a:avLst/>
              <a:gdLst/>
              <a:ahLst/>
              <a:cxnLst/>
              <a:rect l="l" t="t" r="r" b="b"/>
              <a:pathLst>
                <a:path w="230505" h="115569">
                  <a:moveTo>
                    <a:pt x="230469" y="0"/>
                  </a:moveTo>
                  <a:lnTo>
                    <a:pt x="0" y="0"/>
                  </a:lnTo>
                  <a:lnTo>
                    <a:pt x="0" y="115238"/>
                  </a:lnTo>
                  <a:lnTo>
                    <a:pt x="230469" y="115238"/>
                  </a:lnTo>
                  <a:lnTo>
                    <a:pt x="230469" y="0"/>
                  </a:lnTo>
                  <a:close/>
                </a:path>
              </a:pathLst>
            </a:custGeom>
            <a:solidFill>
              <a:srgbClr val="FFFFFF"/>
            </a:solidFill>
          </p:spPr>
          <p:txBody>
            <a:bodyPr wrap="square" lIns="0" tIns="0" rIns="0" bIns="0" rtlCol="0"/>
            <a:lstStyle/>
            <a:p>
              <a:endParaRPr/>
            </a:p>
          </p:txBody>
        </p:sp>
        <p:sp>
          <p:nvSpPr>
            <p:cNvPr id="37" name="object 37"/>
            <p:cNvSpPr/>
            <p:nvPr/>
          </p:nvSpPr>
          <p:spPr>
            <a:xfrm>
              <a:off x="1639337" y="1419615"/>
              <a:ext cx="230504" cy="115570"/>
            </a:xfrm>
            <a:custGeom>
              <a:avLst/>
              <a:gdLst/>
              <a:ahLst/>
              <a:cxnLst/>
              <a:rect l="l" t="t" r="r" b="b"/>
              <a:pathLst>
                <a:path w="230505" h="115569">
                  <a:moveTo>
                    <a:pt x="0" y="0"/>
                  </a:moveTo>
                  <a:lnTo>
                    <a:pt x="230469" y="0"/>
                  </a:lnTo>
                  <a:lnTo>
                    <a:pt x="230469" y="115238"/>
                  </a:lnTo>
                  <a:lnTo>
                    <a:pt x="0" y="115238"/>
                  </a:lnTo>
                  <a:lnTo>
                    <a:pt x="0" y="0"/>
                  </a:lnTo>
                  <a:close/>
                </a:path>
              </a:pathLst>
            </a:custGeom>
            <a:ln w="4508">
              <a:solidFill>
                <a:srgbClr val="231F20"/>
              </a:solidFill>
            </a:ln>
          </p:spPr>
          <p:txBody>
            <a:bodyPr wrap="square" lIns="0" tIns="0" rIns="0" bIns="0" rtlCol="0"/>
            <a:lstStyle/>
            <a:p>
              <a:endParaRPr/>
            </a:p>
          </p:txBody>
        </p:sp>
        <p:sp>
          <p:nvSpPr>
            <p:cNvPr id="38" name="object 38"/>
            <p:cNvSpPr/>
            <p:nvPr/>
          </p:nvSpPr>
          <p:spPr>
            <a:xfrm>
              <a:off x="3137419" y="1419615"/>
              <a:ext cx="230504" cy="115570"/>
            </a:xfrm>
            <a:custGeom>
              <a:avLst/>
              <a:gdLst/>
              <a:ahLst/>
              <a:cxnLst/>
              <a:rect l="l" t="t" r="r" b="b"/>
              <a:pathLst>
                <a:path w="230504" h="115569">
                  <a:moveTo>
                    <a:pt x="230474" y="0"/>
                  </a:moveTo>
                  <a:lnTo>
                    <a:pt x="0" y="0"/>
                  </a:lnTo>
                  <a:lnTo>
                    <a:pt x="0" y="115238"/>
                  </a:lnTo>
                  <a:lnTo>
                    <a:pt x="230474" y="115238"/>
                  </a:lnTo>
                  <a:lnTo>
                    <a:pt x="230474" y="0"/>
                  </a:lnTo>
                  <a:close/>
                </a:path>
              </a:pathLst>
            </a:custGeom>
            <a:solidFill>
              <a:srgbClr val="FFFFFF"/>
            </a:solidFill>
          </p:spPr>
          <p:txBody>
            <a:bodyPr wrap="square" lIns="0" tIns="0" rIns="0" bIns="0" rtlCol="0"/>
            <a:lstStyle/>
            <a:p>
              <a:endParaRPr/>
            </a:p>
          </p:txBody>
        </p:sp>
        <p:sp>
          <p:nvSpPr>
            <p:cNvPr id="39" name="object 39"/>
            <p:cNvSpPr/>
            <p:nvPr/>
          </p:nvSpPr>
          <p:spPr>
            <a:xfrm>
              <a:off x="3137419" y="1419615"/>
              <a:ext cx="230504" cy="115570"/>
            </a:xfrm>
            <a:custGeom>
              <a:avLst/>
              <a:gdLst/>
              <a:ahLst/>
              <a:cxnLst/>
              <a:rect l="l" t="t" r="r" b="b"/>
              <a:pathLst>
                <a:path w="230504" h="115569">
                  <a:moveTo>
                    <a:pt x="0" y="0"/>
                  </a:moveTo>
                  <a:lnTo>
                    <a:pt x="230474" y="0"/>
                  </a:lnTo>
                  <a:lnTo>
                    <a:pt x="230474" y="115238"/>
                  </a:lnTo>
                  <a:lnTo>
                    <a:pt x="0" y="115238"/>
                  </a:lnTo>
                  <a:lnTo>
                    <a:pt x="0" y="0"/>
                  </a:lnTo>
                  <a:close/>
                </a:path>
              </a:pathLst>
            </a:custGeom>
            <a:ln w="4508">
              <a:solidFill>
                <a:srgbClr val="231F20"/>
              </a:solidFill>
            </a:ln>
          </p:spPr>
          <p:txBody>
            <a:bodyPr wrap="square" lIns="0" tIns="0" rIns="0" bIns="0" rtlCol="0"/>
            <a:lstStyle/>
            <a:p>
              <a:endParaRPr/>
            </a:p>
          </p:txBody>
        </p:sp>
        <p:sp>
          <p:nvSpPr>
            <p:cNvPr id="40" name="object 40"/>
            <p:cNvSpPr/>
            <p:nvPr/>
          </p:nvSpPr>
          <p:spPr>
            <a:xfrm>
              <a:off x="1639337" y="1592474"/>
              <a:ext cx="230504" cy="115570"/>
            </a:xfrm>
            <a:custGeom>
              <a:avLst/>
              <a:gdLst/>
              <a:ahLst/>
              <a:cxnLst/>
              <a:rect l="l" t="t" r="r" b="b"/>
              <a:pathLst>
                <a:path w="230505" h="115569">
                  <a:moveTo>
                    <a:pt x="230469" y="0"/>
                  </a:moveTo>
                  <a:lnTo>
                    <a:pt x="0" y="0"/>
                  </a:lnTo>
                  <a:lnTo>
                    <a:pt x="0" y="115238"/>
                  </a:lnTo>
                  <a:lnTo>
                    <a:pt x="230469" y="115238"/>
                  </a:lnTo>
                  <a:lnTo>
                    <a:pt x="230469" y="0"/>
                  </a:lnTo>
                  <a:close/>
                </a:path>
              </a:pathLst>
            </a:custGeom>
            <a:solidFill>
              <a:srgbClr val="FFFFFF"/>
            </a:solidFill>
          </p:spPr>
          <p:txBody>
            <a:bodyPr wrap="square" lIns="0" tIns="0" rIns="0" bIns="0" rtlCol="0"/>
            <a:lstStyle/>
            <a:p>
              <a:endParaRPr/>
            </a:p>
          </p:txBody>
        </p:sp>
        <p:sp>
          <p:nvSpPr>
            <p:cNvPr id="41" name="object 41"/>
            <p:cNvSpPr/>
            <p:nvPr/>
          </p:nvSpPr>
          <p:spPr>
            <a:xfrm>
              <a:off x="1639337" y="1592474"/>
              <a:ext cx="230504" cy="115570"/>
            </a:xfrm>
            <a:custGeom>
              <a:avLst/>
              <a:gdLst/>
              <a:ahLst/>
              <a:cxnLst/>
              <a:rect l="l" t="t" r="r" b="b"/>
              <a:pathLst>
                <a:path w="230505" h="115569">
                  <a:moveTo>
                    <a:pt x="0" y="0"/>
                  </a:moveTo>
                  <a:lnTo>
                    <a:pt x="230469" y="0"/>
                  </a:lnTo>
                  <a:lnTo>
                    <a:pt x="230469" y="115238"/>
                  </a:lnTo>
                  <a:lnTo>
                    <a:pt x="0" y="115238"/>
                  </a:lnTo>
                  <a:lnTo>
                    <a:pt x="0" y="0"/>
                  </a:lnTo>
                  <a:close/>
                </a:path>
              </a:pathLst>
            </a:custGeom>
            <a:ln w="4508">
              <a:solidFill>
                <a:srgbClr val="231F20"/>
              </a:solidFill>
            </a:ln>
          </p:spPr>
          <p:txBody>
            <a:bodyPr wrap="square" lIns="0" tIns="0" rIns="0" bIns="0" rtlCol="0"/>
            <a:lstStyle/>
            <a:p>
              <a:endParaRPr/>
            </a:p>
          </p:txBody>
        </p:sp>
        <p:sp>
          <p:nvSpPr>
            <p:cNvPr id="42" name="object 42"/>
            <p:cNvSpPr/>
            <p:nvPr/>
          </p:nvSpPr>
          <p:spPr>
            <a:xfrm>
              <a:off x="3137419" y="1592474"/>
              <a:ext cx="230504" cy="115570"/>
            </a:xfrm>
            <a:custGeom>
              <a:avLst/>
              <a:gdLst/>
              <a:ahLst/>
              <a:cxnLst/>
              <a:rect l="l" t="t" r="r" b="b"/>
              <a:pathLst>
                <a:path w="230504" h="115569">
                  <a:moveTo>
                    <a:pt x="230474" y="0"/>
                  </a:moveTo>
                  <a:lnTo>
                    <a:pt x="0" y="0"/>
                  </a:lnTo>
                  <a:lnTo>
                    <a:pt x="0" y="115238"/>
                  </a:lnTo>
                  <a:lnTo>
                    <a:pt x="230474" y="115238"/>
                  </a:lnTo>
                  <a:lnTo>
                    <a:pt x="230474" y="0"/>
                  </a:lnTo>
                  <a:close/>
                </a:path>
              </a:pathLst>
            </a:custGeom>
            <a:solidFill>
              <a:srgbClr val="FFFFFF"/>
            </a:solidFill>
          </p:spPr>
          <p:txBody>
            <a:bodyPr wrap="square" lIns="0" tIns="0" rIns="0" bIns="0" rtlCol="0"/>
            <a:lstStyle/>
            <a:p>
              <a:endParaRPr/>
            </a:p>
          </p:txBody>
        </p:sp>
        <p:sp>
          <p:nvSpPr>
            <p:cNvPr id="43" name="object 43"/>
            <p:cNvSpPr/>
            <p:nvPr/>
          </p:nvSpPr>
          <p:spPr>
            <a:xfrm>
              <a:off x="3137419" y="1592474"/>
              <a:ext cx="230504" cy="115570"/>
            </a:xfrm>
            <a:custGeom>
              <a:avLst/>
              <a:gdLst/>
              <a:ahLst/>
              <a:cxnLst/>
              <a:rect l="l" t="t" r="r" b="b"/>
              <a:pathLst>
                <a:path w="230504" h="115569">
                  <a:moveTo>
                    <a:pt x="0" y="0"/>
                  </a:moveTo>
                  <a:lnTo>
                    <a:pt x="230474" y="0"/>
                  </a:lnTo>
                  <a:lnTo>
                    <a:pt x="230474" y="115238"/>
                  </a:lnTo>
                  <a:lnTo>
                    <a:pt x="0" y="115238"/>
                  </a:lnTo>
                  <a:lnTo>
                    <a:pt x="0" y="0"/>
                  </a:lnTo>
                  <a:close/>
                </a:path>
              </a:pathLst>
            </a:custGeom>
            <a:ln w="4508">
              <a:solidFill>
                <a:srgbClr val="231F20"/>
              </a:solidFill>
            </a:ln>
          </p:spPr>
          <p:txBody>
            <a:bodyPr wrap="square" lIns="0" tIns="0" rIns="0" bIns="0" rtlCol="0"/>
            <a:lstStyle/>
            <a:p>
              <a:endParaRPr/>
            </a:p>
          </p:txBody>
        </p:sp>
        <p:sp>
          <p:nvSpPr>
            <p:cNvPr id="44" name="object 44"/>
            <p:cNvSpPr/>
            <p:nvPr/>
          </p:nvSpPr>
          <p:spPr>
            <a:xfrm>
              <a:off x="1639337" y="1765329"/>
              <a:ext cx="230504" cy="115570"/>
            </a:xfrm>
            <a:custGeom>
              <a:avLst/>
              <a:gdLst/>
              <a:ahLst/>
              <a:cxnLst/>
              <a:rect l="l" t="t" r="r" b="b"/>
              <a:pathLst>
                <a:path w="230505" h="115569">
                  <a:moveTo>
                    <a:pt x="230469" y="0"/>
                  </a:moveTo>
                  <a:lnTo>
                    <a:pt x="0" y="0"/>
                  </a:lnTo>
                  <a:lnTo>
                    <a:pt x="0" y="115234"/>
                  </a:lnTo>
                  <a:lnTo>
                    <a:pt x="230469" y="115234"/>
                  </a:lnTo>
                  <a:lnTo>
                    <a:pt x="230469" y="0"/>
                  </a:lnTo>
                  <a:close/>
                </a:path>
              </a:pathLst>
            </a:custGeom>
            <a:solidFill>
              <a:srgbClr val="FFFFFF"/>
            </a:solidFill>
          </p:spPr>
          <p:txBody>
            <a:bodyPr wrap="square" lIns="0" tIns="0" rIns="0" bIns="0" rtlCol="0"/>
            <a:lstStyle/>
            <a:p>
              <a:endParaRPr/>
            </a:p>
          </p:txBody>
        </p:sp>
        <p:sp>
          <p:nvSpPr>
            <p:cNvPr id="45" name="object 45"/>
            <p:cNvSpPr/>
            <p:nvPr/>
          </p:nvSpPr>
          <p:spPr>
            <a:xfrm>
              <a:off x="1639337" y="1765329"/>
              <a:ext cx="230504" cy="115570"/>
            </a:xfrm>
            <a:custGeom>
              <a:avLst/>
              <a:gdLst/>
              <a:ahLst/>
              <a:cxnLst/>
              <a:rect l="l" t="t" r="r" b="b"/>
              <a:pathLst>
                <a:path w="230505" h="115569">
                  <a:moveTo>
                    <a:pt x="0" y="0"/>
                  </a:moveTo>
                  <a:lnTo>
                    <a:pt x="230469" y="0"/>
                  </a:lnTo>
                  <a:lnTo>
                    <a:pt x="230469" y="115234"/>
                  </a:lnTo>
                  <a:lnTo>
                    <a:pt x="0" y="115234"/>
                  </a:lnTo>
                  <a:lnTo>
                    <a:pt x="0" y="0"/>
                  </a:lnTo>
                  <a:close/>
                </a:path>
              </a:pathLst>
            </a:custGeom>
            <a:ln w="4508">
              <a:solidFill>
                <a:srgbClr val="231F20"/>
              </a:solidFill>
            </a:ln>
          </p:spPr>
          <p:txBody>
            <a:bodyPr wrap="square" lIns="0" tIns="0" rIns="0" bIns="0" rtlCol="0"/>
            <a:lstStyle/>
            <a:p>
              <a:endParaRPr/>
            </a:p>
          </p:txBody>
        </p:sp>
        <p:sp>
          <p:nvSpPr>
            <p:cNvPr id="46" name="object 46"/>
            <p:cNvSpPr/>
            <p:nvPr/>
          </p:nvSpPr>
          <p:spPr>
            <a:xfrm>
              <a:off x="3137419" y="1765329"/>
              <a:ext cx="230504" cy="115570"/>
            </a:xfrm>
            <a:custGeom>
              <a:avLst/>
              <a:gdLst/>
              <a:ahLst/>
              <a:cxnLst/>
              <a:rect l="l" t="t" r="r" b="b"/>
              <a:pathLst>
                <a:path w="230504" h="115569">
                  <a:moveTo>
                    <a:pt x="230474" y="0"/>
                  </a:moveTo>
                  <a:lnTo>
                    <a:pt x="0" y="0"/>
                  </a:lnTo>
                  <a:lnTo>
                    <a:pt x="0" y="115234"/>
                  </a:lnTo>
                  <a:lnTo>
                    <a:pt x="230474" y="115234"/>
                  </a:lnTo>
                  <a:lnTo>
                    <a:pt x="230474" y="0"/>
                  </a:lnTo>
                  <a:close/>
                </a:path>
              </a:pathLst>
            </a:custGeom>
            <a:solidFill>
              <a:srgbClr val="FFFFFF"/>
            </a:solidFill>
          </p:spPr>
          <p:txBody>
            <a:bodyPr wrap="square" lIns="0" tIns="0" rIns="0" bIns="0" rtlCol="0"/>
            <a:lstStyle/>
            <a:p>
              <a:endParaRPr/>
            </a:p>
          </p:txBody>
        </p:sp>
        <p:sp>
          <p:nvSpPr>
            <p:cNvPr id="47" name="object 47"/>
            <p:cNvSpPr/>
            <p:nvPr/>
          </p:nvSpPr>
          <p:spPr>
            <a:xfrm>
              <a:off x="3137419" y="1765329"/>
              <a:ext cx="230504" cy="115570"/>
            </a:xfrm>
            <a:custGeom>
              <a:avLst/>
              <a:gdLst/>
              <a:ahLst/>
              <a:cxnLst/>
              <a:rect l="l" t="t" r="r" b="b"/>
              <a:pathLst>
                <a:path w="230504" h="115569">
                  <a:moveTo>
                    <a:pt x="0" y="0"/>
                  </a:moveTo>
                  <a:lnTo>
                    <a:pt x="230474" y="0"/>
                  </a:lnTo>
                  <a:lnTo>
                    <a:pt x="230474" y="115234"/>
                  </a:lnTo>
                  <a:lnTo>
                    <a:pt x="0" y="115234"/>
                  </a:lnTo>
                  <a:lnTo>
                    <a:pt x="0" y="0"/>
                  </a:lnTo>
                  <a:close/>
                </a:path>
              </a:pathLst>
            </a:custGeom>
            <a:ln w="4508">
              <a:solidFill>
                <a:srgbClr val="231F20"/>
              </a:solidFill>
            </a:ln>
          </p:spPr>
          <p:txBody>
            <a:bodyPr wrap="square" lIns="0" tIns="0" rIns="0" bIns="0" rtlCol="0"/>
            <a:lstStyle/>
            <a:p>
              <a:endParaRPr/>
            </a:p>
          </p:txBody>
        </p:sp>
        <p:sp>
          <p:nvSpPr>
            <p:cNvPr id="48" name="object 48"/>
            <p:cNvSpPr/>
            <p:nvPr/>
          </p:nvSpPr>
          <p:spPr>
            <a:xfrm>
              <a:off x="1639337" y="1938187"/>
              <a:ext cx="230504" cy="115570"/>
            </a:xfrm>
            <a:custGeom>
              <a:avLst/>
              <a:gdLst/>
              <a:ahLst/>
              <a:cxnLst/>
              <a:rect l="l" t="t" r="r" b="b"/>
              <a:pathLst>
                <a:path w="230505" h="115569">
                  <a:moveTo>
                    <a:pt x="230469" y="0"/>
                  </a:moveTo>
                  <a:lnTo>
                    <a:pt x="0" y="0"/>
                  </a:lnTo>
                  <a:lnTo>
                    <a:pt x="0" y="115234"/>
                  </a:lnTo>
                  <a:lnTo>
                    <a:pt x="230469" y="115234"/>
                  </a:lnTo>
                  <a:lnTo>
                    <a:pt x="230469" y="0"/>
                  </a:lnTo>
                  <a:close/>
                </a:path>
              </a:pathLst>
            </a:custGeom>
            <a:solidFill>
              <a:srgbClr val="FFFFFF"/>
            </a:solidFill>
          </p:spPr>
          <p:txBody>
            <a:bodyPr wrap="square" lIns="0" tIns="0" rIns="0" bIns="0" rtlCol="0"/>
            <a:lstStyle/>
            <a:p>
              <a:endParaRPr/>
            </a:p>
          </p:txBody>
        </p:sp>
        <p:sp>
          <p:nvSpPr>
            <p:cNvPr id="49" name="object 49"/>
            <p:cNvSpPr/>
            <p:nvPr/>
          </p:nvSpPr>
          <p:spPr>
            <a:xfrm>
              <a:off x="1639337" y="1938187"/>
              <a:ext cx="230504" cy="115570"/>
            </a:xfrm>
            <a:custGeom>
              <a:avLst/>
              <a:gdLst/>
              <a:ahLst/>
              <a:cxnLst/>
              <a:rect l="l" t="t" r="r" b="b"/>
              <a:pathLst>
                <a:path w="230505" h="115569">
                  <a:moveTo>
                    <a:pt x="0" y="0"/>
                  </a:moveTo>
                  <a:lnTo>
                    <a:pt x="230469" y="0"/>
                  </a:lnTo>
                  <a:lnTo>
                    <a:pt x="230469" y="115234"/>
                  </a:lnTo>
                  <a:lnTo>
                    <a:pt x="0" y="115234"/>
                  </a:lnTo>
                  <a:lnTo>
                    <a:pt x="0" y="0"/>
                  </a:lnTo>
                  <a:close/>
                </a:path>
              </a:pathLst>
            </a:custGeom>
            <a:ln w="4508">
              <a:solidFill>
                <a:srgbClr val="231F20"/>
              </a:solidFill>
            </a:ln>
          </p:spPr>
          <p:txBody>
            <a:bodyPr wrap="square" lIns="0" tIns="0" rIns="0" bIns="0" rtlCol="0"/>
            <a:lstStyle/>
            <a:p>
              <a:endParaRPr/>
            </a:p>
          </p:txBody>
        </p:sp>
        <p:sp>
          <p:nvSpPr>
            <p:cNvPr id="50" name="object 50"/>
            <p:cNvSpPr/>
            <p:nvPr/>
          </p:nvSpPr>
          <p:spPr>
            <a:xfrm>
              <a:off x="3137419" y="1938187"/>
              <a:ext cx="230504" cy="115570"/>
            </a:xfrm>
            <a:custGeom>
              <a:avLst/>
              <a:gdLst/>
              <a:ahLst/>
              <a:cxnLst/>
              <a:rect l="l" t="t" r="r" b="b"/>
              <a:pathLst>
                <a:path w="230504" h="115569">
                  <a:moveTo>
                    <a:pt x="230474" y="0"/>
                  </a:moveTo>
                  <a:lnTo>
                    <a:pt x="0" y="0"/>
                  </a:lnTo>
                  <a:lnTo>
                    <a:pt x="0" y="115234"/>
                  </a:lnTo>
                  <a:lnTo>
                    <a:pt x="230474" y="115234"/>
                  </a:lnTo>
                  <a:lnTo>
                    <a:pt x="230474" y="0"/>
                  </a:lnTo>
                  <a:close/>
                </a:path>
              </a:pathLst>
            </a:custGeom>
            <a:solidFill>
              <a:srgbClr val="FFFFFF"/>
            </a:solidFill>
          </p:spPr>
          <p:txBody>
            <a:bodyPr wrap="square" lIns="0" tIns="0" rIns="0" bIns="0" rtlCol="0"/>
            <a:lstStyle/>
            <a:p>
              <a:endParaRPr/>
            </a:p>
          </p:txBody>
        </p:sp>
        <p:sp>
          <p:nvSpPr>
            <p:cNvPr id="51" name="object 51"/>
            <p:cNvSpPr/>
            <p:nvPr/>
          </p:nvSpPr>
          <p:spPr>
            <a:xfrm>
              <a:off x="3137419" y="1938187"/>
              <a:ext cx="230504" cy="115570"/>
            </a:xfrm>
            <a:custGeom>
              <a:avLst/>
              <a:gdLst/>
              <a:ahLst/>
              <a:cxnLst/>
              <a:rect l="l" t="t" r="r" b="b"/>
              <a:pathLst>
                <a:path w="230504" h="115569">
                  <a:moveTo>
                    <a:pt x="0" y="0"/>
                  </a:moveTo>
                  <a:lnTo>
                    <a:pt x="230474" y="0"/>
                  </a:lnTo>
                  <a:lnTo>
                    <a:pt x="230474" y="115234"/>
                  </a:lnTo>
                  <a:lnTo>
                    <a:pt x="0" y="115234"/>
                  </a:lnTo>
                  <a:lnTo>
                    <a:pt x="0" y="0"/>
                  </a:lnTo>
                  <a:close/>
                </a:path>
              </a:pathLst>
            </a:custGeom>
            <a:ln w="4508">
              <a:solidFill>
                <a:srgbClr val="231F20"/>
              </a:solidFill>
            </a:ln>
          </p:spPr>
          <p:txBody>
            <a:bodyPr wrap="square" lIns="0" tIns="0" rIns="0" bIns="0" rtlCol="0"/>
            <a:lstStyle/>
            <a:p>
              <a:endParaRPr/>
            </a:p>
          </p:txBody>
        </p:sp>
        <p:sp>
          <p:nvSpPr>
            <p:cNvPr id="52" name="object 52"/>
            <p:cNvSpPr/>
            <p:nvPr/>
          </p:nvSpPr>
          <p:spPr>
            <a:xfrm>
              <a:off x="1901784" y="933896"/>
              <a:ext cx="1203960" cy="0"/>
            </a:xfrm>
            <a:custGeom>
              <a:avLst/>
              <a:gdLst/>
              <a:ahLst/>
              <a:cxnLst/>
              <a:rect l="l" t="t" r="r" b="b"/>
              <a:pathLst>
                <a:path w="1203960">
                  <a:moveTo>
                    <a:pt x="0" y="0"/>
                  </a:moveTo>
                  <a:lnTo>
                    <a:pt x="1203651" y="0"/>
                  </a:lnTo>
                </a:path>
              </a:pathLst>
            </a:custGeom>
            <a:ln w="4508">
              <a:solidFill>
                <a:srgbClr val="231F20"/>
              </a:solidFill>
              <a:prstDash val="lgDash"/>
            </a:ln>
          </p:spPr>
          <p:txBody>
            <a:bodyPr wrap="square" lIns="0" tIns="0" rIns="0" bIns="0" rtlCol="0"/>
            <a:lstStyle/>
            <a:p>
              <a:endParaRPr/>
            </a:p>
          </p:txBody>
        </p:sp>
        <p:sp>
          <p:nvSpPr>
            <p:cNvPr id="53" name="object 53"/>
            <p:cNvSpPr/>
            <p:nvPr/>
          </p:nvSpPr>
          <p:spPr>
            <a:xfrm>
              <a:off x="1869795" y="906640"/>
              <a:ext cx="1268095" cy="425450"/>
            </a:xfrm>
            <a:custGeom>
              <a:avLst/>
              <a:gdLst/>
              <a:ahLst/>
              <a:cxnLst/>
              <a:rect l="l" t="t" r="r" b="b"/>
              <a:pathLst>
                <a:path w="1268095" h="425450">
                  <a:moveTo>
                    <a:pt x="63627" y="370471"/>
                  </a:moveTo>
                  <a:lnTo>
                    <a:pt x="0" y="397738"/>
                  </a:lnTo>
                  <a:lnTo>
                    <a:pt x="63627" y="425005"/>
                  </a:lnTo>
                  <a:lnTo>
                    <a:pt x="58521" y="411365"/>
                  </a:lnTo>
                  <a:lnTo>
                    <a:pt x="56819" y="397738"/>
                  </a:lnTo>
                  <a:lnTo>
                    <a:pt x="58521" y="384098"/>
                  </a:lnTo>
                  <a:lnTo>
                    <a:pt x="63627" y="370471"/>
                  </a:lnTo>
                  <a:close/>
                </a:path>
                <a:path w="1268095" h="425450">
                  <a:moveTo>
                    <a:pt x="63627" y="179108"/>
                  </a:moveTo>
                  <a:lnTo>
                    <a:pt x="0" y="206375"/>
                  </a:lnTo>
                  <a:lnTo>
                    <a:pt x="63627" y="233641"/>
                  </a:lnTo>
                  <a:lnTo>
                    <a:pt x="58521" y="220014"/>
                  </a:lnTo>
                  <a:lnTo>
                    <a:pt x="56819" y="206375"/>
                  </a:lnTo>
                  <a:lnTo>
                    <a:pt x="58521" y="192747"/>
                  </a:lnTo>
                  <a:lnTo>
                    <a:pt x="63627" y="179108"/>
                  </a:lnTo>
                  <a:close/>
                </a:path>
                <a:path w="1268095" h="425450">
                  <a:moveTo>
                    <a:pt x="63627" y="0"/>
                  </a:moveTo>
                  <a:lnTo>
                    <a:pt x="0" y="27266"/>
                  </a:lnTo>
                  <a:lnTo>
                    <a:pt x="63627" y="54533"/>
                  </a:lnTo>
                  <a:lnTo>
                    <a:pt x="58521" y="40894"/>
                  </a:lnTo>
                  <a:lnTo>
                    <a:pt x="56819" y="27266"/>
                  </a:lnTo>
                  <a:lnTo>
                    <a:pt x="58521" y="13627"/>
                  </a:lnTo>
                  <a:lnTo>
                    <a:pt x="63627" y="0"/>
                  </a:lnTo>
                  <a:close/>
                </a:path>
                <a:path w="1268095" h="425450">
                  <a:moveTo>
                    <a:pt x="1267612" y="397738"/>
                  </a:moveTo>
                  <a:lnTo>
                    <a:pt x="1203985" y="370471"/>
                  </a:lnTo>
                  <a:lnTo>
                    <a:pt x="1209090" y="384098"/>
                  </a:lnTo>
                  <a:lnTo>
                    <a:pt x="1210805" y="397738"/>
                  </a:lnTo>
                  <a:lnTo>
                    <a:pt x="1209090" y="411365"/>
                  </a:lnTo>
                  <a:lnTo>
                    <a:pt x="1203985" y="425005"/>
                  </a:lnTo>
                  <a:lnTo>
                    <a:pt x="1267612" y="397738"/>
                  </a:lnTo>
                  <a:close/>
                </a:path>
                <a:path w="1268095" h="425450">
                  <a:moveTo>
                    <a:pt x="1267612" y="206375"/>
                  </a:moveTo>
                  <a:lnTo>
                    <a:pt x="1203985" y="179108"/>
                  </a:lnTo>
                  <a:lnTo>
                    <a:pt x="1209090" y="192747"/>
                  </a:lnTo>
                  <a:lnTo>
                    <a:pt x="1210805" y="206375"/>
                  </a:lnTo>
                  <a:lnTo>
                    <a:pt x="1209090" y="220014"/>
                  </a:lnTo>
                  <a:lnTo>
                    <a:pt x="1203985" y="233641"/>
                  </a:lnTo>
                  <a:lnTo>
                    <a:pt x="1267612" y="206375"/>
                  </a:lnTo>
                  <a:close/>
                </a:path>
                <a:path w="1268095" h="425450">
                  <a:moveTo>
                    <a:pt x="1267612" y="27266"/>
                  </a:moveTo>
                  <a:lnTo>
                    <a:pt x="1203985" y="0"/>
                  </a:lnTo>
                  <a:lnTo>
                    <a:pt x="1209090" y="13627"/>
                  </a:lnTo>
                  <a:lnTo>
                    <a:pt x="1210805" y="27266"/>
                  </a:lnTo>
                  <a:lnTo>
                    <a:pt x="1209090" y="40894"/>
                  </a:lnTo>
                  <a:lnTo>
                    <a:pt x="1203985" y="54533"/>
                  </a:lnTo>
                  <a:lnTo>
                    <a:pt x="1267612" y="27266"/>
                  </a:lnTo>
                  <a:close/>
                </a:path>
              </a:pathLst>
            </a:custGeom>
            <a:solidFill>
              <a:srgbClr val="231F20"/>
            </a:solidFill>
          </p:spPr>
          <p:txBody>
            <a:bodyPr wrap="square" lIns="0" tIns="0" rIns="0" bIns="0" rtlCol="0"/>
            <a:lstStyle/>
            <a:p>
              <a:endParaRPr/>
            </a:p>
          </p:txBody>
        </p:sp>
        <p:sp>
          <p:nvSpPr>
            <p:cNvPr id="54" name="object 54"/>
            <p:cNvSpPr/>
            <p:nvPr/>
          </p:nvSpPr>
          <p:spPr>
            <a:xfrm>
              <a:off x="1901784" y="1477226"/>
              <a:ext cx="1203960" cy="0"/>
            </a:xfrm>
            <a:custGeom>
              <a:avLst/>
              <a:gdLst/>
              <a:ahLst/>
              <a:cxnLst/>
              <a:rect l="l" t="t" r="r" b="b"/>
              <a:pathLst>
                <a:path w="1203960">
                  <a:moveTo>
                    <a:pt x="0" y="0"/>
                  </a:moveTo>
                  <a:lnTo>
                    <a:pt x="1203651" y="0"/>
                  </a:lnTo>
                </a:path>
              </a:pathLst>
            </a:custGeom>
            <a:ln w="4508">
              <a:solidFill>
                <a:srgbClr val="231F20"/>
              </a:solidFill>
              <a:prstDash val="lgDash"/>
            </a:ln>
          </p:spPr>
          <p:txBody>
            <a:bodyPr wrap="square" lIns="0" tIns="0" rIns="0" bIns="0" rtlCol="0"/>
            <a:lstStyle/>
            <a:p>
              <a:endParaRPr/>
            </a:p>
          </p:txBody>
        </p:sp>
        <p:sp>
          <p:nvSpPr>
            <p:cNvPr id="55" name="object 55"/>
            <p:cNvSpPr/>
            <p:nvPr/>
          </p:nvSpPr>
          <p:spPr>
            <a:xfrm>
              <a:off x="1869795" y="1449959"/>
              <a:ext cx="1268095" cy="54610"/>
            </a:xfrm>
            <a:custGeom>
              <a:avLst/>
              <a:gdLst/>
              <a:ahLst/>
              <a:cxnLst/>
              <a:rect l="l" t="t" r="r" b="b"/>
              <a:pathLst>
                <a:path w="1268095" h="54609">
                  <a:moveTo>
                    <a:pt x="63627" y="0"/>
                  </a:moveTo>
                  <a:lnTo>
                    <a:pt x="0" y="27279"/>
                  </a:lnTo>
                  <a:lnTo>
                    <a:pt x="63627" y="54546"/>
                  </a:lnTo>
                  <a:lnTo>
                    <a:pt x="58521" y="40906"/>
                  </a:lnTo>
                  <a:lnTo>
                    <a:pt x="56819" y="27279"/>
                  </a:lnTo>
                  <a:lnTo>
                    <a:pt x="58521" y="13639"/>
                  </a:lnTo>
                  <a:lnTo>
                    <a:pt x="63627" y="0"/>
                  </a:lnTo>
                  <a:close/>
                </a:path>
                <a:path w="1268095" h="54609">
                  <a:moveTo>
                    <a:pt x="1267612" y="27279"/>
                  </a:moveTo>
                  <a:lnTo>
                    <a:pt x="1203985" y="0"/>
                  </a:lnTo>
                  <a:lnTo>
                    <a:pt x="1209090" y="13639"/>
                  </a:lnTo>
                  <a:lnTo>
                    <a:pt x="1210805" y="27279"/>
                  </a:lnTo>
                  <a:lnTo>
                    <a:pt x="1209090" y="40906"/>
                  </a:lnTo>
                  <a:lnTo>
                    <a:pt x="1203985" y="54546"/>
                  </a:lnTo>
                  <a:lnTo>
                    <a:pt x="1267612" y="27279"/>
                  </a:lnTo>
                  <a:close/>
                </a:path>
              </a:pathLst>
            </a:custGeom>
            <a:solidFill>
              <a:srgbClr val="231F20"/>
            </a:solidFill>
          </p:spPr>
          <p:txBody>
            <a:bodyPr wrap="square" lIns="0" tIns="0" rIns="0" bIns="0" rtlCol="0"/>
            <a:lstStyle/>
            <a:p>
              <a:endParaRPr/>
            </a:p>
          </p:txBody>
        </p:sp>
        <p:sp>
          <p:nvSpPr>
            <p:cNvPr id="56" name="object 56"/>
            <p:cNvSpPr/>
            <p:nvPr/>
          </p:nvSpPr>
          <p:spPr>
            <a:xfrm>
              <a:off x="1901784" y="1650081"/>
              <a:ext cx="1203960" cy="0"/>
            </a:xfrm>
            <a:custGeom>
              <a:avLst/>
              <a:gdLst/>
              <a:ahLst/>
              <a:cxnLst/>
              <a:rect l="l" t="t" r="r" b="b"/>
              <a:pathLst>
                <a:path w="1203960">
                  <a:moveTo>
                    <a:pt x="0" y="0"/>
                  </a:moveTo>
                  <a:lnTo>
                    <a:pt x="1203651" y="0"/>
                  </a:lnTo>
                </a:path>
              </a:pathLst>
            </a:custGeom>
            <a:ln w="4508">
              <a:solidFill>
                <a:srgbClr val="231F20"/>
              </a:solidFill>
              <a:prstDash val="lgDash"/>
            </a:ln>
          </p:spPr>
          <p:txBody>
            <a:bodyPr wrap="square" lIns="0" tIns="0" rIns="0" bIns="0" rtlCol="0"/>
            <a:lstStyle/>
            <a:p>
              <a:endParaRPr/>
            </a:p>
          </p:txBody>
        </p:sp>
        <p:sp>
          <p:nvSpPr>
            <p:cNvPr id="57" name="object 57"/>
            <p:cNvSpPr/>
            <p:nvPr/>
          </p:nvSpPr>
          <p:spPr>
            <a:xfrm>
              <a:off x="1869795" y="1622818"/>
              <a:ext cx="1268095" cy="54610"/>
            </a:xfrm>
            <a:custGeom>
              <a:avLst/>
              <a:gdLst/>
              <a:ahLst/>
              <a:cxnLst/>
              <a:rect l="l" t="t" r="r" b="b"/>
              <a:pathLst>
                <a:path w="1268095" h="54610">
                  <a:moveTo>
                    <a:pt x="63627" y="0"/>
                  </a:moveTo>
                  <a:lnTo>
                    <a:pt x="0" y="27266"/>
                  </a:lnTo>
                  <a:lnTo>
                    <a:pt x="63627" y="54533"/>
                  </a:lnTo>
                  <a:lnTo>
                    <a:pt x="58521" y="40894"/>
                  </a:lnTo>
                  <a:lnTo>
                    <a:pt x="56819" y="27266"/>
                  </a:lnTo>
                  <a:lnTo>
                    <a:pt x="58521" y="13627"/>
                  </a:lnTo>
                  <a:lnTo>
                    <a:pt x="63627" y="0"/>
                  </a:lnTo>
                  <a:close/>
                </a:path>
                <a:path w="1268095" h="54610">
                  <a:moveTo>
                    <a:pt x="1267612" y="27266"/>
                  </a:moveTo>
                  <a:lnTo>
                    <a:pt x="1203985" y="0"/>
                  </a:lnTo>
                  <a:lnTo>
                    <a:pt x="1209090" y="13627"/>
                  </a:lnTo>
                  <a:lnTo>
                    <a:pt x="1210805" y="27266"/>
                  </a:lnTo>
                  <a:lnTo>
                    <a:pt x="1209090" y="40894"/>
                  </a:lnTo>
                  <a:lnTo>
                    <a:pt x="1203985" y="54533"/>
                  </a:lnTo>
                  <a:lnTo>
                    <a:pt x="1267612" y="27266"/>
                  </a:lnTo>
                  <a:close/>
                </a:path>
              </a:pathLst>
            </a:custGeom>
            <a:solidFill>
              <a:srgbClr val="231F20"/>
            </a:solidFill>
          </p:spPr>
          <p:txBody>
            <a:bodyPr wrap="square" lIns="0" tIns="0" rIns="0" bIns="0" rtlCol="0"/>
            <a:lstStyle/>
            <a:p>
              <a:endParaRPr/>
            </a:p>
          </p:txBody>
        </p:sp>
        <p:sp>
          <p:nvSpPr>
            <p:cNvPr id="58" name="object 58"/>
            <p:cNvSpPr/>
            <p:nvPr/>
          </p:nvSpPr>
          <p:spPr>
            <a:xfrm>
              <a:off x="1901784" y="1822928"/>
              <a:ext cx="1203960" cy="0"/>
            </a:xfrm>
            <a:custGeom>
              <a:avLst/>
              <a:gdLst/>
              <a:ahLst/>
              <a:cxnLst/>
              <a:rect l="l" t="t" r="r" b="b"/>
              <a:pathLst>
                <a:path w="1203960">
                  <a:moveTo>
                    <a:pt x="0" y="0"/>
                  </a:moveTo>
                  <a:lnTo>
                    <a:pt x="1203651" y="0"/>
                  </a:lnTo>
                </a:path>
              </a:pathLst>
            </a:custGeom>
            <a:ln w="4508">
              <a:solidFill>
                <a:srgbClr val="231F20"/>
              </a:solidFill>
              <a:prstDash val="lgDash"/>
            </a:ln>
          </p:spPr>
          <p:txBody>
            <a:bodyPr wrap="square" lIns="0" tIns="0" rIns="0" bIns="0" rtlCol="0"/>
            <a:lstStyle/>
            <a:p>
              <a:endParaRPr/>
            </a:p>
          </p:txBody>
        </p:sp>
        <p:sp>
          <p:nvSpPr>
            <p:cNvPr id="59" name="object 59"/>
            <p:cNvSpPr/>
            <p:nvPr/>
          </p:nvSpPr>
          <p:spPr>
            <a:xfrm>
              <a:off x="1869795" y="1795665"/>
              <a:ext cx="1268095" cy="54610"/>
            </a:xfrm>
            <a:custGeom>
              <a:avLst/>
              <a:gdLst/>
              <a:ahLst/>
              <a:cxnLst/>
              <a:rect l="l" t="t" r="r" b="b"/>
              <a:pathLst>
                <a:path w="1268095" h="54610">
                  <a:moveTo>
                    <a:pt x="63627" y="0"/>
                  </a:moveTo>
                  <a:lnTo>
                    <a:pt x="0" y="27266"/>
                  </a:lnTo>
                  <a:lnTo>
                    <a:pt x="63627" y="54533"/>
                  </a:lnTo>
                  <a:lnTo>
                    <a:pt x="58521" y="40906"/>
                  </a:lnTo>
                  <a:lnTo>
                    <a:pt x="56819" y="27266"/>
                  </a:lnTo>
                  <a:lnTo>
                    <a:pt x="58521" y="13639"/>
                  </a:lnTo>
                  <a:lnTo>
                    <a:pt x="63627" y="0"/>
                  </a:lnTo>
                  <a:close/>
                </a:path>
                <a:path w="1268095" h="54610">
                  <a:moveTo>
                    <a:pt x="1267612" y="27266"/>
                  </a:moveTo>
                  <a:lnTo>
                    <a:pt x="1203985" y="0"/>
                  </a:lnTo>
                  <a:lnTo>
                    <a:pt x="1209090" y="13639"/>
                  </a:lnTo>
                  <a:lnTo>
                    <a:pt x="1210805" y="27266"/>
                  </a:lnTo>
                  <a:lnTo>
                    <a:pt x="1209090" y="40906"/>
                  </a:lnTo>
                  <a:lnTo>
                    <a:pt x="1203985" y="54533"/>
                  </a:lnTo>
                  <a:lnTo>
                    <a:pt x="1267612" y="27266"/>
                  </a:lnTo>
                  <a:close/>
                </a:path>
              </a:pathLst>
            </a:custGeom>
            <a:solidFill>
              <a:srgbClr val="231F20"/>
            </a:solidFill>
          </p:spPr>
          <p:txBody>
            <a:bodyPr wrap="square" lIns="0" tIns="0" rIns="0" bIns="0" rtlCol="0"/>
            <a:lstStyle/>
            <a:p>
              <a:endParaRPr/>
            </a:p>
          </p:txBody>
        </p:sp>
        <p:sp>
          <p:nvSpPr>
            <p:cNvPr id="60" name="object 60"/>
            <p:cNvSpPr/>
            <p:nvPr/>
          </p:nvSpPr>
          <p:spPr>
            <a:xfrm>
              <a:off x="1901784" y="1995781"/>
              <a:ext cx="1203960" cy="0"/>
            </a:xfrm>
            <a:custGeom>
              <a:avLst/>
              <a:gdLst/>
              <a:ahLst/>
              <a:cxnLst/>
              <a:rect l="l" t="t" r="r" b="b"/>
              <a:pathLst>
                <a:path w="1203960">
                  <a:moveTo>
                    <a:pt x="0" y="0"/>
                  </a:moveTo>
                  <a:lnTo>
                    <a:pt x="1203651" y="0"/>
                  </a:lnTo>
                </a:path>
              </a:pathLst>
            </a:custGeom>
            <a:ln w="4508">
              <a:solidFill>
                <a:srgbClr val="231F20"/>
              </a:solidFill>
              <a:prstDash val="lgDash"/>
            </a:ln>
          </p:spPr>
          <p:txBody>
            <a:bodyPr wrap="square" lIns="0" tIns="0" rIns="0" bIns="0" rtlCol="0"/>
            <a:lstStyle/>
            <a:p>
              <a:endParaRPr/>
            </a:p>
          </p:txBody>
        </p:sp>
        <p:sp>
          <p:nvSpPr>
            <p:cNvPr id="61" name="object 61"/>
            <p:cNvSpPr/>
            <p:nvPr/>
          </p:nvSpPr>
          <p:spPr>
            <a:xfrm>
              <a:off x="1869795" y="1968525"/>
              <a:ext cx="1268095" cy="54610"/>
            </a:xfrm>
            <a:custGeom>
              <a:avLst/>
              <a:gdLst/>
              <a:ahLst/>
              <a:cxnLst/>
              <a:rect l="l" t="t" r="r" b="b"/>
              <a:pathLst>
                <a:path w="1268095" h="54610">
                  <a:moveTo>
                    <a:pt x="63627" y="0"/>
                  </a:moveTo>
                  <a:lnTo>
                    <a:pt x="0" y="27266"/>
                  </a:lnTo>
                  <a:lnTo>
                    <a:pt x="63627" y="54533"/>
                  </a:lnTo>
                  <a:lnTo>
                    <a:pt x="58521" y="40894"/>
                  </a:lnTo>
                  <a:lnTo>
                    <a:pt x="56819" y="27266"/>
                  </a:lnTo>
                  <a:lnTo>
                    <a:pt x="58521" y="13627"/>
                  </a:lnTo>
                  <a:lnTo>
                    <a:pt x="63627" y="0"/>
                  </a:lnTo>
                  <a:close/>
                </a:path>
                <a:path w="1268095" h="54610">
                  <a:moveTo>
                    <a:pt x="1267612" y="27266"/>
                  </a:moveTo>
                  <a:lnTo>
                    <a:pt x="1203985" y="0"/>
                  </a:lnTo>
                  <a:lnTo>
                    <a:pt x="1209090" y="13627"/>
                  </a:lnTo>
                  <a:lnTo>
                    <a:pt x="1210805" y="27266"/>
                  </a:lnTo>
                  <a:lnTo>
                    <a:pt x="1209090" y="40894"/>
                  </a:lnTo>
                  <a:lnTo>
                    <a:pt x="1203985" y="54533"/>
                  </a:lnTo>
                  <a:lnTo>
                    <a:pt x="1267612" y="27266"/>
                  </a:lnTo>
                  <a:close/>
                </a:path>
              </a:pathLst>
            </a:custGeom>
            <a:solidFill>
              <a:srgbClr val="231F20"/>
            </a:solidFill>
          </p:spPr>
          <p:txBody>
            <a:bodyPr wrap="square" lIns="0" tIns="0" rIns="0" bIns="0" rtlCol="0"/>
            <a:lstStyle/>
            <a:p>
              <a:endParaRPr/>
            </a:p>
          </p:txBody>
        </p:sp>
      </p:grpSp>
      <p:sp>
        <p:nvSpPr>
          <p:cNvPr id="62" name="object 62"/>
          <p:cNvSpPr txBox="1"/>
          <p:nvPr/>
        </p:nvSpPr>
        <p:spPr>
          <a:xfrm>
            <a:off x="2941334" y="831334"/>
            <a:ext cx="655320"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Application</a:t>
            </a:r>
            <a:r>
              <a:rPr sz="550" spc="-25" dirty="0">
                <a:solidFill>
                  <a:srgbClr val="231F20"/>
                </a:solidFill>
                <a:latin typeface="Arial"/>
                <a:cs typeface="Arial"/>
              </a:rPr>
              <a:t> </a:t>
            </a:r>
            <a:r>
              <a:rPr sz="550" spc="5" dirty="0">
                <a:solidFill>
                  <a:srgbClr val="231F20"/>
                </a:solidFill>
                <a:latin typeface="Arial"/>
                <a:cs typeface="Arial"/>
              </a:rPr>
              <a:t>protocol</a:t>
            </a:r>
            <a:endParaRPr sz="550">
              <a:latin typeface="Arial"/>
              <a:cs typeface="Arial"/>
            </a:endParaRPr>
          </a:p>
        </p:txBody>
      </p:sp>
      <p:sp>
        <p:nvSpPr>
          <p:cNvPr id="63" name="object 63"/>
          <p:cNvSpPr txBox="1"/>
          <p:nvPr/>
        </p:nvSpPr>
        <p:spPr>
          <a:xfrm>
            <a:off x="2660609" y="1010450"/>
            <a:ext cx="1229360" cy="99385"/>
          </a:xfrm>
          <a:prstGeom prst="rect">
            <a:avLst/>
          </a:prstGeom>
        </p:spPr>
        <p:txBody>
          <a:bodyPr vert="horz" wrap="square" lIns="0" tIns="14604" rIns="0" bIns="0" rtlCol="0">
            <a:spAutoFit/>
          </a:bodyPr>
          <a:lstStyle/>
          <a:p>
            <a:pPr marL="12700">
              <a:spcBef>
                <a:spcPts val="114"/>
              </a:spcBef>
              <a:tabLst>
                <a:tab pos="292722" algn="l"/>
                <a:tab pos="1215973" algn="l"/>
              </a:tabLst>
            </a:pPr>
            <a:r>
              <a:rPr sz="550" u="dashLong" spc="5" dirty="0">
                <a:solidFill>
                  <a:srgbClr val="231F20"/>
                </a:solidFill>
                <a:uFill>
                  <a:solidFill>
                    <a:srgbClr val="231F20"/>
                  </a:solidFill>
                </a:uFill>
                <a:latin typeface="Arial"/>
                <a:cs typeface="Arial"/>
              </a:rPr>
              <a:t> 	Presentation</a:t>
            </a:r>
            <a:r>
              <a:rPr sz="550" u="dashLong" spc="-35" dirty="0">
                <a:solidFill>
                  <a:srgbClr val="231F20"/>
                </a:solidFill>
                <a:uFill>
                  <a:solidFill>
                    <a:srgbClr val="231F20"/>
                  </a:solidFill>
                </a:uFill>
                <a:latin typeface="Arial"/>
                <a:cs typeface="Arial"/>
              </a:rPr>
              <a:t> </a:t>
            </a:r>
            <a:r>
              <a:rPr sz="550" u="dashLong" spc="5" dirty="0">
                <a:solidFill>
                  <a:srgbClr val="231F20"/>
                </a:solidFill>
                <a:uFill>
                  <a:solidFill>
                    <a:srgbClr val="231F20"/>
                  </a:solidFill>
                </a:uFill>
                <a:latin typeface="Arial"/>
                <a:cs typeface="Arial"/>
              </a:rPr>
              <a:t>protocol	</a:t>
            </a:r>
            <a:endParaRPr sz="550">
              <a:latin typeface="Arial"/>
              <a:cs typeface="Arial"/>
            </a:endParaRPr>
          </a:p>
        </p:txBody>
      </p:sp>
      <p:sp>
        <p:nvSpPr>
          <p:cNvPr id="64" name="object 64"/>
          <p:cNvSpPr txBox="1"/>
          <p:nvPr/>
        </p:nvSpPr>
        <p:spPr>
          <a:xfrm>
            <a:off x="2660609" y="1202937"/>
            <a:ext cx="1229360" cy="99385"/>
          </a:xfrm>
          <a:prstGeom prst="rect">
            <a:avLst/>
          </a:prstGeom>
        </p:spPr>
        <p:txBody>
          <a:bodyPr vert="horz" wrap="square" lIns="0" tIns="14604" rIns="0" bIns="0" rtlCol="0">
            <a:spAutoFit/>
          </a:bodyPr>
          <a:lstStyle/>
          <a:p>
            <a:pPr marL="12700">
              <a:spcBef>
                <a:spcPts val="114"/>
              </a:spcBef>
              <a:tabLst>
                <a:tab pos="367014" algn="l"/>
                <a:tab pos="1215973" algn="l"/>
              </a:tabLst>
            </a:pPr>
            <a:r>
              <a:rPr sz="550" u="dashLong" spc="5" dirty="0">
                <a:solidFill>
                  <a:srgbClr val="231F20"/>
                </a:solidFill>
                <a:uFill>
                  <a:solidFill>
                    <a:srgbClr val="231F20"/>
                  </a:solidFill>
                </a:uFill>
                <a:latin typeface="Arial"/>
                <a:cs typeface="Arial"/>
              </a:rPr>
              <a:t> 	Session</a:t>
            </a:r>
            <a:r>
              <a:rPr sz="550" u="dashLong" spc="-45" dirty="0">
                <a:solidFill>
                  <a:srgbClr val="231F20"/>
                </a:solidFill>
                <a:uFill>
                  <a:solidFill>
                    <a:srgbClr val="231F20"/>
                  </a:solidFill>
                </a:uFill>
                <a:latin typeface="Arial"/>
                <a:cs typeface="Arial"/>
              </a:rPr>
              <a:t> </a:t>
            </a:r>
            <a:r>
              <a:rPr sz="550" u="dashLong" spc="5" dirty="0">
                <a:solidFill>
                  <a:srgbClr val="231F20"/>
                </a:solidFill>
                <a:uFill>
                  <a:solidFill>
                    <a:srgbClr val="231F20"/>
                  </a:solidFill>
                </a:uFill>
                <a:latin typeface="Arial"/>
                <a:cs typeface="Arial"/>
              </a:rPr>
              <a:t>protocol	</a:t>
            </a:r>
            <a:endParaRPr sz="550">
              <a:latin typeface="Arial"/>
              <a:cs typeface="Arial"/>
            </a:endParaRPr>
          </a:p>
        </p:txBody>
      </p:sp>
      <p:sp>
        <p:nvSpPr>
          <p:cNvPr id="65" name="object 65"/>
          <p:cNvSpPr txBox="1"/>
          <p:nvPr/>
        </p:nvSpPr>
        <p:spPr>
          <a:xfrm>
            <a:off x="2964694" y="1376916"/>
            <a:ext cx="608330"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Transport</a:t>
            </a:r>
            <a:r>
              <a:rPr sz="550" spc="-40" dirty="0">
                <a:solidFill>
                  <a:srgbClr val="231F20"/>
                </a:solidFill>
                <a:latin typeface="Arial"/>
                <a:cs typeface="Arial"/>
              </a:rPr>
              <a:t> </a:t>
            </a:r>
            <a:r>
              <a:rPr sz="550" spc="5" dirty="0">
                <a:solidFill>
                  <a:srgbClr val="231F20"/>
                </a:solidFill>
                <a:latin typeface="Arial"/>
                <a:cs typeface="Arial"/>
              </a:rPr>
              <a:t>protocol</a:t>
            </a:r>
            <a:endParaRPr sz="550">
              <a:latin typeface="Arial"/>
              <a:cs typeface="Arial"/>
            </a:endParaRPr>
          </a:p>
        </p:txBody>
      </p:sp>
      <p:sp>
        <p:nvSpPr>
          <p:cNvPr id="66" name="object 66"/>
          <p:cNvSpPr txBox="1"/>
          <p:nvPr/>
        </p:nvSpPr>
        <p:spPr>
          <a:xfrm>
            <a:off x="2985424" y="1550894"/>
            <a:ext cx="567055"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Network</a:t>
            </a:r>
            <a:r>
              <a:rPr sz="550" spc="-25" dirty="0">
                <a:solidFill>
                  <a:srgbClr val="231F20"/>
                </a:solidFill>
                <a:latin typeface="Arial"/>
                <a:cs typeface="Arial"/>
              </a:rPr>
              <a:t> </a:t>
            </a:r>
            <a:r>
              <a:rPr sz="550" spc="5" dirty="0">
                <a:solidFill>
                  <a:srgbClr val="231F20"/>
                </a:solidFill>
                <a:latin typeface="Arial"/>
                <a:cs typeface="Arial"/>
              </a:rPr>
              <a:t>protocol</a:t>
            </a:r>
            <a:endParaRPr sz="550">
              <a:latin typeface="Arial"/>
              <a:cs typeface="Arial"/>
            </a:endParaRPr>
          </a:p>
        </p:txBody>
      </p:sp>
      <p:sp>
        <p:nvSpPr>
          <p:cNvPr id="67" name="object 67"/>
          <p:cNvSpPr txBox="1"/>
          <p:nvPr/>
        </p:nvSpPr>
        <p:spPr>
          <a:xfrm>
            <a:off x="2977385" y="1724876"/>
            <a:ext cx="582930"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Data link</a:t>
            </a:r>
            <a:r>
              <a:rPr sz="550" spc="-35" dirty="0">
                <a:solidFill>
                  <a:srgbClr val="231F20"/>
                </a:solidFill>
                <a:latin typeface="Arial"/>
                <a:cs typeface="Arial"/>
              </a:rPr>
              <a:t> </a:t>
            </a:r>
            <a:r>
              <a:rPr sz="550" spc="5" dirty="0">
                <a:solidFill>
                  <a:srgbClr val="231F20"/>
                </a:solidFill>
                <a:latin typeface="Arial"/>
                <a:cs typeface="Arial"/>
              </a:rPr>
              <a:t>protocol</a:t>
            </a:r>
            <a:endParaRPr sz="550">
              <a:latin typeface="Arial"/>
              <a:cs typeface="Arial"/>
            </a:endParaRPr>
          </a:p>
        </p:txBody>
      </p:sp>
      <p:sp>
        <p:nvSpPr>
          <p:cNvPr id="68" name="object 68"/>
          <p:cNvSpPr txBox="1"/>
          <p:nvPr/>
        </p:nvSpPr>
        <p:spPr>
          <a:xfrm>
            <a:off x="2983409" y="1897996"/>
            <a:ext cx="570865"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Physical</a:t>
            </a:r>
            <a:r>
              <a:rPr sz="550" spc="-30" dirty="0">
                <a:solidFill>
                  <a:srgbClr val="231F20"/>
                </a:solidFill>
                <a:latin typeface="Arial"/>
                <a:cs typeface="Arial"/>
              </a:rPr>
              <a:t> </a:t>
            </a:r>
            <a:r>
              <a:rPr sz="550" spc="5" dirty="0">
                <a:solidFill>
                  <a:srgbClr val="231F20"/>
                </a:solidFill>
                <a:latin typeface="Arial"/>
                <a:cs typeface="Arial"/>
              </a:rPr>
              <a:t>protocol</a:t>
            </a:r>
            <a:endParaRPr sz="550">
              <a:latin typeface="Arial"/>
              <a:cs typeface="Arial"/>
            </a:endParaRPr>
          </a:p>
        </p:txBody>
      </p:sp>
      <p:sp>
        <p:nvSpPr>
          <p:cNvPr id="69" name="object 69"/>
          <p:cNvSpPr txBox="1"/>
          <p:nvPr/>
        </p:nvSpPr>
        <p:spPr>
          <a:xfrm>
            <a:off x="3062434" y="2219900"/>
            <a:ext cx="290195"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Network</a:t>
            </a:r>
            <a:endParaRPr sz="550">
              <a:latin typeface="Arial"/>
              <a:cs typeface="Arial"/>
            </a:endParaRPr>
          </a:p>
        </p:txBody>
      </p:sp>
      <p:sp>
        <p:nvSpPr>
          <p:cNvPr id="70" name="object 70"/>
          <p:cNvSpPr txBox="1"/>
          <p:nvPr/>
        </p:nvSpPr>
        <p:spPr>
          <a:xfrm>
            <a:off x="4187079" y="1955451"/>
            <a:ext cx="66040"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1</a:t>
            </a:r>
            <a:endParaRPr sz="550">
              <a:latin typeface="Arial"/>
              <a:cs typeface="Arial"/>
            </a:endParaRPr>
          </a:p>
        </p:txBody>
      </p:sp>
      <p:sp>
        <p:nvSpPr>
          <p:cNvPr id="71" name="object 71"/>
          <p:cNvSpPr txBox="1"/>
          <p:nvPr/>
        </p:nvSpPr>
        <p:spPr>
          <a:xfrm>
            <a:off x="4187079" y="1783735"/>
            <a:ext cx="66040"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2</a:t>
            </a:r>
            <a:endParaRPr sz="550">
              <a:latin typeface="Arial"/>
              <a:cs typeface="Arial"/>
            </a:endParaRPr>
          </a:p>
        </p:txBody>
      </p:sp>
      <p:sp>
        <p:nvSpPr>
          <p:cNvPr id="72" name="object 72"/>
          <p:cNvSpPr txBox="1"/>
          <p:nvPr/>
        </p:nvSpPr>
        <p:spPr>
          <a:xfrm>
            <a:off x="4187079" y="1611112"/>
            <a:ext cx="66040"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3</a:t>
            </a:r>
            <a:endParaRPr sz="550">
              <a:latin typeface="Arial"/>
              <a:cs typeface="Arial"/>
            </a:endParaRPr>
          </a:p>
        </p:txBody>
      </p:sp>
      <p:sp>
        <p:nvSpPr>
          <p:cNvPr id="73" name="object 73"/>
          <p:cNvSpPr txBox="1"/>
          <p:nvPr/>
        </p:nvSpPr>
        <p:spPr>
          <a:xfrm>
            <a:off x="4187079" y="1440302"/>
            <a:ext cx="66040"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4</a:t>
            </a:r>
            <a:endParaRPr sz="550">
              <a:latin typeface="Arial"/>
              <a:cs typeface="Arial"/>
            </a:endParaRPr>
          </a:p>
        </p:txBody>
      </p:sp>
      <p:sp>
        <p:nvSpPr>
          <p:cNvPr id="74" name="object 74"/>
          <p:cNvSpPr txBox="1"/>
          <p:nvPr/>
        </p:nvSpPr>
        <p:spPr>
          <a:xfrm>
            <a:off x="4187079" y="1267713"/>
            <a:ext cx="66040"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5</a:t>
            </a:r>
            <a:endParaRPr sz="550">
              <a:latin typeface="Arial"/>
              <a:cs typeface="Arial"/>
            </a:endParaRPr>
          </a:p>
        </p:txBody>
      </p:sp>
      <p:sp>
        <p:nvSpPr>
          <p:cNvPr id="75" name="object 75"/>
          <p:cNvSpPr txBox="1"/>
          <p:nvPr/>
        </p:nvSpPr>
        <p:spPr>
          <a:xfrm>
            <a:off x="4187287" y="898374"/>
            <a:ext cx="66040"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7</a:t>
            </a:r>
            <a:endParaRPr sz="550">
              <a:latin typeface="Arial"/>
              <a:cs typeface="Arial"/>
            </a:endParaRPr>
          </a:p>
        </p:txBody>
      </p:sp>
      <p:sp>
        <p:nvSpPr>
          <p:cNvPr id="76" name="object 76"/>
          <p:cNvSpPr txBox="1"/>
          <p:nvPr/>
        </p:nvSpPr>
        <p:spPr>
          <a:xfrm>
            <a:off x="4187287" y="1077489"/>
            <a:ext cx="66040" cy="99385"/>
          </a:xfrm>
          <a:prstGeom prst="rect">
            <a:avLst/>
          </a:prstGeom>
        </p:spPr>
        <p:txBody>
          <a:bodyPr vert="horz" wrap="square" lIns="0" tIns="14604" rIns="0" bIns="0" rtlCol="0">
            <a:spAutoFit/>
          </a:bodyPr>
          <a:lstStyle/>
          <a:p>
            <a:pPr marL="12700">
              <a:spcBef>
                <a:spcPts val="114"/>
              </a:spcBef>
            </a:pPr>
            <a:r>
              <a:rPr sz="550" spc="5" dirty="0">
                <a:solidFill>
                  <a:srgbClr val="231F20"/>
                </a:solidFill>
                <a:latin typeface="Arial"/>
                <a:cs typeface="Arial"/>
              </a:rPr>
              <a:t>6</a:t>
            </a:r>
            <a:endParaRPr sz="550">
              <a:latin typeface="Arial"/>
              <a:cs typeface="Arial"/>
            </a:endParaRPr>
          </a:p>
        </p:txBody>
      </p:sp>
      <p:grpSp>
        <p:nvGrpSpPr>
          <p:cNvPr id="77" name="object 77"/>
          <p:cNvGrpSpPr/>
          <p:nvPr/>
        </p:nvGrpSpPr>
        <p:grpSpPr>
          <a:xfrm>
            <a:off x="859270" y="2518348"/>
            <a:ext cx="4483735" cy="748665"/>
            <a:chOff x="87743" y="2518346"/>
            <a:chExt cx="4483735" cy="748665"/>
          </a:xfrm>
        </p:grpSpPr>
        <p:sp>
          <p:nvSpPr>
            <p:cNvPr id="78" name="object 78"/>
            <p:cNvSpPr/>
            <p:nvPr/>
          </p:nvSpPr>
          <p:spPr>
            <a:xfrm>
              <a:off x="87743" y="2518346"/>
              <a:ext cx="4432935" cy="173990"/>
            </a:xfrm>
            <a:custGeom>
              <a:avLst/>
              <a:gdLst/>
              <a:ahLst/>
              <a:cxnLst/>
              <a:rect l="l" t="t" r="r" b="b"/>
              <a:pathLst>
                <a:path w="4432935" h="173989">
                  <a:moveTo>
                    <a:pt x="4381767" y="0"/>
                  </a:moveTo>
                  <a:lnTo>
                    <a:pt x="50800" y="0"/>
                  </a:lnTo>
                  <a:lnTo>
                    <a:pt x="31075" y="4008"/>
                  </a:lnTo>
                  <a:lnTo>
                    <a:pt x="14922" y="14922"/>
                  </a:lnTo>
                  <a:lnTo>
                    <a:pt x="4008" y="31075"/>
                  </a:lnTo>
                  <a:lnTo>
                    <a:pt x="0" y="50800"/>
                  </a:lnTo>
                  <a:lnTo>
                    <a:pt x="0" y="173799"/>
                  </a:lnTo>
                  <a:lnTo>
                    <a:pt x="4432567" y="173799"/>
                  </a:lnTo>
                  <a:lnTo>
                    <a:pt x="4432567" y="50800"/>
                  </a:lnTo>
                  <a:lnTo>
                    <a:pt x="4428558" y="31075"/>
                  </a:lnTo>
                  <a:lnTo>
                    <a:pt x="4417644" y="14922"/>
                  </a:lnTo>
                  <a:lnTo>
                    <a:pt x="4401492" y="4008"/>
                  </a:lnTo>
                  <a:lnTo>
                    <a:pt x="4381767" y="0"/>
                  </a:lnTo>
                  <a:close/>
                </a:path>
              </a:pathLst>
            </a:custGeom>
            <a:solidFill>
              <a:srgbClr val="FCBB06"/>
            </a:solidFill>
          </p:spPr>
          <p:txBody>
            <a:bodyPr wrap="square" lIns="0" tIns="0" rIns="0" bIns="0" rtlCol="0"/>
            <a:lstStyle/>
            <a:p>
              <a:endParaRPr/>
            </a:p>
          </p:txBody>
        </p:sp>
        <p:sp>
          <p:nvSpPr>
            <p:cNvPr id="79" name="object 79"/>
            <p:cNvSpPr/>
            <p:nvPr/>
          </p:nvSpPr>
          <p:spPr>
            <a:xfrm>
              <a:off x="87744" y="2679496"/>
              <a:ext cx="4432566" cy="50609"/>
            </a:xfrm>
            <a:prstGeom prst="rect">
              <a:avLst/>
            </a:prstGeom>
            <a:blipFill>
              <a:blip r:embed="rId6" cstate="print"/>
              <a:stretch>
                <a:fillRect/>
              </a:stretch>
            </a:blipFill>
          </p:spPr>
          <p:txBody>
            <a:bodyPr wrap="square" lIns="0" tIns="0" rIns="0" bIns="0" rtlCol="0"/>
            <a:lstStyle/>
            <a:p>
              <a:endParaRPr/>
            </a:p>
          </p:txBody>
        </p:sp>
        <p:sp>
          <p:nvSpPr>
            <p:cNvPr id="80" name="object 80"/>
            <p:cNvSpPr/>
            <p:nvPr/>
          </p:nvSpPr>
          <p:spPr>
            <a:xfrm>
              <a:off x="138544" y="3164865"/>
              <a:ext cx="101600" cy="101600"/>
            </a:xfrm>
            <a:prstGeom prst="rect">
              <a:avLst/>
            </a:prstGeom>
            <a:blipFill>
              <a:blip r:embed="rId7" cstate="print"/>
              <a:stretch>
                <a:fillRect/>
              </a:stretch>
            </a:blipFill>
          </p:spPr>
          <p:txBody>
            <a:bodyPr wrap="square" lIns="0" tIns="0" rIns="0" bIns="0" rtlCol="0"/>
            <a:lstStyle/>
            <a:p>
              <a:endParaRPr/>
            </a:p>
          </p:txBody>
        </p:sp>
        <p:sp>
          <p:nvSpPr>
            <p:cNvPr id="81" name="object 81"/>
            <p:cNvSpPr/>
            <p:nvPr/>
          </p:nvSpPr>
          <p:spPr>
            <a:xfrm>
              <a:off x="189344" y="3152165"/>
              <a:ext cx="4381715" cy="114300"/>
            </a:xfrm>
            <a:prstGeom prst="rect">
              <a:avLst/>
            </a:prstGeom>
            <a:blipFill>
              <a:blip r:embed="rId4" cstate="print"/>
              <a:stretch>
                <a:fillRect/>
              </a:stretch>
            </a:blipFill>
          </p:spPr>
          <p:txBody>
            <a:bodyPr wrap="square" lIns="0" tIns="0" rIns="0" bIns="0" rtlCol="0"/>
            <a:lstStyle/>
            <a:p>
              <a:endParaRPr/>
            </a:p>
          </p:txBody>
        </p:sp>
        <p:sp>
          <p:nvSpPr>
            <p:cNvPr id="82" name="object 82"/>
            <p:cNvSpPr/>
            <p:nvPr/>
          </p:nvSpPr>
          <p:spPr>
            <a:xfrm>
              <a:off x="4520311" y="2562580"/>
              <a:ext cx="50749" cy="602284"/>
            </a:xfrm>
            <a:prstGeom prst="rect">
              <a:avLst/>
            </a:prstGeom>
            <a:blipFill>
              <a:blip r:embed="rId8" cstate="print"/>
              <a:stretch>
                <a:fillRect/>
              </a:stretch>
            </a:blipFill>
          </p:spPr>
          <p:txBody>
            <a:bodyPr wrap="square" lIns="0" tIns="0" rIns="0" bIns="0" rtlCol="0"/>
            <a:lstStyle/>
            <a:p>
              <a:endParaRPr/>
            </a:p>
          </p:txBody>
        </p:sp>
        <p:sp>
          <p:nvSpPr>
            <p:cNvPr id="83" name="object 83"/>
            <p:cNvSpPr/>
            <p:nvPr/>
          </p:nvSpPr>
          <p:spPr>
            <a:xfrm>
              <a:off x="87743" y="2723779"/>
              <a:ext cx="4432935" cy="492125"/>
            </a:xfrm>
            <a:custGeom>
              <a:avLst/>
              <a:gdLst/>
              <a:ahLst/>
              <a:cxnLst/>
              <a:rect l="l" t="t" r="r" b="b"/>
              <a:pathLst>
                <a:path w="4432935" h="492125">
                  <a:moveTo>
                    <a:pt x="4432567" y="0"/>
                  </a:moveTo>
                  <a:lnTo>
                    <a:pt x="0" y="0"/>
                  </a:lnTo>
                  <a:lnTo>
                    <a:pt x="0" y="441086"/>
                  </a:lnTo>
                  <a:lnTo>
                    <a:pt x="4008" y="460810"/>
                  </a:lnTo>
                  <a:lnTo>
                    <a:pt x="14922" y="476963"/>
                  </a:lnTo>
                  <a:lnTo>
                    <a:pt x="31075" y="487878"/>
                  </a:lnTo>
                  <a:lnTo>
                    <a:pt x="50800" y="491886"/>
                  </a:lnTo>
                  <a:lnTo>
                    <a:pt x="4381767" y="491886"/>
                  </a:lnTo>
                  <a:lnTo>
                    <a:pt x="4401492" y="487878"/>
                  </a:lnTo>
                  <a:lnTo>
                    <a:pt x="4417644" y="476963"/>
                  </a:lnTo>
                  <a:lnTo>
                    <a:pt x="4428558" y="460810"/>
                  </a:lnTo>
                  <a:lnTo>
                    <a:pt x="4432567" y="441086"/>
                  </a:lnTo>
                  <a:lnTo>
                    <a:pt x="4432567" y="0"/>
                  </a:lnTo>
                  <a:close/>
                </a:path>
              </a:pathLst>
            </a:custGeom>
            <a:solidFill>
              <a:srgbClr val="FEEDC0"/>
            </a:solidFill>
          </p:spPr>
          <p:txBody>
            <a:bodyPr wrap="square" lIns="0" tIns="0" rIns="0" bIns="0" rtlCol="0"/>
            <a:lstStyle/>
            <a:p>
              <a:endParaRPr/>
            </a:p>
          </p:txBody>
        </p:sp>
        <p:sp>
          <p:nvSpPr>
            <p:cNvPr id="84" name="object 84"/>
            <p:cNvSpPr/>
            <p:nvPr/>
          </p:nvSpPr>
          <p:spPr>
            <a:xfrm>
              <a:off x="4520311" y="2600684"/>
              <a:ext cx="0" cy="583565"/>
            </a:xfrm>
            <a:custGeom>
              <a:avLst/>
              <a:gdLst/>
              <a:ahLst/>
              <a:cxnLst/>
              <a:rect l="l" t="t" r="r" b="b"/>
              <a:pathLst>
                <a:path h="583564">
                  <a:moveTo>
                    <a:pt x="0" y="583230"/>
                  </a:moveTo>
                  <a:lnTo>
                    <a:pt x="0" y="0"/>
                  </a:lnTo>
                </a:path>
              </a:pathLst>
            </a:custGeom>
            <a:ln w="3175">
              <a:solidFill>
                <a:srgbClr val="7F7F7F"/>
              </a:solidFill>
            </a:ln>
          </p:spPr>
          <p:txBody>
            <a:bodyPr wrap="square" lIns="0" tIns="0" rIns="0" bIns="0" rtlCol="0"/>
            <a:lstStyle/>
            <a:p>
              <a:endParaRPr/>
            </a:p>
          </p:txBody>
        </p:sp>
        <p:sp>
          <p:nvSpPr>
            <p:cNvPr id="85" name="object 85"/>
            <p:cNvSpPr/>
            <p:nvPr/>
          </p:nvSpPr>
          <p:spPr>
            <a:xfrm>
              <a:off x="4520311" y="258798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86" name="object 86"/>
            <p:cNvSpPr/>
            <p:nvPr/>
          </p:nvSpPr>
          <p:spPr>
            <a:xfrm>
              <a:off x="4520311" y="257528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87" name="object 87"/>
            <p:cNvSpPr/>
            <p:nvPr/>
          </p:nvSpPr>
          <p:spPr>
            <a:xfrm>
              <a:off x="4520311" y="256258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88" name="object 88"/>
            <p:cNvSpPr/>
            <p:nvPr/>
          </p:nvSpPr>
          <p:spPr>
            <a:xfrm>
              <a:off x="269557" y="2761157"/>
              <a:ext cx="76809" cy="76809"/>
            </a:xfrm>
            <a:prstGeom prst="rect">
              <a:avLst/>
            </a:prstGeom>
            <a:blipFill>
              <a:blip r:embed="rId9" cstate="print"/>
              <a:stretch>
                <a:fillRect/>
              </a:stretch>
            </a:blipFill>
          </p:spPr>
          <p:txBody>
            <a:bodyPr wrap="square" lIns="0" tIns="0" rIns="0" bIns="0" rtlCol="0"/>
            <a:lstStyle/>
            <a:p>
              <a:endParaRPr/>
            </a:p>
          </p:txBody>
        </p:sp>
        <p:sp>
          <p:nvSpPr>
            <p:cNvPr id="89" name="object 89"/>
            <p:cNvSpPr/>
            <p:nvPr/>
          </p:nvSpPr>
          <p:spPr>
            <a:xfrm>
              <a:off x="269557" y="2912986"/>
              <a:ext cx="76809" cy="76809"/>
            </a:xfrm>
            <a:prstGeom prst="rect">
              <a:avLst/>
            </a:prstGeom>
            <a:blipFill>
              <a:blip r:embed="rId10" cstate="print"/>
              <a:stretch>
                <a:fillRect/>
              </a:stretch>
            </a:blipFill>
          </p:spPr>
          <p:txBody>
            <a:bodyPr wrap="square" lIns="0" tIns="0" rIns="0" bIns="0" rtlCol="0"/>
            <a:lstStyle/>
            <a:p>
              <a:endParaRPr/>
            </a:p>
          </p:txBody>
        </p:sp>
        <p:sp>
          <p:nvSpPr>
            <p:cNvPr id="90" name="object 90"/>
            <p:cNvSpPr/>
            <p:nvPr/>
          </p:nvSpPr>
          <p:spPr>
            <a:xfrm>
              <a:off x="269557" y="3064814"/>
              <a:ext cx="76809" cy="76809"/>
            </a:xfrm>
            <a:prstGeom prst="rect">
              <a:avLst/>
            </a:prstGeom>
            <a:blipFill>
              <a:blip r:embed="rId9" cstate="print"/>
              <a:stretch>
                <a:fillRect/>
              </a:stretch>
            </a:blipFill>
          </p:spPr>
          <p:txBody>
            <a:bodyPr wrap="square" lIns="0" tIns="0" rIns="0" bIns="0" rtlCol="0"/>
            <a:lstStyle/>
            <a:p>
              <a:endParaRPr/>
            </a:p>
          </p:txBody>
        </p:sp>
      </p:grpSp>
      <p:sp>
        <p:nvSpPr>
          <p:cNvPr id="91" name="object 91"/>
          <p:cNvSpPr txBox="1"/>
          <p:nvPr/>
        </p:nvSpPr>
        <p:spPr>
          <a:xfrm>
            <a:off x="897369" y="2467833"/>
            <a:ext cx="2642870" cy="707245"/>
          </a:xfrm>
          <a:prstGeom prst="rect">
            <a:avLst/>
          </a:prstGeom>
        </p:spPr>
        <p:txBody>
          <a:bodyPr vert="horz" wrap="square" lIns="0" tIns="52705" rIns="0" bIns="0" rtlCol="0">
            <a:spAutoFit/>
          </a:bodyPr>
          <a:lstStyle/>
          <a:p>
            <a:pPr marL="12700">
              <a:spcBef>
                <a:spcPts val="415"/>
              </a:spcBef>
            </a:pPr>
            <a:r>
              <a:rPr sz="1000" spc="-10" dirty="0">
                <a:solidFill>
                  <a:srgbClr val="04064C"/>
                </a:solidFill>
                <a:latin typeface="Arial"/>
                <a:cs typeface="Arial"/>
              </a:rPr>
              <a:t>Drawbacks</a:t>
            </a:r>
            <a:endParaRPr sz="1000">
              <a:latin typeface="Arial"/>
              <a:cs typeface="Arial"/>
            </a:endParaRPr>
          </a:p>
          <a:p>
            <a:pPr marL="289548">
              <a:lnSpc>
                <a:spcPts val="1200"/>
              </a:lnSpc>
              <a:spcBef>
                <a:spcPts val="320"/>
              </a:spcBef>
            </a:pPr>
            <a:r>
              <a:rPr sz="1000" spc="-10" dirty="0">
                <a:latin typeface="Arial"/>
                <a:cs typeface="Arial"/>
              </a:rPr>
              <a:t>Focus </a:t>
            </a:r>
            <a:r>
              <a:rPr sz="1000" spc="-5" dirty="0">
                <a:latin typeface="Arial"/>
                <a:cs typeface="Arial"/>
              </a:rPr>
              <a:t>on message-passing only</a:t>
            </a:r>
            <a:endParaRPr sz="1000">
              <a:latin typeface="Arial"/>
              <a:cs typeface="Arial"/>
            </a:endParaRPr>
          </a:p>
          <a:p>
            <a:pPr marL="289548" marR="5080">
              <a:lnSpc>
                <a:spcPts val="1200"/>
              </a:lnSpc>
              <a:spcBef>
                <a:spcPts val="35"/>
              </a:spcBef>
            </a:pPr>
            <a:r>
              <a:rPr sz="1000" spc="-5" dirty="0">
                <a:latin typeface="Arial"/>
                <a:cs typeface="Arial"/>
              </a:rPr>
              <a:t>Often unneeded or unwanted functionality  Violates access</a:t>
            </a:r>
            <a:r>
              <a:rPr sz="1000" spc="-10" dirty="0">
                <a:latin typeface="Arial"/>
                <a:cs typeface="Arial"/>
              </a:rPr>
              <a:t> </a:t>
            </a:r>
            <a:r>
              <a:rPr sz="1000" spc="-5" dirty="0">
                <a:latin typeface="Arial"/>
                <a:cs typeface="Arial"/>
              </a:rPr>
              <a:t>transparency</a:t>
            </a:r>
            <a:endParaRPr sz="1000">
              <a:latin typeface="Arial"/>
              <a:cs typeface="Arial"/>
            </a:endParaRPr>
          </a:p>
        </p:txBody>
      </p:sp>
      <p:grpSp>
        <p:nvGrpSpPr>
          <p:cNvPr id="92" name="object 92"/>
          <p:cNvGrpSpPr/>
          <p:nvPr/>
        </p:nvGrpSpPr>
        <p:grpSpPr>
          <a:xfrm>
            <a:off x="771526" y="3326969"/>
            <a:ext cx="4608195" cy="129539"/>
            <a:chOff x="0" y="3326968"/>
            <a:chExt cx="4608195" cy="129539"/>
          </a:xfrm>
        </p:grpSpPr>
        <p:sp>
          <p:nvSpPr>
            <p:cNvPr id="93" name="object 93"/>
            <p:cNvSpPr/>
            <p:nvPr/>
          </p:nvSpPr>
          <p:spPr>
            <a:xfrm>
              <a:off x="0"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11E"/>
            </a:solidFill>
          </p:spPr>
          <p:txBody>
            <a:bodyPr wrap="square" lIns="0" tIns="0" rIns="0" bIns="0" rtlCol="0"/>
            <a:lstStyle/>
            <a:p>
              <a:endParaRPr/>
            </a:p>
          </p:txBody>
        </p:sp>
        <p:sp>
          <p:nvSpPr>
            <p:cNvPr id="94" name="object 94"/>
            <p:cNvSpPr/>
            <p:nvPr/>
          </p:nvSpPr>
          <p:spPr>
            <a:xfrm>
              <a:off x="2303995"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F50"/>
            </a:solidFill>
          </p:spPr>
          <p:txBody>
            <a:bodyPr wrap="square" lIns="0" tIns="0" rIns="0" bIns="0" rtlCol="0"/>
            <a:lstStyle/>
            <a:p>
              <a:endParaRPr/>
            </a:p>
          </p:txBody>
        </p:sp>
      </p:grpSp>
      <p:sp>
        <p:nvSpPr>
          <p:cNvPr id="95" name="object 95"/>
          <p:cNvSpPr txBox="1"/>
          <p:nvPr/>
        </p:nvSpPr>
        <p:spPr>
          <a:xfrm>
            <a:off x="838226" y="3331252"/>
            <a:ext cx="875665" cy="101310"/>
          </a:xfrm>
          <a:prstGeom prst="rect">
            <a:avLst/>
          </a:prstGeom>
        </p:spPr>
        <p:txBody>
          <a:bodyPr vert="horz" wrap="square" lIns="0" tIns="8890" rIns="0" bIns="0" rtlCol="0">
            <a:spAutoFit/>
          </a:bodyPr>
          <a:lstStyle/>
          <a:p>
            <a:pPr marL="12700">
              <a:spcBef>
                <a:spcPts val="70"/>
              </a:spcBef>
            </a:pPr>
            <a:r>
              <a:rPr sz="600" spc="-5" dirty="0">
                <a:solidFill>
                  <a:srgbClr val="04064C"/>
                </a:solidFill>
                <a:latin typeface="Arial"/>
                <a:cs typeface="Arial"/>
                <a:hlinkClick r:id="rId2" action="ppaction://hlinksldjump"/>
              </a:rPr>
              <a:t>The OSI reference</a:t>
            </a:r>
            <a:r>
              <a:rPr sz="600" spc="-45" dirty="0">
                <a:solidFill>
                  <a:srgbClr val="04064C"/>
                </a:solidFill>
                <a:latin typeface="Arial"/>
                <a:cs typeface="Arial"/>
                <a:hlinkClick r:id="rId2" action="ppaction://hlinksldjump"/>
              </a:rPr>
              <a:t> </a:t>
            </a:r>
            <a:r>
              <a:rPr sz="600" spc="-5" dirty="0">
                <a:solidFill>
                  <a:srgbClr val="04064C"/>
                </a:solidFill>
                <a:latin typeface="Arial"/>
                <a:cs typeface="Arial"/>
                <a:hlinkClick r:id="rId2" action="ppaction://hlinksldjump"/>
              </a:rPr>
              <a:t>model</a:t>
            </a:r>
            <a:endParaRPr sz="600">
              <a:latin typeface="Arial"/>
              <a:cs typeface="Arial"/>
            </a:endParaRPr>
          </a:p>
        </p:txBody>
      </p:sp>
      <p:sp>
        <p:nvSpPr>
          <p:cNvPr id="96" name="object 96"/>
          <p:cNvSpPr txBox="1"/>
          <p:nvPr/>
        </p:nvSpPr>
        <p:spPr>
          <a:xfrm>
            <a:off x="5072088" y="3331252"/>
            <a:ext cx="241300" cy="101310"/>
          </a:xfrm>
          <a:prstGeom prst="rect">
            <a:avLst/>
          </a:prstGeom>
        </p:spPr>
        <p:txBody>
          <a:bodyPr vert="horz" wrap="square" lIns="0" tIns="8890" rIns="0" bIns="0" rtlCol="0">
            <a:spAutoFit/>
          </a:bodyPr>
          <a:lstStyle/>
          <a:p>
            <a:pPr marL="38098">
              <a:spcBef>
                <a:spcPts val="70"/>
              </a:spcBef>
            </a:pPr>
            <a:fld id="{81D60167-4931-47E6-BA6A-407CBD079E47}" type="slidenum">
              <a:rPr sz="600" spc="-5" dirty="0">
                <a:solidFill>
                  <a:srgbClr val="04064C"/>
                </a:solidFill>
                <a:latin typeface="Arial"/>
                <a:cs typeface="Arial"/>
              </a:rPr>
              <a:pPr marL="38098">
                <a:spcBef>
                  <a:spcPts val="70"/>
                </a:spcBef>
              </a:pPr>
              <a:t>6</a:t>
            </a:fld>
            <a:r>
              <a:rPr sz="600" spc="-5" dirty="0">
                <a:solidFill>
                  <a:srgbClr val="04064C"/>
                </a:solidFill>
                <a:latin typeface="Arial"/>
                <a:cs typeface="Arial"/>
              </a:rPr>
              <a:t> /</a:t>
            </a:r>
            <a:r>
              <a:rPr sz="600" spc="-70" dirty="0">
                <a:solidFill>
                  <a:srgbClr val="04064C"/>
                </a:solidFill>
                <a:latin typeface="Arial"/>
                <a:cs typeface="Arial"/>
              </a:rPr>
              <a:t> </a:t>
            </a:r>
            <a:r>
              <a:rPr sz="600" spc="-5" dirty="0">
                <a:solidFill>
                  <a:srgbClr val="04064C"/>
                </a:solidFill>
                <a:latin typeface="Arial"/>
                <a:cs typeface="Arial"/>
              </a:rPr>
              <a:t>49</a:t>
            </a:r>
            <a:endParaRPr sz="600">
              <a:latin typeface="Arial"/>
              <a:cs typeface="Arial"/>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525" y="129032"/>
            <a:ext cx="4610100" cy="215444"/>
          </a:xfrm>
          <a:solidFill>
            <a:srgbClr val="FFFF00"/>
          </a:solidFill>
        </p:spPr>
        <p:txBody>
          <a:bodyPr/>
          <a:lstStyle/>
          <a:p>
            <a:r>
              <a:rPr lang="en-US" spc="15" dirty="0"/>
              <a:t>Layers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25" y="587375"/>
            <a:ext cx="4610100" cy="2425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9536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238" y="716"/>
            <a:ext cx="4541520" cy="104516"/>
          </a:xfrm>
          <a:prstGeom prst="rect">
            <a:avLst/>
          </a:prstGeom>
        </p:spPr>
        <p:txBody>
          <a:bodyPr vert="horz" wrap="square" lIns="0" tIns="12065" rIns="0" bIns="0" rtlCol="0">
            <a:spAutoFit/>
          </a:bodyPr>
          <a:lstStyle/>
          <a:p>
            <a:pPr marL="12700">
              <a:spcBef>
                <a:spcPts val="95"/>
              </a:spcBef>
              <a:tabLst>
                <a:tab pos="3853650" algn="l"/>
              </a:tabLst>
            </a:pPr>
            <a:r>
              <a:rPr sz="600" spc="-5" dirty="0">
                <a:solidFill>
                  <a:srgbClr val="04064C"/>
                </a:solidFill>
                <a:latin typeface="Arial"/>
                <a:cs typeface="Arial"/>
                <a:hlinkClick r:id="rId2" action="ppaction://hlinksldjump"/>
              </a:rPr>
              <a:t>Communication:</a:t>
            </a:r>
            <a:r>
              <a:rPr sz="600" spc="-5" dirty="0">
                <a:solidFill>
                  <a:srgbClr val="04064C"/>
                </a:solidFill>
                <a:latin typeface="Arial"/>
                <a:cs typeface="Arial"/>
              </a:rPr>
              <a:t> </a:t>
            </a:r>
            <a:r>
              <a:rPr sz="600" spc="10" dirty="0">
                <a:solidFill>
                  <a:srgbClr val="04064C"/>
                </a:solidFill>
                <a:latin typeface="Arial"/>
                <a:cs typeface="Arial"/>
              </a:rPr>
              <a:t> </a:t>
            </a:r>
            <a:r>
              <a:rPr sz="600" spc="-5" dirty="0">
                <a:solidFill>
                  <a:srgbClr val="04064C"/>
                </a:solidFill>
                <a:latin typeface="Arial"/>
                <a:cs typeface="Arial"/>
                <a:hlinkClick r:id="rId2" action="ppaction://hlinksldjump"/>
              </a:rPr>
              <a:t>Foundations</a:t>
            </a:r>
            <a:r>
              <a:rPr sz="600" spc="-5" dirty="0">
                <a:solidFill>
                  <a:srgbClr val="04064C"/>
                </a:solidFill>
                <a:latin typeface="Arial"/>
                <a:cs typeface="Arial"/>
              </a:rPr>
              <a:t>	</a:t>
            </a:r>
            <a:r>
              <a:rPr sz="600" spc="-10" dirty="0">
                <a:solidFill>
                  <a:srgbClr val="04064C"/>
                </a:solidFill>
                <a:latin typeface="Arial"/>
                <a:cs typeface="Arial"/>
                <a:hlinkClick r:id="rId3" action="ppaction://hlinksldjump"/>
              </a:rPr>
              <a:t>Layered</a:t>
            </a:r>
            <a:r>
              <a:rPr sz="600" spc="-15" dirty="0">
                <a:solidFill>
                  <a:srgbClr val="04064C"/>
                </a:solidFill>
                <a:latin typeface="Arial"/>
                <a:cs typeface="Arial"/>
                <a:hlinkClick r:id="rId3" action="ppaction://hlinksldjump"/>
              </a:rPr>
              <a:t> </a:t>
            </a:r>
            <a:r>
              <a:rPr sz="600" spc="-5" dirty="0">
                <a:solidFill>
                  <a:srgbClr val="04064C"/>
                </a:solidFill>
                <a:latin typeface="Arial"/>
                <a:cs typeface="Arial"/>
                <a:hlinkClick r:id="rId3" action="ppaction://hlinksldjump"/>
              </a:rPr>
              <a:t>Protocols</a:t>
            </a:r>
            <a:endParaRPr sz="600">
              <a:latin typeface="Arial"/>
              <a:cs typeface="Arial"/>
            </a:endParaRPr>
          </a:p>
        </p:txBody>
      </p:sp>
      <p:sp>
        <p:nvSpPr>
          <p:cNvPr id="3" name="object 3"/>
          <p:cNvSpPr txBox="1">
            <a:spLocks noGrp="1"/>
          </p:cNvSpPr>
          <p:nvPr>
            <p:ph type="title"/>
          </p:nvPr>
        </p:nvSpPr>
        <p:spPr>
          <a:xfrm>
            <a:off x="771526" y="129033"/>
            <a:ext cx="4608195" cy="278281"/>
          </a:xfrm>
          <a:prstGeom prst="rect">
            <a:avLst/>
          </a:prstGeom>
          <a:solidFill>
            <a:srgbClr val="FFE600"/>
          </a:solidFill>
        </p:spPr>
        <p:txBody>
          <a:bodyPr vert="horz" wrap="square" lIns="0" tIns="62230" rIns="0" bIns="0" rtlCol="0">
            <a:spAutoFit/>
          </a:bodyPr>
          <a:lstStyle/>
          <a:p>
            <a:pPr marL="107945">
              <a:spcBef>
                <a:spcPts val="490"/>
              </a:spcBef>
            </a:pPr>
            <a:r>
              <a:rPr dirty="0"/>
              <a:t>Low-level layers</a:t>
            </a:r>
          </a:p>
        </p:txBody>
      </p:sp>
      <p:grpSp>
        <p:nvGrpSpPr>
          <p:cNvPr id="4" name="object 4"/>
          <p:cNvGrpSpPr/>
          <p:nvPr/>
        </p:nvGrpSpPr>
        <p:grpSpPr>
          <a:xfrm>
            <a:off x="859270" y="907541"/>
            <a:ext cx="4483735" cy="1187450"/>
            <a:chOff x="87743" y="907541"/>
            <a:chExt cx="4483735" cy="1187450"/>
          </a:xfrm>
        </p:grpSpPr>
        <p:sp>
          <p:nvSpPr>
            <p:cNvPr id="5" name="object 5"/>
            <p:cNvSpPr/>
            <p:nvPr/>
          </p:nvSpPr>
          <p:spPr>
            <a:xfrm>
              <a:off x="87743" y="907541"/>
              <a:ext cx="4432935" cy="181610"/>
            </a:xfrm>
            <a:custGeom>
              <a:avLst/>
              <a:gdLst/>
              <a:ahLst/>
              <a:cxnLst/>
              <a:rect l="l" t="t" r="r" b="b"/>
              <a:pathLst>
                <a:path w="4432935" h="181609">
                  <a:moveTo>
                    <a:pt x="4381767" y="0"/>
                  </a:moveTo>
                  <a:lnTo>
                    <a:pt x="50800" y="0"/>
                  </a:lnTo>
                  <a:lnTo>
                    <a:pt x="31075" y="4008"/>
                  </a:lnTo>
                  <a:lnTo>
                    <a:pt x="14922" y="14922"/>
                  </a:lnTo>
                  <a:lnTo>
                    <a:pt x="4008" y="31075"/>
                  </a:lnTo>
                  <a:lnTo>
                    <a:pt x="0" y="50800"/>
                  </a:lnTo>
                  <a:lnTo>
                    <a:pt x="0" y="181200"/>
                  </a:lnTo>
                  <a:lnTo>
                    <a:pt x="4432567" y="181200"/>
                  </a:lnTo>
                  <a:lnTo>
                    <a:pt x="4432567" y="50800"/>
                  </a:lnTo>
                  <a:lnTo>
                    <a:pt x="4428558" y="31075"/>
                  </a:lnTo>
                  <a:lnTo>
                    <a:pt x="4417644" y="14922"/>
                  </a:lnTo>
                  <a:lnTo>
                    <a:pt x="4401492" y="4008"/>
                  </a:lnTo>
                  <a:lnTo>
                    <a:pt x="4381767" y="0"/>
                  </a:lnTo>
                  <a:close/>
                </a:path>
              </a:pathLst>
            </a:custGeom>
            <a:solidFill>
              <a:srgbClr val="FCBB06"/>
            </a:solidFill>
          </p:spPr>
          <p:txBody>
            <a:bodyPr wrap="square" lIns="0" tIns="0" rIns="0" bIns="0" rtlCol="0"/>
            <a:lstStyle/>
            <a:p>
              <a:endParaRPr/>
            </a:p>
          </p:txBody>
        </p:sp>
        <p:sp>
          <p:nvSpPr>
            <p:cNvPr id="6" name="object 6"/>
            <p:cNvSpPr/>
            <p:nvPr/>
          </p:nvSpPr>
          <p:spPr>
            <a:xfrm>
              <a:off x="87744" y="1076096"/>
              <a:ext cx="4432566" cy="50609"/>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38544" y="1992972"/>
              <a:ext cx="101600" cy="101600"/>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189344" y="1980272"/>
              <a:ext cx="4381715" cy="114300"/>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520311" y="951788"/>
              <a:ext cx="50749" cy="1041183"/>
            </a:xfrm>
            <a:prstGeom prst="rect">
              <a:avLst/>
            </a:prstGeom>
            <a:blipFill>
              <a:blip r:embed="rId7" cstate="print"/>
              <a:stretch>
                <a:fillRect/>
              </a:stretch>
            </a:blipFill>
          </p:spPr>
          <p:txBody>
            <a:bodyPr wrap="square" lIns="0" tIns="0" rIns="0" bIns="0" rtlCol="0"/>
            <a:lstStyle/>
            <a:p>
              <a:endParaRPr/>
            </a:p>
          </p:txBody>
        </p:sp>
        <p:sp>
          <p:nvSpPr>
            <p:cNvPr id="10" name="object 10"/>
            <p:cNvSpPr/>
            <p:nvPr/>
          </p:nvSpPr>
          <p:spPr>
            <a:xfrm>
              <a:off x="87743" y="1120364"/>
              <a:ext cx="4432935" cy="923925"/>
            </a:xfrm>
            <a:custGeom>
              <a:avLst/>
              <a:gdLst/>
              <a:ahLst/>
              <a:cxnLst/>
              <a:rect l="l" t="t" r="r" b="b"/>
              <a:pathLst>
                <a:path w="4432935" h="923925">
                  <a:moveTo>
                    <a:pt x="4432567" y="0"/>
                  </a:moveTo>
                  <a:lnTo>
                    <a:pt x="0" y="0"/>
                  </a:lnTo>
                  <a:lnTo>
                    <a:pt x="0" y="872608"/>
                  </a:lnTo>
                  <a:lnTo>
                    <a:pt x="4008" y="892332"/>
                  </a:lnTo>
                  <a:lnTo>
                    <a:pt x="14922" y="908485"/>
                  </a:lnTo>
                  <a:lnTo>
                    <a:pt x="31075" y="919399"/>
                  </a:lnTo>
                  <a:lnTo>
                    <a:pt x="50800" y="923408"/>
                  </a:lnTo>
                  <a:lnTo>
                    <a:pt x="4381767" y="923408"/>
                  </a:lnTo>
                  <a:lnTo>
                    <a:pt x="4401492" y="919399"/>
                  </a:lnTo>
                  <a:lnTo>
                    <a:pt x="4417644" y="908485"/>
                  </a:lnTo>
                  <a:lnTo>
                    <a:pt x="4428558" y="892332"/>
                  </a:lnTo>
                  <a:lnTo>
                    <a:pt x="4432567" y="872608"/>
                  </a:lnTo>
                  <a:lnTo>
                    <a:pt x="4432567" y="0"/>
                  </a:lnTo>
                  <a:close/>
                </a:path>
              </a:pathLst>
            </a:custGeom>
            <a:solidFill>
              <a:srgbClr val="FEEDC0"/>
            </a:solidFill>
          </p:spPr>
          <p:txBody>
            <a:bodyPr wrap="square" lIns="0" tIns="0" rIns="0" bIns="0" rtlCol="0"/>
            <a:lstStyle/>
            <a:p>
              <a:endParaRPr/>
            </a:p>
          </p:txBody>
        </p:sp>
        <p:sp>
          <p:nvSpPr>
            <p:cNvPr id="11" name="object 11"/>
            <p:cNvSpPr/>
            <p:nvPr/>
          </p:nvSpPr>
          <p:spPr>
            <a:xfrm>
              <a:off x="4520311" y="989869"/>
              <a:ext cx="0" cy="1022350"/>
            </a:xfrm>
            <a:custGeom>
              <a:avLst/>
              <a:gdLst/>
              <a:ahLst/>
              <a:cxnLst/>
              <a:rect l="l" t="t" r="r" b="b"/>
              <a:pathLst>
                <a:path h="1022350">
                  <a:moveTo>
                    <a:pt x="0" y="1022152"/>
                  </a:moveTo>
                  <a:lnTo>
                    <a:pt x="0" y="0"/>
                  </a:lnTo>
                </a:path>
              </a:pathLst>
            </a:custGeom>
            <a:ln w="3175">
              <a:solidFill>
                <a:srgbClr val="7F7F7F"/>
              </a:solidFill>
            </a:ln>
          </p:spPr>
          <p:txBody>
            <a:bodyPr wrap="square" lIns="0" tIns="0" rIns="0" bIns="0" rtlCol="0"/>
            <a:lstStyle/>
            <a:p>
              <a:endParaRPr/>
            </a:p>
          </p:txBody>
        </p:sp>
        <p:sp>
          <p:nvSpPr>
            <p:cNvPr id="12" name="object 12"/>
            <p:cNvSpPr/>
            <p:nvPr/>
          </p:nvSpPr>
          <p:spPr>
            <a:xfrm>
              <a:off x="4520311" y="977169"/>
              <a:ext cx="0" cy="12700"/>
            </a:xfrm>
            <a:custGeom>
              <a:avLst/>
              <a:gdLst/>
              <a:ahLst/>
              <a:cxnLst/>
              <a:rect l="l" t="t" r="r" b="b"/>
              <a:pathLst>
                <a:path h="12700">
                  <a:moveTo>
                    <a:pt x="0" y="12699"/>
                  </a:moveTo>
                  <a:lnTo>
                    <a:pt x="0" y="0"/>
                  </a:lnTo>
                </a:path>
              </a:pathLst>
            </a:custGeom>
            <a:ln w="3175">
              <a:solidFill>
                <a:srgbClr val="AFAFAF"/>
              </a:solidFill>
            </a:ln>
          </p:spPr>
          <p:txBody>
            <a:bodyPr wrap="square" lIns="0" tIns="0" rIns="0" bIns="0" rtlCol="0"/>
            <a:lstStyle/>
            <a:p>
              <a:endParaRPr/>
            </a:p>
          </p:txBody>
        </p:sp>
        <p:sp>
          <p:nvSpPr>
            <p:cNvPr id="13" name="object 13"/>
            <p:cNvSpPr/>
            <p:nvPr/>
          </p:nvSpPr>
          <p:spPr>
            <a:xfrm>
              <a:off x="4520311" y="964469"/>
              <a:ext cx="0" cy="12700"/>
            </a:xfrm>
            <a:custGeom>
              <a:avLst/>
              <a:gdLst/>
              <a:ahLst/>
              <a:cxnLst/>
              <a:rect l="l" t="t" r="r" b="b"/>
              <a:pathLst>
                <a:path h="12700">
                  <a:moveTo>
                    <a:pt x="0" y="12699"/>
                  </a:moveTo>
                  <a:lnTo>
                    <a:pt x="0" y="0"/>
                  </a:lnTo>
                </a:path>
              </a:pathLst>
            </a:custGeom>
            <a:ln w="3175">
              <a:solidFill>
                <a:srgbClr val="CECECE"/>
              </a:solidFill>
            </a:ln>
          </p:spPr>
          <p:txBody>
            <a:bodyPr wrap="square" lIns="0" tIns="0" rIns="0" bIns="0" rtlCol="0"/>
            <a:lstStyle/>
            <a:p>
              <a:endParaRPr/>
            </a:p>
          </p:txBody>
        </p:sp>
        <p:sp>
          <p:nvSpPr>
            <p:cNvPr id="14" name="object 14"/>
            <p:cNvSpPr/>
            <p:nvPr/>
          </p:nvSpPr>
          <p:spPr>
            <a:xfrm>
              <a:off x="4520311" y="951769"/>
              <a:ext cx="0" cy="12700"/>
            </a:xfrm>
            <a:custGeom>
              <a:avLst/>
              <a:gdLst/>
              <a:ahLst/>
              <a:cxnLst/>
              <a:rect l="l" t="t" r="r" b="b"/>
              <a:pathLst>
                <a:path h="12700">
                  <a:moveTo>
                    <a:pt x="0" y="12699"/>
                  </a:moveTo>
                  <a:lnTo>
                    <a:pt x="0" y="0"/>
                  </a:lnTo>
                </a:path>
              </a:pathLst>
            </a:custGeom>
            <a:ln w="3175">
              <a:solidFill>
                <a:srgbClr val="EFEFEF"/>
              </a:solidFill>
            </a:ln>
          </p:spPr>
          <p:txBody>
            <a:bodyPr wrap="square" lIns="0" tIns="0" rIns="0" bIns="0" rtlCol="0"/>
            <a:lstStyle/>
            <a:p>
              <a:endParaRPr/>
            </a:p>
          </p:txBody>
        </p:sp>
        <p:sp>
          <p:nvSpPr>
            <p:cNvPr id="15" name="object 15"/>
            <p:cNvSpPr/>
            <p:nvPr/>
          </p:nvSpPr>
          <p:spPr>
            <a:xfrm>
              <a:off x="269557" y="1158760"/>
              <a:ext cx="76809" cy="76809"/>
            </a:xfrm>
            <a:prstGeom prst="rect">
              <a:avLst/>
            </a:prstGeom>
            <a:blipFill>
              <a:blip r:embed="rId8" cstate="print"/>
              <a:stretch>
                <a:fillRect/>
              </a:stretch>
            </a:blipFill>
          </p:spPr>
          <p:txBody>
            <a:bodyPr wrap="square" lIns="0" tIns="0" rIns="0" bIns="0" rtlCol="0"/>
            <a:lstStyle/>
            <a:p>
              <a:endParaRPr/>
            </a:p>
          </p:txBody>
        </p:sp>
        <p:sp>
          <p:nvSpPr>
            <p:cNvPr id="16" name="object 16"/>
            <p:cNvSpPr/>
            <p:nvPr/>
          </p:nvSpPr>
          <p:spPr>
            <a:xfrm>
              <a:off x="269557" y="1462430"/>
              <a:ext cx="76809" cy="76809"/>
            </a:xfrm>
            <a:prstGeom prst="rect">
              <a:avLst/>
            </a:prstGeom>
            <a:blipFill>
              <a:blip r:embed="rId9" cstate="print"/>
              <a:stretch>
                <a:fillRect/>
              </a:stretch>
            </a:blipFill>
          </p:spPr>
          <p:txBody>
            <a:bodyPr wrap="square" lIns="0" tIns="0" rIns="0" bIns="0" rtlCol="0"/>
            <a:lstStyle/>
            <a:p>
              <a:endParaRPr/>
            </a:p>
          </p:txBody>
        </p:sp>
        <p:sp>
          <p:nvSpPr>
            <p:cNvPr id="17" name="object 17"/>
            <p:cNvSpPr/>
            <p:nvPr/>
          </p:nvSpPr>
          <p:spPr>
            <a:xfrm>
              <a:off x="269557" y="1766087"/>
              <a:ext cx="76809" cy="76809"/>
            </a:xfrm>
            <a:prstGeom prst="rect">
              <a:avLst/>
            </a:prstGeom>
            <a:blipFill>
              <a:blip r:embed="rId8" cstate="print"/>
              <a:stretch>
                <a:fillRect/>
              </a:stretch>
            </a:blipFill>
          </p:spPr>
          <p:txBody>
            <a:bodyPr wrap="square" lIns="0" tIns="0" rIns="0" bIns="0" rtlCol="0"/>
            <a:lstStyle/>
            <a:p>
              <a:endParaRPr/>
            </a:p>
          </p:txBody>
        </p:sp>
      </p:grpSp>
      <p:grpSp>
        <p:nvGrpSpPr>
          <p:cNvPr id="18" name="object 18"/>
          <p:cNvGrpSpPr/>
          <p:nvPr/>
        </p:nvGrpSpPr>
        <p:grpSpPr>
          <a:xfrm>
            <a:off x="859270" y="2195702"/>
            <a:ext cx="4483735" cy="599440"/>
            <a:chOff x="87743" y="2195702"/>
            <a:chExt cx="4483735" cy="599440"/>
          </a:xfrm>
        </p:grpSpPr>
        <p:sp>
          <p:nvSpPr>
            <p:cNvPr id="19" name="object 19"/>
            <p:cNvSpPr/>
            <p:nvPr/>
          </p:nvSpPr>
          <p:spPr>
            <a:xfrm>
              <a:off x="87743" y="2195702"/>
              <a:ext cx="4432935" cy="175895"/>
            </a:xfrm>
            <a:custGeom>
              <a:avLst/>
              <a:gdLst/>
              <a:ahLst/>
              <a:cxnLst/>
              <a:rect l="l" t="t" r="r" b="b"/>
              <a:pathLst>
                <a:path w="4432935" h="175894">
                  <a:moveTo>
                    <a:pt x="4381767" y="0"/>
                  </a:moveTo>
                  <a:lnTo>
                    <a:pt x="50800" y="0"/>
                  </a:lnTo>
                  <a:lnTo>
                    <a:pt x="31075" y="4008"/>
                  </a:lnTo>
                  <a:lnTo>
                    <a:pt x="14922" y="14922"/>
                  </a:lnTo>
                  <a:lnTo>
                    <a:pt x="4008" y="31075"/>
                  </a:lnTo>
                  <a:lnTo>
                    <a:pt x="0" y="50800"/>
                  </a:lnTo>
                  <a:lnTo>
                    <a:pt x="0" y="175635"/>
                  </a:lnTo>
                  <a:lnTo>
                    <a:pt x="4432567" y="175635"/>
                  </a:lnTo>
                  <a:lnTo>
                    <a:pt x="4432567" y="50800"/>
                  </a:lnTo>
                  <a:lnTo>
                    <a:pt x="4428558" y="31075"/>
                  </a:lnTo>
                  <a:lnTo>
                    <a:pt x="4417644" y="14922"/>
                  </a:lnTo>
                  <a:lnTo>
                    <a:pt x="4401492" y="4008"/>
                  </a:lnTo>
                  <a:lnTo>
                    <a:pt x="4381767" y="0"/>
                  </a:lnTo>
                  <a:close/>
                </a:path>
              </a:pathLst>
            </a:custGeom>
            <a:solidFill>
              <a:srgbClr val="FCBB06"/>
            </a:solidFill>
          </p:spPr>
          <p:txBody>
            <a:bodyPr wrap="square" lIns="0" tIns="0" rIns="0" bIns="0" rtlCol="0"/>
            <a:lstStyle/>
            <a:p>
              <a:endParaRPr/>
            </a:p>
          </p:txBody>
        </p:sp>
        <p:sp>
          <p:nvSpPr>
            <p:cNvPr id="20" name="object 20"/>
            <p:cNvSpPr/>
            <p:nvPr/>
          </p:nvSpPr>
          <p:spPr>
            <a:xfrm>
              <a:off x="87744" y="2358682"/>
              <a:ext cx="4432566" cy="50609"/>
            </a:xfrm>
            <a:prstGeom prst="rect">
              <a:avLst/>
            </a:prstGeom>
            <a:blipFill>
              <a:blip r:embed="rId10" cstate="print"/>
              <a:stretch>
                <a:fillRect/>
              </a:stretch>
            </a:blipFill>
          </p:spPr>
          <p:txBody>
            <a:bodyPr wrap="square" lIns="0" tIns="0" rIns="0" bIns="0" rtlCol="0"/>
            <a:lstStyle/>
            <a:p>
              <a:endParaRPr/>
            </a:p>
          </p:txBody>
        </p:sp>
        <p:sp>
          <p:nvSpPr>
            <p:cNvPr id="21" name="object 21"/>
            <p:cNvSpPr/>
            <p:nvPr/>
          </p:nvSpPr>
          <p:spPr>
            <a:xfrm>
              <a:off x="138544" y="2693225"/>
              <a:ext cx="101600" cy="101600"/>
            </a:xfrm>
            <a:prstGeom prst="rect">
              <a:avLst/>
            </a:prstGeom>
            <a:blipFill>
              <a:blip r:embed="rId11" cstate="print"/>
              <a:stretch>
                <a:fillRect/>
              </a:stretch>
            </a:blipFill>
          </p:spPr>
          <p:txBody>
            <a:bodyPr wrap="square" lIns="0" tIns="0" rIns="0" bIns="0" rtlCol="0"/>
            <a:lstStyle/>
            <a:p>
              <a:endParaRPr/>
            </a:p>
          </p:txBody>
        </p:sp>
        <p:sp>
          <p:nvSpPr>
            <p:cNvPr id="22" name="object 22"/>
            <p:cNvSpPr/>
            <p:nvPr/>
          </p:nvSpPr>
          <p:spPr>
            <a:xfrm>
              <a:off x="189344" y="2680525"/>
              <a:ext cx="4381715" cy="114300"/>
            </a:xfrm>
            <a:prstGeom prst="rect">
              <a:avLst/>
            </a:prstGeom>
            <a:blipFill>
              <a:blip r:embed="rId6" cstate="print"/>
              <a:stretch>
                <a:fillRect/>
              </a:stretch>
            </a:blipFill>
          </p:spPr>
          <p:txBody>
            <a:bodyPr wrap="square" lIns="0" tIns="0" rIns="0" bIns="0" rtlCol="0"/>
            <a:lstStyle/>
            <a:p>
              <a:endParaRPr/>
            </a:p>
          </p:txBody>
        </p:sp>
        <p:sp>
          <p:nvSpPr>
            <p:cNvPr id="23" name="object 23"/>
            <p:cNvSpPr/>
            <p:nvPr/>
          </p:nvSpPr>
          <p:spPr>
            <a:xfrm>
              <a:off x="4520311" y="2239937"/>
              <a:ext cx="50749" cy="453288"/>
            </a:xfrm>
            <a:prstGeom prst="rect">
              <a:avLst/>
            </a:prstGeom>
            <a:blipFill>
              <a:blip r:embed="rId12" cstate="print"/>
              <a:stretch>
                <a:fillRect/>
              </a:stretch>
            </a:blipFill>
          </p:spPr>
          <p:txBody>
            <a:bodyPr wrap="square" lIns="0" tIns="0" rIns="0" bIns="0" rtlCol="0"/>
            <a:lstStyle/>
            <a:p>
              <a:endParaRPr/>
            </a:p>
          </p:txBody>
        </p:sp>
        <p:sp>
          <p:nvSpPr>
            <p:cNvPr id="24" name="object 24"/>
            <p:cNvSpPr/>
            <p:nvPr/>
          </p:nvSpPr>
          <p:spPr>
            <a:xfrm>
              <a:off x="87743" y="2402959"/>
              <a:ext cx="4432935" cy="341630"/>
            </a:xfrm>
            <a:custGeom>
              <a:avLst/>
              <a:gdLst/>
              <a:ahLst/>
              <a:cxnLst/>
              <a:rect l="l" t="t" r="r" b="b"/>
              <a:pathLst>
                <a:path w="4432935" h="341630">
                  <a:moveTo>
                    <a:pt x="4432567" y="0"/>
                  </a:moveTo>
                  <a:lnTo>
                    <a:pt x="0" y="0"/>
                  </a:lnTo>
                  <a:lnTo>
                    <a:pt x="0" y="290266"/>
                  </a:lnTo>
                  <a:lnTo>
                    <a:pt x="4008" y="309990"/>
                  </a:lnTo>
                  <a:lnTo>
                    <a:pt x="14922" y="326143"/>
                  </a:lnTo>
                  <a:lnTo>
                    <a:pt x="31075" y="337058"/>
                  </a:lnTo>
                  <a:lnTo>
                    <a:pt x="50800" y="341066"/>
                  </a:lnTo>
                  <a:lnTo>
                    <a:pt x="4381767" y="341066"/>
                  </a:lnTo>
                  <a:lnTo>
                    <a:pt x="4401492" y="337058"/>
                  </a:lnTo>
                  <a:lnTo>
                    <a:pt x="4417644" y="326143"/>
                  </a:lnTo>
                  <a:lnTo>
                    <a:pt x="4428558" y="309990"/>
                  </a:lnTo>
                  <a:lnTo>
                    <a:pt x="4432567" y="290266"/>
                  </a:lnTo>
                  <a:lnTo>
                    <a:pt x="4432567" y="0"/>
                  </a:lnTo>
                  <a:close/>
                </a:path>
              </a:pathLst>
            </a:custGeom>
            <a:solidFill>
              <a:srgbClr val="FEEDC0"/>
            </a:solidFill>
          </p:spPr>
          <p:txBody>
            <a:bodyPr wrap="square" lIns="0" tIns="0" rIns="0" bIns="0" rtlCol="0"/>
            <a:lstStyle/>
            <a:p>
              <a:endParaRPr/>
            </a:p>
          </p:txBody>
        </p:sp>
        <p:sp>
          <p:nvSpPr>
            <p:cNvPr id="25" name="object 25"/>
            <p:cNvSpPr/>
            <p:nvPr/>
          </p:nvSpPr>
          <p:spPr>
            <a:xfrm>
              <a:off x="4520311" y="2278029"/>
              <a:ext cx="0" cy="434340"/>
            </a:xfrm>
            <a:custGeom>
              <a:avLst/>
              <a:gdLst/>
              <a:ahLst/>
              <a:cxnLst/>
              <a:rect l="l" t="t" r="r" b="b"/>
              <a:pathLst>
                <a:path h="434339">
                  <a:moveTo>
                    <a:pt x="0" y="434245"/>
                  </a:moveTo>
                  <a:lnTo>
                    <a:pt x="0" y="0"/>
                  </a:lnTo>
                </a:path>
              </a:pathLst>
            </a:custGeom>
            <a:ln w="3175">
              <a:solidFill>
                <a:srgbClr val="7F7F7F"/>
              </a:solidFill>
            </a:ln>
          </p:spPr>
          <p:txBody>
            <a:bodyPr wrap="square" lIns="0" tIns="0" rIns="0" bIns="0" rtlCol="0"/>
            <a:lstStyle/>
            <a:p>
              <a:endParaRPr/>
            </a:p>
          </p:txBody>
        </p:sp>
        <p:sp>
          <p:nvSpPr>
            <p:cNvPr id="26" name="object 26"/>
            <p:cNvSpPr/>
            <p:nvPr/>
          </p:nvSpPr>
          <p:spPr>
            <a:xfrm>
              <a:off x="4520311" y="2265329"/>
              <a:ext cx="0" cy="12700"/>
            </a:xfrm>
            <a:custGeom>
              <a:avLst/>
              <a:gdLst/>
              <a:ahLst/>
              <a:cxnLst/>
              <a:rect l="l" t="t" r="r" b="b"/>
              <a:pathLst>
                <a:path h="12700">
                  <a:moveTo>
                    <a:pt x="0" y="12699"/>
                  </a:moveTo>
                  <a:lnTo>
                    <a:pt x="0" y="0"/>
                  </a:lnTo>
                </a:path>
              </a:pathLst>
            </a:custGeom>
            <a:ln w="3175">
              <a:solidFill>
                <a:srgbClr val="AFAFAF"/>
              </a:solidFill>
            </a:ln>
          </p:spPr>
          <p:txBody>
            <a:bodyPr wrap="square" lIns="0" tIns="0" rIns="0" bIns="0" rtlCol="0"/>
            <a:lstStyle/>
            <a:p>
              <a:endParaRPr/>
            </a:p>
          </p:txBody>
        </p:sp>
        <p:sp>
          <p:nvSpPr>
            <p:cNvPr id="27" name="object 27"/>
            <p:cNvSpPr/>
            <p:nvPr/>
          </p:nvSpPr>
          <p:spPr>
            <a:xfrm>
              <a:off x="4520311" y="2252629"/>
              <a:ext cx="0" cy="12700"/>
            </a:xfrm>
            <a:custGeom>
              <a:avLst/>
              <a:gdLst/>
              <a:ahLst/>
              <a:cxnLst/>
              <a:rect l="l" t="t" r="r" b="b"/>
              <a:pathLst>
                <a:path h="12700">
                  <a:moveTo>
                    <a:pt x="0" y="12699"/>
                  </a:moveTo>
                  <a:lnTo>
                    <a:pt x="0" y="0"/>
                  </a:lnTo>
                </a:path>
              </a:pathLst>
            </a:custGeom>
            <a:ln w="3175">
              <a:solidFill>
                <a:srgbClr val="CECECE"/>
              </a:solidFill>
            </a:ln>
          </p:spPr>
          <p:txBody>
            <a:bodyPr wrap="square" lIns="0" tIns="0" rIns="0" bIns="0" rtlCol="0"/>
            <a:lstStyle/>
            <a:p>
              <a:endParaRPr/>
            </a:p>
          </p:txBody>
        </p:sp>
        <p:sp>
          <p:nvSpPr>
            <p:cNvPr id="28" name="object 28"/>
            <p:cNvSpPr/>
            <p:nvPr/>
          </p:nvSpPr>
          <p:spPr>
            <a:xfrm>
              <a:off x="4520311" y="2239929"/>
              <a:ext cx="0" cy="12700"/>
            </a:xfrm>
            <a:custGeom>
              <a:avLst/>
              <a:gdLst/>
              <a:ahLst/>
              <a:cxnLst/>
              <a:rect l="l" t="t" r="r" b="b"/>
              <a:pathLst>
                <a:path h="12700">
                  <a:moveTo>
                    <a:pt x="0" y="12699"/>
                  </a:moveTo>
                  <a:lnTo>
                    <a:pt x="0" y="0"/>
                  </a:lnTo>
                </a:path>
              </a:pathLst>
            </a:custGeom>
            <a:ln w="3175">
              <a:solidFill>
                <a:srgbClr val="EFEFEF"/>
              </a:solidFill>
            </a:ln>
          </p:spPr>
          <p:txBody>
            <a:bodyPr wrap="square" lIns="0" tIns="0" rIns="0" bIns="0" rtlCol="0"/>
            <a:lstStyle/>
            <a:p>
              <a:endParaRPr/>
            </a:p>
          </p:txBody>
        </p:sp>
      </p:grpSp>
      <p:sp>
        <p:nvSpPr>
          <p:cNvPr id="29" name="object 29"/>
          <p:cNvSpPr txBox="1"/>
          <p:nvPr/>
        </p:nvSpPr>
        <p:spPr>
          <a:xfrm>
            <a:off x="897371" y="848608"/>
            <a:ext cx="4356735" cy="1874872"/>
          </a:xfrm>
          <a:prstGeom prst="rect">
            <a:avLst/>
          </a:prstGeom>
        </p:spPr>
        <p:txBody>
          <a:bodyPr vert="horz" wrap="square" lIns="0" tIns="60960" rIns="0" bIns="0" rtlCol="0">
            <a:spAutoFit/>
          </a:bodyPr>
          <a:lstStyle/>
          <a:p>
            <a:pPr marL="12700">
              <a:spcBef>
                <a:spcPts val="480"/>
              </a:spcBef>
            </a:pPr>
            <a:r>
              <a:rPr sz="1000" spc="-5" dirty="0">
                <a:solidFill>
                  <a:srgbClr val="04064C"/>
                </a:solidFill>
                <a:latin typeface="Arial"/>
                <a:cs typeface="Arial"/>
              </a:rPr>
              <a:t>Recap</a:t>
            </a:r>
            <a:endParaRPr sz="1000" dirty="0">
              <a:latin typeface="Arial"/>
              <a:cs typeface="Arial"/>
            </a:endParaRPr>
          </a:p>
          <a:p>
            <a:pPr marL="289548" marR="5080">
              <a:spcBef>
                <a:spcPts val="385"/>
              </a:spcBef>
            </a:pPr>
            <a:r>
              <a:rPr sz="1000" spc="-10" dirty="0">
                <a:solidFill>
                  <a:srgbClr val="0000FA"/>
                </a:solidFill>
                <a:latin typeface="Arial"/>
                <a:cs typeface="Arial"/>
              </a:rPr>
              <a:t>Physical layer</a:t>
            </a:r>
            <a:r>
              <a:rPr sz="1000" spc="-10" dirty="0">
                <a:latin typeface="Arial"/>
                <a:cs typeface="Arial"/>
              </a:rPr>
              <a:t>: </a:t>
            </a:r>
            <a:r>
              <a:rPr sz="1000" spc="-5" dirty="0">
                <a:latin typeface="Arial"/>
                <a:cs typeface="Arial"/>
              </a:rPr>
              <a:t>contains the specification and implementation of bits, and  their transmission between sender and</a:t>
            </a:r>
            <a:r>
              <a:rPr sz="1000" spc="-10" dirty="0">
                <a:latin typeface="Arial"/>
                <a:cs typeface="Arial"/>
              </a:rPr>
              <a:t> </a:t>
            </a:r>
            <a:r>
              <a:rPr sz="1000" spc="-5" dirty="0">
                <a:latin typeface="Arial"/>
                <a:cs typeface="Arial"/>
              </a:rPr>
              <a:t>receiver</a:t>
            </a:r>
            <a:endParaRPr sz="1000" dirty="0">
              <a:latin typeface="Arial"/>
              <a:cs typeface="Arial"/>
            </a:endParaRPr>
          </a:p>
          <a:p>
            <a:pPr marL="289548" marR="5080">
              <a:lnSpc>
                <a:spcPts val="1200"/>
              </a:lnSpc>
              <a:spcBef>
                <a:spcPts val="30"/>
              </a:spcBef>
            </a:pPr>
            <a:r>
              <a:rPr sz="1000" spc="-10" dirty="0">
                <a:solidFill>
                  <a:srgbClr val="0000FA"/>
                </a:solidFill>
                <a:latin typeface="Arial"/>
                <a:cs typeface="Arial"/>
              </a:rPr>
              <a:t>Data link </a:t>
            </a:r>
            <a:r>
              <a:rPr sz="1000" spc="-20" dirty="0">
                <a:solidFill>
                  <a:srgbClr val="0000FA"/>
                </a:solidFill>
                <a:latin typeface="Arial"/>
                <a:cs typeface="Arial"/>
              </a:rPr>
              <a:t>layer</a:t>
            </a:r>
            <a:r>
              <a:rPr sz="1000" spc="-20" dirty="0">
                <a:latin typeface="Arial"/>
                <a:cs typeface="Arial"/>
              </a:rPr>
              <a:t>: </a:t>
            </a:r>
            <a:r>
              <a:rPr sz="1000" spc="-10" dirty="0">
                <a:latin typeface="Arial"/>
                <a:cs typeface="Arial"/>
              </a:rPr>
              <a:t>prescribes the transmission of </a:t>
            </a:r>
            <a:r>
              <a:rPr sz="1000" spc="-15" dirty="0">
                <a:latin typeface="Arial"/>
                <a:cs typeface="Arial"/>
              </a:rPr>
              <a:t>a </a:t>
            </a:r>
            <a:r>
              <a:rPr sz="1000" spc="-10" dirty="0">
                <a:latin typeface="Arial"/>
                <a:cs typeface="Arial"/>
              </a:rPr>
              <a:t>series of bits into </a:t>
            </a:r>
            <a:r>
              <a:rPr sz="1000" spc="-15" dirty="0">
                <a:latin typeface="Arial"/>
                <a:cs typeface="Arial"/>
              </a:rPr>
              <a:t>a frame  </a:t>
            </a:r>
            <a:r>
              <a:rPr sz="1000" spc="-5" dirty="0">
                <a:latin typeface="Arial"/>
                <a:cs typeface="Arial"/>
              </a:rPr>
              <a:t>to allow </a:t>
            </a:r>
            <a:r>
              <a:rPr sz="1000" spc="-15" dirty="0">
                <a:latin typeface="Arial"/>
                <a:cs typeface="Arial"/>
              </a:rPr>
              <a:t>for </a:t>
            </a:r>
            <a:r>
              <a:rPr sz="1000" spc="-5" dirty="0">
                <a:latin typeface="Arial"/>
                <a:cs typeface="Arial"/>
              </a:rPr>
              <a:t>error and </a:t>
            </a:r>
            <a:r>
              <a:rPr sz="1000" spc="-10" dirty="0">
                <a:latin typeface="Arial"/>
                <a:cs typeface="Arial"/>
              </a:rPr>
              <a:t>flow</a:t>
            </a:r>
            <a:r>
              <a:rPr sz="1000" dirty="0">
                <a:latin typeface="Arial"/>
                <a:cs typeface="Arial"/>
              </a:rPr>
              <a:t> </a:t>
            </a:r>
            <a:r>
              <a:rPr sz="1000" spc="-5" dirty="0">
                <a:latin typeface="Arial"/>
                <a:cs typeface="Arial"/>
              </a:rPr>
              <a:t>control</a:t>
            </a:r>
            <a:endParaRPr sz="1000" dirty="0">
              <a:latin typeface="Arial"/>
              <a:cs typeface="Arial"/>
            </a:endParaRPr>
          </a:p>
          <a:p>
            <a:pPr marL="289548">
              <a:lnSpc>
                <a:spcPts val="1150"/>
              </a:lnSpc>
            </a:pPr>
            <a:r>
              <a:rPr sz="1000" spc="-15" dirty="0">
                <a:solidFill>
                  <a:srgbClr val="0000FA"/>
                </a:solidFill>
                <a:latin typeface="Arial"/>
                <a:cs typeface="Arial"/>
              </a:rPr>
              <a:t>Network </a:t>
            </a:r>
            <a:r>
              <a:rPr sz="1000" spc="-20" dirty="0">
                <a:solidFill>
                  <a:srgbClr val="0000FA"/>
                </a:solidFill>
                <a:latin typeface="Arial"/>
                <a:cs typeface="Arial"/>
              </a:rPr>
              <a:t>layer</a:t>
            </a:r>
            <a:r>
              <a:rPr sz="1000" spc="-20" dirty="0">
                <a:latin typeface="Arial"/>
                <a:cs typeface="Arial"/>
              </a:rPr>
              <a:t>: </a:t>
            </a:r>
            <a:r>
              <a:rPr sz="1000" spc="-10" dirty="0">
                <a:latin typeface="Arial"/>
                <a:cs typeface="Arial"/>
              </a:rPr>
              <a:t>describes </a:t>
            </a:r>
            <a:r>
              <a:rPr sz="1000" spc="-20" dirty="0">
                <a:latin typeface="Arial"/>
                <a:cs typeface="Arial"/>
              </a:rPr>
              <a:t>how packets </a:t>
            </a:r>
            <a:r>
              <a:rPr sz="1000" spc="-10" dirty="0">
                <a:latin typeface="Arial"/>
                <a:cs typeface="Arial"/>
              </a:rPr>
              <a:t>in </a:t>
            </a:r>
            <a:r>
              <a:rPr sz="1000" spc="-15" dirty="0">
                <a:latin typeface="Arial"/>
                <a:cs typeface="Arial"/>
              </a:rPr>
              <a:t>a network </a:t>
            </a:r>
            <a:r>
              <a:rPr sz="1000" spc="-10" dirty="0">
                <a:latin typeface="Arial"/>
                <a:cs typeface="Arial"/>
              </a:rPr>
              <a:t>of </a:t>
            </a:r>
            <a:r>
              <a:rPr sz="1000" spc="-15" dirty="0">
                <a:latin typeface="Arial"/>
                <a:cs typeface="Arial"/>
              </a:rPr>
              <a:t>computers are </a:t>
            </a:r>
            <a:r>
              <a:rPr sz="1000" spc="-10" dirty="0">
                <a:latin typeface="Arial"/>
                <a:cs typeface="Arial"/>
              </a:rPr>
              <a:t>to</a:t>
            </a:r>
            <a:r>
              <a:rPr sz="1000" spc="110" dirty="0">
                <a:latin typeface="Arial"/>
                <a:cs typeface="Arial"/>
              </a:rPr>
              <a:t> </a:t>
            </a:r>
            <a:r>
              <a:rPr sz="1000" spc="-15" dirty="0">
                <a:latin typeface="Arial"/>
                <a:cs typeface="Arial"/>
              </a:rPr>
              <a:t>be</a:t>
            </a:r>
            <a:endParaRPr sz="1000" dirty="0">
              <a:latin typeface="Arial"/>
              <a:cs typeface="Arial"/>
            </a:endParaRPr>
          </a:p>
          <a:p>
            <a:pPr marL="289548">
              <a:lnSpc>
                <a:spcPts val="1200"/>
              </a:lnSpc>
            </a:pPr>
            <a:r>
              <a:rPr sz="1000" spc="-5" dirty="0">
                <a:solidFill>
                  <a:srgbClr val="FA0000"/>
                </a:solidFill>
                <a:latin typeface="Arial"/>
                <a:cs typeface="Arial"/>
              </a:rPr>
              <a:t>routed</a:t>
            </a:r>
            <a:r>
              <a:rPr sz="1000" spc="-5" dirty="0">
                <a:latin typeface="Arial"/>
                <a:cs typeface="Arial"/>
              </a:rPr>
              <a:t>.</a:t>
            </a:r>
            <a:endParaRPr sz="1000" dirty="0">
              <a:latin typeface="Arial"/>
              <a:cs typeface="Arial"/>
            </a:endParaRPr>
          </a:p>
          <a:p>
            <a:pPr>
              <a:spcBef>
                <a:spcPts val="15"/>
              </a:spcBef>
            </a:pPr>
            <a:endParaRPr sz="1200" dirty="0">
              <a:latin typeface="Arial"/>
              <a:cs typeface="Arial"/>
            </a:endParaRPr>
          </a:p>
          <a:p>
            <a:pPr marL="12700">
              <a:spcBef>
                <a:spcPts val="5"/>
              </a:spcBef>
            </a:pPr>
            <a:r>
              <a:rPr sz="1000" spc="-5" dirty="0">
                <a:solidFill>
                  <a:srgbClr val="04064C"/>
                </a:solidFill>
                <a:latin typeface="Arial"/>
                <a:cs typeface="Arial"/>
              </a:rPr>
              <a:t>Observation</a:t>
            </a:r>
            <a:endParaRPr sz="1000" dirty="0">
              <a:latin typeface="Arial"/>
              <a:cs typeface="Arial"/>
            </a:endParaRPr>
          </a:p>
          <a:p>
            <a:pPr marL="12700" marR="40004">
              <a:spcBef>
                <a:spcPts val="325"/>
              </a:spcBef>
            </a:pPr>
            <a:r>
              <a:rPr sz="1000" spc="-15" dirty="0">
                <a:latin typeface="Arial"/>
                <a:cs typeface="Arial"/>
              </a:rPr>
              <a:t>For </a:t>
            </a:r>
            <a:r>
              <a:rPr sz="1000" spc="-10" dirty="0">
                <a:latin typeface="Arial"/>
                <a:cs typeface="Arial"/>
              </a:rPr>
              <a:t>many </a:t>
            </a:r>
            <a:r>
              <a:rPr sz="1000" spc="-5" dirty="0">
                <a:latin typeface="Arial"/>
                <a:cs typeface="Arial"/>
              </a:rPr>
              <a:t>distributed </a:t>
            </a:r>
            <a:r>
              <a:rPr lang="en-US" sz="1000" spc="-5" dirty="0">
                <a:latin typeface="Arial"/>
                <a:cs typeface="Arial"/>
              </a:rPr>
              <a:t> </a:t>
            </a:r>
            <a:r>
              <a:rPr sz="1000" spc="-5" dirty="0">
                <a:latin typeface="Arial"/>
                <a:cs typeface="Arial"/>
              </a:rPr>
              <a:t>systems, the </a:t>
            </a:r>
            <a:r>
              <a:rPr sz="1000" spc="-10" dirty="0">
                <a:latin typeface="Arial"/>
                <a:cs typeface="Arial"/>
              </a:rPr>
              <a:t>lowest-level </a:t>
            </a:r>
            <a:r>
              <a:rPr sz="1000" spc="-5" dirty="0">
                <a:latin typeface="Arial"/>
                <a:cs typeface="Arial"/>
              </a:rPr>
              <a:t>interface is that of the network  </a:t>
            </a:r>
            <a:r>
              <a:rPr sz="1000" spc="-20" dirty="0">
                <a:latin typeface="Arial"/>
                <a:cs typeface="Arial"/>
              </a:rPr>
              <a:t>layer.</a:t>
            </a:r>
            <a:endParaRPr sz="1000" dirty="0">
              <a:latin typeface="Arial"/>
              <a:cs typeface="Arial"/>
            </a:endParaRPr>
          </a:p>
        </p:txBody>
      </p:sp>
      <p:grpSp>
        <p:nvGrpSpPr>
          <p:cNvPr id="30" name="object 30"/>
          <p:cNvGrpSpPr/>
          <p:nvPr/>
        </p:nvGrpSpPr>
        <p:grpSpPr>
          <a:xfrm>
            <a:off x="771526" y="3326969"/>
            <a:ext cx="4608195" cy="129539"/>
            <a:chOff x="0" y="3326968"/>
            <a:chExt cx="4608195" cy="129539"/>
          </a:xfrm>
        </p:grpSpPr>
        <p:sp>
          <p:nvSpPr>
            <p:cNvPr id="31" name="object 31"/>
            <p:cNvSpPr/>
            <p:nvPr/>
          </p:nvSpPr>
          <p:spPr>
            <a:xfrm>
              <a:off x="0" y="3326968"/>
              <a:ext cx="2304415" cy="129539"/>
            </a:xfrm>
            <a:custGeom>
              <a:avLst/>
              <a:gdLst/>
              <a:ahLst/>
              <a:cxnLst/>
              <a:rect l="l" t="t" r="r" b="b"/>
              <a:pathLst>
                <a:path w="2304415" h="129539">
                  <a:moveTo>
                    <a:pt x="2303995" y="0"/>
                  </a:moveTo>
                  <a:lnTo>
                    <a:pt x="0" y="0"/>
                  </a:lnTo>
                  <a:lnTo>
                    <a:pt x="0" y="129032"/>
                  </a:lnTo>
                  <a:lnTo>
                    <a:pt x="2303995" y="129032"/>
                  </a:lnTo>
                  <a:lnTo>
                    <a:pt x="2303995" y="0"/>
                  </a:lnTo>
                  <a:close/>
                </a:path>
              </a:pathLst>
            </a:custGeom>
            <a:solidFill>
              <a:srgbClr val="FCC11E"/>
            </a:solidFill>
          </p:spPr>
          <p:txBody>
            <a:bodyPr wrap="square" lIns="0" tIns="0" rIns="0" bIns="0" rtlCol="0"/>
            <a:lstStyle/>
            <a:p>
              <a:endParaRPr/>
            </a:p>
          </p:txBody>
        </p:sp>
        <p:sp>
          <p:nvSpPr>
            <p:cNvPr id="32" name="object 32"/>
            <p:cNvSpPr/>
            <p:nvPr/>
          </p:nvSpPr>
          <p:spPr>
            <a:xfrm>
              <a:off x="2303995"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F50"/>
            </a:solidFill>
          </p:spPr>
          <p:txBody>
            <a:bodyPr wrap="square" lIns="0" tIns="0" rIns="0" bIns="0" rtlCol="0"/>
            <a:lstStyle/>
            <a:p>
              <a:endParaRPr/>
            </a:p>
          </p:txBody>
        </p:sp>
      </p:grpSp>
      <p:sp>
        <p:nvSpPr>
          <p:cNvPr id="33" name="object 33"/>
          <p:cNvSpPr txBox="1"/>
          <p:nvPr/>
        </p:nvSpPr>
        <p:spPr>
          <a:xfrm>
            <a:off x="838226" y="3331252"/>
            <a:ext cx="875665" cy="101310"/>
          </a:xfrm>
          <a:prstGeom prst="rect">
            <a:avLst/>
          </a:prstGeom>
        </p:spPr>
        <p:txBody>
          <a:bodyPr vert="horz" wrap="square" lIns="0" tIns="8890" rIns="0" bIns="0" rtlCol="0">
            <a:spAutoFit/>
          </a:bodyPr>
          <a:lstStyle/>
          <a:p>
            <a:pPr marL="12700">
              <a:spcBef>
                <a:spcPts val="70"/>
              </a:spcBef>
            </a:pPr>
            <a:r>
              <a:rPr sz="600" spc="-5" dirty="0">
                <a:solidFill>
                  <a:srgbClr val="04064C"/>
                </a:solidFill>
                <a:latin typeface="Arial"/>
                <a:cs typeface="Arial"/>
                <a:hlinkClick r:id="rId2" action="ppaction://hlinksldjump"/>
              </a:rPr>
              <a:t>The OSI reference</a:t>
            </a:r>
            <a:r>
              <a:rPr sz="600" spc="-45" dirty="0">
                <a:solidFill>
                  <a:srgbClr val="04064C"/>
                </a:solidFill>
                <a:latin typeface="Arial"/>
                <a:cs typeface="Arial"/>
                <a:hlinkClick r:id="rId2" action="ppaction://hlinksldjump"/>
              </a:rPr>
              <a:t> </a:t>
            </a:r>
            <a:r>
              <a:rPr sz="600" spc="-5" dirty="0">
                <a:solidFill>
                  <a:srgbClr val="04064C"/>
                </a:solidFill>
                <a:latin typeface="Arial"/>
                <a:cs typeface="Arial"/>
                <a:hlinkClick r:id="rId2" action="ppaction://hlinksldjump"/>
              </a:rPr>
              <a:t>model</a:t>
            </a:r>
            <a:endParaRPr sz="600">
              <a:latin typeface="Arial"/>
              <a:cs typeface="Arial"/>
            </a:endParaRPr>
          </a:p>
        </p:txBody>
      </p:sp>
      <p:sp>
        <p:nvSpPr>
          <p:cNvPr id="34" name="object 34"/>
          <p:cNvSpPr txBox="1"/>
          <p:nvPr/>
        </p:nvSpPr>
        <p:spPr>
          <a:xfrm>
            <a:off x="5072088" y="3331252"/>
            <a:ext cx="241300" cy="101310"/>
          </a:xfrm>
          <a:prstGeom prst="rect">
            <a:avLst/>
          </a:prstGeom>
        </p:spPr>
        <p:txBody>
          <a:bodyPr vert="horz" wrap="square" lIns="0" tIns="8890" rIns="0" bIns="0" rtlCol="0">
            <a:spAutoFit/>
          </a:bodyPr>
          <a:lstStyle/>
          <a:p>
            <a:pPr marL="38098">
              <a:spcBef>
                <a:spcPts val="70"/>
              </a:spcBef>
            </a:pPr>
            <a:fld id="{81D60167-4931-47E6-BA6A-407CBD079E47}" type="slidenum">
              <a:rPr sz="600" spc="-5" dirty="0">
                <a:solidFill>
                  <a:srgbClr val="04064C"/>
                </a:solidFill>
                <a:latin typeface="Arial"/>
                <a:cs typeface="Arial"/>
              </a:rPr>
              <a:pPr marL="38098">
                <a:spcBef>
                  <a:spcPts val="70"/>
                </a:spcBef>
              </a:pPr>
              <a:t>8</a:t>
            </a:fld>
            <a:r>
              <a:rPr sz="600" spc="-5" dirty="0">
                <a:solidFill>
                  <a:srgbClr val="04064C"/>
                </a:solidFill>
                <a:latin typeface="Arial"/>
                <a:cs typeface="Arial"/>
              </a:rPr>
              <a:t> /</a:t>
            </a:r>
            <a:r>
              <a:rPr sz="600" spc="-70" dirty="0">
                <a:solidFill>
                  <a:srgbClr val="04064C"/>
                </a:solidFill>
                <a:latin typeface="Arial"/>
                <a:cs typeface="Arial"/>
              </a:rPr>
              <a:t> </a:t>
            </a:r>
            <a:r>
              <a:rPr sz="600" spc="-5" dirty="0">
                <a:solidFill>
                  <a:srgbClr val="04064C"/>
                </a:solidFill>
                <a:latin typeface="Arial"/>
                <a:cs typeface="Arial"/>
              </a:rPr>
              <a:t>49</a:t>
            </a:r>
            <a:endParaRPr sz="600">
              <a:latin typeface="Arial"/>
              <a:cs typeface="Arial"/>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238" y="716"/>
            <a:ext cx="4541520" cy="104516"/>
          </a:xfrm>
          <a:prstGeom prst="rect">
            <a:avLst/>
          </a:prstGeom>
        </p:spPr>
        <p:txBody>
          <a:bodyPr vert="horz" wrap="square" lIns="0" tIns="12065" rIns="0" bIns="0" rtlCol="0">
            <a:spAutoFit/>
          </a:bodyPr>
          <a:lstStyle/>
          <a:p>
            <a:pPr marL="12700">
              <a:spcBef>
                <a:spcPts val="95"/>
              </a:spcBef>
              <a:tabLst>
                <a:tab pos="3853650" algn="l"/>
              </a:tabLst>
            </a:pPr>
            <a:r>
              <a:rPr sz="600" spc="-5" dirty="0">
                <a:solidFill>
                  <a:srgbClr val="04064C"/>
                </a:solidFill>
                <a:latin typeface="Arial"/>
                <a:cs typeface="Arial"/>
                <a:hlinkClick r:id="rId3" action="ppaction://hlinksldjump"/>
              </a:rPr>
              <a:t>Communication:</a:t>
            </a:r>
            <a:r>
              <a:rPr sz="600" spc="-5" dirty="0">
                <a:solidFill>
                  <a:srgbClr val="04064C"/>
                </a:solidFill>
                <a:latin typeface="Arial"/>
                <a:cs typeface="Arial"/>
              </a:rPr>
              <a:t> </a:t>
            </a:r>
            <a:r>
              <a:rPr sz="600" spc="10" dirty="0">
                <a:solidFill>
                  <a:srgbClr val="04064C"/>
                </a:solidFill>
                <a:latin typeface="Arial"/>
                <a:cs typeface="Arial"/>
              </a:rPr>
              <a:t> </a:t>
            </a:r>
            <a:r>
              <a:rPr sz="600" spc="-5" dirty="0">
                <a:solidFill>
                  <a:srgbClr val="04064C"/>
                </a:solidFill>
                <a:latin typeface="Arial"/>
                <a:cs typeface="Arial"/>
                <a:hlinkClick r:id="rId3" action="ppaction://hlinksldjump"/>
              </a:rPr>
              <a:t>Foundations</a:t>
            </a:r>
            <a:r>
              <a:rPr sz="600" spc="-5" dirty="0">
                <a:solidFill>
                  <a:srgbClr val="04064C"/>
                </a:solidFill>
                <a:latin typeface="Arial"/>
                <a:cs typeface="Arial"/>
              </a:rPr>
              <a:t>	</a:t>
            </a:r>
            <a:r>
              <a:rPr sz="600" spc="-10" dirty="0">
                <a:solidFill>
                  <a:srgbClr val="04064C"/>
                </a:solidFill>
                <a:latin typeface="Arial"/>
                <a:cs typeface="Arial"/>
                <a:hlinkClick r:id="rId4" action="ppaction://hlinksldjump"/>
              </a:rPr>
              <a:t>Layered</a:t>
            </a:r>
            <a:r>
              <a:rPr sz="600" spc="-15" dirty="0">
                <a:solidFill>
                  <a:srgbClr val="04064C"/>
                </a:solidFill>
                <a:latin typeface="Arial"/>
                <a:cs typeface="Arial"/>
                <a:hlinkClick r:id="rId4" action="ppaction://hlinksldjump"/>
              </a:rPr>
              <a:t> </a:t>
            </a:r>
            <a:r>
              <a:rPr sz="600" spc="-5" dirty="0">
                <a:solidFill>
                  <a:srgbClr val="04064C"/>
                </a:solidFill>
                <a:latin typeface="Arial"/>
                <a:cs typeface="Arial"/>
                <a:hlinkClick r:id="rId4" action="ppaction://hlinksldjump"/>
              </a:rPr>
              <a:t>Protocols</a:t>
            </a:r>
            <a:endParaRPr sz="600">
              <a:latin typeface="Arial"/>
              <a:cs typeface="Arial"/>
            </a:endParaRPr>
          </a:p>
        </p:txBody>
      </p:sp>
      <p:sp>
        <p:nvSpPr>
          <p:cNvPr id="3" name="object 3"/>
          <p:cNvSpPr txBox="1">
            <a:spLocks noGrp="1"/>
          </p:cNvSpPr>
          <p:nvPr>
            <p:ph type="title"/>
          </p:nvPr>
        </p:nvSpPr>
        <p:spPr>
          <a:xfrm>
            <a:off x="771526" y="129033"/>
            <a:ext cx="4608195" cy="278281"/>
          </a:xfrm>
          <a:prstGeom prst="rect">
            <a:avLst/>
          </a:prstGeom>
          <a:solidFill>
            <a:srgbClr val="FFE600"/>
          </a:solidFill>
        </p:spPr>
        <p:txBody>
          <a:bodyPr vert="horz" wrap="square" lIns="0" tIns="62230" rIns="0" bIns="0" rtlCol="0">
            <a:spAutoFit/>
          </a:bodyPr>
          <a:lstStyle/>
          <a:p>
            <a:pPr marL="107945">
              <a:spcBef>
                <a:spcPts val="490"/>
              </a:spcBef>
            </a:pPr>
            <a:r>
              <a:rPr dirty="0"/>
              <a:t>Transport Layer</a:t>
            </a:r>
          </a:p>
        </p:txBody>
      </p:sp>
      <p:grpSp>
        <p:nvGrpSpPr>
          <p:cNvPr id="4" name="object 4"/>
          <p:cNvGrpSpPr/>
          <p:nvPr/>
        </p:nvGrpSpPr>
        <p:grpSpPr>
          <a:xfrm>
            <a:off x="859270" y="874899"/>
            <a:ext cx="4483735" cy="605155"/>
            <a:chOff x="87743" y="1136764"/>
            <a:chExt cx="4483735" cy="605155"/>
          </a:xfrm>
        </p:grpSpPr>
        <p:sp>
          <p:nvSpPr>
            <p:cNvPr id="5" name="object 5"/>
            <p:cNvSpPr/>
            <p:nvPr/>
          </p:nvSpPr>
          <p:spPr>
            <a:xfrm>
              <a:off x="87743" y="1136764"/>
              <a:ext cx="4432935" cy="181610"/>
            </a:xfrm>
            <a:custGeom>
              <a:avLst/>
              <a:gdLst/>
              <a:ahLst/>
              <a:cxnLst/>
              <a:rect l="l" t="t" r="r" b="b"/>
              <a:pathLst>
                <a:path w="4432935" h="181609">
                  <a:moveTo>
                    <a:pt x="4381767" y="0"/>
                  </a:moveTo>
                  <a:lnTo>
                    <a:pt x="50800" y="0"/>
                  </a:lnTo>
                  <a:lnTo>
                    <a:pt x="31075" y="4008"/>
                  </a:lnTo>
                  <a:lnTo>
                    <a:pt x="14922" y="14922"/>
                  </a:lnTo>
                  <a:lnTo>
                    <a:pt x="4008" y="31075"/>
                  </a:lnTo>
                  <a:lnTo>
                    <a:pt x="0" y="50800"/>
                  </a:lnTo>
                  <a:lnTo>
                    <a:pt x="0" y="181200"/>
                  </a:lnTo>
                  <a:lnTo>
                    <a:pt x="4432567" y="181200"/>
                  </a:lnTo>
                  <a:lnTo>
                    <a:pt x="4432567" y="50800"/>
                  </a:lnTo>
                  <a:lnTo>
                    <a:pt x="4428558" y="31075"/>
                  </a:lnTo>
                  <a:lnTo>
                    <a:pt x="4417644" y="14922"/>
                  </a:lnTo>
                  <a:lnTo>
                    <a:pt x="4401492" y="4008"/>
                  </a:lnTo>
                  <a:lnTo>
                    <a:pt x="4381767" y="0"/>
                  </a:lnTo>
                  <a:close/>
                </a:path>
              </a:pathLst>
            </a:custGeom>
            <a:solidFill>
              <a:srgbClr val="6666BA"/>
            </a:solidFill>
          </p:spPr>
          <p:txBody>
            <a:bodyPr wrap="square" lIns="0" tIns="0" rIns="0" bIns="0" rtlCol="0"/>
            <a:lstStyle/>
            <a:p>
              <a:endParaRPr/>
            </a:p>
          </p:txBody>
        </p:sp>
        <p:sp>
          <p:nvSpPr>
            <p:cNvPr id="6" name="object 6"/>
            <p:cNvSpPr/>
            <p:nvPr/>
          </p:nvSpPr>
          <p:spPr>
            <a:xfrm>
              <a:off x="87744" y="1305306"/>
              <a:ext cx="4432566" cy="50609"/>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138544" y="1639849"/>
              <a:ext cx="101600" cy="101600"/>
            </a:xfrm>
            <a:prstGeom prst="rect">
              <a:avLst/>
            </a:prstGeom>
            <a:blipFill>
              <a:blip r:embed="rId6" cstate="print"/>
              <a:stretch>
                <a:fillRect/>
              </a:stretch>
            </a:blipFill>
          </p:spPr>
          <p:txBody>
            <a:bodyPr wrap="square" lIns="0" tIns="0" rIns="0" bIns="0" rtlCol="0"/>
            <a:lstStyle/>
            <a:p>
              <a:endParaRPr/>
            </a:p>
          </p:txBody>
        </p:sp>
        <p:sp>
          <p:nvSpPr>
            <p:cNvPr id="8" name="object 8"/>
            <p:cNvSpPr/>
            <p:nvPr/>
          </p:nvSpPr>
          <p:spPr>
            <a:xfrm>
              <a:off x="189344" y="1627149"/>
              <a:ext cx="4381715" cy="114300"/>
            </a:xfrm>
            <a:prstGeom prst="rect">
              <a:avLst/>
            </a:prstGeom>
            <a:blipFill>
              <a:blip r:embed="rId7" cstate="print"/>
              <a:stretch>
                <a:fillRect/>
              </a:stretch>
            </a:blipFill>
          </p:spPr>
          <p:txBody>
            <a:bodyPr wrap="square" lIns="0" tIns="0" rIns="0" bIns="0" rtlCol="0"/>
            <a:lstStyle/>
            <a:p>
              <a:endParaRPr/>
            </a:p>
          </p:txBody>
        </p:sp>
        <p:sp>
          <p:nvSpPr>
            <p:cNvPr id="9" name="object 9"/>
            <p:cNvSpPr/>
            <p:nvPr/>
          </p:nvSpPr>
          <p:spPr>
            <a:xfrm>
              <a:off x="4520311" y="1180998"/>
              <a:ext cx="50749" cy="458850"/>
            </a:xfrm>
            <a:prstGeom prst="rect">
              <a:avLst/>
            </a:prstGeom>
            <a:blipFill>
              <a:blip r:embed="rId8" cstate="print"/>
              <a:stretch>
                <a:fillRect/>
              </a:stretch>
            </a:blipFill>
          </p:spPr>
          <p:txBody>
            <a:bodyPr wrap="square" lIns="0" tIns="0" rIns="0" bIns="0" rtlCol="0"/>
            <a:lstStyle/>
            <a:p>
              <a:endParaRPr/>
            </a:p>
          </p:txBody>
        </p:sp>
        <p:sp>
          <p:nvSpPr>
            <p:cNvPr id="10" name="object 10"/>
            <p:cNvSpPr/>
            <p:nvPr/>
          </p:nvSpPr>
          <p:spPr>
            <a:xfrm>
              <a:off x="87743" y="1349583"/>
              <a:ext cx="4432935" cy="341630"/>
            </a:xfrm>
            <a:custGeom>
              <a:avLst/>
              <a:gdLst/>
              <a:ahLst/>
              <a:cxnLst/>
              <a:rect l="l" t="t" r="r" b="b"/>
              <a:pathLst>
                <a:path w="4432935" h="341630">
                  <a:moveTo>
                    <a:pt x="4432567" y="0"/>
                  </a:moveTo>
                  <a:lnTo>
                    <a:pt x="0" y="0"/>
                  </a:lnTo>
                  <a:lnTo>
                    <a:pt x="0" y="290266"/>
                  </a:lnTo>
                  <a:lnTo>
                    <a:pt x="4008" y="309990"/>
                  </a:lnTo>
                  <a:lnTo>
                    <a:pt x="14922" y="326143"/>
                  </a:lnTo>
                  <a:lnTo>
                    <a:pt x="31075" y="337058"/>
                  </a:lnTo>
                  <a:lnTo>
                    <a:pt x="50800" y="341066"/>
                  </a:lnTo>
                  <a:lnTo>
                    <a:pt x="4381767" y="341066"/>
                  </a:lnTo>
                  <a:lnTo>
                    <a:pt x="4401492" y="337058"/>
                  </a:lnTo>
                  <a:lnTo>
                    <a:pt x="4417644" y="326143"/>
                  </a:lnTo>
                  <a:lnTo>
                    <a:pt x="4428558" y="309990"/>
                  </a:lnTo>
                  <a:lnTo>
                    <a:pt x="4432567" y="290266"/>
                  </a:lnTo>
                  <a:lnTo>
                    <a:pt x="4432567" y="0"/>
                  </a:lnTo>
                  <a:close/>
                </a:path>
              </a:pathLst>
            </a:custGeom>
            <a:solidFill>
              <a:srgbClr val="D8D8ED"/>
            </a:solidFill>
          </p:spPr>
          <p:txBody>
            <a:bodyPr wrap="square" lIns="0" tIns="0" rIns="0" bIns="0" rtlCol="0"/>
            <a:lstStyle/>
            <a:p>
              <a:endParaRPr/>
            </a:p>
          </p:txBody>
        </p:sp>
        <p:sp>
          <p:nvSpPr>
            <p:cNvPr id="11" name="object 11"/>
            <p:cNvSpPr/>
            <p:nvPr/>
          </p:nvSpPr>
          <p:spPr>
            <a:xfrm>
              <a:off x="4520311" y="1219088"/>
              <a:ext cx="0" cy="440055"/>
            </a:xfrm>
            <a:custGeom>
              <a:avLst/>
              <a:gdLst/>
              <a:ahLst/>
              <a:cxnLst/>
              <a:rect l="l" t="t" r="r" b="b"/>
              <a:pathLst>
                <a:path h="440055">
                  <a:moveTo>
                    <a:pt x="0" y="439810"/>
                  </a:moveTo>
                  <a:lnTo>
                    <a:pt x="0" y="0"/>
                  </a:lnTo>
                </a:path>
              </a:pathLst>
            </a:custGeom>
            <a:ln w="3175">
              <a:solidFill>
                <a:srgbClr val="7F7F7F"/>
              </a:solidFill>
            </a:ln>
          </p:spPr>
          <p:txBody>
            <a:bodyPr wrap="square" lIns="0" tIns="0" rIns="0" bIns="0" rtlCol="0"/>
            <a:lstStyle/>
            <a:p>
              <a:endParaRPr/>
            </a:p>
          </p:txBody>
        </p:sp>
        <p:sp>
          <p:nvSpPr>
            <p:cNvPr id="12" name="object 12"/>
            <p:cNvSpPr/>
            <p:nvPr/>
          </p:nvSpPr>
          <p:spPr>
            <a:xfrm>
              <a:off x="4520311" y="1206387"/>
              <a:ext cx="0" cy="12700"/>
            </a:xfrm>
            <a:custGeom>
              <a:avLst/>
              <a:gdLst/>
              <a:ahLst/>
              <a:cxnLst/>
              <a:rect l="l" t="t" r="r" b="b"/>
              <a:pathLst>
                <a:path h="12700">
                  <a:moveTo>
                    <a:pt x="0" y="12701"/>
                  </a:moveTo>
                  <a:lnTo>
                    <a:pt x="0" y="0"/>
                  </a:lnTo>
                </a:path>
              </a:pathLst>
            </a:custGeom>
            <a:ln w="3175">
              <a:solidFill>
                <a:srgbClr val="AFAFAF"/>
              </a:solidFill>
            </a:ln>
          </p:spPr>
          <p:txBody>
            <a:bodyPr wrap="square" lIns="0" tIns="0" rIns="0" bIns="0" rtlCol="0"/>
            <a:lstStyle/>
            <a:p>
              <a:endParaRPr/>
            </a:p>
          </p:txBody>
        </p:sp>
        <p:sp>
          <p:nvSpPr>
            <p:cNvPr id="13" name="object 13"/>
            <p:cNvSpPr/>
            <p:nvPr/>
          </p:nvSpPr>
          <p:spPr>
            <a:xfrm>
              <a:off x="4520311" y="1193687"/>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4" name="object 14"/>
            <p:cNvSpPr/>
            <p:nvPr/>
          </p:nvSpPr>
          <p:spPr>
            <a:xfrm>
              <a:off x="4520311" y="1180987"/>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grpSp>
        <p:nvGrpSpPr>
          <p:cNvPr id="15" name="object 15"/>
          <p:cNvGrpSpPr/>
          <p:nvPr/>
        </p:nvGrpSpPr>
        <p:grpSpPr>
          <a:xfrm>
            <a:off x="859270" y="1580714"/>
            <a:ext cx="4483735" cy="608965"/>
            <a:chOff x="87743" y="1842579"/>
            <a:chExt cx="4483735" cy="608965"/>
          </a:xfrm>
        </p:grpSpPr>
        <p:sp>
          <p:nvSpPr>
            <p:cNvPr id="16" name="object 16"/>
            <p:cNvSpPr/>
            <p:nvPr/>
          </p:nvSpPr>
          <p:spPr>
            <a:xfrm>
              <a:off x="87743" y="1842579"/>
              <a:ext cx="4432935" cy="183515"/>
            </a:xfrm>
            <a:custGeom>
              <a:avLst/>
              <a:gdLst/>
              <a:ahLst/>
              <a:cxnLst/>
              <a:rect l="l" t="t" r="r" b="b"/>
              <a:pathLst>
                <a:path w="4432935" h="183514">
                  <a:moveTo>
                    <a:pt x="4381767" y="0"/>
                  </a:moveTo>
                  <a:lnTo>
                    <a:pt x="50800" y="0"/>
                  </a:lnTo>
                  <a:lnTo>
                    <a:pt x="31075" y="4008"/>
                  </a:lnTo>
                  <a:lnTo>
                    <a:pt x="14922" y="14922"/>
                  </a:lnTo>
                  <a:lnTo>
                    <a:pt x="4008" y="31075"/>
                  </a:lnTo>
                  <a:lnTo>
                    <a:pt x="0" y="50800"/>
                  </a:lnTo>
                  <a:lnTo>
                    <a:pt x="0" y="183036"/>
                  </a:lnTo>
                  <a:lnTo>
                    <a:pt x="4432567" y="183036"/>
                  </a:lnTo>
                  <a:lnTo>
                    <a:pt x="4432567" y="50800"/>
                  </a:lnTo>
                  <a:lnTo>
                    <a:pt x="4428558" y="31075"/>
                  </a:lnTo>
                  <a:lnTo>
                    <a:pt x="4417644" y="14922"/>
                  </a:lnTo>
                  <a:lnTo>
                    <a:pt x="4401492" y="4008"/>
                  </a:lnTo>
                  <a:lnTo>
                    <a:pt x="4381767" y="0"/>
                  </a:lnTo>
                  <a:close/>
                </a:path>
              </a:pathLst>
            </a:custGeom>
            <a:solidFill>
              <a:srgbClr val="FCBB06"/>
            </a:solidFill>
          </p:spPr>
          <p:txBody>
            <a:bodyPr wrap="square" lIns="0" tIns="0" rIns="0" bIns="0" rtlCol="0"/>
            <a:lstStyle/>
            <a:p>
              <a:endParaRPr/>
            </a:p>
          </p:txBody>
        </p:sp>
        <p:sp>
          <p:nvSpPr>
            <p:cNvPr id="17" name="object 17"/>
            <p:cNvSpPr/>
            <p:nvPr/>
          </p:nvSpPr>
          <p:spPr>
            <a:xfrm>
              <a:off x="87744" y="2012962"/>
              <a:ext cx="4432566" cy="50609"/>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138544" y="2349411"/>
              <a:ext cx="101600" cy="101600"/>
            </a:xfrm>
            <a:prstGeom prst="rect">
              <a:avLst/>
            </a:prstGeom>
            <a:blipFill>
              <a:blip r:embed="rId10" cstate="print"/>
              <a:stretch>
                <a:fillRect/>
              </a:stretch>
            </a:blipFill>
          </p:spPr>
          <p:txBody>
            <a:bodyPr wrap="square" lIns="0" tIns="0" rIns="0" bIns="0" rtlCol="0"/>
            <a:lstStyle/>
            <a:p>
              <a:endParaRPr/>
            </a:p>
          </p:txBody>
        </p:sp>
        <p:sp>
          <p:nvSpPr>
            <p:cNvPr id="19" name="object 19"/>
            <p:cNvSpPr/>
            <p:nvPr/>
          </p:nvSpPr>
          <p:spPr>
            <a:xfrm>
              <a:off x="189344" y="2336711"/>
              <a:ext cx="4381715" cy="114300"/>
            </a:xfrm>
            <a:prstGeom prst="rect">
              <a:avLst/>
            </a:prstGeom>
            <a:blipFill>
              <a:blip r:embed="rId11" cstate="print"/>
              <a:stretch>
                <a:fillRect/>
              </a:stretch>
            </a:blipFill>
          </p:spPr>
          <p:txBody>
            <a:bodyPr wrap="square" lIns="0" tIns="0" rIns="0" bIns="0" rtlCol="0"/>
            <a:lstStyle/>
            <a:p>
              <a:endParaRPr/>
            </a:p>
          </p:txBody>
        </p:sp>
        <p:sp>
          <p:nvSpPr>
            <p:cNvPr id="20" name="object 20"/>
            <p:cNvSpPr/>
            <p:nvPr/>
          </p:nvSpPr>
          <p:spPr>
            <a:xfrm>
              <a:off x="4520311" y="1886813"/>
              <a:ext cx="50749" cy="462597"/>
            </a:xfrm>
            <a:prstGeom prst="rect">
              <a:avLst/>
            </a:prstGeom>
            <a:blipFill>
              <a:blip r:embed="rId12" cstate="print"/>
              <a:stretch>
                <a:fillRect/>
              </a:stretch>
            </a:blipFill>
          </p:spPr>
          <p:txBody>
            <a:bodyPr wrap="square" lIns="0" tIns="0" rIns="0" bIns="0" rtlCol="0"/>
            <a:lstStyle/>
            <a:p>
              <a:endParaRPr/>
            </a:p>
          </p:txBody>
        </p:sp>
        <p:sp>
          <p:nvSpPr>
            <p:cNvPr id="21" name="object 21"/>
            <p:cNvSpPr/>
            <p:nvPr/>
          </p:nvSpPr>
          <p:spPr>
            <a:xfrm>
              <a:off x="87743" y="2057245"/>
              <a:ext cx="4432935" cy="343535"/>
            </a:xfrm>
            <a:custGeom>
              <a:avLst/>
              <a:gdLst/>
              <a:ahLst/>
              <a:cxnLst/>
              <a:rect l="l" t="t" r="r" b="b"/>
              <a:pathLst>
                <a:path w="4432935" h="343535">
                  <a:moveTo>
                    <a:pt x="4432567" y="0"/>
                  </a:moveTo>
                  <a:lnTo>
                    <a:pt x="0" y="0"/>
                  </a:lnTo>
                  <a:lnTo>
                    <a:pt x="0" y="292166"/>
                  </a:lnTo>
                  <a:lnTo>
                    <a:pt x="4008" y="311890"/>
                  </a:lnTo>
                  <a:lnTo>
                    <a:pt x="14922" y="328043"/>
                  </a:lnTo>
                  <a:lnTo>
                    <a:pt x="31075" y="338957"/>
                  </a:lnTo>
                  <a:lnTo>
                    <a:pt x="50800" y="342966"/>
                  </a:lnTo>
                  <a:lnTo>
                    <a:pt x="4381767" y="342966"/>
                  </a:lnTo>
                  <a:lnTo>
                    <a:pt x="4401492" y="338957"/>
                  </a:lnTo>
                  <a:lnTo>
                    <a:pt x="4417644" y="328043"/>
                  </a:lnTo>
                  <a:lnTo>
                    <a:pt x="4428558" y="311890"/>
                  </a:lnTo>
                  <a:lnTo>
                    <a:pt x="4432567" y="292166"/>
                  </a:lnTo>
                  <a:lnTo>
                    <a:pt x="4432567" y="0"/>
                  </a:lnTo>
                  <a:close/>
                </a:path>
              </a:pathLst>
            </a:custGeom>
            <a:solidFill>
              <a:srgbClr val="FEEDC0"/>
            </a:solidFill>
          </p:spPr>
          <p:txBody>
            <a:bodyPr wrap="square" lIns="0" tIns="0" rIns="0" bIns="0" rtlCol="0"/>
            <a:lstStyle/>
            <a:p>
              <a:endParaRPr/>
            </a:p>
          </p:txBody>
        </p:sp>
        <p:sp>
          <p:nvSpPr>
            <p:cNvPr id="22" name="object 22"/>
            <p:cNvSpPr/>
            <p:nvPr/>
          </p:nvSpPr>
          <p:spPr>
            <a:xfrm>
              <a:off x="4520311" y="1924913"/>
              <a:ext cx="0" cy="443865"/>
            </a:xfrm>
            <a:custGeom>
              <a:avLst/>
              <a:gdLst/>
              <a:ahLst/>
              <a:cxnLst/>
              <a:rect l="l" t="t" r="r" b="b"/>
              <a:pathLst>
                <a:path h="443864">
                  <a:moveTo>
                    <a:pt x="0" y="443547"/>
                  </a:moveTo>
                  <a:lnTo>
                    <a:pt x="0" y="0"/>
                  </a:lnTo>
                </a:path>
              </a:pathLst>
            </a:custGeom>
            <a:ln w="3175">
              <a:solidFill>
                <a:srgbClr val="7F7F7F"/>
              </a:solidFill>
            </a:ln>
          </p:spPr>
          <p:txBody>
            <a:bodyPr wrap="square" lIns="0" tIns="0" rIns="0" bIns="0" rtlCol="0"/>
            <a:lstStyle/>
            <a:p>
              <a:endParaRPr/>
            </a:p>
          </p:txBody>
        </p:sp>
        <p:sp>
          <p:nvSpPr>
            <p:cNvPr id="23" name="object 23"/>
            <p:cNvSpPr/>
            <p:nvPr/>
          </p:nvSpPr>
          <p:spPr>
            <a:xfrm>
              <a:off x="4520311" y="1912213"/>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24" name="object 24"/>
            <p:cNvSpPr/>
            <p:nvPr/>
          </p:nvSpPr>
          <p:spPr>
            <a:xfrm>
              <a:off x="4520311" y="1899513"/>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25" name="object 25"/>
            <p:cNvSpPr/>
            <p:nvPr/>
          </p:nvSpPr>
          <p:spPr>
            <a:xfrm>
              <a:off x="4520311" y="1886813"/>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26" name="object 26"/>
            <p:cNvSpPr/>
            <p:nvPr/>
          </p:nvSpPr>
          <p:spPr>
            <a:xfrm>
              <a:off x="269557" y="2096452"/>
              <a:ext cx="76809" cy="76809"/>
            </a:xfrm>
            <a:prstGeom prst="rect">
              <a:avLst/>
            </a:prstGeom>
            <a:blipFill>
              <a:blip r:embed="rId13" cstate="print"/>
              <a:stretch>
                <a:fillRect/>
              </a:stretch>
            </a:blipFill>
          </p:spPr>
          <p:txBody>
            <a:bodyPr wrap="square" lIns="0" tIns="0" rIns="0" bIns="0" rtlCol="0"/>
            <a:lstStyle/>
            <a:p>
              <a:endParaRPr/>
            </a:p>
          </p:txBody>
        </p:sp>
        <p:sp>
          <p:nvSpPr>
            <p:cNvPr id="27" name="object 27"/>
            <p:cNvSpPr/>
            <p:nvPr/>
          </p:nvSpPr>
          <p:spPr>
            <a:xfrm>
              <a:off x="269557" y="2248293"/>
              <a:ext cx="76809" cy="76809"/>
            </a:xfrm>
            <a:prstGeom prst="rect">
              <a:avLst/>
            </a:prstGeom>
            <a:blipFill>
              <a:blip r:embed="rId14" cstate="print"/>
              <a:stretch>
                <a:fillRect/>
              </a:stretch>
            </a:blipFill>
          </p:spPr>
          <p:txBody>
            <a:bodyPr wrap="square" lIns="0" tIns="0" rIns="0" bIns="0" rtlCol="0"/>
            <a:lstStyle/>
            <a:p>
              <a:endParaRPr/>
            </a:p>
          </p:txBody>
        </p:sp>
      </p:grpSp>
      <p:sp>
        <p:nvSpPr>
          <p:cNvPr id="28" name="object 28"/>
          <p:cNvSpPr txBox="1"/>
          <p:nvPr/>
        </p:nvSpPr>
        <p:spPr>
          <a:xfrm>
            <a:off x="893445" y="815975"/>
            <a:ext cx="4059554" cy="1295226"/>
          </a:xfrm>
          <a:prstGeom prst="rect">
            <a:avLst/>
          </a:prstGeom>
        </p:spPr>
        <p:txBody>
          <a:bodyPr vert="horz" wrap="square" lIns="0" tIns="60960" rIns="0" bIns="0" rtlCol="0">
            <a:spAutoFit/>
          </a:bodyPr>
          <a:lstStyle/>
          <a:p>
            <a:pPr marL="16509">
              <a:spcBef>
                <a:spcPts val="480"/>
              </a:spcBef>
            </a:pPr>
            <a:r>
              <a:rPr sz="1000" dirty="0">
                <a:solidFill>
                  <a:srgbClr val="04064C"/>
                </a:solidFill>
                <a:latin typeface="Arial"/>
                <a:cs typeface="Arial"/>
              </a:rPr>
              <a:t>Important</a:t>
            </a:r>
            <a:endParaRPr sz="1000">
              <a:latin typeface="Arial"/>
              <a:cs typeface="Arial"/>
            </a:endParaRPr>
          </a:p>
          <a:p>
            <a:pPr marL="16509" marR="29844" indent="-4445">
              <a:spcBef>
                <a:spcPts val="385"/>
              </a:spcBef>
            </a:pPr>
            <a:r>
              <a:rPr sz="1000" spc="-5" dirty="0">
                <a:latin typeface="Arial"/>
                <a:cs typeface="Arial"/>
              </a:rPr>
              <a:t>The </a:t>
            </a:r>
            <a:r>
              <a:rPr sz="1000" dirty="0">
                <a:latin typeface="Arial"/>
                <a:cs typeface="Arial"/>
              </a:rPr>
              <a:t>transport </a:t>
            </a:r>
            <a:r>
              <a:rPr sz="1000" spc="-15" dirty="0">
                <a:latin typeface="Arial"/>
                <a:cs typeface="Arial"/>
              </a:rPr>
              <a:t>layer </a:t>
            </a:r>
            <a:r>
              <a:rPr sz="1000" spc="-5" dirty="0">
                <a:latin typeface="Arial"/>
                <a:cs typeface="Arial"/>
              </a:rPr>
              <a:t>provides the actual communication facilities </a:t>
            </a:r>
            <a:r>
              <a:rPr sz="1000" spc="-15" dirty="0">
                <a:latin typeface="Arial"/>
                <a:cs typeface="Arial"/>
              </a:rPr>
              <a:t>for </a:t>
            </a:r>
            <a:r>
              <a:rPr sz="1000" spc="-5" dirty="0">
                <a:latin typeface="Arial"/>
                <a:cs typeface="Arial"/>
              </a:rPr>
              <a:t>most  distributed</a:t>
            </a:r>
            <a:r>
              <a:rPr sz="1000" spc="-10" dirty="0">
                <a:latin typeface="Arial"/>
                <a:cs typeface="Arial"/>
              </a:rPr>
              <a:t> </a:t>
            </a:r>
            <a:r>
              <a:rPr sz="1000" spc="-5" dirty="0">
                <a:latin typeface="Arial"/>
                <a:cs typeface="Arial"/>
              </a:rPr>
              <a:t>systems.</a:t>
            </a:r>
            <a:endParaRPr sz="1000">
              <a:latin typeface="Arial"/>
              <a:cs typeface="Arial"/>
            </a:endParaRPr>
          </a:p>
          <a:p>
            <a:pPr>
              <a:spcBef>
                <a:spcPts val="35"/>
              </a:spcBef>
            </a:pPr>
            <a:endParaRPr sz="1350">
              <a:latin typeface="Arial"/>
              <a:cs typeface="Arial"/>
            </a:endParaRPr>
          </a:p>
          <a:p>
            <a:pPr marL="16509"/>
            <a:r>
              <a:rPr sz="1000" spc="-5" dirty="0">
                <a:solidFill>
                  <a:srgbClr val="04064C"/>
                </a:solidFill>
                <a:latin typeface="Arial"/>
                <a:cs typeface="Arial"/>
              </a:rPr>
              <a:t>Standard </a:t>
            </a:r>
            <a:r>
              <a:rPr sz="1000" dirty="0">
                <a:solidFill>
                  <a:srgbClr val="04064C"/>
                </a:solidFill>
                <a:latin typeface="Arial"/>
                <a:cs typeface="Arial"/>
              </a:rPr>
              <a:t>Internet</a:t>
            </a:r>
            <a:r>
              <a:rPr sz="1000" spc="-10" dirty="0">
                <a:solidFill>
                  <a:srgbClr val="04064C"/>
                </a:solidFill>
                <a:latin typeface="Arial"/>
                <a:cs typeface="Arial"/>
              </a:rPr>
              <a:t> </a:t>
            </a:r>
            <a:r>
              <a:rPr sz="1000" spc="-5" dirty="0">
                <a:solidFill>
                  <a:srgbClr val="04064C"/>
                </a:solidFill>
                <a:latin typeface="Arial"/>
                <a:cs typeface="Arial"/>
              </a:rPr>
              <a:t>protocols</a:t>
            </a:r>
            <a:endParaRPr sz="1000">
              <a:latin typeface="Arial"/>
              <a:cs typeface="Arial"/>
            </a:endParaRPr>
          </a:p>
          <a:p>
            <a:pPr marL="293358" marR="5080">
              <a:spcBef>
                <a:spcPts val="390"/>
              </a:spcBef>
            </a:pPr>
            <a:r>
              <a:rPr sz="1000" spc="-5" dirty="0">
                <a:latin typeface="Arial"/>
                <a:cs typeface="Arial"/>
              </a:rPr>
              <a:t>TCP: connection-oriented, </a:t>
            </a:r>
            <a:r>
              <a:rPr sz="1000" spc="-10" dirty="0">
                <a:latin typeface="Arial"/>
                <a:cs typeface="Arial"/>
              </a:rPr>
              <a:t>reliable, </a:t>
            </a:r>
            <a:r>
              <a:rPr sz="1000" spc="-5" dirty="0">
                <a:latin typeface="Arial"/>
                <a:cs typeface="Arial"/>
              </a:rPr>
              <a:t>stream-oriented communication  UDP: unreliable (best-effort) datagram communication</a:t>
            </a:r>
            <a:endParaRPr sz="1000">
              <a:latin typeface="Arial"/>
              <a:cs typeface="Arial"/>
            </a:endParaRPr>
          </a:p>
        </p:txBody>
      </p:sp>
      <p:grpSp>
        <p:nvGrpSpPr>
          <p:cNvPr id="29" name="object 29"/>
          <p:cNvGrpSpPr/>
          <p:nvPr/>
        </p:nvGrpSpPr>
        <p:grpSpPr>
          <a:xfrm>
            <a:off x="771526" y="3326969"/>
            <a:ext cx="4608195" cy="129539"/>
            <a:chOff x="0" y="3326968"/>
            <a:chExt cx="4608195" cy="129539"/>
          </a:xfrm>
        </p:grpSpPr>
        <p:sp>
          <p:nvSpPr>
            <p:cNvPr id="30" name="object 30"/>
            <p:cNvSpPr/>
            <p:nvPr/>
          </p:nvSpPr>
          <p:spPr>
            <a:xfrm>
              <a:off x="0"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11E"/>
            </a:solidFill>
          </p:spPr>
          <p:txBody>
            <a:bodyPr wrap="square" lIns="0" tIns="0" rIns="0" bIns="0" rtlCol="0"/>
            <a:lstStyle/>
            <a:p>
              <a:endParaRPr/>
            </a:p>
          </p:txBody>
        </p:sp>
        <p:sp>
          <p:nvSpPr>
            <p:cNvPr id="31" name="object 31"/>
            <p:cNvSpPr/>
            <p:nvPr/>
          </p:nvSpPr>
          <p:spPr>
            <a:xfrm>
              <a:off x="2303995"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F50"/>
            </a:solidFill>
          </p:spPr>
          <p:txBody>
            <a:bodyPr wrap="square" lIns="0" tIns="0" rIns="0" bIns="0" rtlCol="0"/>
            <a:lstStyle/>
            <a:p>
              <a:endParaRPr/>
            </a:p>
          </p:txBody>
        </p:sp>
      </p:grpSp>
      <p:sp>
        <p:nvSpPr>
          <p:cNvPr id="32" name="object 32"/>
          <p:cNvSpPr txBox="1"/>
          <p:nvPr/>
        </p:nvSpPr>
        <p:spPr>
          <a:xfrm>
            <a:off x="838226" y="3331252"/>
            <a:ext cx="875665" cy="101310"/>
          </a:xfrm>
          <a:prstGeom prst="rect">
            <a:avLst/>
          </a:prstGeom>
        </p:spPr>
        <p:txBody>
          <a:bodyPr vert="horz" wrap="square" lIns="0" tIns="8890" rIns="0" bIns="0" rtlCol="0">
            <a:spAutoFit/>
          </a:bodyPr>
          <a:lstStyle/>
          <a:p>
            <a:pPr marL="12700">
              <a:spcBef>
                <a:spcPts val="70"/>
              </a:spcBef>
            </a:pPr>
            <a:r>
              <a:rPr sz="600" spc="-5" dirty="0">
                <a:solidFill>
                  <a:srgbClr val="04064C"/>
                </a:solidFill>
                <a:latin typeface="Arial"/>
                <a:cs typeface="Arial"/>
                <a:hlinkClick r:id="rId3" action="ppaction://hlinksldjump"/>
              </a:rPr>
              <a:t>The OSI reference</a:t>
            </a:r>
            <a:r>
              <a:rPr sz="600" spc="-45" dirty="0">
                <a:solidFill>
                  <a:srgbClr val="04064C"/>
                </a:solidFill>
                <a:latin typeface="Arial"/>
                <a:cs typeface="Arial"/>
                <a:hlinkClick r:id="rId3" action="ppaction://hlinksldjump"/>
              </a:rPr>
              <a:t> </a:t>
            </a:r>
            <a:r>
              <a:rPr sz="600" spc="-5" dirty="0">
                <a:solidFill>
                  <a:srgbClr val="04064C"/>
                </a:solidFill>
                <a:latin typeface="Arial"/>
                <a:cs typeface="Arial"/>
                <a:hlinkClick r:id="rId3" action="ppaction://hlinksldjump"/>
              </a:rPr>
              <a:t>model</a:t>
            </a:r>
            <a:endParaRPr sz="600">
              <a:latin typeface="Arial"/>
              <a:cs typeface="Arial"/>
            </a:endParaRPr>
          </a:p>
        </p:txBody>
      </p:sp>
      <p:sp>
        <p:nvSpPr>
          <p:cNvPr id="33" name="object 33"/>
          <p:cNvSpPr txBox="1"/>
          <p:nvPr/>
        </p:nvSpPr>
        <p:spPr>
          <a:xfrm>
            <a:off x="5072088" y="3331253"/>
            <a:ext cx="241300" cy="193643"/>
          </a:xfrm>
          <a:prstGeom prst="rect">
            <a:avLst/>
          </a:prstGeom>
        </p:spPr>
        <p:txBody>
          <a:bodyPr vert="horz" wrap="square" lIns="0" tIns="8890" rIns="0" bIns="0" rtlCol="0">
            <a:spAutoFit/>
          </a:bodyPr>
          <a:lstStyle/>
          <a:p>
            <a:pPr marL="38098">
              <a:spcBef>
                <a:spcPts val="70"/>
              </a:spcBef>
            </a:pPr>
            <a:fld id="{81D60167-4931-47E6-BA6A-407CBD079E47}" type="slidenum">
              <a:rPr sz="600" spc="-5" dirty="0">
                <a:solidFill>
                  <a:srgbClr val="04064C"/>
                </a:solidFill>
                <a:latin typeface="Arial"/>
                <a:cs typeface="Arial"/>
              </a:rPr>
              <a:pPr marL="38098">
                <a:spcBef>
                  <a:spcPts val="70"/>
                </a:spcBef>
              </a:pPr>
              <a:t>9</a:t>
            </a:fld>
            <a:r>
              <a:rPr sz="600" spc="-5" dirty="0">
                <a:solidFill>
                  <a:srgbClr val="04064C"/>
                </a:solidFill>
                <a:latin typeface="Arial"/>
                <a:cs typeface="Arial"/>
              </a:rPr>
              <a:t> /</a:t>
            </a:r>
            <a:r>
              <a:rPr sz="600" spc="-70" dirty="0">
                <a:solidFill>
                  <a:srgbClr val="04064C"/>
                </a:solidFill>
                <a:latin typeface="Arial"/>
                <a:cs typeface="Arial"/>
              </a:rPr>
              <a:t> </a:t>
            </a:r>
            <a:r>
              <a:rPr sz="600" spc="-5" dirty="0">
                <a:solidFill>
                  <a:srgbClr val="04064C"/>
                </a:solidFill>
                <a:latin typeface="Arial"/>
                <a:cs typeface="Arial"/>
              </a:rPr>
              <a:t>49</a:t>
            </a:r>
            <a:endParaRPr sz="600">
              <a:latin typeface="Arial"/>
              <a:cs typeface="Arial"/>
            </a:endParaRPr>
          </a:p>
        </p:txBody>
      </p:sp>
      <p:sp>
        <p:nvSpPr>
          <p:cNvPr id="34" name="TextBox 33"/>
          <p:cNvSpPr txBox="1"/>
          <p:nvPr/>
        </p:nvSpPr>
        <p:spPr>
          <a:xfrm>
            <a:off x="1616426" y="2306709"/>
            <a:ext cx="2984150" cy="646331"/>
          </a:xfrm>
          <a:prstGeom prst="rect">
            <a:avLst/>
          </a:prstGeom>
          <a:noFill/>
        </p:spPr>
        <p:txBody>
          <a:bodyPr wrap="none" rtlCol="0">
            <a:spAutoFit/>
          </a:bodyPr>
          <a:lstStyle/>
          <a:p>
            <a:r>
              <a:rPr lang="en-US" sz="1200" dirty="0"/>
              <a:t>Many other protocols are in use like </a:t>
            </a:r>
          </a:p>
          <a:p>
            <a:r>
              <a:rPr lang="en-US" sz="1200" dirty="0"/>
              <a:t>Real time Transport protocol</a:t>
            </a:r>
          </a:p>
          <a:p>
            <a:r>
              <a:rPr lang="en-US" sz="1200" dirty="0"/>
              <a:t>Streaming Control Transmission Protocol etc.</a:t>
            </a: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771525" y="129032"/>
            <a:ext cx="4610100" cy="215444"/>
          </a:xfrm>
        </p:spPr>
        <p:txBody>
          <a:bodyPr/>
          <a:lstStyle/>
          <a:p>
            <a:r>
              <a:rPr lang="en-US" dirty="0"/>
              <a:t>OS and Middleware</a:t>
            </a:r>
          </a:p>
        </p:txBody>
      </p:sp>
      <p:sp>
        <p:nvSpPr>
          <p:cNvPr id="4" name="Text Placeholder 3"/>
          <p:cNvSpPr>
            <a:spLocks noGrp="1"/>
          </p:cNvSpPr>
          <p:nvPr>
            <p:ph type="body" idx="1"/>
          </p:nvPr>
        </p:nvSpPr>
        <p:spPr>
          <a:xfrm>
            <a:off x="866777" y="815975"/>
            <a:ext cx="4191635" cy="2154436"/>
          </a:xfrm>
          <a:prstGeom prst="rect">
            <a:avLst/>
          </a:prstGeom>
        </p:spPr>
        <p:txBody>
          <a:bodyPr wrap="square">
            <a:spAutoFit/>
          </a:bodyPr>
          <a:lstStyle/>
          <a:p>
            <a:r>
              <a:rPr lang="en-US" sz="1400" b="1" dirty="0"/>
              <a:t>Operating System</a:t>
            </a:r>
            <a:r>
              <a:rPr lang="en-US" sz="1400" dirty="0"/>
              <a:t>: Serves as a bridge between the hardware and applications. It manages hardware resources, provides essential services, and enables applications to run.</a:t>
            </a:r>
          </a:p>
          <a:p>
            <a:endParaRPr lang="en-US" sz="1400" dirty="0"/>
          </a:p>
          <a:p>
            <a:r>
              <a:rPr lang="en-US" sz="1400" b="1" dirty="0"/>
              <a:t>Middleware:</a:t>
            </a:r>
          </a:p>
          <a:p>
            <a:r>
              <a:rPr lang="en-US" sz="1400" dirty="0"/>
              <a:t>Exists between the </a:t>
            </a:r>
            <a:r>
              <a:rPr lang="en-US" sz="1400" b="1" dirty="0"/>
              <a:t>operating system</a:t>
            </a:r>
            <a:r>
              <a:rPr lang="en-US" sz="1400" dirty="0"/>
              <a:t> and the </a:t>
            </a:r>
            <a:r>
              <a:rPr lang="en-US" sz="1400" b="1" dirty="0"/>
              <a:t>application layer</a:t>
            </a:r>
            <a:r>
              <a:rPr lang="en-US" sz="1400" dirty="0"/>
              <a:t>, providing additional functionality to enable communication and data management in distributed systems.</a:t>
            </a:r>
          </a:p>
        </p:txBody>
      </p:sp>
    </p:spTree>
    <p:extLst>
      <p:ext uri="{BB962C8B-B14F-4D97-AF65-F5344CB8AC3E}">
        <p14:creationId xmlns:p14="http://schemas.microsoft.com/office/powerpoint/2010/main" val="3269369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525" y="129032"/>
            <a:ext cx="4610100" cy="215444"/>
          </a:xfrm>
        </p:spPr>
        <p:txBody>
          <a:bodyPr/>
          <a:lstStyle/>
          <a:p>
            <a:r>
              <a:rPr lang="en-US" dirty="0"/>
              <a:t>Middleware protocols</a:t>
            </a:r>
          </a:p>
        </p:txBody>
      </p:sp>
      <p:sp>
        <p:nvSpPr>
          <p:cNvPr id="3" name="Text Placeholder 2"/>
          <p:cNvSpPr>
            <a:spLocks noGrp="1"/>
          </p:cNvSpPr>
          <p:nvPr>
            <p:ph type="body" idx="1"/>
          </p:nvPr>
        </p:nvSpPr>
        <p:spPr>
          <a:xfrm>
            <a:off x="866775" y="587375"/>
            <a:ext cx="4312806" cy="1938992"/>
          </a:xfrm>
          <a:solidFill>
            <a:schemeClr val="bg1">
              <a:lumMod val="95000"/>
            </a:schemeClr>
          </a:solidFill>
        </p:spPr>
        <p:txBody>
          <a:bodyPr/>
          <a:lstStyle/>
          <a:p>
            <a:endParaRPr lang="en-US" sz="1050" dirty="0">
              <a:solidFill>
                <a:schemeClr val="tx1"/>
              </a:solidFill>
              <a:latin typeface="+mn-lt"/>
            </a:endParaRPr>
          </a:p>
          <a:p>
            <a:pPr marL="171442" indent="-171442">
              <a:buFont typeface="Arial" panose="020B0604020202020204" pitchFamily="34" charset="0"/>
              <a:buChar char="•"/>
            </a:pPr>
            <a:r>
              <a:rPr lang="en-US" sz="1050" dirty="0">
                <a:solidFill>
                  <a:schemeClr val="tx1"/>
                </a:solidFill>
                <a:latin typeface="+mn-lt"/>
              </a:rPr>
              <a:t>The middleware protocol provides </a:t>
            </a:r>
            <a:r>
              <a:rPr lang="en-US" sz="1050" dirty="0">
                <a:solidFill>
                  <a:srgbClr val="00B0F0"/>
                </a:solidFill>
                <a:latin typeface="+mn-lt"/>
              </a:rPr>
              <a:t>higher level service to application </a:t>
            </a:r>
            <a:r>
              <a:rPr lang="en-US" sz="1050" dirty="0">
                <a:solidFill>
                  <a:schemeClr val="tx1"/>
                </a:solidFill>
                <a:latin typeface="+mn-lt"/>
              </a:rPr>
              <a:t>which is even much more advanced than session and presentation layer.</a:t>
            </a:r>
          </a:p>
          <a:p>
            <a:endParaRPr lang="en-US" sz="1050" dirty="0">
              <a:solidFill>
                <a:schemeClr val="tx1"/>
              </a:solidFill>
              <a:latin typeface="+mn-lt"/>
            </a:endParaRPr>
          </a:p>
          <a:p>
            <a:pPr marL="628623" lvl="1" indent="-171442">
              <a:buFont typeface="Arial" panose="020B0604020202020204" pitchFamily="34" charset="0"/>
              <a:buChar char="•"/>
            </a:pPr>
            <a:r>
              <a:rPr lang="en-US" sz="1050" dirty="0">
                <a:solidFill>
                  <a:schemeClr val="tx1"/>
                </a:solidFill>
                <a:cs typeface="Arial"/>
              </a:rPr>
              <a:t> For example, </a:t>
            </a:r>
            <a:r>
              <a:rPr lang="en-US" sz="1050" dirty="0">
                <a:solidFill>
                  <a:srgbClr val="00B0F0"/>
                </a:solidFill>
                <a:cs typeface="Arial"/>
              </a:rPr>
              <a:t>Multicast, Broadcast, Unicast services are provided by the middleware</a:t>
            </a:r>
            <a:r>
              <a:rPr lang="en-US" sz="1050" dirty="0">
                <a:solidFill>
                  <a:schemeClr val="tx1"/>
                </a:solidFill>
                <a:cs typeface="Arial"/>
              </a:rPr>
              <a:t>. </a:t>
            </a:r>
          </a:p>
          <a:p>
            <a:pPr marL="1085804" lvl="2" indent="-171442">
              <a:buFont typeface="Arial" panose="020B0604020202020204" pitchFamily="34" charset="0"/>
              <a:buChar char="•"/>
            </a:pPr>
            <a:r>
              <a:rPr lang="en-US" sz="1050" dirty="0">
                <a:solidFill>
                  <a:schemeClr val="tx1"/>
                </a:solidFill>
                <a:cs typeface="Arial"/>
              </a:rPr>
              <a:t>Application just needs to send a packet for broadcast to the middleware and then Middleware takes care of sending the message to the network. </a:t>
            </a:r>
          </a:p>
          <a:p>
            <a:pPr lvl="2"/>
            <a:endParaRPr lang="en-US" sz="1050" dirty="0">
              <a:solidFill>
                <a:schemeClr val="tx1"/>
              </a:solidFill>
              <a:cs typeface="Arial"/>
            </a:endParaRPr>
          </a:p>
          <a:p>
            <a:pPr marL="628623" lvl="1" indent="-171442">
              <a:buFont typeface="Arial" panose="020B0604020202020204" pitchFamily="34" charset="0"/>
              <a:buChar char="•"/>
            </a:pPr>
            <a:r>
              <a:rPr lang="en-US" sz="1050" dirty="0">
                <a:solidFill>
                  <a:schemeClr val="tx1"/>
                </a:solidFill>
                <a:cs typeface="Arial"/>
              </a:rPr>
              <a:t>Essentially middleware abstracts the Application from the TCP / IP and other networking aspects of the distributed system. </a:t>
            </a:r>
          </a:p>
        </p:txBody>
      </p:sp>
    </p:spTree>
    <p:extLst>
      <p:ext uri="{BB962C8B-B14F-4D97-AF65-F5344CB8AC3E}">
        <p14:creationId xmlns:p14="http://schemas.microsoft.com/office/powerpoint/2010/main" val="2004077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525" y="129032"/>
            <a:ext cx="4610100" cy="215444"/>
          </a:xfrm>
        </p:spPr>
        <p:txBody>
          <a:bodyPr/>
          <a:lstStyle/>
          <a:p>
            <a:r>
              <a:rPr lang="en-US" dirty="0"/>
              <a:t>Client server TCP connection- 3 way handshaking</a:t>
            </a:r>
          </a:p>
        </p:txBody>
      </p:sp>
      <p:sp>
        <p:nvSpPr>
          <p:cNvPr id="3" name="Text Placeholder 2"/>
          <p:cNvSpPr>
            <a:spLocks noGrp="1"/>
          </p:cNvSpPr>
          <p:nvPr>
            <p:ph type="body" idx="1"/>
          </p:nvPr>
        </p:nvSpPr>
        <p:spPr>
          <a:xfrm>
            <a:off x="866777" y="663575"/>
            <a:ext cx="4191635" cy="2154436"/>
          </a:xfrm>
          <a:solidFill>
            <a:schemeClr val="bg1">
              <a:lumMod val="95000"/>
            </a:schemeClr>
          </a:solidFill>
        </p:spPr>
        <p:txBody>
          <a:bodyPr/>
          <a:lstStyle/>
          <a:p>
            <a:pPr marL="171442" indent="-171442">
              <a:buFont typeface="Arial" panose="020B0604020202020204" pitchFamily="34" charset="0"/>
              <a:buChar char="•"/>
            </a:pPr>
            <a:r>
              <a:rPr lang="en-US" dirty="0">
                <a:latin typeface="+mn-lt"/>
              </a:rPr>
              <a:t>In a typical client server architecture, client constructs a request and sends it over to the server, server processes the request at its end and sends back the response to the client. </a:t>
            </a:r>
          </a:p>
          <a:p>
            <a:pPr marL="628623" lvl="1" indent="-171442">
              <a:buFont typeface="Arial" panose="020B0604020202020204" pitchFamily="34" charset="0"/>
              <a:buChar char="•"/>
            </a:pPr>
            <a:r>
              <a:rPr lang="en-US" sz="1000" dirty="0"/>
              <a:t>For a client to send a message to the server, the client has to establish a TCP connection to the server first, i.e. </a:t>
            </a:r>
            <a:r>
              <a:rPr lang="en-US" sz="1000" u="sng" dirty="0">
                <a:solidFill>
                  <a:srgbClr val="FF0000"/>
                </a:solidFill>
              </a:rPr>
              <a:t>a 3-way handshake is required.</a:t>
            </a:r>
          </a:p>
          <a:p>
            <a:pPr marL="628623" lvl="1" indent="-171442">
              <a:buFont typeface="Arial" panose="020B0604020202020204" pitchFamily="34" charset="0"/>
              <a:buChar char="•"/>
            </a:pPr>
            <a:r>
              <a:rPr lang="en-US" sz="1000" dirty="0"/>
              <a:t>The client sends a </a:t>
            </a:r>
            <a:r>
              <a:rPr lang="en-US" sz="1000" u="sng" dirty="0">
                <a:solidFill>
                  <a:srgbClr val="FF0000"/>
                </a:solidFill>
              </a:rPr>
              <a:t>SYN</a:t>
            </a:r>
            <a:r>
              <a:rPr lang="en-US" sz="1000" dirty="0">
                <a:solidFill>
                  <a:srgbClr val="FF0000"/>
                </a:solidFill>
              </a:rPr>
              <a:t> </a:t>
            </a:r>
            <a:r>
              <a:rPr lang="en-US" sz="1000" dirty="0"/>
              <a:t>packet to the server, which means that the client wants to establish a TCP connection with the server. </a:t>
            </a:r>
          </a:p>
          <a:p>
            <a:pPr marL="628623" lvl="1" indent="-171442">
              <a:buFont typeface="Arial" panose="020B0604020202020204" pitchFamily="34" charset="0"/>
              <a:buChar char="•"/>
            </a:pPr>
            <a:r>
              <a:rPr lang="en-US" sz="1000" dirty="0"/>
              <a:t>Server in turn sends back a </a:t>
            </a:r>
            <a:r>
              <a:rPr lang="en-US" sz="1000" u="sng" dirty="0">
                <a:solidFill>
                  <a:srgbClr val="FF0000"/>
                </a:solidFill>
              </a:rPr>
              <a:t>SYN</a:t>
            </a:r>
            <a:r>
              <a:rPr lang="en-US" sz="1000" dirty="0">
                <a:solidFill>
                  <a:srgbClr val="FF0000"/>
                </a:solidFill>
              </a:rPr>
              <a:t> </a:t>
            </a:r>
            <a:r>
              <a:rPr lang="en-US" sz="1000" dirty="0"/>
              <a:t>and a </a:t>
            </a:r>
            <a:r>
              <a:rPr lang="en-US" sz="1000" u="sng" dirty="0">
                <a:solidFill>
                  <a:srgbClr val="FF0000"/>
                </a:solidFill>
              </a:rPr>
              <a:t>ACK(SYN)</a:t>
            </a:r>
            <a:r>
              <a:rPr lang="en-US" sz="1000" dirty="0"/>
              <a:t> packet back to the client.</a:t>
            </a:r>
          </a:p>
          <a:p>
            <a:pPr marL="628623" lvl="1" indent="-171442">
              <a:buFont typeface="Arial" panose="020B0604020202020204" pitchFamily="34" charset="0"/>
              <a:buChar char="•"/>
            </a:pPr>
            <a:r>
              <a:rPr lang="en-US" sz="1000" dirty="0"/>
              <a:t>ACK(SYN) is the acknowledgement sent from the server to the client.</a:t>
            </a:r>
          </a:p>
          <a:p>
            <a:pPr marL="628623" lvl="1" indent="-171442">
              <a:buFont typeface="Arial" panose="020B0604020202020204" pitchFamily="34" charset="0"/>
              <a:buChar char="•"/>
            </a:pPr>
            <a:r>
              <a:rPr lang="en-US" sz="1000" dirty="0"/>
              <a:t>The client then acknowledges the SYN request of server by sending a </a:t>
            </a:r>
            <a:r>
              <a:rPr lang="en-US" sz="1000" u="sng" dirty="0">
                <a:solidFill>
                  <a:srgbClr val="FF0000"/>
                </a:solidFill>
              </a:rPr>
              <a:t>ACK</a:t>
            </a:r>
            <a:r>
              <a:rPr lang="en-US" sz="1000" dirty="0"/>
              <a:t> message back to the server. </a:t>
            </a:r>
          </a:p>
          <a:p>
            <a:pPr marL="171442" indent="-171442">
              <a:buFont typeface="Arial" panose="020B0604020202020204" pitchFamily="34" charset="0"/>
              <a:buChar char="•"/>
            </a:pPr>
            <a:r>
              <a:rPr lang="en-US" dirty="0">
                <a:latin typeface="+mn-lt"/>
              </a:rPr>
              <a:t>Thus this is a 3-way handshake mechanism to establish a TCP connection. </a:t>
            </a:r>
          </a:p>
        </p:txBody>
      </p:sp>
    </p:spTree>
    <p:extLst>
      <p:ext uri="{BB962C8B-B14F-4D97-AF65-F5344CB8AC3E}">
        <p14:creationId xmlns:p14="http://schemas.microsoft.com/office/powerpoint/2010/main" val="1970831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525" y="129033"/>
            <a:ext cx="4362450" cy="430887"/>
          </a:xfrm>
        </p:spPr>
        <p:txBody>
          <a:bodyPr/>
          <a:lstStyle/>
          <a:p>
            <a:pPr algn="r"/>
            <a:r>
              <a:rPr lang="en-US" dirty="0"/>
              <a:t>Client server </a:t>
            </a:r>
            <a:br>
              <a:rPr lang="en-US" dirty="0"/>
            </a:br>
            <a:r>
              <a:rPr lang="en-US" dirty="0"/>
              <a:t>TCP connection    </a:t>
            </a:r>
          </a:p>
        </p:txBody>
      </p:sp>
      <p:pic>
        <p:nvPicPr>
          <p:cNvPr id="4" name="Picture 3"/>
          <p:cNvPicPr>
            <a:picLocks noChangeAspect="1"/>
          </p:cNvPicPr>
          <p:nvPr/>
        </p:nvPicPr>
        <p:blipFill>
          <a:blip r:embed="rId2"/>
          <a:stretch>
            <a:fillRect/>
          </a:stretch>
        </p:blipFill>
        <p:spPr>
          <a:xfrm>
            <a:off x="3076575" y="1654175"/>
            <a:ext cx="2305050" cy="1728788"/>
          </a:xfrm>
          <a:prstGeom prst="rect">
            <a:avLst/>
          </a:prstGeom>
        </p:spPr>
      </p:pic>
      <p:pic>
        <p:nvPicPr>
          <p:cNvPr id="5" name="Picture 4"/>
          <p:cNvPicPr>
            <a:picLocks noChangeAspect="1"/>
          </p:cNvPicPr>
          <p:nvPr/>
        </p:nvPicPr>
        <p:blipFill>
          <a:blip r:embed="rId3"/>
          <a:stretch>
            <a:fillRect/>
          </a:stretch>
        </p:blipFill>
        <p:spPr>
          <a:xfrm>
            <a:off x="771526" y="1"/>
            <a:ext cx="2457450" cy="1843087"/>
          </a:xfrm>
          <a:prstGeom prst="rect">
            <a:avLst/>
          </a:prstGeom>
        </p:spPr>
      </p:pic>
    </p:spTree>
    <p:extLst>
      <p:ext uri="{BB962C8B-B14F-4D97-AF65-F5344CB8AC3E}">
        <p14:creationId xmlns:p14="http://schemas.microsoft.com/office/powerpoint/2010/main" val="275129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525" y="129032"/>
            <a:ext cx="4610100" cy="215444"/>
          </a:xfrm>
        </p:spPr>
        <p:txBody>
          <a:bodyPr/>
          <a:lstStyle/>
          <a:p>
            <a:r>
              <a:rPr lang="en-US" dirty="0"/>
              <a:t>Push or Pull Architecture</a:t>
            </a:r>
          </a:p>
        </p:txBody>
      </p:sp>
      <p:sp>
        <p:nvSpPr>
          <p:cNvPr id="3" name="Text Placeholder 2"/>
          <p:cNvSpPr>
            <a:spLocks noGrp="1"/>
          </p:cNvSpPr>
          <p:nvPr>
            <p:ph type="body" idx="1"/>
          </p:nvPr>
        </p:nvSpPr>
        <p:spPr>
          <a:xfrm>
            <a:off x="942977" y="434976"/>
            <a:ext cx="4191635" cy="2616668"/>
          </a:xfrm>
          <a:solidFill>
            <a:schemeClr val="bg1">
              <a:lumMod val="95000"/>
            </a:schemeClr>
          </a:solidFill>
        </p:spPr>
        <p:txBody>
          <a:bodyPr/>
          <a:lstStyle/>
          <a:p>
            <a:r>
              <a:rPr lang="en-US" b="1" dirty="0">
                <a:solidFill>
                  <a:schemeClr val="tx1"/>
                </a:solidFill>
                <a:latin typeface="+mn-lt"/>
              </a:rPr>
              <a:t>Client - Pull Architecture: </a:t>
            </a:r>
          </a:p>
          <a:p>
            <a:pPr marL="171442" indent="-171442">
              <a:buFont typeface="Arial" panose="020B0604020202020204" pitchFamily="34" charset="0"/>
              <a:buChar char="•"/>
            </a:pPr>
            <a:r>
              <a:rPr lang="en-US" dirty="0">
                <a:solidFill>
                  <a:schemeClr val="tx1"/>
                </a:solidFill>
                <a:latin typeface="+mn-lt"/>
              </a:rPr>
              <a:t>The </a:t>
            </a:r>
            <a:r>
              <a:rPr lang="en-US" dirty="0">
                <a:solidFill>
                  <a:srgbClr val="FF0000"/>
                </a:solidFill>
                <a:latin typeface="+mn-lt"/>
              </a:rPr>
              <a:t>client sends in request to the server to pull data from </a:t>
            </a:r>
            <a:r>
              <a:rPr lang="en-US" dirty="0">
                <a:solidFill>
                  <a:schemeClr val="tx1"/>
                </a:solidFill>
                <a:latin typeface="+mn-lt"/>
              </a:rPr>
              <a:t>it. </a:t>
            </a:r>
          </a:p>
          <a:p>
            <a:pPr marL="628623" lvl="1" indent="-171442">
              <a:buFont typeface="Arial" panose="020B0604020202020204" pitchFamily="34" charset="0"/>
              <a:buChar char="•"/>
            </a:pPr>
            <a:r>
              <a:rPr lang="en-US" sz="1000" dirty="0">
                <a:solidFill>
                  <a:schemeClr val="tx1"/>
                </a:solidFill>
              </a:rPr>
              <a:t>For example, HTTP is a client pull architecture protocol where a client sends a webpage request to get a reply from the web server. </a:t>
            </a:r>
          </a:p>
          <a:p>
            <a:r>
              <a:rPr lang="en-US" dirty="0">
                <a:solidFill>
                  <a:schemeClr val="tx1"/>
                </a:solidFill>
                <a:latin typeface="+mn-lt"/>
              </a:rPr>
              <a:t>Pros:</a:t>
            </a:r>
          </a:p>
          <a:p>
            <a:pPr marL="171442" indent="-171442">
              <a:buFont typeface="Arial" panose="020B0604020202020204" pitchFamily="34" charset="0"/>
              <a:buChar char="•"/>
            </a:pPr>
            <a:r>
              <a:rPr lang="en-US" dirty="0">
                <a:solidFill>
                  <a:schemeClr val="tx1"/>
                </a:solidFill>
                <a:latin typeface="+mn-lt"/>
              </a:rPr>
              <a:t>In this type of architecture the </a:t>
            </a:r>
            <a:r>
              <a:rPr lang="en-US" b="1" dirty="0">
                <a:solidFill>
                  <a:srgbClr val="FF0000"/>
                </a:solidFill>
                <a:latin typeface="+mn-lt"/>
              </a:rPr>
              <a:t>servers are stateless </a:t>
            </a:r>
            <a:r>
              <a:rPr lang="en-US" dirty="0">
                <a:solidFill>
                  <a:schemeClr val="tx1"/>
                </a:solidFill>
                <a:latin typeface="+mn-lt"/>
              </a:rPr>
              <a:t>, i.e. servers </a:t>
            </a:r>
            <a:r>
              <a:rPr lang="en-US" dirty="0">
                <a:solidFill>
                  <a:srgbClr val="FF0000"/>
                </a:solidFill>
                <a:latin typeface="+mn-lt"/>
              </a:rPr>
              <a:t>don't need to keep track of the clients its communicating</a:t>
            </a:r>
            <a:r>
              <a:rPr lang="en-US" dirty="0">
                <a:solidFill>
                  <a:schemeClr val="tx1"/>
                </a:solidFill>
                <a:latin typeface="+mn-lt"/>
              </a:rPr>
              <a:t> with. </a:t>
            </a:r>
          </a:p>
          <a:p>
            <a:pPr marL="171442" indent="-171442">
              <a:buFont typeface="Arial" panose="020B0604020202020204" pitchFamily="34" charset="0"/>
              <a:buChar char="•"/>
            </a:pPr>
            <a:r>
              <a:rPr lang="en-US" dirty="0">
                <a:solidFill>
                  <a:schemeClr val="tx1"/>
                </a:solidFill>
                <a:latin typeface="+mn-lt"/>
              </a:rPr>
              <a:t>From a failure prospective this architecture is more robust since no state of clients is maintained, </a:t>
            </a:r>
            <a:r>
              <a:rPr lang="en-US" dirty="0">
                <a:solidFill>
                  <a:srgbClr val="FF0000"/>
                </a:solidFill>
                <a:latin typeface="+mn-lt"/>
              </a:rPr>
              <a:t>thus if the server crashes, the client just needs to send a new request for the data</a:t>
            </a:r>
            <a:r>
              <a:rPr lang="en-US" dirty="0">
                <a:solidFill>
                  <a:schemeClr val="tx1"/>
                </a:solidFill>
                <a:latin typeface="+mn-lt"/>
              </a:rPr>
              <a:t>.</a:t>
            </a:r>
          </a:p>
          <a:p>
            <a:r>
              <a:rPr lang="en-US" dirty="0">
                <a:solidFill>
                  <a:schemeClr val="tx1"/>
                </a:solidFill>
                <a:latin typeface="+mn-lt"/>
              </a:rPr>
              <a:t>Cons: </a:t>
            </a:r>
          </a:p>
          <a:p>
            <a:pPr marL="171442" indent="-171442">
              <a:buFont typeface="Arial" panose="020B0604020202020204" pitchFamily="34" charset="0"/>
              <a:buChar char="•"/>
            </a:pPr>
            <a:r>
              <a:rPr lang="en-US" dirty="0">
                <a:solidFill>
                  <a:schemeClr val="tx1"/>
                </a:solidFill>
                <a:latin typeface="+mn-lt"/>
              </a:rPr>
              <a:t>This architecture is more </a:t>
            </a:r>
            <a:r>
              <a:rPr lang="en-US" dirty="0">
                <a:solidFill>
                  <a:srgbClr val="FF0000"/>
                </a:solidFill>
                <a:latin typeface="+mn-lt"/>
              </a:rPr>
              <a:t>scalable from memory point of view </a:t>
            </a:r>
            <a:r>
              <a:rPr lang="en-US" dirty="0">
                <a:solidFill>
                  <a:schemeClr val="tx1"/>
                </a:solidFill>
                <a:latin typeface="+mn-lt"/>
              </a:rPr>
              <a:t>since states of client need not be maintained on the server. But this architecture is </a:t>
            </a:r>
            <a:r>
              <a:rPr lang="en-US" dirty="0">
                <a:solidFill>
                  <a:srgbClr val="FF0000"/>
                </a:solidFill>
                <a:latin typeface="+mn-lt"/>
              </a:rPr>
              <a:t>not efficient from communications point of view</a:t>
            </a:r>
            <a:r>
              <a:rPr lang="en-US" dirty="0">
                <a:solidFill>
                  <a:schemeClr val="tx1"/>
                </a:solidFill>
                <a:latin typeface="+mn-lt"/>
              </a:rPr>
              <a:t>. </a:t>
            </a:r>
          </a:p>
          <a:p>
            <a:pPr marL="171442" indent="-171442">
              <a:buFont typeface="Arial" panose="020B0604020202020204" pitchFamily="34" charset="0"/>
              <a:buChar char="•"/>
            </a:pPr>
            <a:r>
              <a:rPr lang="en-US" dirty="0">
                <a:solidFill>
                  <a:schemeClr val="tx1"/>
                </a:solidFill>
                <a:latin typeface="+mn-lt"/>
              </a:rPr>
              <a:t>To get one piece of data two messages are exchanged i.e. a request and a reply, which results in a </a:t>
            </a:r>
            <a:r>
              <a:rPr lang="en-US" dirty="0">
                <a:solidFill>
                  <a:srgbClr val="FF0000"/>
                </a:solidFill>
                <a:latin typeface="+mn-lt"/>
              </a:rPr>
              <a:t>overhead</a:t>
            </a:r>
            <a:r>
              <a:rPr lang="en-US" dirty="0">
                <a:solidFill>
                  <a:schemeClr val="tx1"/>
                </a:solidFill>
                <a:latin typeface="+mn-lt"/>
              </a:rPr>
              <a:t>.</a:t>
            </a:r>
          </a:p>
          <a:p>
            <a:r>
              <a:rPr lang="en-US" dirty="0">
                <a:solidFill>
                  <a:schemeClr val="tx1"/>
                </a:solidFill>
                <a:latin typeface="+mn-lt"/>
              </a:rPr>
              <a:t> </a:t>
            </a:r>
          </a:p>
        </p:txBody>
      </p:sp>
    </p:spTree>
    <p:extLst>
      <p:ext uri="{BB962C8B-B14F-4D97-AF65-F5344CB8AC3E}">
        <p14:creationId xmlns:p14="http://schemas.microsoft.com/office/powerpoint/2010/main" val="1280399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525" y="129032"/>
            <a:ext cx="4610100" cy="215444"/>
          </a:xfrm>
        </p:spPr>
        <p:txBody>
          <a:bodyPr/>
          <a:lstStyle/>
          <a:p>
            <a:r>
              <a:rPr lang="en-US" dirty="0"/>
              <a:t>Push or Pull Architecture</a:t>
            </a:r>
          </a:p>
        </p:txBody>
      </p:sp>
      <p:sp>
        <p:nvSpPr>
          <p:cNvPr id="3" name="Text Placeholder 2"/>
          <p:cNvSpPr>
            <a:spLocks noGrp="1"/>
          </p:cNvSpPr>
          <p:nvPr>
            <p:ph type="body" idx="1"/>
          </p:nvPr>
        </p:nvSpPr>
        <p:spPr>
          <a:xfrm>
            <a:off x="942977" y="450978"/>
            <a:ext cx="4191635" cy="2800767"/>
          </a:xfrm>
          <a:solidFill>
            <a:schemeClr val="bg1">
              <a:lumMod val="95000"/>
            </a:schemeClr>
          </a:solidFill>
        </p:spPr>
        <p:txBody>
          <a:bodyPr/>
          <a:lstStyle/>
          <a:p>
            <a:r>
              <a:rPr lang="en-US" b="1" dirty="0">
                <a:solidFill>
                  <a:schemeClr val="tx1"/>
                </a:solidFill>
                <a:latin typeface="+mn-lt"/>
              </a:rPr>
              <a:t>Server - Push Architecture: </a:t>
            </a:r>
          </a:p>
          <a:p>
            <a:pPr marL="171442" indent="-171442">
              <a:buFont typeface="Arial" panose="020B0604020202020204" pitchFamily="34" charset="0"/>
              <a:buChar char="•"/>
            </a:pPr>
            <a:r>
              <a:rPr lang="en-US" dirty="0">
                <a:solidFill>
                  <a:schemeClr val="tx1"/>
                </a:solidFill>
                <a:latin typeface="+mn-lt"/>
              </a:rPr>
              <a:t>In this architecture, the client may not send explicit requests for data, </a:t>
            </a:r>
            <a:r>
              <a:rPr lang="en-US" dirty="0">
                <a:solidFill>
                  <a:srgbClr val="FF0000"/>
                </a:solidFill>
                <a:latin typeface="+mn-lt"/>
              </a:rPr>
              <a:t>server asynchronously pushes data to the client</a:t>
            </a:r>
            <a:r>
              <a:rPr lang="en-US" dirty="0">
                <a:solidFill>
                  <a:schemeClr val="tx1"/>
                </a:solidFill>
                <a:latin typeface="+mn-lt"/>
              </a:rPr>
              <a:t>. </a:t>
            </a:r>
          </a:p>
          <a:p>
            <a:pPr marL="628623" lvl="1" indent="-171442">
              <a:buFont typeface="Arial" panose="020B0604020202020204" pitchFamily="34" charset="0"/>
              <a:buChar char="•"/>
            </a:pPr>
            <a:r>
              <a:rPr lang="en-US" sz="900" dirty="0">
                <a:solidFill>
                  <a:schemeClr val="tx1"/>
                </a:solidFill>
              </a:rPr>
              <a:t>For example, </a:t>
            </a:r>
            <a:r>
              <a:rPr lang="en-US" sz="900" dirty="0">
                <a:solidFill>
                  <a:srgbClr val="FF0000"/>
                </a:solidFill>
              </a:rPr>
              <a:t>in Video and Audio Streaming, the client just sends a one time request</a:t>
            </a:r>
            <a:r>
              <a:rPr lang="en-US" sz="900" dirty="0">
                <a:solidFill>
                  <a:schemeClr val="tx1"/>
                </a:solidFill>
              </a:rPr>
              <a:t> for the data on the server, after that the server starts pushing data. The client just listens to the socket and data keeps coming in from the server.</a:t>
            </a:r>
          </a:p>
          <a:p>
            <a:r>
              <a:rPr lang="en-US" dirty="0">
                <a:solidFill>
                  <a:schemeClr val="tx1"/>
                </a:solidFill>
                <a:latin typeface="+mn-lt"/>
              </a:rPr>
              <a:t>Cons:</a:t>
            </a:r>
          </a:p>
          <a:p>
            <a:pPr marL="171442" indent="-171442">
              <a:buFont typeface="Arial" panose="020B0604020202020204" pitchFamily="34" charset="0"/>
              <a:buChar char="•"/>
            </a:pPr>
            <a:r>
              <a:rPr lang="en-US" dirty="0">
                <a:solidFill>
                  <a:schemeClr val="tx1"/>
                </a:solidFill>
                <a:latin typeface="+mn-lt"/>
              </a:rPr>
              <a:t>In this type of architecture the </a:t>
            </a:r>
            <a:r>
              <a:rPr lang="en-US" b="1" dirty="0">
                <a:solidFill>
                  <a:srgbClr val="FF0000"/>
                </a:solidFill>
                <a:latin typeface="+mn-lt"/>
              </a:rPr>
              <a:t>servers are stateful</a:t>
            </a:r>
            <a:r>
              <a:rPr lang="en-US" dirty="0">
                <a:solidFill>
                  <a:schemeClr val="tx1"/>
                </a:solidFill>
                <a:latin typeface="+mn-lt"/>
              </a:rPr>
              <a:t>, i.e. the servers keep tracks of the clients its communicating with. </a:t>
            </a:r>
          </a:p>
          <a:p>
            <a:pPr marL="171442" indent="-171442">
              <a:buFont typeface="Arial" panose="020B0604020202020204" pitchFamily="34" charset="0"/>
              <a:buChar char="•"/>
            </a:pPr>
            <a:r>
              <a:rPr lang="en-US" dirty="0">
                <a:solidFill>
                  <a:schemeClr val="tx1"/>
                </a:solidFill>
                <a:latin typeface="+mn-lt"/>
              </a:rPr>
              <a:t>This architecture is </a:t>
            </a:r>
            <a:r>
              <a:rPr lang="en-US" dirty="0">
                <a:solidFill>
                  <a:srgbClr val="FF0000"/>
                </a:solidFill>
                <a:latin typeface="+mn-lt"/>
              </a:rPr>
              <a:t>not robust from failure point of view</a:t>
            </a:r>
            <a:r>
              <a:rPr lang="en-US" dirty="0">
                <a:solidFill>
                  <a:schemeClr val="tx1"/>
                </a:solidFill>
                <a:latin typeface="+mn-lt"/>
              </a:rPr>
              <a:t>. If the server </a:t>
            </a:r>
            <a:r>
              <a:rPr lang="en-US" dirty="0">
                <a:solidFill>
                  <a:srgbClr val="FF0000"/>
                </a:solidFill>
                <a:latin typeface="+mn-lt"/>
              </a:rPr>
              <a:t>reboots</a:t>
            </a:r>
            <a:r>
              <a:rPr lang="en-US" dirty="0">
                <a:solidFill>
                  <a:schemeClr val="tx1"/>
                </a:solidFill>
                <a:latin typeface="+mn-lt"/>
              </a:rPr>
              <a:t>, then all the </a:t>
            </a:r>
            <a:r>
              <a:rPr lang="en-US" dirty="0">
                <a:solidFill>
                  <a:srgbClr val="FF0000"/>
                </a:solidFill>
                <a:latin typeface="+mn-lt"/>
              </a:rPr>
              <a:t>state of clients is lost from memory </a:t>
            </a:r>
          </a:p>
          <a:p>
            <a:r>
              <a:rPr lang="en-US" dirty="0">
                <a:solidFill>
                  <a:schemeClr val="tx1"/>
                </a:solidFill>
                <a:latin typeface="+mn-lt"/>
              </a:rPr>
              <a:t>Pros: </a:t>
            </a:r>
          </a:p>
          <a:p>
            <a:pPr marL="171442" indent="-171442">
              <a:buFont typeface="Arial" panose="020B0604020202020204" pitchFamily="34" charset="0"/>
              <a:buChar char="•"/>
            </a:pPr>
            <a:r>
              <a:rPr lang="en-US" dirty="0">
                <a:solidFill>
                  <a:schemeClr val="tx1"/>
                </a:solidFill>
                <a:latin typeface="+mn-lt"/>
              </a:rPr>
              <a:t>This architecture is </a:t>
            </a:r>
            <a:r>
              <a:rPr lang="en-US" dirty="0">
                <a:solidFill>
                  <a:srgbClr val="FF0000"/>
                </a:solidFill>
                <a:latin typeface="+mn-lt"/>
              </a:rPr>
              <a:t>less scalable from memory point of view </a:t>
            </a:r>
            <a:r>
              <a:rPr lang="en-US" dirty="0">
                <a:solidFill>
                  <a:schemeClr val="tx1"/>
                </a:solidFill>
                <a:latin typeface="+mn-lt"/>
              </a:rPr>
              <a:t>since states of clients needs to be maintained in the servers memory. But from </a:t>
            </a:r>
            <a:r>
              <a:rPr lang="en-US" dirty="0">
                <a:solidFill>
                  <a:srgbClr val="FF0000"/>
                </a:solidFill>
                <a:latin typeface="+mn-lt"/>
              </a:rPr>
              <a:t>communication point of view this architecture is more efficient</a:t>
            </a:r>
            <a:r>
              <a:rPr lang="en-US" dirty="0">
                <a:solidFill>
                  <a:schemeClr val="tx1"/>
                </a:solidFill>
                <a:latin typeface="+mn-lt"/>
              </a:rPr>
              <a:t>, </a:t>
            </a:r>
          </a:p>
          <a:p>
            <a:pPr marL="628623" lvl="1" indent="-171442">
              <a:buFont typeface="Arial" panose="020B0604020202020204" pitchFamily="34" charset="0"/>
              <a:buChar char="•"/>
            </a:pPr>
            <a:r>
              <a:rPr lang="en-US" sz="1000" dirty="0">
                <a:solidFill>
                  <a:schemeClr val="tx1"/>
                </a:solidFill>
                <a:cs typeface="Arial"/>
              </a:rPr>
              <a:t>since client just sends in one request and server starts pushing data to the client which has less overhead than client - pull architecture.</a:t>
            </a:r>
          </a:p>
          <a:p>
            <a:endParaRPr lang="en-US" sz="600" dirty="0">
              <a:solidFill>
                <a:schemeClr val="tx1"/>
              </a:solidFill>
              <a:latin typeface="+mn-lt"/>
            </a:endParaRPr>
          </a:p>
        </p:txBody>
      </p:sp>
    </p:spTree>
    <p:extLst>
      <p:ext uri="{BB962C8B-B14F-4D97-AF65-F5344CB8AC3E}">
        <p14:creationId xmlns:p14="http://schemas.microsoft.com/office/powerpoint/2010/main" val="4215074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525" y="129032"/>
            <a:ext cx="4610100" cy="215444"/>
          </a:xfrm>
        </p:spPr>
        <p:txBody>
          <a:bodyPr/>
          <a:lstStyle/>
          <a:p>
            <a:r>
              <a:rPr lang="en-US" b="1" dirty="0"/>
              <a:t>Middleware Role in Distributed Systems</a:t>
            </a:r>
            <a:endParaRPr lang="en-US" dirty="0"/>
          </a:p>
        </p:txBody>
      </p:sp>
      <p:sp>
        <p:nvSpPr>
          <p:cNvPr id="3" name="Text Placeholder 2"/>
          <p:cNvSpPr>
            <a:spLocks noGrp="1"/>
          </p:cNvSpPr>
          <p:nvPr>
            <p:ph type="body" idx="1"/>
          </p:nvPr>
        </p:nvSpPr>
        <p:spPr>
          <a:xfrm>
            <a:off x="980759" y="434976"/>
            <a:ext cx="4191635" cy="923330"/>
          </a:xfrm>
        </p:spPr>
        <p:txBody>
          <a:bodyPr/>
          <a:lstStyle/>
          <a:p>
            <a:pPr algn="just"/>
            <a:r>
              <a:rPr lang="en-US" sz="1200" dirty="0"/>
              <a:t>Middleware acts as a software layer that sits between the operating system and applications in a distributed system. Its primary purpose is to enable </a:t>
            </a:r>
            <a:r>
              <a:rPr lang="en-US" sz="1200" b="1" u="sng" dirty="0"/>
              <a:t>seamless communication, coordination, and resource sharing </a:t>
            </a:r>
            <a:r>
              <a:rPr lang="en-US" sz="1200" dirty="0"/>
              <a:t>among distributed components</a:t>
            </a:r>
          </a:p>
        </p:txBody>
      </p:sp>
      <p:sp>
        <p:nvSpPr>
          <p:cNvPr id="4" name="Rectangle 3"/>
          <p:cNvSpPr/>
          <p:nvPr/>
        </p:nvSpPr>
        <p:spPr>
          <a:xfrm>
            <a:off x="782957" y="1577975"/>
            <a:ext cx="4438015" cy="1295226"/>
          </a:xfrm>
          <a:prstGeom prst="rect">
            <a:avLst/>
          </a:prstGeom>
        </p:spPr>
        <p:txBody>
          <a:bodyPr wrap="square">
            <a:spAutoFit/>
          </a:bodyPr>
          <a:lstStyle/>
          <a:p>
            <a:pPr marL="12700">
              <a:spcBef>
                <a:spcPts val="695"/>
              </a:spcBef>
            </a:pPr>
            <a:r>
              <a:rPr lang="en-US" sz="1200" spc="-10" dirty="0">
                <a:latin typeface="Arial"/>
                <a:cs typeface="Arial"/>
              </a:rPr>
              <a:t>Middleware </a:t>
            </a:r>
            <a:r>
              <a:rPr lang="en-US" sz="1200" spc="-5" dirty="0">
                <a:latin typeface="Arial"/>
                <a:cs typeface="Arial"/>
              </a:rPr>
              <a:t>is </a:t>
            </a:r>
            <a:r>
              <a:rPr lang="en-US" sz="1200" spc="-10" dirty="0">
                <a:latin typeface="Arial"/>
                <a:cs typeface="Arial"/>
              </a:rPr>
              <a:t>invented </a:t>
            </a:r>
            <a:r>
              <a:rPr lang="en-US" sz="1200" spc="-5" dirty="0">
                <a:latin typeface="Arial"/>
                <a:cs typeface="Arial"/>
              </a:rPr>
              <a:t>to provide </a:t>
            </a:r>
            <a:r>
              <a:rPr lang="en-US" sz="1200" spc="-5" dirty="0">
                <a:solidFill>
                  <a:srgbClr val="0000FA"/>
                </a:solidFill>
                <a:latin typeface="Arial"/>
                <a:cs typeface="Arial"/>
              </a:rPr>
              <a:t>common </a:t>
            </a:r>
            <a:r>
              <a:rPr lang="en-US" sz="1200" spc="-5" dirty="0">
                <a:latin typeface="Arial"/>
                <a:cs typeface="Arial"/>
              </a:rPr>
              <a:t>services and protocols that can</a:t>
            </a:r>
            <a:r>
              <a:rPr lang="en-US" sz="1200" spc="25" dirty="0">
                <a:latin typeface="Arial"/>
                <a:cs typeface="Arial"/>
              </a:rPr>
              <a:t> </a:t>
            </a:r>
            <a:r>
              <a:rPr lang="en-US" sz="1200" spc="-5" dirty="0">
                <a:latin typeface="Arial"/>
                <a:cs typeface="Arial"/>
              </a:rPr>
              <a:t>be</a:t>
            </a:r>
            <a:r>
              <a:rPr lang="en-US" sz="1200" dirty="0">
                <a:latin typeface="Arial"/>
                <a:cs typeface="Arial"/>
              </a:rPr>
              <a:t> </a:t>
            </a:r>
            <a:r>
              <a:rPr lang="en-US" sz="1200" spc="-5" dirty="0">
                <a:latin typeface="Arial"/>
                <a:cs typeface="Arial"/>
              </a:rPr>
              <a:t>used </a:t>
            </a:r>
            <a:r>
              <a:rPr lang="en-US" sz="1200" spc="-15" dirty="0">
                <a:latin typeface="Arial"/>
                <a:cs typeface="Arial"/>
              </a:rPr>
              <a:t>by</a:t>
            </a:r>
            <a:r>
              <a:rPr lang="en-US" sz="1200" spc="-10" dirty="0">
                <a:latin typeface="Arial"/>
                <a:cs typeface="Arial"/>
              </a:rPr>
              <a:t> </a:t>
            </a:r>
            <a:r>
              <a:rPr lang="en-US" sz="1200" spc="-5" dirty="0">
                <a:latin typeface="Arial"/>
                <a:cs typeface="Arial"/>
              </a:rPr>
              <a:t>many </a:t>
            </a:r>
            <a:r>
              <a:rPr lang="en-US" sz="1200" spc="-5" dirty="0">
                <a:solidFill>
                  <a:srgbClr val="0000FA"/>
                </a:solidFill>
                <a:latin typeface="Arial"/>
                <a:cs typeface="Arial"/>
              </a:rPr>
              <a:t>different </a:t>
            </a:r>
            <a:r>
              <a:rPr lang="en-US" sz="1200" spc="-5" dirty="0">
                <a:latin typeface="Arial"/>
                <a:cs typeface="Arial"/>
              </a:rPr>
              <a:t>applications</a:t>
            </a:r>
            <a:endParaRPr lang="en-US" sz="1200" dirty="0">
              <a:latin typeface="Arial"/>
              <a:cs typeface="Arial"/>
            </a:endParaRPr>
          </a:p>
          <a:p>
            <a:pPr marL="460990" indent="-171442">
              <a:lnSpc>
                <a:spcPts val="1200"/>
              </a:lnSpc>
              <a:spcBef>
                <a:spcPts val="590"/>
              </a:spcBef>
              <a:buFont typeface="Arial" panose="020B0604020202020204" pitchFamily="34" charset="0"/>
              <a:buChar char="•"/>
            </a:pPr>
            <a:r>
              <a:rPr lang="en-US" sz="1100" spc="-5" dirty="0">
                <a:latin typeface="Arial"/>
                <a:cs typeface="Arial"/>
              </a:rPr>
              <a:t>A </a:t>
            </a:r>
            <a:r>
              <a:rPr lang="en-US" sz="1100" dirty="0">
                <a:latin typeface="Arial"/>
                <a:cs typeface="Arial"/>
              </a:rPr>
              <a:t>rich </a:t>
            </a:r>
            <a:r>
              <a:rPr lang="en-US" sz="1100" spc="-5" dirty="0">
                <a:latin typeface="Arial"/>
                <a:cs typeface="Arial"/>
              </a:rPr>
              <a:t>set of </a:t>
            </a:r>
            <a:r>
              <a:rPr lang="en-US" sz="1100" spc="-5" dirty="0">
                <a:solidFill>
                  <a:srgbClr val="0000FA"/>
                </a:solidFill>
                <a:latin typeface="Arial"/>
                <a:cs typeface="Arial"/>
              </a:rPr>
              <a:t>communication</a:t>
            </a:r>
            <a:r>
              <a:rPr lang="en-US" sz="1100" spc="-15" dirty="0">
                <a:solidFill>
                  <a:srgbClr val="0000FA"/>
                </a:solidFill>
                <a:latin typeface="Arial"/>
                <a:cs typeface="Arial"/>
              </a:rPr>
              <a:t> </a:t>
            </a:r>
            <a:r>
              <a:rPr lang="en-US" sz="1100" spc="-5" dirty="0">
                <a:solidFill>
                  <a:srgbClr val="0000FA"/>
                </a:solidFill>
                <a:latin typeface="Arial"/>
                <a:cs typeface="Arial"/>
              </a:rPr>
              <a:t>protocols</a:t>
            </a:r>
            <a:endParaRPr lang="en-US" sz="1100" dirty="0">
              <a:latin typeface="Arial"/>
              <a:cs typeface="Arial"/>
            </a:endParaRPr>
          </a:p>
          <a:p>
            <a:pPr marL="460990" marR="5080" indent="-171442">
              <a:lnSpc>
                <a:spcPts val="1200"/>
              </a:lnSpc>
              <a:spcBef>
                <a:spcPts val="40"/>
              </a:spcBef>
              <a:buFont typeface="Arial" panose="020B0604020202020204" pitchFamily="34" charset="0"/>
              <a:buChar char="•"/>
            </a:pPr>
            <a:r>
              <a:rPr lang="en-US" sz="1100" spc="-5" dirty="0">
                <a:solidFill>
                  <a:srgbClr val="0000FA"/>
                </a:solidFill>
                <a:latin typeface="Arial"/>
                <a:cs typeface="Arial"/>
              </a:rPr>
              <a:t>(Un)marshaling </a:t>
            </a:r>
            <a:r>
              <a:rPr lang="en-US" sz="1100" spc="-5" dirty="0">
                <a:latin typeface="Arial"/>
                <a:cs typeface="Arial"/>
              </a:rPr>
              <a:t>of data, </a:t>
            </a:r>
            <a:r>
              <a:rPr lang="en-US" sz="1100" dirty="0">
                <a:latin typeface="Arial"/>
                <a:cs typeface="Arial"/>
              </a:rPr>
              <a:t>necessary </a:t>
            </a:r>
            <a:r>
              <a:rPr lang="en-US" sz="1100" spc="-15" dirty="0">
                <a:latin typeface="Arial"/>
                <a:cs typeface="Arial"/>
              </a:rPr>
              <a:t>for </a:t>
            </a:r>
            <a:r>
              <a:rPr lang="en-US" sz="1100" spc="-5" dirty="0">
                <a:latin typeface="Arial"/>
                <a:cs typeface="Arial"/>
              </a:rPr>
              <a:t>integrated systems  </a:t>
            </a:r>
          </a:p>
          <a:p>
            <a:pPr marL="460990" marR="5080" indent="-171442">
              <a:lnSpc>
                <a:spcPts val="1200"/>
              </a:lnSpc>
              <a:spcBef>
                <a:spcPts val="40"/>
              </a:spcBef>
              <a:buFont typeface="Arial" panose="020B0604020202020204" pitchFamily="34" charset="0"/>
              <a:buChar char="•"/>
            </a:pPr>
            <a:r>
              <a:rPr lang="en-US" sz="1100" spc="-5" dirty="0">
                <a:solidFill>
                  <a:srgbClr val="0000FA"/>
                </a:solidFill>
                <a:latin typeface="Arial"/>
                <a:cs typeface="Arial"/>
              </a:rPr>
              <a:t>Naming protocols</a:t>
            </a:r>
            <a:r>
              <a:rPr lang="en-US" sz="1100" spc="-5" dirty="0">
                <a:latin typeface="Arial"/>
                <a:cs typeface="Arial"/>
              </a:rPr>
              <a:t>, to allow easy sharing of resources  </a:t>
            </a:r>
            <a:r>
              <a:rPr lang="en-US" sz="1100" spc="-5" dirty="0">
                <a:solidFill>
                  <a:srgbClr val="0000FA"/>
                </a:solidFill>
                <a:latin typeface="Arial"/>
                <a:cs typeface="Arial"/>
              </a:rPr>
              <a:t>Security protocols </a:t>
            </a:r>
            <a:r>
              <a:rPr lang="en-US" sz="1100" spc="-5" dirty="0">
                <a:latin typeface="Arial"/>
                <a:cs typeface="Arial"/>
              </a:rPr>
              <a:t>for secure</a:t>
            </a:r>
            <a:r>
              <a:rPr lang="en-US" sz="1100" spc="-10" dirty="0">
                <a:latin typeface="Arial"/>
                <a:cs typeface="Arial"/>
              </a:rPr>
              <a:t> </a:t>
            </a:r>
            <a:r>
              <a:rPr lang="en-US" sz="1100" spc="-5" dirty="0">
                <a:latin typeface="Arial"/>
                <a:cs typeface="Arial"/>
              </a:rPr>
              <a:t>communication</a:t>
            </a:r>
            <a:endParaRPr lang="en-US" sz="1100" dirty="0">
              <a:latin typeface="Arial"/>
              <a:cs typeface="Arial"/>
            </a:endParaRPr>
          </a:p>
          <a:p>
            <a:pPr marL="460990" indent="-171442">
              <a:lnSpc>
                <a:spcPts val="1145"/>
              </a:lnSpc>
              <a:buFont typeface="Arial" panose="020B0604020202020204" pitchFamily="34" charset="0"/>
              <a:buChar char="•"/>
            </a:pPr>
            <a:r>
              <a:rPr lang="en-US" sz="1100" spc="-5" dirty="0">
                <a:solidFill>
                  <a:srgbClr val="0000FA"/>
                </a:solidFill>
                <a:latin typeface="Arial"/>
                <a:cs typeface="Arial"/>
              </a:rPr>
              <a:t>Scaling mechanisms</a:t>
            </a:r>
            <a:r>
              <a:rPr lang="en-US" sz="1100" spc="-5" dirty="0">
                <a:latin typeface="Arial"/>
                <a:cs typeface="Arial"/>
              </a:rPr>
              <a:t>, such as </a:t>
            </a:r>
            <a:r>
              <a:rPr lang="en-US" sz="1100" spc="-15" dirty="0">
                <a:latin typeface="Arial"/>
                <a:cs typeface="Arial"/>
              </a:rPr>
              <a:t>for </a:t>
            </a:r>
            <a:r>
              <a:rPr lang="en-US" sz="1100" spc="-5" dirty="0">
                <a:latin typeface="Arial"/>
                <a:cs typeface="Arial"/>
              </a:rPr>
              <a:t>replication and</a:t>
            </a:r>
            <a:r>
              <a:rPr lang="en-US" sz="1100" spc="50" dirty="0">
                <a:latin typeface="Arial"/>
                <a:cs typeface="Arial"/>
              </a:rPr>
              <a:t> </a:t>
            </a:r>
            <a:r>
              <a:rPr lang="en-US" sz="1100" spc="-5" dirty="0">
                <a:latin typeface="Arial"/>
                <a:cs typeface="Arial"/>
              </a:rPr>
              <a:t>caching</a:t>
            </a:r>
            <a:endParaRPr lang="en-US" sz="1100" dirty="0">
              <a:latin typeface="Arial"/>
              <a:cs typeface="Arial"/>
            </a:endParaRPr>
          </a:p>
        </p:txBody>
      </p:sp>
    </p:spTree>
    <p:extLst>
      <p:ext uri="{BB962C8B-B14F-4D97-AF65-F5344CB8AC3E}">
        <p14:creationId xmlns:p14="http://schemas.microsoft.com/office/powerpoint/2010/main" val="3099559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238" y="716"/>
            <a:ext cx="4541520" cy="104516"/>
          </a:xfrm>
          <a:prstGeom prst="rect">
            <a:avLst/>
          </a:prstGeom>
        </p:spPr>
        <p:txBody>
          <a:bodyPr vert="horz" wrap="square" lIns="0" tIns="12065" rIns="0" bIns="0" rtlCol="0">
            <a:spAutoFit/>
          </a:bodyPr>
          <a:lstStyle/>
          <a:p>
            <a:pPr marL="12700">
              <a:spcBef>
                <a:spcPts val="95"/>
              </a:spcBef>
              <a:tabLst>
                <a:tab pos="3853650" algn="l"/>
              </a:tabLst>
            </a:pPr>
            <a:r>
              <a:rPr sz="600" spc="-5" dirty="0">
                <a:solidFill>
                  <a:srgbClr val="04064C"/>
                </a:solidFill>
                <a:latin typeface="Arial"/>
                <a:cs typeface="Arial"/>
                <a:hlinkClick r:id="rId2" action="ppaction://hlinksldjump"/>
              </a:rPr>
              <a:t>Communication:</a:t>
            </a:r>
            <a:r>
              <a:rPr sz="600" spc="-5" dirty="0">
                <a:solidFill>
                  <a:srgbClr val="04064C"/>
                </a:solidFill>
                <a:latin typeface="Arial"/>
                <a:cs typeface="Arial"/>
              </a:rPr>
              <a:t> </a:t>
            </a:r>
            <a:r>
              <a:rPr sz="600" spc="10" dirty="0">
                <a:solidFill>
                  <a:srgbClr val="04064C"/>
                </a:solidFill>
                <a:latin typeface="Arial"/>
                <a:cs typeface="Arial"/>
              </a:rPr>
              <a:t> </a:t>
            </a:r>
            <a:r>
              <a:rPr sz="600" spc="-5" dirty="0">
                <a:solidFill>
                  <a:srgbClr val="04064C"/>
                </a:solidFill>
                <a:latin typeface="Arial"/>
                <a:cs typeface="Arial"/>
                <a:hlinkClick r:id="rId2" action="ppaction://hlinksldjump"/>
              </a:rPr>
              <a:t>Foundations</a:t>
            </a:r>
            <a:r>
              <a:rPr sz="600" spc="-5" dirty="0">
                <a:solidFill>
                  <a:srgbClr val="04064C"/>
                </a:solidFill>
                <a:latin typeface="Arial"/>
                <a:cs typeface="Arial"/>
              </a:rPr>
              <a:t>	</a:t>
            </a:r>
            <a:r>
              <a:rPr sz="600" spc="-10" dirty="0">
                <a:solidFill>
                  <a:srgbClr val="04064C"/>
                </a:solidFill>
                <a:latin typeface="Arial"/>
                <a:cs typeface="Arial"/>
                <a:hlinkClick r:id="rId3" action="ppaction://hlinksldjump"/>
              </a:rPr>
              <a:t>Layered</a:t>
            </a:r>
            <a:r>
              <a:rPr sz="600" spc="-15" dirty="0">
                <a:solidFill>
                  <a:srgbClr val="04064C"/>
                </a:solidFill>
                <a:latin typeface="Arial"/>
                <a:cs typeface="Arial"/>
                <a:hlinkClick r:id="rId3" action="ppaction://hlinksldjump"/>
              </a:rPr>
              <a:t> </a:t>
            </a:r>
            <a:r>
              <a:rPr sz="600" spc="-5" dirty="0">
                <a:solidFill>
                  <a:srgbClr val="04064C"/>
                </a:solidFill>
                <a:latin typeface="Arial"/>
                <a:cs typeface="Arial"/>
                <a:hlinkClick r:id="rId3" action="ppaction://hlinksldjump"/>
              </a:rPr>
              <a:t>Protocols</a:t>
            </a:r>
            <a:endParaRPr sz="600">
              <a:latin typeface="Arial"/>
              <a:cs typeface="Arial"/>
            </a:endParaRPr>
          </a:p>
        </p:txBody>
      </p:sp>
      <p:sp>
        <p:nvSpPr>
          <p:cNvPr id="3" name="object 3"/>
          <p:cNvSpPr txBox="1">
            <a:spLocks noGrp="1"/>
          </p:cNvSpPr>
          <p:nvPr>
            <p:ph type="title"/>
          </p:nvPr>
        </p:nvSpPr>
        <p:spPr>
          <a:xfrm>
            <a:off x="771526" y="129033"/>
            <a:ext cx="4608195" cy="278281"/>
          </a:xfrm>
          <a:prstGeom prst="rect">
            <a:avLst/>
          </a:prstGeom>
          <a:solidFill>
            <a:srgbClr val="FFE600"/>
          </a:solidFill>
        </p:spPr>
        <p:txBody>
          <a:bodyPr vert="horz" wrap="square" lIns="0" tIns="62230" rIns="0" bIns="0" rtlCol="0">
            <a:spAutoFit/>
          </a:bodyPr>
          <a:lstStyle/>
          <a:p>
            <a:pPr marL="107945">
              <a:spcBef>
                <a:spcPts val="490"/>
              </a:spcBef>
            </a:pPr>
            <a:r>
              <a:rPr spc="20" dirty="0"/>
              <a:t>An </a:t>
            </a:r>
            <a:r>
              <a:rPr spc="15" dirty="0"/>
              <a:t>adapted </a:t>
            </a:r>
            <a:r>
              <a:rPr spc="5" dirty="0"/>
              <a:t>layering</a:t>
            </a:r>
            <a:r>
              <a:rPr spc="-25" dirty="0"/>
              <a:t> </a:t>
            </a:r>
            <a:r>
              <a:rPr spc="20" dirty="0"/>
              <a:t>scheme</a:t>
            </a:r>
          </a:p>
        </p:txBody>
      </p:sp>
      <p:grpSp>
        <p:nvGrpSpPr>
          <p:cNvPr id="4" name="object 4"/>
          <p:cNvGrpSpPr/>
          <p:nvPr/>
        </p:nvGrpSpPr>
        <p:grpSpPr>
          <a:xfrm>
            <a:off x="859270" y="972452"/>
            <a:ext cx="4483735" cy="1725295"/>
            <a:chOff x="87743" y="972451"/>
            <a:chExt cx="4483735" cy="1725295"/>
          </a:xfrm>
        </p:grpSpPr>
        <p:sp>
          <p:nvSpPr>
            <p:cNvPr id="5" name="object 5"/>
            <p:cNvSpPr/>
            <p:nvPr/>
          </p:nvSpPr>
          <p:spPr>
            <a:xfrm>
              <a:off x="87743" y="972451"/>
              <a:ext cx="4432935" cy="82550"/>
            </a:xfrm>
            <a:custGeom>
              <a:avLst/>
              <a:gdLst/>
              <a:ahLst/>
              <a:cxnLst/>
              <a:rect l="l" t="t" r="r" b="b"/>
              <a:pathLst>
                <a:path w="4432935" h="82550">
                  <a:moveTo>
                    <a:pt x="4381767" y="0"/>
                  </a:moveTo>
                  <a:lnTo>
                    <a:pt x="50800" y="0"/>
                  </a:lnTo>
                  <a:lnTo>
                    <a:pt x="31075" y="4008"/>
                  </a:lnTo>
                  <a:lnTo>
                    <a:pt x="14922" y="14922"/>
                  </a:lnTo>
                  <a:lnTo>
                    <a:pt x="4008" y="31075"/>
                  </a:lnTo>
                  <a:lnTo>
                    <a:pt x="0" y="50800"/>
                  </a:lnTo>
                  <a:lnTo>
                    <a:pt x="0" y="82384"/>
                  </a:lnTo>
                  <a:lnTo>
                    <a:pt x="4432567" y="82384"/>
                  </a:lnTo>
                  <a:lnTo>
                    <a:pt x="4432567" y="50800"/>
                  </a:lnTo>
                  <a:lnTo>
                    <a:pt x="4428558" y="31075"/>
                  </a:lnTo>
                  <a:lnTo>
                    <a:pt x="4417644" y="14922"/>
                  </a:lnTo>
                  <a:lnTo>
                    <a:pt x="4401492" y="4008"/>
                  </a:lnTo>
                  <a:lnTo>
                    <a:pt x="4381767" y="0"/>
                  </a:lnTo>
                  <a:close/>
                </a:path>
              </a:pathLst>
            </a:custGeom>
            <a:solidFill>
              <a:srgbClr val="FEEDC0"/>
            </a:solidFill>
          </p:spPr>
          <p:txBody>
            <a:bodyPr wrap="square" lIns="0" tIns="0" rIns="0" bIns="0" rtlCol="0"/>
            <a:lstStyle/>
            <a:p>
              <a:endParaRPr/>
            </a:p>
          </p:txBody>
        </p:sp>
        <p:sp>
          <p:nvSpPr>
            <p:cNvPr id="6" name="object 6"/>
            <p:cNvSpPr/>
            <p:nvPr/>
          </p:nvSpPr>
          <p:spPr>
            <a:xfrm>
              <a:off x="138544" y="2595880"/>
              <a:ext cx="101600" cy="101600"/>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89344" y="2583180"/>
              <a:ext cx="4381715" cy="114300"/>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4520311" y="1023010"/>
              <a:ext cx="50749" cy="1572869"/>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87743" y="1016863"/>
              <a:ext cx="4432935" cy="1630045"/>
            </a:xfrm>
            <a:custGeom>
              <a:avLst/>
              <a:gdLst/>
              <a:ahLst/>
              <a:cxnLst/>
              <a:rect l="l" t="t" r="r" b="b"/>
              <a:pathLst>
                <a:path w="4432935" h="1630045">
                  <a:moveTo>
                    <a:pt x="4432567" y="0"/>
                  </a:moveTo>
                  <a:lnTo>
                    <a:pt x="0" y="0"/>
                  </a:lnTo>
                  <a:lnTo>
                    <a:pt x="0" y="1579016"/>
                  </a:lnTo>
                  <a:lnTo>
                    <a:pt x="4008" y="1598741"/>
                  </a:lnTo>
                  <a:lnTo>
                    <a:pt x="14922" y="1614894"/>
                  </a:lnTo>
                  <a:lnTo>
                    <a:pt x="31075" y="1625808"/>
                  </a:lnTo>
                  <a:lnTo>
                    <a:pt x="50800" y="1629816"/>
                  </a:lnTo>
                  <a:lnTo>
                    <a:pt x="4381767" y="1629816"/>
                  </a:lnTo>
                  <a:lnTo>
                    <a:pt x="4401492" y="1625808"/>
                  </a:lnTo>
                  <a:lnTo>
                    <a:pt x="4417644" y="1614894"/>
                  </a:lnTo>
                  <a:lnTo>
                    <a:pt x="4428558" y="1598741"/>
                  </a:lnTo>
                  <a:lnTo>
                    <a:pt x="4432567" y="1579016"/>
                  </a:lnTo>
                  <a:lnTo>
                    <a:pt x="4432567" y="0"/>
                  </a:lnTo>
                  <a:close/>
                </a:path>
              </a:pathLst>
            </a:custGeom>
            <a:solidFill>
              <a:srgbClr val="FEEDC0"/>
            </a:solidFill>
          </p:spPr>
          <p:txBody>
            <a:bodyPr wrap="square" lIns="0" tIns="0" rIns="0" bIns="0" rtlCol="0"/>
            <a:lstStyle/>
            <a:p>
              <a:endParaRPr/>
            </a:p>
          </p:txBody>
        </p:sp>
        <p:sp>
          <p:nvSpPr>
            <p:cNvPr id="10" name="object 10"/>
            <p:cNvSpPr/>
            <p:nvPr/>
          </p:nvSpPr>
          <p:spPr>
            <a:xfrm>
              <a:off x="4520311" y="1061097"/>
              <a:ext cx="0" cy="1553845"/>
            </a:xfrm>
            <a:custGeom>
              <a:avLst/>
              <a:gdLst/>
              <a:ahLst/>
              <a:cxnLst/>
              <a:rect l="l" t="t" r="r" b="b"/>
              <a:pathLst>
                <a:path h="1553845">
                  <a:moveTo>
                    <a:pt x="0" y="1553832"/>
                  </a:moveTo>
                  <a:lnTo>
                    <a:pt x="0" y="0"/>
                  </a:lnTo>
                </a:path>
              </a:pathLst>
            </a:custGeom>
            <a:ln w="3175">
              <a:solidFill>
                <a:srgbClr val="7F7F7F"/>
              </a:solidFill>
            </a:ln>
          </p:spPr>
          <p:txBody>
            <a:bodyPr wrap="square" lIns="0" tIns="0" rIns="0" bIns="0" rtlCol="0"/>
            <a:lstStyle/>
            <a:p>
              <a:endParaRPr/>
            </a:p>
          </p:txBody>
        </p:sp>
        <p:sp>
          <p:nvSpPr>
            <p:cNvPr id="11" name="object 11"/>
            <p:cNvSpPr/>
            <p:nvPr/>
          </p:nvSpPr>
          <p:spPr>
            <a:xfrm>
              <a:off x="4520311" y="1048397"/>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2" name="object 12"/>
            <p:cNvSpPr/>
            <p:nvPr/>
          </p:nvSpPr>
          <p:spPr>
            <a:xfrm>
              <a:off x="4520311" y="1035697"/>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3" name="object 13"/>
            <p:cNvSpPr/>
            <p:nvPr/>
          </p:nvSpPr>
          <p:spPr>
            <a:xfrm>
              <a:off x="4520311" y="1022997"/>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4" name="object 14"/>
          <p:cNvSpPr txBox="1"/>
          <p:nvPr/>
        </p:nvSpPr>
        <p:spPr>
          <a:xfrm>
            <a:off x="1867608" y="2199511"/>
            <a:ext cx="391160" cy="114134"/>
          </a:xfrm>
          <a:prstGeom prst="rect">
            <a:avLst/>
          </a:prstGeom>
        </p:spPr>
        <p:txBody>
          <a:bodyPr vert="horz" wrap="square" lIns="0" tIns="13970" rIns="0" bIns="0" rtlCol="0">
            <a:spAutoFit/>
          </a:bodyPr>
          <a:lstStyle/>
          <a:p>
            <a:pPr marL="12700">
              <a:spcBef>
                <a:spcPts val="110"/>
              </a:spcBef>
            </a:pPr>
            <a:r>
              <a:rPr sz="650" spc="5" dirty="0">
                <a:solidFill>
                  <a:srgbClr val="231F20"/>
                </a:solidFill>
                <a:latin typeface="Arial"/>
                <a:cs typeface="Arial"/>
              </a:rPr>
              <a:t>Hardware</a:t>
            </a:r>
            <a:endParaRPr sz="650">
              <a:latin typeface="Arial"/>
              <a:cs typeface="Arial"/>
            </a:endParaRPr>
          </a:p>
        </p:txBody>
      </p:sp>
      <p:sp>
        <p:nvSpPr>
          <p:cNvPr id="15" name="object 15"/>
          <p:cNvSpPr txBox="1"/>
          <p:nvPr/>
        </p:nvSpPr>
        <p:spPr>
          <a:xfrm>
            <a:off x="1801975" y="1527205"/>
            <a:ext cx="456565" cy="114134"/>
          </a:xfrm>
          <a:prstGeom prst="rect">
            <a:avLst/>
          </a:prstGeom>
        </p:spPr>
        <p:txBody>
          <a:bodyPr vert="horz" wrap="square" lIns="0" tIns="13970" rIns="0" bIns="0" rtlCol="0">
            <a:spAutoFit/>
          </a:bodyPr>
          <a:lstStyle/>
          <a:p>
            <a:pPr marL="12700">
              <a:spcBef>
                <a:spcPts val="110"/>
              </a:spcBef>
            </a:pPr>
            <a:r>
              <a:rPr sz="650" spc="5" dirty="0">
                <a:solidFill>
                  <a:srgbClr val="231F20"/>
                </a:solidFill>
                <a:latin typeface="Arial"/>
                <a:cs typeface="Arial"/>
              </a:rPr>
              <a:t>Middleware</a:t>
            </a:r>
            <a:endParaRPr sz="650">
              <a:latin typeface="Arial"/>
              <a:cs typeface="Arial"/>
            </a:endParaRPr>
          </a:p>
        </p:txBody>
      </p:sp>
      <p:sp>
        <p:nvSpPr>
          <p:cNvPr id="16" name="object 16"/>
          <p:cNvSpPr txBox="1"/>
          <p:nvPr/>
        </p:nvSpPr>
        <p:spPr>
          <a:xfrm>
            <a:off x="1822927" y="1220520"/>
            <a:ext cx="438150" cy="114134"/>
          </a:xfrm>
          <a:prstGeom prst="rect">
            <a:avLst/>
          </a:prstGeom>
        </p:spPr>
        <p:txBody>
          <a:bodyPr vert="horz" wrap="square" lIns="0" tIns="13970" rIns="0" bIns="0" rtlCol="0">
            <a:spAutoFit/>
          </a:bodyPr>
          <a:lstStyle/>
          <a:p>
            <a:pPr marL="12700">
              <a:spcBef>
                <a:spcPts val="110"/>
              </a:spcBef>
            </a:pPr>
            <a:r>
              <a:rPr sz="650" spc="5" dirty="0">
                <a:solidFill>
                  <a:srgbClr val="231F20"/>
                </a:solidFill>
                <a:latin typeface="Arial"/>
                <a:cs typeface="Arial"/>
              </a:rPr>
              <a:t>Application</a:t>
            </a:r>
            <a:endParaRPr sz="650">
              <a:latin typeface="Arial"/>
              <a:cs typeface="Arial"/>
            </a:endParaRPr>
          </a:p>
        </p:txBody>
      </p:sp>
      <p:grpSp>
        <p:nvGrpSpPr>
          <p:cNvPr id="17" name="object 17"/>
          <p:cNvGrpSpPr/>
          <p:nvPr/>
        </p:nvGrpSpPr>
        <p:grpSpPr>
          <a:xfrm>
            <a:off x="2314210" y="1043051"/>
            <a:ext cx="2023110" cy="1452245"/>
            <a:chOff x="1542685" y="1043049"/>
            <a:chExt cx="2023110" cy="1452245"/>
          </a:xfrm>
        </p:grpSpPr>
        <p:sp>
          <p:nvSpPr>
            <p:cNvPr id="18" name="object 18"/>
            <p:cNvSpPr/>
            <p:nvPr/>
          </p:nvSpPr>
          <p:spPr>
            <a:xfrm>
              <a:off x="1694940" y="1080428"/>
              <a:ext cx="1718310" cy="1410970"/>
            </a:xfrm>
            <a:custGeom>
              <a:avLst/>
              <a:gdLst/>
              <a:ahLst/>
              <a:cxnLst/>
              <a:rect l="l" t="t" r="r" b="b"/>
              <a:pathLst>
                <a:path w="1718310" h="1410970">
                  <a:moveTo>
                    <a:pt x="0" y="0"/>
                  </a:moveTo>
                  <a:lnTo>
                    <a:pt x="0" y="1410512"/>
                  </a:lnTo>
                  <a:lnTo>
                    <a:pt x="1718105" y="1410512"/>
                  </a:lnTo>
                  <a:lnTo>
                    <a:pt x="1718105" y="9929"/>
                  </a:lnTo>
                </a:path>
              </a:pathLst>
            </a:custGeom>
            <a:ln w="7463">
              <a:solidFill>
                <a:srgbClr val="231F20"/>
              </a:solidFill>
            </a:ln>
          </p:spPr>
          <p:txBody>
            <a:bodyPr wrap="square" lIns="0" tIns="0" rIns="0" bIns="0" rtlCol="0"/>
            <a:lstStyle/>
            <a:p>
              <a:endParaRPr/>
            </a:p>
          </p:txBody>
        </p:sp>
        <p:sp>
          <p:nvSpPr>
            <p:cNvPr id="19" name="object 19"/>
            <p:cNvSpPr/>
            <p:nvPr/>
          </p:nvSpPr>
          <p:spPr>
            <a:xfrm>
              <a:off x="1663066" y="1043049"/>
              <a:ext cx="63751" cy="74377"/>
            </a:xfrm>
            <a:prstGeom prst="rect">
              <a:avLst/>
            </a:prstGeom>
            <a:blipFill>
              <a:blip r:embed="rId7" cstate="print"/>
              <a:stretch>
                <a:fillRect/>
              </a:stretch>
            </a:blipFill>
          </p:spPr>
          <p:txBody>
            <a:bodyPr wrap="square" lIns="0" tIns="0" rIns="0" bIns="0" rtlCol="0"/>
            <a:lstStyle/>
            <a:p>
              <a:endParaRPr/>
            </a:p>
          </p:txBody>
        </p:sp>
        <p:sp>
          <p:nvSpPr>
            <p:cNvPr id="20" name="object 20"/>
            <p:cNvSpPr/>
            <p:nvPr/>
          </p:nvSpPr>
          <p:spPr>
            <a:xfrm>
              <a:off x="3381170" y="1052979"/>
              <a:ext cx="63751" cy="74366"/>
            </a:xfrm>
            <a:prstGeom prst="rect">
              <a:avLst/>
            </a:prstGeom>
            <a:blipFill>
              <a:blip r:embed="rId8" cstate="print"/>
              <a:stretch>
                <a:fillRect/>
              </a:stretch>
            </a:blipFill>
          </p:spPr>
          <p:txBody>
            <a:bodyPr wrap="square" lIns="0" tIns="0" rIns="0" bIns="0" rtlCol="0"/>
            <a:lstStyle/>
            <a:p>
              <a:endParaRPr/>
            </a:p>
          </p:txBody>
        </p:sp>
        <p:sp>
          <p:nvSpPr>
            <p:cNvPr id="21" name="object 21"/>
            <p:cNvSpPr/>
            <p:nvPr/>
          </p:nvSpPr>
          <p:spPr>
            <a:xfrm>
              <a:off x="1545542" y="1221040"/>
              <a:ext cx="299085" cy="149860"/>
            </a:xfrm>
            <a:custGeom>
              <a:avLst/>
              <a:gdLst/>
              <a:ahLst/>
              <a:cxnLst/>
              <a:rect l="l" t="t" r="r" b="b"/>
              <a:pathLst>
                <a:path w="299085" h="149859">
                  <a:moveTo>
                    <a:pt x="298787" y="0"/>
                  </a:moveTo>
                  <a:lnTo>
                    <a:pt x="0" y="0"/>
                  </a:lnTo>
                  <a:lnTo>
                    <a:pt x="0" y="149401"/>
                  </a:lnTo>
                  <a:lnTo>
                    <a:pt x="298787" y="149401"/>
                  </a:lnTo>
                  <a:lnTo>
                    <a:pt x="298787" y="0"/>
                  </a:lnTo>
                  <a:close/>
                </a:path>
              </a:pathLst>
            </a:custGeom>
            <a:solidFill>
              <a:srgbClr val="FFFFFF"/>
            </a:solidFill>
          </p:spPr>
          <p:txBody>
            <a:bodyPr wrap="square" lIns="0" tIns="0" rIns="0" bIns="0" rtlCol="0"/>
            <a:lstStyle/>
            <a:p>
              <a:endParaRPr/>
            </a:p>
          </p:txBody>
        </p:sp>
        <p:sp>
          <p:nvSpPr>
            <p:cNvPr id="22" name="object 22"/>
            <p:cNvSpPr/>
            <p:nvPr/>
          </p:nvSpPr>
          <p:spPr>
            <a:xfrm>
              <a:off x="1545542" y="1221040"/>
              <a:ext cx="299085" cy="149860"/>
            </a:xfrm>
            <a:custGeom>
              <a:avLst/>
              <a:gdLst/>
              <a:ahLst/>
              <a:cxnLst/>
              <a:rect l="l" t="t" r="r" b="b"/>
              <a:pathLst>
                <a:path w="299085" h="149859">
                  <a:moveTo>
                    <a:pt x="0" y="149401"/>
                  </a:moveTo>
                  <a:lnTo>
                    <a:pt x="298787" y="149401"/>
                  </a:lnTo>
                  <a:lnTo>
                    <a:pt x="298787" y="0"/>
                  </a:lnTo>
                  <a:lnTo>
                    <a:pt x="0" y="0"/>
                  </a:lnTo>
                  <a:lnTo>
                    <a:pt x="0" y="149401"/>
                  </a:lnTo>
                  <a:close/>
                </a:path>
              </a:pathLst>
            </a:custGeom>
            <a:ln w="5270">
              <a:solidFill>
                <a:srgbClr val="231F20"/>
              </a:solidFill>
            </a:ln>
          </p:spPr>
          <p:txBody>
            <a:bodyPr wrap="square" lIns="0" tIns="0" rIns="0" bIns="0" rtlCol="0"/>
            <a:lstStyle/>
            <a:p>
              <a:endParaRPr/>
            </a:p>
          </p:txBody>
        </p:sp>
        <p:sp>
          <p:nvSpPr>
            <p:cNvPr id="23" name="object 23"/>
            <p:cNvSpPr/>
            <p:nvPr/>
          </p:nvSpPr>
          <p:spPr>
            <a:xfrm>
              <a:off x="1545554" y="2192145"/>
              <a:ext cx="299085" cy="149860"/>
            </a:xfrm>
            <a:custGeom>
              <a:avLst/>
              <a:gdLst/>
              <a:ahLst/>
              <a:cxnLst/>
              <a:rect l="l" t="t" r="r" b="b"/>
              <a:pathLst>
                <a:path w="299085" h="149860">
                  <a:moveTo>
                    <a:pt x="298787" y="0"/>
                  </a:moveTo>
                  <a:lnTo>
                    <a:pt x="0" y="0"/>
                  </a:lnTo>
                  <a:lnTo>
                    <a:pt x="0" y="149397"/>
                  </a:lnTo>
                  <a:lnTo>
                    <a:pt x="298787" y="149397"/>
                  </a:lnTo>
                  <a:lnTo>
                    <a:pt x="298787" y="0"/>
                  </a:lnTo>
                  <a:close/>
                </a:path>
              </a:pathLst>
            </a:custGeom>
            <a:solidFill>
              <a:srgbClr val="FFFFFF"/>
            </a:solidFill>
          </p:spPr>
          <p:txBody>
            <a:bodyPr wrap="square" lIns="0" tIns="0" rIns="0" bIns="0" rtlCol="0"/>
            <a:lstStyle/>
            <a:p>
              <a:endParaRPr/>
            </a:p>
          </p:txBody>
        </p:sp>
        <p:sp>
          <p:nvSpPr>
            <p:cNvPr id="24" name="object 24"/>
            <p:cNvSpPr/>
            <p:nvPr/>
          </p:nvSpPr>
          <p:spPr>
            <a:xfrm>
              <a:off x="1545554" y="2192145"/>
              <a:ext cx="299085" cy="149860"/>
            </a:xfrm>
            <a:custGeom>
              <a:avLst/>
              <a:gdLst/>
              <a:ahLst/>
              <a:cxnLst/>
              <a:rect l="l" t="t" r="r" b="b"/>
              <a:pathLst>
                <a:path w="299085" h="149860">
                  <a:moveTo>
                    <a:pt x="0" y="149397"/>
                  </a:moveTo>
                  <a:lnTo>
                    <a:pt x="298787" y="149397"/>
                  </a:lnTo>
                  <a:lnTo>
                    <a:pt x="298787" y="0"/>
                  </a:lnTo>
                  <a:lnTo>
                    <a:pt x="0" y="0"/>
                  </a:lnTo>
                  <a:lnTo>
                    <a:pt x="0" y="149397"/>
                  </a:lnTo>
                  <a:close/>
                </a:path>
              </a:pathLst>
            </a:custGeom>
            <a:ln w="5270">
              <a:solidFill>
                <a:srgbClr val="231F20"/>
              </a:solidFill>
            </a:ln>
          </p:spPr>
          <p:txBody>
            <a:bodyPr wrap="square" lIns="0" tIns="0" rIns="0" bIns="0" rtlCol="0"/>
            <a:lstStyle/>
            <a:p>
              <a:endParaRPr/>
            </a:p>
          </p:txBody>
        </p:sp>
        <p:sp>
          <p:nvSpPr>
            <p:cNvPr id="25" name="object 25"/>
            <p:cNvSpPr/>
            <p:nvPr/>
          </p:nvSpPr>
          <p:spPr>
            <a:xfrm>
              <a:off x="3263659" y="2192145"/>
              <a:ext cx="299085" cy="149860"/>
            </a:xfrm>
            <a:custGeom>
              <a:avLst/>
              <a:gdLst/>
              <a:ahLst/>
              <a:cxnLst/>
              <a:rect l="l" t="t" r="r" b="b"/>
              <a:pathLst>
                <a:path w="299085" h="149860">
                  <a:moveTo>
                    <a:pt x="298787" y="0"/>
                  </a:moveTo>
                  <a:lnTo>
                    <a:pt x="0" y="0"/>
                  </a:lnTo>
                  <a:lnTo>
                    <a:pt x="0" y="149397"/>
                  </a:lnTo>
                  <a:lnTo>
                    <a:pt x="298787" y="149397"/>
                  </a:lnTo>
                  <a:lnTo>
                    <a:pt x="298787" y="0"/>
                  </a:lnTo>
                  <a:close/>
                </a:path>
              </a:pathLst>
            </a:custGeom>
            <a:solidFill>
              <a:srgbClr val="FFFFFF"/>
            </a:solidFill>
          </p:spPr>
          <p:txBody>
            <a:bodyPr wrap="square" lIns="0" tIns="0" rIns="0" bIns="0" rtlCol="0"/>
            <a:lstStyle/>
            <a:p>
              <a:endParaRPr/>
            </a:p>
          </p:txBody>
        </p:sp>
        <p:sp>
          <p:nvSpPr>
            <p:cNvPr id="26" name="object 26"/>
            <p:cNvSpPr/>
            <p:nvPr/>
          </p:nvSpPr>
          <p:spPr>
            <a:xfrm>
              <a:off x="3263659" y="2192145"/>
              <a:ext cx="299085" cy="149860"/>
            </a:xfrm>
            <a:custGeom>
              <a:avLst/>
              <a:gdLst/>
              <a:ahLst/>
              <a:cxnLst/>
              <a:rect l="l" t="t" r="r" b="b"/>
              <a:pathLst>
                <a:path w="299085" h="149860">
                  <a:moveTo>
                    <a:pt x="0" y="149397"/>
                  </a:moveTo>
                  <a:lnTo>
                    <a:pt x="298787" y="149397"/>
                  </a:lnTo>
                  <a:lnTo>
                    <a:pt x="298787" y="0"/>
                  </a:lnTo>
                  <a:lnTo>
                    <a:pt x="0" y="0"/>
                  </a:lnTo>
                  <a:lnTo>
                    <a:pt x="0" y="149397"/>
                  </a:lnTo>
                  <a:close/>
                </a:path>
              </a:pathLst>
            </a:custGeom>
            <a:ln w="5270">
              <a:solidFill>
                <a:srgbClr val="231F20"/>
              </a:solidFill>
            </a:ln>
          </p:spPr>
          <p:txBody>
            <a:bodyPr wrap="square" lIns="0" tIns="0" rIns="0" bIns="0" rtlCol="0"/>
            <a:lstStyle/>
            <a:p>
              <a:endParaRPr/>
            </a:p>
          </p:txBody>
        </p:sp>
        <p:sp>
          <p:nvSpPr>
            <p:cNvPr id="27" name="object 27"/>
            <p:cNvSpPr/>
            <p:nvPr/>
          </p:nvSpPr>
          <p:spPr>
            <a:xfrm>
              <a:off x="3263637" y="1221046"/>
              <a:ext cx="299085" cy="146685"/>
            </a:xfrm>
            <a:custGeom>
              <a:avLst/>
              <a:gdLst/>
              <a:ahLst/>
              <a:cxnLst/>
              <a:rect l="l" t="t" r="r" b="b"/>
              <a:pathLst>
                <a:path w="299085" h="146684">
                  <a:moveTo>
                    <a:pt x="298800" y="0"/>
                  </a:moveTo>
                  <a:lnTo>
                    <a:pt x="0" y="0"/>
                  </a:lnTo>
                  <a:lnTo>
                    <a:pt x="0" y="146487"/>
                  </a:lnTo>
                  <a:lnTo>
                    <a:pt x="298800" y="146487"/>
                  </a:lnTo>
                  <a:lnTo>
                    <a:pt x="298800" y="0"/>
                  </a:lnTo>
                  <a:close/>
                </a:path>
              </a:pathLst>
            </a:custGeom>
            <a:solidFill>
              <a:srgbClr val="FFFFFF"/>
            </a:solidFill>
          </p:spPr>
          <p:txBody>
            <a:bodyPr wrap="square" lIns="0" tIns="0" rIns="0" bIns="0" rtlCol="0"/>
            <a:lstStyle/>
            <a:p>
              <a:endParaRPr/>
            </a:p>
          </p:txBody>
        </p:sp>
        <p:sp>
          <p:nvSpPr>
            <p:cNvPr id="28" name="object 28"/>
            <p:cNvSpPr/>
            <p:nvPr/>
          </p:nvSpPr>
          <p:spPr>
            <a:xfrm>
              <a:off x="3263637" y="1221046"/>
              <a:ext cx="299085" cy="146685"/>
            </a:xfrm>
            <a:custGeom>
              <a:avLst/>
              <a:gdLst/>
              <a:ahLst/>
              <a:cxnLst/>
              <a:rect l="l" t="t" r="r" b="b"/>
              <a:pathLst>
                <a:path w="299085" h="146684">
                  <a:moveTo>
                    <a:pt x="0" y="146487"/>
                  </a:moveTo>
                  <a:lnTo>
                    <a:pt x="298800" y="146487"/>
                  </a:lnTo>
                  <a:lnTo>
                    <a:pt x="298800" y="0"/>
                  </a:lnTo>
                  <a:lnTo>
                    <a:pt x="0" y="0"/>
                  </a:lnTo>
                  <a:lnTo>
                    <a:pt x="0" y="146487"/>
                  </a:lnTo>
                  <a:close/>
                </a:path>
              </a:pathLst>
            </a:custGeom>
            <a:ln w="5270">
              <a:solidFill>
                <a:srgbClr val="231F20"/>
              </a:solidFill>
            </a:ln>
          </p:spPr>
          <p:txBody>
            <a:bodyPr wrap="square" lIns="0" tIns="0" rIns="0" bIns="0" rtlCol="0"/>
            <a:lstStyle/>
            <a:p>
              <a:endParaRPr/>
            </a:p>
          </p:txBody>
        </p:sp>
        <p:sp>
          <p:nvSpPr>
            <p:cNvPr id="29" name="object 29"/>
            <p:cNvSpPr/>
            <p:nvPr/>
          </p:nvSpPr>
          <p:spPr>
            <a:xfrm>
              <a:off x="1545542" y="1445141"/>
              <a:ext cx="299085" cy="299085"/>
            </a:xfrm>
            <a:custGeom>
              <a:avLst/>
              <a:gdLst/>
              <a:ahLst/>
              <a:cxnLst/>
              <a:rect l="l" t="t" r="r" b="b"/>
              <a:pathLst>
                <a:path w="299085" h="299085">
                  <a:moveTo>
                    <a:pt x="298800" y="0"/>
                  </a:moveTo>
                  <a:lnTo>
                    <a:pt x="0" y="0"/>
                  </a:lnTo>
                  <a:lnTo>
                    <a:pt x="0" y="298800"/>
                  </a:lnTo>
                  <a:lnTo>
                    <a:pt x="298800" y="298800"/>
                  </a:lnTo>
                  <a:lnTo>
                    <a:pt x="298800" y="0"/>
                  </a:lnTo>
                  <a:close/>
                </a:path>
              </a:pathLst>
            </a:custGeom>
            <a:solidFill>
              <a:srgbClr val="FFFFFF"/>
            </a:solidFill>
          </p:spPr>
          <p:txBody>
            <a:bodyPr wrap="square" lIns="0" tIns="0" rIns="0" bIns="0" rtlCol="0"/>
            <a:lstStyle/>
            <a:p>
              <a:endParaRPr/>
            </a:p>
          </p:txBody>
        </p:sp>
        <p:sp>
          <p:nvSpPr>
            <p:cNvPr id="30" name="object 30"/>
            <p:cNvSpPr/>
            <p:nvPr/>
          </p:nvSpPr>
          <p:spPr>
            <a:xfrm>
              <a:off x="1545542" y="1445141"/>
              <a:ext cx="299085" cy="299085"/>
            </a:xfrm>
            <a:custGeom>
              <a:avLst/>
              <a:gdLst/>
              <a:ahLst/>
              <a:cxnLst/>
              <a:rect l="l" t="t" r="r" b="b"/>
              <a:pathLst>
                <a:path w="299085" h="299085">
                  <a:moveTo>
                    <a:pt x="0" y="298800"/>
                  </a:moveTo>
                  <a:lnTo>
                    <a:pt x="298800" y="298800"/>
                  </a:lnTo>
                  <a:lnTo>
                    <a:pt x="298800" y="0"/>
                  </a:lnTo>
                  <a:lnTo>
                    <a:pt x="0" y="0"/>
                  </a:lnTo>
                  <a:lnTo>
                    <a:pt x="0" y="298800"/>
                  </a:lnTo>
                  <a:close/>
                </a:path>
              </a:pathLst>
            </a:custGeom>
            <a:ln w="5270">
              <a:solidFill>
                <a:srgbClr val="231F20"/>
              </a:solidFill>
            </a:ln>
          </p:spPr>
          <p:txBody>
            <a:bodyPr wrap="square" lIns="0" tIns="0" rIns="0" bIns="0" rtlCol="0"/>
            <a:lstStyle/>
            <a:p>
              <a:endParaRPr/>
            </a:p>
          </p:txBody>
        </p:sp>
        <p:sp>
          <p:nvSpPr>
            <p:cNvPr id="31" name="object 31"/>
            <p:cNvSpPr/>
            <p:nvPr/>
          </p:nvSpPr>
          <p:spPr>
            <a:xfrm>
              <a:off x="3263637" y="1445141"/>
              <a:ext cx="299085" cy="299085"/>
            </a:xfrm>
            <a:custGeom>
              <a:avLst/>
              <a:gdLst/>
              <a:ahLst/>
              <a:cxnLst/>
              <a:rect l="l" t="t" r="r" b="b"/>
              <a:pathLst>
                <a:path w="299085" h="299085">
                  <a:moveTo>
                    <a:pt x="298800" y="0"/>
                  </a:moveTo>
                  <a:lnTo>
                    <a:pt x="0" y="0"/>
                  </a:lnTo>
                  <a:lnTo>
                    <a:pt x="0" y="298800"/>
                  </a:lnTo>
                  <a:lnTo>
                    <a:pt x="298800" y="298800"/>
                  </a:lnTo>
                  <a:lnTo>
                    <a:pt x="298800" y="0"/>
                  </a:lnTo>
                  <a:close/>
                </a:path>
              </a:pathLst>
            </a:custGeom>
            <a:solidFill>
              <a:srgbClr val="FFFFFF"/>
            </a:solidFill>
          </p:spPr>
          <p:txBody>
            <a:bodyPr wrap="square" lIns="0" tIns="0" rIns="0" bIns="0" rtlCol="0"/>
            <a:lstStyle/>
            <a:p>
              <a:endParaRPr/>
            </a:p>
          </p:txBody>
        </p:sp>
        <p:sp>
          <p:nvSpPr>
            <p:cNvPr id="32" name="object 32"/>
            <p:cNvSpPr/>
            <p:nvPr/>
          </p:nvSpPr>
          <p:spPr>
            <a:xfrm>
              <a:off x="3263637" y="1445141"/>
              <a:ext cx="299085" cy="299085"/>
            </a:xfrm>
            <a:custGeom>
              <a:avLst/>
              <a:gdLst/>
              <a:ahLst/>
              <a:cxnLst/>
              <a:rect l="l" t="t" r="r" b="b"/>
              <a:pathLst>
                <a:path w="299085" h="299085">
                  <a:moveTo>
                    <a:pt x="0" y="298800"/>
                  </a:moveTo>
                  <a:lnTo>
                    <a:pt x="298800" y="298800"/>
                  </a:lnTo>
                  <a:lnTo>
                    <a:pt x="298800" y="0"/>
                  </a:lnTo>
                  <a:lnTo>
                    <a:pt x="0" y="0"/>
                  </a:lnTo>
                  <a:lnTo>
                    <a:pt x="0" y="298800"/>
                  </a:lnTo>
                  <a:close/>
                </a:path>
              </a:pathLst>
            </a:custGeom>
            <a:ln w="5270">
              <a:solidFill>
                <a:srgbClr val="231F20"/>
              </a:solidFill>
            </a:ln>
          </p:spPr>
          <p:txBody>
            <a:bodyPr wrap="square" lIns="0" tIns="0" rIns="0" bIns="0" rtlCol="0"/>
            <a:lstStyle/>
            <a:p>
              <a:endParaRPr/>
            </a:p>
          </p:txBody>
        </p:sp>
        <p:sp>
          <p:nvSpPr>
            <p:cNvPr id="33" name="object 33"/>
            <p:cNvSpPr/>
            <p:nvPr/>
          </p:nvSpPr>
          <p:spPr>
            <a:xfrm>
              <a:off x="3263637" y="1821582"/>
              <a:ext cx="299085" cy="299085"/>
            </a:xfrm>
            <a:custGeom>
              <a:avLst/>
              <a:gdLst/>
              <a:ahLst/>
              <a:cxnLst/>
              <a:rect l="l" t="t" r="r" b="b"/>
              <a:pathLst>
                <a:path w="299085" h="299085">
                  <a:moveTo>
                    <a:pt x="298800" y="0"/>
                  </a:moveTo>
                  <a:lnTo>
                    <a:pt x="0" y="0"/>
                  </a:lnTo>
                  <a:lnTo>
                    <a:pt x="0" y="298800"/>
                  </a:lnTo>
                  <a:lnTo>
                    <a:pt x="298800" y="298800"/>
                  </a:lnTo>
                  <a:lnTo>
                    <a:pt x="298800" y="0"/>
                  </a:lnTo>
                  <a:close/>
                </a:path>
              </a:pathLst>
            </a:custGeom>
            <a:solidFill>
              <a:srgbClr val="FFFFFF"/>
            </a:solidFill>
          </p:spPr>
          <p:txBody>
            <a:bodyPr wrap="square" lIns="0" tIns="0" rIns="0" bIns="0" rtlCol="0"/>
            <a:lstStyle/>
            <a:p>
              <a:endParaRPr/>
            </a:p>
          </p:txBody>
        </p:sp>
        <p:sp>
          <p:nvSpPr>
            <p:cNvPr id="34" name="object 34"/>
            <p:cNvSpPr/>
            <p:nvPr/>
          </p:nvSpPr>
          <p:spPr>
            <a:xfrm>
              <a:off x="3263637" y="1821582"/>
              <a:ext cx="299085" cy="299085"/>
            </a:xfrm>
            <a:custGeom>
              <a:avLst/>
              <a:gdLst/>
              <a:ahLst/>
              <a:cxnLst/>
              <a:rect l="l" t="t" r="r" b="b"/>
              <a:pathLst>
                <a:path w="299085" h="299085">
                  <a:moveTo>
                    <a:pt x="0" y="298800"/>
                  </a:moveTo>
                  <a:lnTo>
                    <a:pt x="298800" y="298800"/>
                  </a:lnTo>
                  <a:lnTo>
                    <a:pt x="298800" y="0"/>
                  </a:lnTo>
                  <a:lnTo>
                    <a:pt x="0" y="0"/>
                  </a:lnTo>
                  <a:lnTo>
                    <a:pt x="0" y="298800"/>
                  </a:lnTo>
                  <a:close/>
                </a:path>
              </a:pathLst>
            </a:custGeom>
            <a:ln w="5270">
              <a:solidFill>
                <a:srgbClr val="231F20"/>
              </a:solidFill>
            </a:ln>
          </p:spPr>
          <p:txBody>
            <a:bodyPr wrap="square" lIns="0" tIns="0" rIns="0" bIns="0" rtlCol="0"/>
            <a:lstStyle/>
            <a:p>
              <a:endParaRPr/>
            </a:p>
          </p:txBody>
        </p:sp>
        <p:sp>
          <p:nvSpPr>
            <p:cNvPr id="35" name="object 35"/>
            <p:cNvSpPr/>
            <p:nvPr/>
          </p:nvSpPr>
          <p:spPr>
            <a:xfrm>
              <a:off x="1545542" y="1818642"/>
              <a:ext cx="299085" cy="299085"/>
            </a:xfrm>
            <a:custGeom>
              <a:avLst/>
              <a:gdLst/>
              <a:ahLst/>
              <a:cxnLst/>
              <a:rect l="l" t="t" r="r" b="b"/>
              <a:pathLst>
                <a:path w="299085" h="299085">
                  <a:moveTo>
                    <a:pt x="298800" y="0"/>
                  </a:moveTo>
                  <a:lnTo>
                    <a:pt x="0" y="0"/>
                  </a:lnTo>
                  <a:lnTo>
                    <a:pt x="0" y="298800"/>
                  </a:lnTo>
                  <a:lnTo>
                    <a:pt x="298800" y="298800"/>
                  </a:lnTo>
                  <a:lnTo>
                    <a:pt x="298800" y="0"/>
                  </a:lnTo>
                  <a:close/>
                </a:path>
              </a:pathLst>
            </a:custGeom>
            <a:solidFill>
              <a:srgbClr val="FFFFFF"/>
            </a:solidFill>
          </p:spPr>
          <p:txBody>
            <a:bodyPr wrap="square" lIns="0" tIns="0" rIns="0" bIns="0" rtlCol="0"/>
            <a:lstStyle/>
            <a:p>
              <a:endParaRPr/>
            </a:p>
          </p:txBody>
        </p:sp>
        <p:sp>
          <p:nvSpPr>
            <p:cNvPr id="36" name="object 36"/>
            <p:cNvSpPr/>
            <p:nvPr/>
          </p:nvSpPr>
          <p:spPr>
            <a:xfrm>
              <a:off x="1545542" y="1818642"/>
              <a:ext cx="299085" cy="299085"/>
            </a:xfrm>
            <a:custGeom>
              <a:avLst/>
              <a:gdLst/>
              <a:ahLst/>
              <a:cxnLst/>
              <a:rect l="l" t="t" r="r" b="b"/>
              <a:pathLst>
                <a:path w="299085" h="299085">
                  <a:moveTo>
                    <a:pt x="0" y="298800"/>
                  </a:moveTo>
                  <a:lnTo>
                    <a:pt x="298800" y="298800"/>
                  </a:lnTo>
                  <a:lnTo>
                    <a:pt x="298800" y="0"/>
                  </a:lnTo>
                  <a:lnTo>
                    <a:pt x="0" y="0"/>
                  </a:lnTo>
                  <a:lnTo>
                    <a:pt x="0" y="298800"/>
                  </a:lnTo>
                  <a:close/>
                </a:path>
              </a:pathLst>
            </a:custGeom>
            <a:ln w="5270">
              <a:solidFill>
                <a:srgbClr val="231F20"/>
              </a:solidFill>
            </a:ln>
          </p:spPr>
          <p:txBody>
            <a:bodyPr wrap="square" lIns="0" tIns="0" rIns="0" bIns="0" rtlCol="0"/>
            <a:lstStyle/>
            <a:p>
              <a:endParaRPr/>
            </a:p>
          </p:txBody>
        </p:sp>
      </p:grpSp>
      <p:sp>
        <p:nvSpPr>
          <p:cNvPr id="37" name="object 37"/>
          <p:cNvSpPr txBox="1"/>
          <p:nvPr/>
        </p:nvSpPr>
        <p:spPr>
          <a:xfrm>
            <a:off x="2947861" y="1142477"/>
            <a:ext cx="761365" cy="114134"/>
          </a:xfrm>
          <a:prstGeom prst="rect">
            <a:avLst/>
          </a:prstGeom>
        </p:spPr>
        <p:txBody>
          <a:bodyPr vert="horz" wrap="square" lIns="0" tIns="13970" rIns="0" bIns="0" rtlCol="0">
            <a:spAutoFit/>
          </a:bodyPr>
          <a:lstStyle/>
          <a:p>
            <a:pPr marL="12700">
              <a:spcBef>
                <a:spcPts val="110"/>
              </a:spcBef>
            </a:pPr>
            <a:r>
              <a:rPr sz="650" spc="5" dirty="0">
                <a:solidFill>
                  <a:srgbClr val="231F20"/>
                </a:solidFill>
                <a:latin typeface="Arial"/>
                <a:cs typeface="Arial"/>
              </a:rPr>
              <a:t>Application</a:t>
            </a:r>
            <a:r>
              <a:rPr sz="650" spc="-50" dirty="0">
                <a:solidFill>
                  <a:srgbClr val="231F20"/>
                </a:solidFill>
                <a:latin typeface="Arial"/>
                <a:cs typeface="Arial"/>
              </a:rPr>
              <a:t> </a:t>
            </a:r>
            <a:r>
              <a:rPr sz="650" spc="5" dirty="0">
                <a:solidFill>
                  <a:srgbClr val="231F20"/>
                </a:solidFill>
                <a:latin typeface="Arial"/>
                <a:cs typeface="Arial"/>
              </a:rPr>
              <a:t>protocol</a:t>
            </a:r>
            <a:endParaRPr sz="650">
              <a:latin typeface="Arial"/>
              <a:cs typeface="Arial"/>
            </a:endParaRPr>
          </a:p>
        </p:txBody>
      </p:sp>
      <p:sp>
        <p:nvSpPr>
          <p:cNvPr id="38" name="object 38"/>
          <p:cNvSpPr txBox="1"/>
          <p:nvPr/>
        </p:nvSpPr>
        <p:spPr>
          <a:xfrm>
            <a:off x="2935345" y="1460271"/>
            <a:ext cx="780415" cy="114134"/>
          </a:xfrm>
          <a:prstGeom prst="rect">
            <a:avLst/>
          </a:prstGeom>
        </p:spPr>
        <p:txBody>
          <a:bodyPr vert="horz" wrap="square" lIns="0" tIns="13970" rIns="0" bIns="0" rtlCol="0">
            <a:spAutoFit/>
          </a:bodyPr>
          <a:lstStyle/>
          <a:p>
            <a:pPr marL="12700">
              <a:spcBef>
                <a:spcPts val="110"/>
              </a:spcBef>
            </a:pPr>
            <a:r>
              <a:rPr sz="650" spc="5" dirty="0">
                <a:solidFill>
                  <a:srgbClr val="231F20"/>
                </a:solidFill>
                <a:latin typeface="Arial"/>
                <a:cs typeface="Arial"/>
              </a:rPr>
              <a:t>Middleware</a:t>
            </a:r>
            <a:r>
              <a:rPr sz="650" spc="-45" dirty="0">
                <a:solidFill>
                  <a:srgbClr val="231F20"/>
                </a:solidFill>
                <a:latin typeface="Arial"/>
                <a:cs typeface="Arial"/>
              </a:rPr>
              <a:t> </a:t>
            </a:r>
            <a:r>
              <a:rPr sz="650" spc="5" dirty="0">
                <a:solidFill>
                  <a:srgbClr val="231F20"/>
                </a:solidFill>
                <a:latin typeface="Arial"/>
                <a:cs typeface="Arial"/>
              </a:rPr>
              <a:t>protocol</a:t>
            </a:r>
            <a:endParaRPr sz="650">
              <a:latin typeface="Arial"/>
              <a:cs typeface="Arial"/>
            </a:endParaRPr>
          </a:p>
        </p:txBody>
      </p:sp>
      <p:sp>
        <p:nvSpPr>
          <p:cNvPr id="39" name="object 39"/>
          <p:cNvSpPr txBox="1"/>
          <p:nvPr/>
        </p:nvSpPr>
        <p:spPr>
          <a:xfrm>
            <a:off x="2921057" y="1826497"/>
            <a:ext cx="808355" cy="114134"/>
          </a:xfrm>
          <a:prstGeom prst="rect">
            <a:avLst/>
          </a:prstGeom>
        </p:spPr>
        <p:txBody>
          <a:bodyPr vert="horz" wrap="square" lIns="0" tIns="13970" rIns="0" bIns="0" rtlCol="0">
            <a:spAutoFit/>
          </a:bodyPr>
          <a:lstStyle/>
          <a:p>
            <a:pPr marL="12700">
              <a:spcBef>
                <a:spcPts val="110"/>
              </a:spcBef>
            </a:pPr>
            <a:r>
              <a:rPr sz="650" spc="5" dirty="0">
                <a:solidFill>
                  <a:srgbClr val="231F20"/>
                </a:solidFill>
                <a:latin typeface="Arial"/>
                <a:cs typeface="Arial"/>
              </a:rPr>
              <a:t>Host-to-host</a:t>
            </a:r>
            <a:r>
              <a:rPr sz="650" spc="-50" dirty="0">
                <a:solidFill>
                  <a:srgbClr val="231F20"/>
                </a:solidFill>
                <a:latin typeface="Arial"/>
                <a:cs typeface="Arial"/>
              </a:rPr>
              <a:t> </a:t>
            </a:r>
            <a:r>
              <a:rPr sz="650" spc="5" dirty="0">
                <a:solidFill>
                  <a:srgbClr val="231F20"/>
                </a:solidFill>
                <a:latin typeface="Arial"/>
                <a:cs typeface="Arial"/>
              </a:rPr>
              <a:t>protocol</a:t>
            </a:r>
            <a:endParaRPr sz="650">
              <a:latin typeface="Arial"/>
              <a:cs typeface="Arial"/>
            </a:endParaRPr>
          </a:p>
        </p:txBody>
      </p:sp>
      <p:sp>
        <p:nvSpPr>
          <p:cNvPr id="40" name="object 40"/>
          <p:cNvSpPr txBox="1"/>
          <p:nvPr/>
        </p:nvSpPr>
        <p:spPr>
          <a:xfrm>
            <a:off x="3177190" y="2503551"/>
            <a:ext cx="334645" cy="114134"/>
          </a:xfrm>
          <a:prstGeom prst="rect">
            <a:avLst/>
          </a:prstGeom>
        </p:spPr>
        <p:txBody>
          <a:bodyPr vert="horz" wrap="square" lIns="0" tIns="13970" rIns="0" bIns="0" rtlCol="0">
            <a:spAutoFit/>
          </a:bodyPr>
          <a:lstStyle/>
          <a:p>
            <a:pPr marL="12700">
              <a:spcBef>
                <a:spcPts val="110"/>
              </a:spcBef>
            </a:pPr>
            <a:r>
              <a:rPr sz="650" spc="5" dirty="0">
                <a:solidFill>
                  <a:srgbClr val="231F20"/>
                </a:solidFill>
                <a:latin typeface="Arial"/>
                <a:cs typeface="Arial"/>
              </a:rPr>
              <a:t>Network</a:t>
            </a:r>
            <a:endParaRPr sz="650">
              <a:latin typeface="Arial"/>
              <a:cs typeface="Arial"/>
            </a:endParaRPr>
          </a:p>
        </p:txBody>
      </p:sp>
      <p:sp>
        <p:nvSpPr>
          <p:cNvPr id="41" name="object 41"/>
          <p:cNvSpPr txBox="1"/>
          <p:nvPr/>
        </p:nvSpPr>
        <p:spPr>
          <a:xfrm>
            <a:off x="1864781" y="1845764"/>
            <a:ext cx="396240" cy="201337"/>
          </a:xfrm>
          <a:prstGeom prst="rect">
            <a:avLst/>
          </a:prstGeom>
        </p:spPr>
        <p:txBody>
          <a:bodyPr vert="horz" wrap="square" lIns="0" tIns="21590" rIns="0" bIns="0" rtlCol="0">
            <a:spAutoFit/>
          </a:bodyPr>
          <a:lstStyle/>
          <a:p>
            <a:pPr marL="115565" marR="5080" indent="-103500">
              <a:lnSpc>
                <a:spcPts val="740"/>
              </a:lnSpc>
              <a:spcBef>
                <a:spcPts val="170"/>
              </a:spcBef>
            </a:pPr>
            <a:r>
              <a:rPr sz="650" spc="5" dirty="0">
                <a:solidFill>
                  <a:srgbClr val="231F20"/>
                </a:solidFill>
                <a:latin typeface="Arial"/>
                <a:cs typeface="Arial"/>
              </a:rPr>
              <a:t>Operating  system</a:t>
            </a:r>
            <a:endParaRPr sz="650">
              <a:latin typeface="Arial"/>
              <a:cs typeface="Arial"/>
            </a:endParaRPr>
          </a:p>
        </p:txBody>
      </p:sp>
      <p:sp>
        <p:nvSpPr>
          <p:cNvPr id="42" name="object 42"/>
          <p:cNvSpPr txBox="1"/>
          <p:nvPr/>
        </p:nvSpPr>
        <p:spPr>
          <a:xfrm>
            <a:off x="2807251" y="2120102"/>
            <a:ext cx="1042669" cy="114134"/>
          </a:xfrm>
          <a:prstGeom prst="rect">
            <a:avLst/>
          </a:prstGeom>
        </p:spPr>
        <p:txBody>
          <a:bodyPr vert="horz" wrap="square" lIns="0" tIns="13970" rIns="0" bIns="0" rtlCol="0">
            <a:spAutoFit/>
          </a:bodyPr>
          <a:lstStyle/>
          <a:p>
            <a:pPr marL="12700">
              <a:spcBef>
                <a:spcPts val="110"/>
              </a:spcBef>
            </a:pPr>
            <a:r>
              <a:rPr sz="650" spc="5" dirty="0">
                <a:solidFill>
                  <a:srgbClr val="231F20"/>
                </a:solidFill>
                <a:latin typeface="Arial"/>
                <a:cs typeface="Arial"/>
              </a:rPr>
              <a:t>Physical/Link-level</a:t>
            </a:r>
            <a:r>
              <a:rPr sz="650" spc="-45" dirty="0">
                <a:solidFill>
                  <a:srgbClr val="231F20"/>
                </a:solidFill>
                <a:latin typeface="Arial"/>
                <a:cs typeface="Arial"/>
              </a:rPr>
              <a:t> </a:t>
            </a:r>
            <a:r>
              <a:rPr sz="650" spc="5" dirty="0">
                <a:solidFill>
                  <a:srgbClr val="231F20"/>
                </a:solidFill>
                <a:latin typeface="Arial"/>
                <a:cs typeface="Arial"/>
              </a:rPr>
              <a:t>protocol</a:t>
            </a:r>
            <a:endParaRPr sz="650">
              <a:latin typeface="Arial"/>
              <a:cs typeface="Arial"/>
            </a:endParaRPr>
          </a:p>
        </p:txBody>
      </p:sp>
      <p:grpSp>
        <p:nvGrpSpPr>
          <p:cNvPr id="43" name="object 43"/>
          <p:cNvGrpSpPr/>
          <p:nvPr/>
        </p:nvGrpSpPr>
        <p:grpSpPr>
          <a:xfrm>
            <a:off x="2615855" y="1262493"/>
            <a:ext cx="1419860" cy="1036319"/>
            <a:chOff x="1844330" y="1262492"/>
            <a:chExt cx="1419860" cy="1036319"/>
          </a:xfrm>
        </p:grpSpPr>
        <p:sp>
          <p:nvSpPr>
            <p:cNvPr id="44" name="object 44"/>
            <p:cNvSpPr/>
            <p:nvPr/>
          </p:nvSpPr>
          <p:spPr>
            <a:xfrm>
              <a:off x="1881721" y="1594544"/>
              <a:ext cx="1344930" cy="0"/>
            </a:xfrm>
            <a:custGeom>
              <a:avLst/>
              <a:gdLst/>
              <a:ahLst/>
              <a:cxnLst/>
              <a:rect l="l" t="t" r="r" b="b"/>
              <a:pathLst>
                <a:path w="1344930">
                  <a:moveTo>
                    <a:pt x="0" y="0"/>
                  </a:moveTo>
                  <a:lnTo>
                    <a:pt x="1344538" y="0"/>
                  </a:lnTo>
                </a:path>
              </a:pathLst>
            </a:custGeom>
            <a:ln w="5270">
              <a:solidFill>
                <a:srgbClr val="231F20"/>
              </a:solidFill>
              <a:prstDash val="lgDash"/>
            </a:ln>
          </p:spPr>
          <p:txBody>
            <a:bodyPr wrap="square" lIns="0" tIns="0" rIns="0" bIns="0" rtlCol="0"/>
            <a:lstStyle/>
            <a:p>
              <a:endParaRPr/>
            </a:p>
          </p:txBody>
        </p:sp>
        <p:sp>
          <p:nvSpPr>
            <p:cNvPr id="45" name="object 45"/>
            <p:cNvSpPr/>
            <p:nvPr/>
          </p:nvSpPr>
          <p:spPr>
            <a:xfrm>
              <a:off x="1844342" y="1562665"/>
              <a:ext cx="74375" cy="63753"/>
            </a:xfrm>
            <a:prstGeom prst="rect">
              <a:avLst/>
            </a:prstGeom>
            <a:blipFill>
              <a:blip r:embed="rId9" cstate="print"/>
              <a:stretch>
                <a:fillRect/>
              </a:stretch>
            </a:blipFill>
          </p:spPr>
          <p:txBody>
            <a:bodyPr wrap="square" lIns="0" tIns="0" rIns="0" bIns="0" rtlCol="0"/>
            <a:lstStyle/>
            <a:p>
              <a:endParaRPr/>
            </a:p>
          </p:txBody>
        </p:sp>
        <p:sp>
          <p:nvSpPr>
            <p:cNvPr id="46" name="object 46"/>
            <p:cNvSpPr/>
            <p:nvPr/>
          </p:nvSpPr>
          <p:spPr>
            <a:xfrm>
              <a:off x="3189260" y="1562665"/>
              <a:ext cx="74377" cy="63753"/>
            </a:xfrm>
            <a:prstGeom prst="rect">
              <a:avLst/>
            </a:prstGeom>
            <a:blipFill>
              <a:blip r:embed="rId10" cstate="print"/>
              <a:stretch>
                <a:fillRect/>
              </a:stretch>
            </a:blipFill>
          </p:spPr>
          <p:txBody>
            <a:bodyPr wrap="square" lIns="0" tIns="0" rIns="0" bIns="0" rtlCol="0"/>
            <a:lstStyle/>
            <a:p>
              <a:endParaRPr/>
            </a:p>
          </p:txBody>
        </p:sp>
        <p:sp>
          <p:nvSpPr>
            <p:cNvPr id="47" name="object 47"/>
            <p:cNvSpPr/>
            <p:nvPr/>
          </p:nvSpPr>
          <p:spPr>
            <a:xfrm>
              <a:off x="1881709" y="1294326"/>
              <a:ext cx="1344930" cy="1905"/>
            </a:xfrm>
            <a:custGeom>
              <a:avLst/>
              <a:gdLst/>
              <a:ahLst/>
              <a:cxnLst/>
              <a:rect l="l" t="t" r="r" b="b"/>
              <a:pathLst>
                <a:path w="1344930" h="1905">
                  <a:moveTo>
                    <a:pt x="0" y="1380"/>
                  </a:moveTo>
                  <a:lnTo>
                    <a:pt x="1344549" y="0"/>
                  </a:lnTo>
                </a:path>
              </a:pathLst>
            </a:custGeom>
            <a:ln w="5270">
              <a:solidFill>
                <a:srgbClr val="231F20"/>
              </a:solidFill>
              <a:prstDash val="lgDash"/>
            </a:ln>
          </p:spPr>
          <p:txBody>
            <a:bodyPr wrap="square" lIns="0" tIns="0" rIns="0" bIns="0" rtlCol="0"/>
            <a:lstStyle/>
            <a:p>
              <a:endParaRPr/>
            </a:p>
          </p:txBody>
        </p:sp>
        <p:sp>
          <p:nvSpPr>
            <p:cNvPr id="48" name="object 48"/>
            <p:cNvSpPr/>
            <p:nvPr/>
          </p:nvSpPr>
          <p:spPr>
            <a:xfrm>
              <a:off x="1844330" y="1263788"/>
              <a:ext cx="74408" cy="63751"/>
            </a:xfrm>
            <a:prstGeom prst="rect">
              <a:avLst/>
            </a:prstGeom>
            <a:blipFill>
              <a:blip r:embed="rId11" cstate="print"/>
              <a:stretch>
                <a:fillRect/>
              </a:stretch>
            </a:blipFill>
          </p:spPr>
          <p:txBody>
            <a:bodyPr wrap="square" lIns="0" tIns="0" rIns="0" bIns="0" rtlCol="0"/>
            <a:lstStyle/>
            <a:p>
              <a:endParaRPr/>
            </a:p>
          </p:txBody>
        </p:sp>
        <p:sp>
          <p:nvSpPr>
            <p:cNvPr id="49" name="object 49"/>
            <p:cNvSpPr/>
            <p:nvPr/>
          </p:nvSpPr>
          <p:spPr>
            <a:xfrm>
              <a:off x="3189228" y="1262492"/>
              <a:ext cx="74408" cy="63751"/>
            </a:xfrm>
            <a:prstGeom prst="rect">
              <a:avLst/>
            </a:prstGeom>
            <a:blipFill>
              <a:blip r:embed="rId12" cstate="print"/>
              <a:stretch>
                <a:fillRect/>
              </a:stretch>
            </a:blipFill>
          </p:spPr>
          <p:txBody>
            <a:bodyPr wrap="square" lIns="0" tIns="0" rIns="0" bIns="0" rtlCol="0"/>
            <a:lstStyle/>
            <a:p>
              <a:endParaRPr/>
            </a:p>
          </p:txBody>
        </p:sp>
        <p:sp>
          <p:nvSpPr>
            <p:cNvPr id="50" name="object 50"/>
            <p:cNvSpPr/>
            <p:nvPr/>
          </p:nvSpPr>
          <p:spPr>
            <a:xfrm>
              <a:off x="1881718" y="1968119"/>
              <a:ext cx="1344930" cy="3175"/>
            </a:xfrm>
            <a:custGeom>
              <a:avLst/>
              <a:gdLst/>
              <a:ahLst/>
              <a:cxnLst/>
              <a:rect l="l" t="t" r="r" b="b"/>
              <a:pathLst>
                <a:path w="1344930" h="3175">
                  <a:moveTo>
                    <a:pt x="0" y="0"/>
                  </a:moveTo>
                  <a:lnTo>
                    <a:pt x="1344541" y="2787"/>
                  </a:lnTo>
                </a:path>
              </a:pathLst>
            </a:custGeom>
            <a:ln w="5270">
              <a:solidFill>
                <a:srgbClr val="231F20"/>
              </a:solidFill>
              <a:prstDash val="lgDash"/>
            </a:ln>
          </p:spPr>
          <p:txBody>
            <a:bodyPr wrap="square" lIns="0" tIns="0" rIns="0" bIns="0" rtlCol="0"/>
            <a:lstStyle/>
            <a:p>
              <a:endParaRPr/>
            </a:p>
          </p:txBody>
        </p:sp>
        <p:sp>
          <p:nvSpPr>
            <p:cNvPr id="51" name="object 51"/>
            <p:cNvSpPr/>
            <p:nvPr/>
          </p:nvSpPr>
          <p:spPr>
            <a:xfrm>
              <a:off x="1844342" y="1936323"/>
              <a:ext cx="74441" cy="63751"/>
            </a:xfrm>
            <a:prstGeom prst="rect">
              <a:avLst/>
            </a:prstGeom>
            <a:blipFill>
              <a:blip r:embed="rId13" cstate="print"/>
              <a:stretch>
                <a:fillRect/>
              </a:stretch>
            </a:blipFill>
          </p:spPr>
          <p:txBody>
            <a:bodyPr wrap="square" lIns="0" tIns="0" rIns="0" bIns="0" rtlCol="0"/>
            <a:lstStyle/>
            <a:p>
              <a:endParaRPr/>
            </a:p>
          </p:txBody>
        </p:sp>
        <p:sp>
          <p:nvSpPr>
            <p:cNvPr id="52" name="object 52"/>
            <p:cNvSpPr/>
            <p:nvPr/>
          </p:nvSpPr>
          <p:spPr>
            <a:xfrm>
              <a:off x="3189197" y="1938950"/>
              <a:ext cx="74440" cy="63751"/>
            </a:xfrm>
            <a:prstGeom prst="rect">
              <a:avLst/>
            </a:prstGeom>
            <a:blipFill>
              <a:blip r:embed="rId14" cstate="print"/>
              <a:stretch>
                <a:fillRect/>
              </a:stretch>
            </a:blipFill>
          </p:spPr>
          <p:txBody>
            <a:bodyPr wrap="square" lIns="0" tIns="0" rIns="0" bIns="0" rtlCol="0"/>
            <a:lstStyle/>
            <a:p>
              <a:endParaRPr/>
            </a:p>
          </p:txBody>
        </p:sp>
        <p:sp>
          <p:nvSpPr>
            <p:cNvPr id="53" name="object 53"/>
            <p:cNvSpPr/>
            <p:nvPr/>
          </p:nvSpPr>
          <p:spPr>
            <a:xfrm>
              <a:off x="1881721" y="2266840"/>
              <a:ext cx="1344930" cy="0"/>
            </a:xfrm>
            <a:custGeom>
              <a:avLst/>
              <a:gdLst/>
              <a:ahLst/>
              <a:cxnLst/>
              <a:rect l="l" t="t" r="r" b="b"/>
              <a:pathLst>
                <a:path w="1344930">
                  <a:moveTo>
                    <a:pt x="0" y="0"/>
                  </a:moveTo>
                  <a:lnTo>
                    <a:pt x="1344559" y="0"/>
                  </a:lnTo>
                </a:path>
              </a:pathLst>
            </a:custGeom>
            <a:ln w="5270">
              <a:solidFill>
                <a:srgbClr val="231F20"/>
              </a:solidFill>
              <a:prstDash val="lgDash"/>
            </a:ln>
          </p:spPr>
          <p:txBody>
            <a:bodyPr wrap="square" lIns="0" tIns="0" rIns="0" bIns="0" rtlCol="0"/>
            <a:lstStyle/>
            <a:p>
              <a:endParaRPr/>
            </a:p>
          </p:txBody>
        </p:sp>
        <p:sp>
          <p:nvSpPr>
            <p:cNvPr id="54" name="object 54"/>
            <p:cNvSpPr/>
            <p:nvPr/>
          </p:nvSpPr>
          <p:spPr>
            <a:xfrm>
              <a:off x="1844342" y="2234966"/>
              <a:ext cx="74375" cy="63753"/>
            </a:xfrm>
            <a:prstGeom prst="rect">
              <a:avLst/>
            </a:prstGeom>
            <a:blipFill>
              <a:blip r:embed="rId15" cstate="print"/>
              <a:stretch>
                <a:fillRect/>
              </a:stretch>
            </a:blipFill>
          </p:spPr>
          <p:txBody>
            <a:bodyPr wrap="square" lIns="0" tIns="0" rIns="0" bIns="0" rtlCol="0"/>
            <a:lstStyle/>
            <a:p>
              <a:endParaRPr/>
            </a:p>
          </p:txBody>
        </p:sp>
        <p:sp>
          <p:nvSpPr>
            <p:cNvPr id="55" name="object 55"/>
            <p:cNvSpPr/>
            <p:nvPr/>
          </p:nvSpPr>
          <p:spPr>
            <a:xfrm>
              <a:off x="3189271" y="2234966"/>
              <a:ext cx="74387" cy="63753"/>
            </a:xfrm>
            <a:prstGeom prst="rect">
              <a:avLst/>
            </a:prstGeom>
            <a:blipFill>
              <a:blip r:embed="rId16" cstate="print"/>
              <a:stretch>
                <a:fillRect/>
              </a:stretch>
            </a:blipFill>
          </p:spPr>
          <p:txBody>
            <a:bodyPr wrap="square" lIns="0" tIns="0" rIns="0" bIns="0" rtlCol="0"/>
            <a:lstStyle/>
            <a:p>
              <a:endParaRPr/>
            </a:p>
          </p:txBody>
        </p:sp>
      </p:grpSp>
      <p:grpSp>
        <p:nvGrpSpPr>
          <p:cNvPr id="56" name="object 56"/>
          <p:cNvGrpSpPr/>
          <p:nvPr/>
        </p:nvGrpSpPr>
        <p:grpSpPr>
          <a:xfrm>
            <a:off x="771526" y="3326969"/>
            <a:ext cx="4608195" cy="129539"/>
            <a:chOff x="0" y="3326968"/>
            <a:chExt cx="4608195" cy="129539"/>
          </a:xfrm>
        </p:grpSpPr>
        <p:sp>
          <p:nvSpPr>
            <p:cNvPr id="57" name="object 57"/>
            <p:cNvSpPr/>
            <p:nvPr/>
          </p:nvSpPr>
          <p:spPr>
            <a:xfrm>
              <a:off x="0"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11E"/>
            </a:solidFill>
          </p:spPr>
          <p:txBody>
            <a:bodyPr wrap="square" lIns="0" tIns="0" rIns="0" bIns="0" rtlCol="0"/>
            <a:lstStyle/>
            <a:p>
              <a:endParaRPr/>
            </a:p>
          </p:txBody>
        </p:sp>
        <p:sp>
          <p:nvSpPr>
            <p:cNvPr id="58" name="object 58"/>
            <p:cNvSpPr/>
            <p:nvPr/>
          </p:nvSpPr>
          <p:spPr>
            <a:xfrm>
              <a:off x="2303995" y="3326968"/>
              <a:ext cx="2304415" cy="129539"/>
            </a:xfrm>
            <a:custGeom>
              <a:avLst/>
              <a:gdLst/>
              <a:ahLst/>
              <a:cxnLst/>
              <a:rect l="l" t="t" r="r" b="b"/>
              <a:pathLst>
                <a:path w="2304415" h="129539">
                  <a:moveTo>
                    <a:pt x="2303995" y="0"/>
                  </a:moveTo>
                  <a:lnTo>
                    <a:pt x="0" y="0"/>
                  </a:lnTo>
                  <a:lnTo>
                    <a:pt x="0" y="129032"/>
                  </a:lnTo>
                  <a:lnTo>
                    <a:pt x="2303995" y="129032"/>
                  </a:lnTo>
                  <a:lnTo>
                    <a:pt x="2303995" y="0"/>
                  </a:lnTo>
                  <a:close/>
                </a:path>
              </a:pathLst>
            </a:custGeom>
            <a:solidFill>
              <a:srgbClr val="FCCF50"/>
            </a:solidFill>
          </p:spPr>
          <p:txBody>
            <a:bodyPr wrap="square" lIns="0" tIns="0" rIns="0" bIns="0" rtlCol="0"/>
            <a:lstStyle/>
            <a:p>
              <a:endParaRPr/>
            </a:p>
          </p:txBody>
        </p:sp>
      </p:grpSp>
      <p:sp>
        <p:nvSpPr>
          <p:cNvPr id="59" name="object 59"/>
          <p:cNvSpPr txBox="1"/>
          <p:nvPr/>
        </p:nvSpPr>
        <p:spPr>
          <a:xfrm>
            <a:off x="838225" y="3331252"/>
            <a:ext cx="740410" cy="101310"/>
          </a:xfrm>
          <a:prstGeom prst="rect">
            <a:avLst/>
          </a:prstGeom>
        </p:spPr>
        <p:txBody>
          <a:bodyPr vert="horz" wrap="square" lIns="0" tIns="8890" rIns="0" bIns="0" rtlCol="0">
            <a:spAutoFit/>
          </a:bodyPr>
          <a:lstStyle/>
          <a:p>
            <a:pPr marL="12700">
              <a:spcBef>
                <a:spcPts val="70"/>
              </a:spcBef>
            </a:pPr>
            <a:r>
              <a:rPr sz="600" spc="-5" dirty="0">
                <a:solidFill>
                  <a:srgbClr val="04064C"/>
                </a:solidFill>
                <a:latin typeface="Arial"/>
                <a:cs typeface="Arial"/>
                <a:hlinkClick r:id="rId17" action="ppaction://hlinksldjump"/>
              </a:rPr>
              <a:t>Middleware</a:t>
            </a:r>
            <a:r>
              <a:rPr sz="600" spc="-40" dirty="0">
                <a:solidFill>
                  <a:srgbClr val="04064C"/>
                </a:solidFill>
                <a:latin typeface="Arial"/>
                <a:cs typeface="Arial"/>
                <a:hlinkClick r:id="rId17" action="ppaction://hlinksldjump"/>
              </a:rPr>
              <a:t> </a:t>
            </a:r>
            <a:r>
              <a:rPr sz="600" spc="-5" dirty="0">
                <a:solidFill>
                  <a:srgbClr val="04064C"/>
                </a:solidFill>
                <a:latin typeface="Arial"/>
                <a:cs typeface="Arial"/>
                <a:hlinkClick r:id="rId17" action="ppaction://hlinksldjump"/>
              </a:rPr>
              <a:t>protocols</a:t>
            </a:r>
            <a:endParaRPr sz="600">
              <a:latin typeface="Arial"/>
              <a:cs typeface="Arial"/>
            </a:endParaRPr>
          </a:p>
        </p:txBody>
      </p:sp>
      <p:sp>
        <p:nvSpPr>
          <p:cNvPr id="60" name="object 60"/>
          <p:cNvSpPr txBox="1"/>
          <p:nvPr/>
        </p:nvSpPr>
        <p:spPr>
          <a:xfrm>
            <a:off x="5072088" y="3331253"/>
            <a:ext cx="241300" cy="193643"/>
          </a:xfrm>
          <a:prstGeom prst="rect">
            <a:avLst/>
          </a:prstGeom>
        </p:spPr>
        <p:txBody>
          <a:bodyPr vert="horz" wrap="square" lIns="0" tIns="8890" rIns="0" bIns="0" rtlCol="0">
            <a:spAutoFit/>
          </a:bodyPr>
          <a:lstStyle/>
          <a:p>
            <a:pPr marL="38098">
              <a:spcBef>
                <a:spcPts val="70"/>
              </a:spcBef>
            </a:pPr>
            <a:fld id="{81D60167-4931-47E6-BA6A-407CBD079E47}" type="slidenum">
              <a:rPr sz="600" spc="-5" dirty="0">
                <a:solidFill>
                  <a:srgbClr val="04064C"/>
                </a:solidFill>
                <a:latin typeface="Arial"/>
                <a:cs typeface="Arial"/>
              </a:rPr>
              <a:pPr marL="38098">
                <a:spcBef>
                  <a:spcPts val="70"/>
                </a:spcBef>
              </a:pPr>
              <a:t>17</a:t>
            </a:fld>
            <a:r>
              <a:rPr sz="600" spc="-5" dirty="0">
                <a:solidFill>
                  <a:srgbClr val="04064C"/>
                </a:solidFill>
                <a:latin typeface="Arial"/>
                <a:cs typeface="Arial"/>
              </a:rPr>
              <a:t> /</a:t>
            </a:r>
            <a:r>
              <a:rPr sz="600" spc="-70" dirty="0">
                <a:solidFill>
                  <a:srgbClr val="04064C"/>
                </a:solidFill>
                <a:latin typeface="Arial"/>
                <a:cs typeface="Arial"/>
              </a:rPr>
              <a:t> </a:t>
            </a:r>
            <a:r>
              <a:rPr sz="600" spc="-5" dirty="0">
                <a:solidFill>
                  <a:srgbClr val="04064C"/>
                </a:solidFill>
                <a:latin typeface="Arial"/>
                <a:cs typeface="Arial"/>
              </a:rPr>
              <a:t>49</a:t>
            </a:r>
            <a:endParaRPr sz="600">
              <a:latin typeface="Arial"/>
              <a:cs typeface="Arial"/>
            </a:endParaRP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238" y="716"/>
            <a:ext cx="4541520" cy="104516"/>
          </a:xfrm>
          <a:prstGeom prst="rect">
            <a:avLst/>
          </a:prstGeom>
        </p:spPr>
        <p:txBody>
          <a:bodyPr vert="horz" wrap="square" lIns="0" tIns="12065" rIns="0" bIns="0" rtlCol="0">
            <a:spAutoFit/>
          </a:bodyPr>
          <a:lstStyle/>
          <a:p>
            <a:pPr marL="12700">
              <a:spcBef>
                <a:spcPts val="95"/>
              </a:spcBef>
              <a:tabLst>
                <a:tab pos="3631410" algn="l"/>
              </a:tabLst>
            </a:pPr>
            <a:r>
              <a:rPr sz="600" spc="-5" dirty="0">
                <a:solidFill>
                  <a:srgbClr val="04064C"/>
                </a:solidFill>
                <a:latin typeface="Arial"/>
                <a:cs typeface="Arial"/>
                <a:hlinkClick r:id="rId2" action="ppaction://hlinksldjump"/>
              </a:rPr>
              <a:t>Communication:</a:t>
            </a:r>
            <a:r>
              <a:rPr sz="600" spc="-5" dirty="0">
                <a:solidFill>
                  <a:srgbClr val="04064C"/>
                </a:solidFill>
                <a:latin typeface="Arial"/>
                <a:cs typeface="Arial"/>
              </a:rPr>
              <a:t> </a:t>
            </a:r>
            <a:r>
              <a:rPr sz="600" spc="10" dirty="0">
                <a:solidFill>
                  <a:srgbClr val="04064C"/>
                </a:solidFill>
                <a:latin typeface="Arial"/>
                <a:cs typeface="Arial"/>
              </a:rPr>
              <a:t> </a:t>
            </a:r>
            <a:r>
              <a:rPr sz="600" spc="-5" dirty="0">
                <a:solidFill>
                  <a:srgbClr val="04064C"/>
                </a:solidFill>
                <a:latin typeface="Arial"/>
                <a:cs typeface="Arial"/>
                <a:hlinkClick r:id="rId2" action="ppaction://hlinksldjump"/>
              </a:rPr>
              <a:t>Foundations</a:t>
            </a:r>
            <a:r>
              <a:rPr sz="600" spc="-5" dirty="0">
                <a:solidFill>
                  <a:srgbClr val="04064C"/>
                </a:solidFill>
                <a:latin typeface="Arial"/>
                <a:cs typeface="Arial"/>
              </a:rPr>
              <a:t>	</a:t>
            </a:r>
            <a:r>
              <a:rPr sz="600" spc="-20" dirty="0">
                <a:solidFill>
                  <a:srgbClr val="04064C"/>
                </a:solidFill>
                <a:latin typeface="Arial"/>
                <a:cs typeface="Arial"/>
                <a:hlinkClick r:id="rId3" action="ppaction://hlinksldjump"/>
              </a:rPr>
              <a:t>Types </a:t>
            </a:r>
            <a:r>
              <a:rPr sz="600" spc="-5" dirty="0">
                <a:solidFill>
                  <a:srgbClr val="04064C"/>
                </a:solidFill>
                <a:latin typeface="Arial"/>
                <a:cs typeface="Arial"/>
                <a:hlinkClick r:id="rId3" action="ppaction://hlinksldjump"/>
              </a:rPr>
              <a:t>of Communication</a:t>
            </a:r>
            <a:endParaRPr sz="600">
              <a:latin typeface="Arial"/>
              <a:cs typeface="Arial"/>
            </a:endParaRPr>
          </a:p>
        </p:txBody>
      </p:sp>
      <p:sp>
        <p:nvSpPr>
          <p:cNvPr id="3" name="object 3"/>
          <p:cNvSpPr txBox="1">
            <a:spLocks noGrp="1"/>
          </p:cNvSpPr>
          <p:nvPr>
            <p:ph type="title"/>
          </p:nvPr>
        </p:nvSpPr>
        <p:spPr>
          <a:xfrm>
            <a:off x="771526" y="129033"/>
            <a:ext cx="4608195" cy="278281"/>
          </a:xfrm>
          <a:prstGeom prst="rect">
            <a:avLst/>
          </a:prstGeom>
          <a:solidFill>
            <a:srgbClr val="FFE600"/>
          </a:solidFill>
        </p:spPr>
        <p:txBody>
          <a:bodyPr vert="horz" wrap="square" lIns="0" tIns="62230" rIns="0" bIns="0" rtlCol="0">
            <a:spAutoFit/>
          </a:bodyPr>
          <a:lstStyle/>
          <a:p>
            <a:pPr marL="107945">
              <a:spcBef>
                <a:spcPts val="490"/>
              </a:spcBef>
            </a:pPr>
            <a:r>
              <a:rPr spc="-20" dirty="0"/>
              <a:t>Types </a:t>
            </a:r>
            <a:r>
              <a:rPr spc="10" dirty="0"/>
              <a:t>of</a:t>
            </a:r>
            <a:r>
              <a:rPr spc="25" dirty="0"/>
              <a:t> </a:t>
            </a:r>
            <a:r>
              <a:rPr spc="15" dirty="0"/>
              <a:t>communication</a:t>
            </a:r>
          </a:p>
        </p:txBody>
      </p:sp>
      <p:sp>
        <p:nvSpPr>
          <p:cNvPr id="4" name="object 4"/>
          <p:cNvSpPr/>
          <p:nvPr/>
        </p:nvSpPr>
        <p:spPr>
          <a:xfrm>
            <a:off x="859269" y="665799"/>
            <a:ext cx="4432935" cy="183515"/>
          </a:xfrm>
          <a:custGeom>
            <a:avLst/>
            <a:gdLst/>
            <a:ahLst/>
            <a:cxnLst/>
            <a:rect l="l" t="t" r="r" b="b"/>
            <a:pathLst>
              <a:path w="4432935" h="183515">
                <a:moveTo>
                  <a:pt x="4381767" y="0"/>
                </a:moveTo>
                <a:lnTo>
                  <a:pt x="50800" y="0"/>
                </a:lnTo>
                <a:lnTo>
                  <a:pt x="31075" y="4008"/>
                </a:lnTo>
                <a:lnTo>
                  <a:pt x="14922" y="14922"/>
                </a:lnTo>
                <a:lnTo>
                  <a:pt x="4008" y="31075"/>
                </a:lnTo>
                <a:lnTo>
                  <a:pt x="0" y="50800"/>
                </a:lnTo>
                <a:lnTo>
                  <a:pt x="0" y="182971"/>
                </a:lnTo>
                <a:lnTo>
                  <a:pt x="4432567" y="182971"/>
                </a:lnTo>
                <a:lnTo>
                  <a:pt x="4432567" y="50800"/>
                </a:lnTo>
                <a:lnTo>
                  <a:pt x="4428558" y="31075"/>
                </a:lnTo>
                <a:lnTo>
                  <a:pt x="4417644" y="14922"/>
                </a:lnTo>
                <a:lnTo>
                  <a:pt x="4401492" y="4008"/>
                </a:lnTo>
                <a:lnTo>
                  <a:pt x="4381767" y="0"/>
                </a:lnTo>
                <a:close/>
              </a:path>
            </a:pathLst>
          </a:custGeom>
          <a:solidFill>
            <a:srgbClr val="FCBB06"/>
          </a:solidFill>
        </p:spPr>
        <p:txBody>
          <a:bodyPr wrap="square" lIns="0" tIns="0" rIns="0" bIns="0" rtlCol="0"/>
          <a:lstStyle/>
          <a:p>
            <a:endParaRPr/>
          </a:p>
        </p:txBody>
      </p:sp>
      <p:sp>
        <p:nvSpPr>
          <p:cNvPr id="5" name="object 5"/>
          <p:cNvSpPr txBox="1"/>
          <p:nvPr/>
        </p:nvSpPr>
        <p:spPr>
          <a:xfrm>
            <a:off x="897371" y="656089"/>
            <a:ext cx="4295369" cy="166071"/>
          </a:xfrm>
          <a:prstGeom prst="rect">
            <a:avLst/>
          </a:prstGeom>
        </p:spPr>
        <p:txBody>
          <a:bodyPr vert="horz" wrap="square" lIns="0" tIns="12065" rIns="0" bIns="0" rtlCol="0">
            <a:spAutoFit/>
          </a:bodyPr>
          <a:lstStyle/>
          <a:p>
            <a:r>
              <a:rPr lang="en-US" sz="1000" dirty="0"/>
              <a:t>Viewing middleware as an distributed service in application-level communication</a:t>
            </a:r>
            <a:endParaRPr sz="1000" dirty="0">
              <a:latin typeface="Arial"/>
              <a:cs typeface="Arial"/>
            </a:endParaRPr>
          </a:p>
        </p:txBody>
      </p:sp>
      <p:grpSp>
        <p:nvGrpSpPr>
          <p:cNvPr id="6" name="object 6"/>
          <p:cNvGrpSpPr/>
          <p:nvPr/>
        </p:nvGrpSpPr>
        <p:grpSpPr>
          <a:xfrm>
            <a:off x="859270" y="710019"/>
            <a:ext cx="4483735" cy="2447925"/>
            <a:chOff x="87743" y="710018"/>
            <a:chExt cx="4483735" cy="2447925"/>
          </a:xfrm>
        </p:grpSpPr>
        <p:sp>
          <p:nvSpPr>
            <p:cNvPr id="7" name="object 7"/>
            <p:cNvSpPr/>
            <p:nvPr/>
          </p:nvSpPr>
          <p:spPr>
            <a:xfrm>
              <a:off x="87744" y="836117"/>
              <a:ext cx="4432566" cy="50609"/>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138544" y="3055848"/>
              <a:ext cx="101600" cy="101600"/>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189344" y="3043148"/>
              <a:ext cx="4381715" cy="114300"/>
            </a:xfrm>
            <a:prstGeom prst="rect">
              <a:avLst/>
            </a:prstGeom>
            <a:blipFill>
              <a:blip r:embed="rId6" cstate="print"/>
              <a:stretch>
                <a:fillRect/>
              </a:stretch>
            </a:blipFill>
          </p:spPr>
          <p:txBody>
            <a:bodyPr wrap="square" lIns="0" tIns="0" rIns="0" bIns="0" rtlCol="0"/>
            <a:lstStyle/>
            <a:p>
              <a:endParaRPr/>
            </a:p>
          </p:txBody>
        </p:sp>
        <p:sp>
          <p:nvSpPr>
            <p:cNvPr id="10" name="object 10"/>
            <p:cNvSpPr/>
            <p:nvPr/>
          </p:nvSpPr>
          <p:spPr>
            <a:xfrm>
              <a:off x="4520311" y="710044"/>
              <a:ext cx="50749" cy="2345804"/>
            </a:xfrm>
            <a:prstGeom prst="rect">
              <a:avLst/>
            </a:prstGeom>
            <a:blipFill>
              <a:blip r:embed="rId7" cstate="print"/>
              <a:stretch>
                <a:fillRect/>
              </a:stretch>
            </a:blipFill>
          </p:spPr>
          <p:txBody>
            <a:bodyPr wrap="square" lIns="0" tIns="0" rIns="0" bIns="0" rtlCol="0"/>
            <a:lstStyle/>
            <a:p>
              <a:endParaRPr/>
            </a:p>
          </p:txBody>
        </p:sp>
        <p:sp>
          <p:nvSpPr>
            <p:cNvPr id="11" name="object 11"/>
            <p:cNvSpPr/>
            <p:nvPr/>
          </p:nvSpPr>
          <p:spPr>
            <a:xfrm>
              <a:off x="87743" y="880376"/>
              <a:ext cx="4432935" cy="2226310"/>
            </a:xfrm>
            <a:custGeom>
              <a:avLst/>
              <a:gdLst/>
              <a:ahLst/>
              <a:cxnLst/>
              <a:rect l="l" t="t" r="r" b="b"/>
              <a:pathLst>
                <a:path w="4432935" h="2226310">
                  <a:moveTo>
                    <a:pt x="4432567" y="0"/>
                  </a:moveTo>
                  <a:lnTo>
                    <a:pt x="0" y="0"/>
                  </a:lnTo>
                  <a:lnTo>
                    <a:pt x="0" y="2175471"/>
                  </a:lnTo>
                  <a:lnTo>
                    <a:pt x="4008" y="2195196"/>
                  </a:lnTo>
                  <a:lnTo>
                    <a:pt x="14922" y="2211349"/>
                  </a:lnTo>
                  <a:lnTo>
                    <a:pt x="31075" y="2222263"/>
                  </a:lnTo>
                  <a:lnTo>
                    <a:pt x="50800" y="2226272"/>
                  </a:lnTo>
                  <a:lnTo>
                    <a:pt x="4381767" y="2226272"/>
                  </a:lnTo>
                  <a:lnTo>
                    <a:pt x="4401492" y="2222263"/>
                  </a:lnTo>
                  <a:lnTo>
                    <a:pt x="4417644" y="2211349"/>
                  </a:lnTo>
                  <a:lnTo>
                    <a:pt x="4428558" y="2195196"/>
                  </a:lnTo>
                  <a:lnTo>
                    <a:pt x="4432567" y="2175471"/>
                  </a:lnTo>
                  <a:lnTo>
                    <a:pt x="4432567" y="0"/>
                  </a:lnTo>
                  <a:close/>
                </a:path>
              </a:pathLst>
            </a:custGeom>
            <a:solidFill>
              <a:srgbClr val="FEEDC0"/>
            </a:solidFill>
          </p:spPr>
          <p:txBody>
            <a:bodyPr wrap="square" lIns="0" tIns="0" rIns="0" bIns="0" rtlCol="0"/>
            <a:lstStyle/>
            <a:p>
              <a:endParaRPr/>
            </a:p>
          </p:txBody>
        </p:sp>
        <p:sp>
          <p:nvSpPr>
            <p:cNvPr id="12" name="object 12"/>
            <p:cNvSpPr/>
            <p:nvPr/>
          </p:nvSpPr>
          <p:spPr>
            <a:xfrm>
              <a:off x="4520311" y="748118"/>
              <a:ext cx="0" cy="2327275"/>
            </a:xfrm>
            <a:custGeom>
              <a:avLst/>
              <a:gdLst/>
              <a:ahLst/>
              <a:cxnLst/>
              <a:rect l="l" t="t" r="r" b="b"/>
              <a:pathLst>
                <a:path h="2327275">
                  <a:moveTo>
                    <a:pt x="0" y="2326779"/>
                  </a:moveTo>
                  <a:lnTo>
                    <a:pt x="0" y="0"/>
                  </a:lnTo>
                </a:path>
              </a:pathLst>
            </a:custGeom>
            <a:ln w="3175">
              <a:solidFill>
                <a:srgbClr val="7F7F7F"/>
              </a:solidFill>
            </a:ln>
          </p:spPr>
          <p:txBody>
            <a:bodyPr wrap="square" lIns="0" tIns="0" rIns="0" bIns="0" rtlCol="0"/>
            <a:lstStyle/>
            <a:p>
              <a:endParaRPr/>
            </a:p>
          </p:txBody>
        </p:sp>
        <p:sp>
          <p:nvSpPr>
            <p:cNvPr id="13" name="object 13"/>
            <p:cNvSpPr/>
            <p:nvPr/>
          </p:nvSpPr>
          <p:spPr>
            <a:xfrm>
              <a:off x="4520311" y="735418"/>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4" name="object 14"/>
            <p:cNvSpPr/>
            <p:nvPr/>
          </p:nvSpPr>
          <p:spPr>
            <a:xfrm>
              <a:off x="4520311" y="722718"/>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5" name="object 15"/>
            <p:cNvSpPr/>
            <p:nvPr/>
          </p:nvSpPr>
          <p:spPr>
            <a:xfrm>
              <a:off x="4520311" y="710018"/>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6" name="object 16"/>
          <p:cNvSpPr txBox="1"/>
          <p:nvPr/>
        </p:nvSpPr>
        <p:spPr>
          <a:xfrm>
            <a:off x="2780330" y="2337131"/>
            <a:ext cx="274320" cy="114775"/>
          </a:xfrm>
          <a:prstGeom prst="rect">
            <a:avLst/>
          </a:prstGeom>
        </p:spPr>
        <p:txBody>
          <a:bodyPr vert="horz" wrap="square" lIns="0" tIns="14605" rIns="0" bIns="0" rtlCol="0">
            <a:spAutoFit/>
          </a:bodyPr>
          <a:lstStyle/>
          <a:p>
            <a:pPr marL="12700">
              <a:spcBef>
                <a:spcPts val="115"/>
              </a:spcBef>
            </a:pPr>
            <a:r>
              <a:rPr sz="650" spc="5" dirty="0">
                <a:solidFill>
                  <a:srgbClr val="231F20"/>
                </a:solidFill>
                <a:latin typeface="Arial"/>
                <a:cs typeface="Arial"/>
              </a:rPr>
              <a:t>Se</a:t>
            </a:r>
            <a:r>
              <a:rPr sz="650" spc="15" dirty="0">
                <a:solidFill>
                  <a:srgbClr val="231F20"/>
                </a:solidFill>
                <a:latin typeface="Arial"/>
                <a:cs typeface="Arial"/>
              </a:rPr>
              <a:t>r</a:t>
            </a:r>
            <a:r>
              <a:rPr sz="650" spc="-15" dirty="0">
                <a:solidFill>
                  <a:srgbClr val="231F20"/>
                </a:solidFill>
                <a:latin typeface="Arial"/>
                <a:cs typeface="Arial"/>
              </a:rPr>
              <a:t>v</a:t>
            </a:r>
            <a:r>
              <a:rPr sz="650" spc="5" dirty="0">
                <a:solidFill>
                  <a:srgbClr val="231F20"/>
                </a:solidFill>
                <a:latin typeface="Arial"/>
                <a:cs typeface="Arial"/>
              </a:rPr>
              <a:t>er</a:t>
            </a:r>
            <a:endParaRPr sz="650">
              <a:latin typeface="Arial"/>
              <a:cs typeface="Arial"/>
            </a:endParaRPr>
          </a:p>
        </p:txBody>
      </p:sp>
      <p:grpSp>
        <p:nvGrpSpPr>
          <p:cNvPr id="17" name="object 17"/>
          <p:cNvGrpSpPr/>
          <p:nvPr/>
        </p:nvGrpSpPr>
        <p:grpSpPr>
          <a:xfrm>
            <a:off x="1757642" y="1214439"/>
            <a:ext cx="2218690" cy="1116965"/>
            <a:chOff x="986116" y="1214437"/>
            <a:chExt cx="2218690" cy="1116965"/>
          </a:xfrm>
        </p:grpSpPr>
        <p:sp>
          <p:nvSpPr>
            <p:cNvPr id="18" name="object 18"/>
            <p:cNvSpPr/>
            <p:nvPr/>
          </p:nvSpPr>
          <p:spPr>
            <a:xfrm>
              <a:off x="1838582" y="1735096"/>
              <a:ext cx="166091" cy="130079"/>
            </a:xfrm>
            <a:prstGeom prst="rect">
              <a:avLst/>
            </a:prstGeom>
            <a:blipFill>
              <a:blip r:embed="rId8" cstate="print"/>
              <a:stretch>
                <a:fillRect/>
              </a:stretch>
            </a:blipFill>
          </p:spPr>
          <p:txBody>
            <a:bodyPr wrap="square" lIns="0" tIns="0" rIns="0" bIns="0" rtlCol="0"/>
            <a:lstStyle/>
            <a:p>
              <a:endParaRPr/>
            </a:p>
          </p:txBody>
        </p:sp>
        <p:sp>
          <p:nvSpPr>
            <p:cNvPr id="19" name="object 19"/>
            <p:cNvSpPr/>
            <p:nvPr/>
          </p:nvSpPr>
          <p:spPr>
            <a:xfrm>
              <a:off x="2864787" y="1743438"/>
              <a:ext cx="166105" cy="130079"/>
            </a:xfrm>
            <a:prstGeom prst="rect">
              <a:avLst/>
            </a:prstGeom>
            <a:blipFill>
              <a:blip r:embed="rId9" cstate="print"/>
              <a:stretch>
                <a:fillRect/>
              </a:stretch>
            </a:blipFill>
          </p:spPr>
          <p:txBody>
            <a:bodyPr wrap="square" lIns="0" tIns="0" rIns="0" bIns="0" rtlCol="0"/>
            <a:lstStyle/>
            <a:p>
              <a:endParaRPr/>
            </a:p>
          </p:txBody>
        </p:sp>
        <p:sp>
          <p:nvSpPr>
            <p:cNvPr id="20" name="object 20"/>
            <p:cNvSpPr/>
            <p:nvPr/>
          </p:nvSpPr>
          <p:spPr>
            <a:xfrm>
              <a:off x="1160664" y="1735096"/>
              <a:ext cx="166090" cy="130079"/>
            </a:xfrm>
            <a:prstGeom prst="rect">
              <a:avLst/>
            </a:prstGeom>
            <a:blipFill>
              <a:blip r:embed="rId10" cstate="print"/>
              <a:stretch>
                <a:fillRect/>
              </a:stretch>
            </a:blipFill>
          </p:spPr>
          <p:txBody>
            <a:bodyPr wrap="square" lIns="0" tIns="0" rIns="0" bIns="0" rtlCol="0"/>
            <a:lstStyle/>
            <a:p>
              <a:endParaRPr/>
            </a:p>
          </p:txBody>
        </p:sp>
        <p:sp>
          <p:nvSpPr>
            <p:cNvPr id="21" name="object 21"/>
            <p:cNvSpPr/>
            <p:nvPr/>
          </p:nvSpPr>
          <p:spPr>
            <a:xfrm>
              <a:off x="996907" y="1484764"/>
              <a:ext cx="2201545" cy="608965"/>
            </a:xfrm>
            <a:custGeom>
              <a:avLst/>
              <a:gdLst/>
              <a:ahLst/>
              <a:cxnLst/>
              <a:rect l="l" t="t" r="r" b="b"/>
              <a:pathLst>
                <a:path w="2201545" h="608964">
                  <a:moveTo>
                    <a:pt x="748328" y="608565"/>
                  </a:moveTo>
                  <a:lnTo>
                    <a:pt x="0" y="608565"/>
                  </a:lnTo>
                  <a:lnTo>
                    <a:pt x="0" y="0"/>
                  </a:lnTo>
                  <a:lnTo>
                    <a:pt x="748328" y="0"/>
                  </a:lnTo>
                </a:path>
                <a:path w="2201545" h="608964">
                  <a:moveTo>
                    <a:pt x="1452638" y="608565"/>
                  </a:moveTo>
                  <a:lnTo>
                    <a:pt x="2200964" y="608565"/>
                  </a:lnTo>
                  <a:lnTo>
                    <a:pt x="2200964" y="0"/>
                  </a:lnTo>
                  <a:lnTo>
                    <a:pt x="1452638" y="0"/>
                  </a:lnTo>
                </a:path>
              </a:pathLst>
            </a:custGeom>
            <a:ln w="5270">
              <a:solidFill>
                <a:srgbClr val="231F20"/>
              </a:solidFill>
            </a:ln>
          </p:spPr>
          <p:txBody>
            <a:bodyPr wrap="square" lIns="0" tIns="0" rIns="0" bIns="0" rtlCol="0"/>
            <a:lstStyle/>
            <a:p>
              <a:endParaRPr/>
            </a:p>
          </p:txBody>
        </p:sp>
        <p:sp>
          <p:nvSpPr>
            <p:cNvPr id="22" name="object 22"/>
            <p:cNvSpPr/>
            <p:nvPr/>
          </p:nvSpPr>
          <p:spPr>
            <a:xfrm>
              <a:off x="1745236" y="1484764"/>
              <a:ext cx="704850" cy="608965"/>
            </a:xfrm>
            <a:custGeom>
              <a:avLst/>
              <a:gdLst/>
              <a:ahLst/>
              <a:cxnLst/>
              <a:rect l="l" t="t" r="r" b="b"/>
              <a:pathLst>
                <a:path w="704850" h="608964">
                  <a:moveTo>
                    <a:pt x="0" y="0"/>
                  </a:moveTo>
                  <a:lnTo>
                    <a:pt x="704309" y="0"/>
                  </a:lnTo>
                </a:path>
                <a:path w="704850" h="608964">
                  <a:moveTo>
                    <a:pt x="0" y="608565"/>
                  </a:moveTo>
                  <a:lnTo>
                    <a:pt x="704309" y="608565"/>
                  </a:lnTo>
                </a:path>
              </a:pathLst>
            </a:custGeom>
            <a:ln w="5270">
              <a:solidFill>
                <a:srgbClr val="231F20"/>
              </a:solidFill>
              <a:prstDash val="lgDash"/>
            </a:ln>
          </p:spPr>
          <p:txBody>
            <a:bodyPr wrap="square" lIns="0" tIns="0" rIns="0" bIns="0" rtlCol="0"/>
            <a:lstStyle/>
            <a:p>
              <a:endParaRPr/>
            </a:p>
          </p:txBody>
        </p:sp>
        <p:sp>
          <p:nvSpPr>
            <p:cNvPr id="23" name="object 23"/>
            <p:cNvSpPr/>
            <p:nvPr/>
          </p:nvSpPr>
          <p:spPr>
            <a:xfrm>
              <a:off x="1262549" y="1295730"/>
              <a:ext cx="1662430" cy="473075"/>
            </a:xfrm>
            <a:custGeom>
              <a:avLst/>
              <a:gdLst/>
              <a:ahLst/>
              <a:cxnLst/>
              <a:rect l="l" t="t" r="r" b="b"/>
              <a:pathLst>
                <a:path w="1662430" h="473075">
                  <a:moveTo>
                    <a:pt x="0" y="0"/>
                  </a:moveTo>
                  <a:lnTo>
                    <a:pt x="181696" y="452604"/>
                  </a:lnTo>
                </a:path>
                <a:path w="1662430" h="473075">
                  <a:moveTo>
                    <a:pt x="1478898" y="473027"/>
                  </a:moveTo>
                  <a:lnTo>
                    <a:pt x="1662195" y="15379"/>
                  </a:lnTo>
                </a:path>
              </a:pathLst>
            </a:custGeom>
            <a:ln w="5270">
              <a:solidFill>
                <a:srgbClr val="231F20"/>
              </a:solidFill>
            </a:ln>
          </p:spPr>
          <p:txBody>
            <a:bodyPr wrap="square" lIns="0" tIns="0" rIns="0" bIns="0" rtlCol="0"/>
            <a:lstStyle/>
            <a:p>
              <a:endParaRPr/>
            </a:p>
          </p:txBody>
        </p:sp>
        <p:sp>
          <p:nvSpPr>
            <p:cNvPr id="24" name="object 24"/>
            <p:cNvSpPr/>
            <p:nvPr/>
          </p:nvSpPr>
          <p:spPr>
            <a:xfrm>
              <a:off x="2889569" y="1301506"/>
              <a:ext cx="40005" cy="57150"/>
            </a:xfrm>
            <a:custGeom>
              <a:avLst/>
              <a:gdLst/>
              <a:ahLst/>
              <a:cxnLst/>
              <a:rect l="l" t="t" r="r" b="b"/>
              <a:pathLst>
                <a:path w="40005" h="57150">
                  <a:moveTo>
                    <a:pt x="39265" y="0"/>
                  </a:moveTo>
                  <a:lnTo>
                    <a:pt x="0" y="40835"/>
                  </a:lnTo>
                  <a:lnTo>
                    <a:pt x="24507" y="37178"/>
                  </a:lnTo>
                  <a:lnTo>
                    <a:pt x="39823" y="56647"/>
                  </a:lnTo>
                  <a:lnTo>
                    <a:pt x="39265" y="0"/>
                  </a:lnTo>
                  <a:close/>
                </a:path>
              </a:pathLst>
            </a:custGeom>
            <a:solidFill>
              <a:srgbClr val="231F20"/>
            </a:solidFill>
          </p:spPr>
          <p:txBody>
            <a:bodyPr wrap="square" lIns="0" tIns="0" rIns="0" bIns="0" rtlCol="0"/>
            <a:lstStyle/>
            <a:p>
              <a:endParaRPr/>
            </a:p>
          </p:txBody>
        </p:sp>
        <p:sp>
          <p:nvSpPr>
            <p:cNvPr id="25" name="object 25"/>
            <p:cNvSpPr/>
            <p:nvPr/>
          </p:nvSpPr>
          <p:spPr>
            <a:xfrm>
              <a:off x="1718970" y="1334162"/>
              <a:ext cx="174625" cy="431165"/>
            </a:xfrm>
            <a:custGeom>
              <a:avLst/>
              <a:gdLst/>
              <a:ahLst/>
              <a:cxnLst/>
              <a:rect l="l" t="t" r="r" b="b"/>
              <a:pathLst>
                <a:path w="174625" h="431164">
                  <a:moveTo>
                    <a:pt x="0" y="430641"/>
                  </a:moveTo>
                  <a:lnTo>
                    <a:pt x="174103" y="0"/>
                  </a:lnTo>
                </a:path>
              </a:pathLst>
            </a:custGeom>
            <a:ln w="5270">
              <a:solidFill>
                <a:srgbClr val="231F20"/>
              </a:solidFill>
            </a:ln>
          </p:spPr>
          <p:txBody>
            <a:bodyPr wrap="square" lIns="0" tIns="0" rIns="0" bIns="0" rtlCol="0"/>
            <a:lstStyle/>
            <a:p>
              <a:endParaRPr/>
            </a:p>
          </p:txBody>
        </p:sp>
        <p:sp>
          <p:nvSpPr>
            <p:cNvPr id="26" name="object 26"/>
            <p:cNvSpPr/>
            <p:nvPr/>
          </p:nvSpPr>
          <p:spPr>
            <a:xfrm>
              <a:off x="1867524" y="1299514"/>
              <a:ext cx="40005" cy="57150"/>
            </a:xfrm>
            <a:custGeom>
              <a:avLst/>
              <a:gdLst/>
              <a:ahLst/>
              <a:cxnLst/>
              <a:rect l="l" t="t" r="r" b="b"/>
              <a:pathLst>
                <a:path w="40005" h="57150">
                  <a:moveTo>
                    <a:pt x="39145" y="0"/>
                  </a:moveTo>
                  <a:lnTo>
                    <a:pt x="0" y="40951"/>
                  </a:lnTo>
                  <a:lnTo>
                    <a:pt x="24490" y="37209"/>
                  </a:lnTo>
                  <a:lnTo>
                    <a:pt x="39866" y="56647"/>
                  </a:lnTo>
                  <a:lnTo>
                    <a:pt x="39145" y="0"/>
                  </a:lnTo>
                  <a:close/>
                </a:path>
              </a:pathLst>
            </a:custGeom>
            <a:solidFill>
              <a:srgbClr val="231F20"/>
            </a:solidFill>
          </p:spPr>
          <p:txBody>
            <a:bodyPr wrap="square" lIns="0" tIns="0" rIns="0" bIns="0" rtlCol="0"/>
            <a:lstStyle/>
            <a:p>
              <a:endParaRPr/>
            </a:p>
          </p:txBody>
        </p:sp>
        <p:sp>
          <p:nvSpPr>
            <p:cNvPr id="27" name="object 27"/>
            <p:cNvSpPr/>
            <p:nvPr/>
          </p:nvSpPr>
          <p:spPr>
            <a:xfrm>
              <a:off x="1338176" y="1331822"/>
              <a:ext cx="62865" cy="152400"/>
            </a:xfrm>
            <a:custGeom>
              <a:avLst/>
              <a:gdLst/>
              <a:ahLst/>
              <a:cxnLst/>
              <a:rect l="l" t="t" r="r" b="b"/>
              <a:pathLst>
                <a:path w="62865" h="152400">
                  <a:moveTo>
                    <a:pt x="0" y="152327"/>
                  </a:moveTo>
                  <a:lnTo>
                    <a:pt x="62546" y="0"/>
                  </a:lnTo>
                </a:path>
              </a:pathLst>
            </a:custGeom>
            <a:ln w="5270">
              <a:solidFill>
                <a:srgbClr val="231F20"/>
              </a:solidFill>
            </a:ln>
          </p:spPr>
          <p:txBody>
            <a:bodyPr wrap="square" lIns="0" tIns="0" rIns="0" bIns="0" rtlCol="0"/>
            <a:lstStyle/>
            <a:p>
              <a:endParaRPr/>
            </a:p>
          </p:txBody>
        </p:sp>
        <p:sp>
          <p:nvSpPr>
            <p:cNvPr id="28" name="object 28"/>
            <p:cNvSpPr/>
            <p:nvPr/>
          </p:nvSpPr>
          <p:spPr>
            <a:xfrm>
              <a:off x="1375173" y="1297174"/>
              <a:ext cx="40005" cy="57150"/>
            </a:xfrm>
            <a:custGeom>
              <a:avLst/>
              <a:gdLst/>
              <a:ahLst/>
              <a:cxnLst/>
              <a:rect l="l" t="t" r="r" b="b"/>
              <a:pathLst>
                <a:path w="40005" h="57150">
                  <a:moveTo>
                    <a:pt x="39137" y="0"/>
                  </a:moveTo>
                  <a:lnTo>
                    <a:pt x="0" y="40962"/>
                  </a:lnTo>
                  <a:lnTo>
                    <a:pt x="24495" y="37220"/>
                  </a:lnTo>
                  <a:lnTo>
                    <a:pt x="39870" y="56647"/>
                  </a:lnTo>
                  <a:lnTo>
                    <a:pt x="39137" y="0"/>
                  </a:lnTo>
                  <a:close/>
                </a:path>
              </a:pathLst>
            </a:custGeom>
            <a:solidFill>
              <a:srgbClr val="231F20"/>
            </a:solidFill>
          </p:spPr>
          <p:txBody>
            <a:bodyPr wrap="square" lIns="0" tIns="0" rIns="0" bIns="0" rtlCol="0"/>
            <a:lstStyle/>
            <a:p>
              <a:endParaRPr/>
            </a:p>
          </p:txBody>
        </p:sp>
        <p:sp>
          <p:nvSpPr>
            <p:cNvPr id="29" name="object 29"/>
            <p:cNvSpPr/>
            <p:nvPr/>
          </p:nvSpPr>
          <p:spPr>
            <a:xfrm>
              <a:off x="1465327" y="1803015"/>
              <a:ext cx="198755" cy="478790"/>
            </a:xfrm>
            <a:custGeom>
              <a:avLst/>
              <a:gdLst/>
              <a:ahLst/>
              <a:cxnLst/>
              <a:rect l="l" t="t" r="r" b="b"/>
              <a:pathLst>
                <a:path w="198755" h="478789">
                  <a:moveTo>
                    <a:pt x="0" y="0"/>
                  </a:moveTo>
                  <a:lnTo>
                    <a:pt x="198306" y="478297"/>
                  </a:lnTo>
                </a:path>
              </a:pathLst>
            </a:custGeom>
            <a:ln w="5270">
              <a:solidFill>
                <a:srgbClr val="231F20"/>
              </a:solidFill>
            </a:ln>
          </p:spPr>
          <p:txBody>
            <a:bodyPr wrap="square" lIns="0" tIns="0" rIns="0" bIns="0" rtlCol="0"/>
            <a:lstStyle/>
            <a:p>
              <a:endParaRPr/>
            </a:p>
          </p:txBody>
        </p:sp>
        <p:sp>
          <p:nvSpPr>
            <p:cNvPr id="30" name="object 30"/>
            <p:cNvSpPr/>
            <p:nvPr/>
          </p:nvSpPr>
          <p:spPr>
            <a:xfrm>
              <a:off x="1638039" y="2259037"/>
              <a:ext cx="40005" cy="57150"/>
            </a:xfrm>
            <a:custGeom>
              <a:avLst/>
              <a:gdLst/>
              <a:ahLst/>
              <a:cxnLst/>
              <a:rect l="l" t="t" r="r" b="b"/>
              <a:pathLst>
                <a:path w="40005" h="57150">
                  <a:moveTo>
                    <a:pt x="39552" y="0"/>
                  </a:moveTo>
                  <a:lnTo>
                    <a:pt x="24560" y="19727"/>
                  </a:lnTo>
                  <a:lnTo>
                    <a:pt x="0" y="16474"/>
                  </a:lnTo>
                  <a:lnTo>
                    <a:pt x="39939" y="56645"/>
                  </a:lnTo>
                  <a:lnTo>
                    <a:pt x="39552" y="0"/>
                  </a:lnTo>
                  <a:close/>
                </a:path>
              </a:pathLst>
            </a:custGeom>
            <a:solidFill>
              <a:srgbClr val="231F20"/>
            </a:solidFill>
          </p:spPr>
          <p:txBody>
            <a:bodyPr wrap="square" lIns="0" tIns="0" rIns="0" bIns="0" rtlCol="0"/>
            <a:lstStyle/>
            <a:p>
              <a:endParaRPr/>
            </a:p>
          </p:txBody>
        </p:sp>
        <p:sp>
          <p:nvSpPr>
            <p:cNvPr id="31" name="object 31"/>
            <p:cNvSpPr/>
            <p:nvPr/>
          </p:nvSpPr>
          <p:spPr>
            <a:xfrm>
              <a:off x="2514815" y="1799063"/>
              <a:ext cx="215265" cy="521334"/>
            </a:xfrm>
            <a:custGeom>
              <a:avLst/>
              <a:gdLst/>
              <a:ahLst/>
              <a:cxnLst/>
              <a:rect l="l" t="t" r="r" b="b"/>
              <a:pathLst>
                <a:path w="215264" h="521335">
                  <a:moveTo>
                    <a:pt x="0" y="521252"/>
                  </a:moveTo>
                  <a:lnTo>
                    <a:pt x="214772" y="0"/>
                  </a:lnTo>
                </a:path>
              </a:pathLst>
            </a:custGeom>
            <a:ln w="5270">
              <a:solidFill>
                <a:srgbClr val="231F20"/>
              </a:solidFill>
            </a:ln>
          </p:spPr>
          <p:txBody>
            <a:bodyPr wrap="square" lIns="0" tIns="0" rIns="0" bIns="0" rtlCol="0"/>
            <a:lstStyle/>
            <a:p>
              <a:endParaRPr/>
            </a:p>
          </p:txBody>
        </p:sp>
        <p:sp>
          <p:nvSpPr>
            <p:cNvPr id="32" name="object 32"/>
            <p:cNvSpPr/>
            <p:nvPr/>
          </p:nvSpPr>
          <p:spPr>
            <a:xfrm>
              <a:off x="1679968" y="2320315"/>
              <a:ext cx="835025" cy="0"/>
            </a:xfrm>
            <a:custGeom>
              <a:avLst/>
              <a:gdLst/>
              <a:ahLst/>
              <a:cxnLst/>
              <a:rect l="l" t="t" r="r" b="b"/>
              <a:pathLst>
                <a:path w="835025">
                  <a:moveTo>
                    <a:pt x="0" y="0"/>
                  </a:moveTo>
                  <a:lnTo>
                    <a:pt x="834847" y="0"/>
                  </a:lnTo>
                </a:path>
              </a:pathLst>
            </a:custGeom>
            <a:ln w="21081">
              <a:solidFill>
                <a:srgbClr val="231F20"/>
              </a:solidFill>
            </a:ln>
          </p:spPr>
          <p:txBody>
            <a:bodyPr wrap="square" lIns="0" tIns="0" rIns="0" bIns="0" rtlCol="0"/>
            <a:lstStyle/>
            <a:p>
              <a:endParaRPr/>
            </a:p>
          </p:txBody>
        </p:sp>
        <p:sp>
          <p:nvSpPr>
            <p:cNvPr id="33" name="object 33"/>
            <p:cNvSpPr/>
            <p:nvPr/>
          </p:nvSpPr>
          <p:spPr>
            <a:xfrm>
              <a:off x="996911" y="1295730"/>
              <a:ext cx="266065" cy="0"/>
            </a:xfrm>
            <a:custGeom>
              <a:avLst/>
              <a:gdLst/>
              <a:ahLst/>
              <a:cxnLst/>
              <a:rect l="l" t="t" r="r" b="b"/>
              <a:pathLst>
                <a:path w="266065">
                  <a:moveTo>
                    <a:pt x="265637" y="0"/>
                  </a:moveTo>
                  <a:lnTo>
                    <a:pt x="0" y="0"/>
                  </a:lnTo>
                </a:path>
              </a:pathLst>
            </a:custGeom>
            <a:solidFill>
              <a:srgbClr val="231F20"/>
            </a:solidFill>
          </p:spPr>
          <p:txBody>
            <a:bodyPr wrap="square" lIns="0" tIns="0" rIns="0" bIns="0" rtlCol="0"/>
            <a:lstStyle/>
            <a:p>
              <a:endParaRPr/>
            </a:p>
          </p:txBody>
        </p:sp>
        <p:sp>
          <p:nvSpPr>
            <p:cNvPr id="34" name="object 34"/>
            <p:cNvSpPr/>
            <p:nvPr/>
          </p:nvSpPr>
          <p:spPr>
            <a:xfrm>
              <a:off x="996911" y="1295730"/>
              <a:ext cx="266065" cy="0"/>
            </a:xfrm>
            <a:custGeom>
              <a:avLst/>
              <a:gdLst/>
              <a:ahLst/>
              <a:cxnLst/>
              <a:rect l="l" t="t" r="r" b="b"/>
              <a:pathLst>
                <a:path w="266065">
                  <a:moveTo>
                    <a:pt x="0" y="0"/>
                  </a:moveTo>
                  <a:lnTo>
                    <a:pt x="265637" y="0"/>
                  </a:lnTo>
                </a:path>
              </a:pathLst>
            </a:custGeom>
            <a:ln w="21081">
              <a:solidFill>
                <a:srgbClr val="231F20"/>
              </a:solidFill>
            </a:ln>
          </p:spPr>
          <p:txBody>
            <a:bodyPr wrap="square" lIns="0" tIns="0" rIns="0" bIns="0" rtlCol="0"/>
            <a:lstStyle/>
            <a:p>
              <a:endParaRPr/>
            </a:p>
          </p:txBody>
        </p:sp>
        <p:sp>
          <p:nvSpPr>
            <p:cNvPr id="35" name="object 35"/>
            <p:cNvSpPr/>
            <p:nvPr/>
          </p:nvSpPr>
          <p:spPr>
            <a:xfrm>
              <a:off x="2928023" y="1291513"/>
              <a:ext cx="266065" cy="0"/>
            </a:xfrm>
            <a:custGeom>
              <a:avLst/>
              <a:gdLst/>
              <a:ahLst/>
              <a:cxnLst/>
              <a:rect l="l" t="t" r="r" b="b"/>
              <a:pathLst>
                <a:path w="266064">
                  <a:moveTo>
                    <a:pt x="265633" y="0"/>
                  </a:moveTo>
                  <a:lnTo>
                    <a:pt x="0" y="0"/>
                  </a:lnTo>
                </a:path>
              </a:pathLst>
            </a:custGeom>
            <a:solidFill>
              <a:srgbClr val="231F20"/>
            </a:solidFill>
          </p:spPr>
          <p:txBody>
            <a:bodyPr wrap="square" lIns="0" tIns="0" rIns="0" bIns="0" rtlCol="0"/>
            <a:lstStyle/>
            <a:p>
              <a:endParaRPr/>
            </a:p>
          </p:txBody>
        </p:sp>
        <p:sp>
          <p:nvSpPr>
            <p:cNvPr id="36" name="object 36"/>
            <p:cNvSpPr/>
            <p:nvPr/>
          </p:nvSpPr>
          <p:spPr>
            <a:xfrm>
              <a:off x="2928023" y="1291513"/>
              <a:ext cx="266065" cy="0"/>
            </a:xfrm>
            <a:custGeom>
              <a:avLst/>
              <a:gdLst/>
              <a:ahLst/>
              <a:cxnLst/>
              <a:rect l="l" t="t" r="r" b="b"/>
              <a:pathLst>
                <a:path w="266064">
                  <a:moveTo>
                    <a:pt x="0" y="0"/>
                  </a:moveTo>
                  <a:lnTo>
                    <a:pt x="265633" y="0"/>
                  </a:lnTo>
                </a:path>
              </a:pathLst>
            </a:custGeom>
            <a:ln w="21081">
              <a:solidFill>
                <a:srgbClr val="231F20"/>
              </a:solidFill>
            </a:ln>
          </p:spPr>
          <p:txBody>
            <a:bodyPr wrap="square" lIns="0" tIns="0" rIns="0" bIns="0" rtlCol="0"/>
            <a:lstStyle/>
            <a:p>
              <a:endParaRPr/>
            </a:p>
          </p:txBody>
        </p:sp>
        <p:sp>
          <p:nvSpPr>
            <p:cNvPr id="37" name="object 37"/>
            <p:cNvSpPr/>
            <p:nvPr/>
          </p:nvSpPr>
          <p:spPr>
            <a:xfrm>
              <a:off x="1262549" y="1295730"/>
              <a:ext cx="1670050" cy="0"/>
            </a:xfrm>
            <a:custGeom>
              <a:avLst/>
              <a:gdLst/>
              <a:ahLst/>
              <a:cxnLst/>
              <a:rect l="l" t="t" r="r" b="b"/>
              <a:pathLst>
                <a:path w="1670050">
                  <a:moveTo>
                    <a:pt x="1669690" y="0"/>
                  </a:moveTo>
                  <a:lnTo>
                    <a:pt x="0" y="0"/>
                  </a:lnTo>
                </a:path>
              </a:pathLst>
            </a:custGeom>
            <a:solidFill>
              <a:srgbClr val="231F20"/>
            </a:solidFill>
          </p:spPr>
          <p:txBody>
            <a:bodyPr wrap="square" lIns="0" tIns="0" rIns="0" bIns="0" rtlCol="0"/>
            <a:lstStyle/>
            <a:p>
              <a:endParaRPr/>
            </a:p>
          </p:txBody>
        </p:sp>
        <p:sp>
          <p:nvSpPr>
            <p:cNvPr id="38" name="object 38"/>
            <p:cNvSpPr/>
            <p:nvPr/>
          </p:nvSpPr>
          <p:spPr>
            <a:xfrm>
              <a:off x="1262549" y="1295730"/>
              <a:ext cx="1670050" cy="0"/>
            </a:xfrm>
            <a:custGeom>
              <a:avLst/>
              <a:gdLst/>
              <a:ahLst/>
              <a:cxnLst/>
              <a:rect l="l" t="t" r="r" b="b"/>
              <a:pathLst>
                <a:path w="1670050">
                  <a:moveTo>
                    <a:pt x="0" y="0"/>
                  </a:moveTo>
                  <a:lnTo>
                    <a:pt x="1669690" y="0"/>
                  </a:lnTo>
                </a:path>
              </a:pathLst>
            </a:custGeom>
            <a:ln w="5270">
              <a:solidFill>
                <a:srgbClr val="231F20"/>
              </a:solidFill>
            </a:ln>
          </p:spPr>
          <p:txBody>
            <a:bodyPr wrap="square" lIns="0" tIns="0" rIns="0" bIns="0" rtlCol="0"/>
            <a:lstStyle/>
            <a:p>
              <a:endParaRPr/>
            </a:p>
          </p:txBody>
        </p:sp>
        <p:sp>
          <p:nvSpPr>
            <p:cNvPr id="39" name="object 39"/>
            <p:cNvSpPr/>
            <p:nvPr/>
          </p:nvSpPr>
          <p:spPr>
            <a:xfrm>
              <a:off x="996911" y="2320315"/>
              <a:ext cx="2201545" cy="0"/>
            </a:xfrm>
            <a:custGeom>
              <a:avLst/>
              <a:gdLst/>
              <a:ahLst/>
              <a:cxnLst/>
              <a:rect l="l" t="t" r="r" b="b"/>
              <a:pathLst>
                <a:path w="2201545">
                  <a:moveTo>
                    <a:pt x="683056" y="0"/>
                  </a:moveTo>
                  <a:lnTo>
                    <a:pt x="0" y="0"/>
                  </a:lnTo>
                </a:path>
                <a:path w="2201545">
                  <a:moveTo>
                    <a:pt x="2200960" y="0"/>
                  </a:moveTo>
                  <a:lnTo>
                    <a:pt x="1517903" y="0"/>
                  </a:lnTo>
                </a:path>
              </a:pathLst>
            </a:custGeom>
            <a:ln w="5270">
              <a:solidFill>
                <a:srgbClr val="231F20"/>
              </a:solidFill>
              <a:prstDash val="lgDash"/>
            </a:ln>
          </p:spPr>
          <p:txBody>
            <a:bodyPr wrap="square" lIns="0" tIns="0" rIns="0" bIns="0" rtlCol="0"/>
            <a:lstStyle/>
            <a:p>
              <a:endParaRPr/>
            </a:p>
          </p:txBody>
        </p:sp>
        <p:sp>
          <p:nvSpPr>
            <p:cNvPr id="40" name="object 40"/>
            <p:cNvSpPr/>
            <p:nvPr/>
          </p:nvSpPr>
          <p:spPr>
            <a:xfrm>
              <a:off x="1414335" y="1219835"/>
              <a:ext cx="1518285" cy="76200"/>
            </a:xfrm>
            <a:custGeom>
              <a:avLst/>
              <a:gdLst/>
              <a:ahLst/>
              <a:cxnLst/>
              <a:rect l="l" t="t" r="r" b="b"/>
              <a:pathLst>
                <a:path w="1518285" h="76200">
                  <a:moveTo>
                    <a:pt x="0" y="0"/>
                  </a:moveTo>
                  <a:lnTo>
                    <a:pt x="0" y="75895"/>
                  </a:lnTo>
                </a:path>
                <a:path w="1518285" h="76200">
                  <a:moveTo>
                    <a:pt x="493318" y="0"/>
                  </a:moveTo>
                  <a:lnTo>
                    <a:pt x="493318" y="75895"/>
                  </a:lnTo>
                </a:path>
                <a:path w="1518285" h="76200">
                  <a:moveTo>
                    <a:pt x="1517903" y="0"/>
                  </a:moveTo>
                  <a:lnTo>
                    <a:pt x="1517903" y="75895"/>
                  </a:lnTo>
                </a:path>
              </a:pathLst>
            </a:custGeom>
            <a:ln w="10540">
              <a:solidFill>
                <a:srgbClr val="231F20"/>
              </a:solidFill>
            </a:ln>
          </p:spPr>
          <p:txBody>
            <a:bodyPr wrap="square" lIns="0" tIns="0" rIns="0" bIns="0" rtlCol="0"/>
            <a:lstStyle/>
            <a:p>
              <a:endParaRPr/>
            </a:p>
          </p:txBody>
        </p:sp>
      </p:grpSp>
      <p:sp>
        <p:nvSpPr>
          <p:cNvPr id="41" name="object 41"/>
          <p:cNvSpPr txBox="1"/>
          <p:nvPr/>
        </p:nvSpPr>
        <p:spPr>
          <a:xfrm>
            <a:off x="3644264" y="895123"/>
            <a:ext cx="802640" cy="214161"/>
          </a:xfrm>
          <a:prstGeom prst="rect">
            <a:avLst/>
          </a:prstGeom>
        </p:spPr>
        <p:txBody>
          <a:bodyPr vert="horz" wrap="square" lIns="0" tIns="13970" rIns="0" bIns="0" rtlCol="0">
            <a:spAutoFit/>
          </a:bodyPr>
          <a:lstStyle/>
          <a:p>
            <a:pPr marL="12700" marR="5080" indent="60323">
              <a:spcBef>
                <a:spcPts val="110"/>
              </a:spcBef>
            </a:pPr>
            <a:r>
              <a:rPr sz="650" spc="5" dirty="0">
                <a:solidFill>
                  <a:srgbClr val="231F20"/>
                </a:solidFill>
                <a:latin typeface="Arial"/>
                <a:cs typeface="Arial"/>
              </a:rPr>
              <a:t>Synchronize after  processing </a:t>
            </a:r>
            <a:r>
              <a:rPr sz="650" spc="-5" dirty="0">
                <a:solidFill>
                  <a:srgbClr val="231F20"/>
                </a:solidFill>
                <a:latin typeface="Arial"/>
                <a:cs typeface="Arial"/>
              </a:rPr>
              <a:t>by</a:t>
            </a:r>
            <a:r>
              <a:rPr sz="650" spc="-70" dirty="0">
                <a:solidFill>
                  <a:srgbClr val="231F20"/>
                </a:solidFill>
                <a:latin typeface="Arial"/>
                <a:cs typeface="Arial"/>
              </a:rPr>
              <a:t> </a:t>
            </a:r>
            <a:r>
              <a:rPr sz="650" spc="5" dirty="0">
                <a:solidFill>
                  <a:srgbClr val="231F20"/>
                </a:solidFill>
                <a:latin typeface="Arial"/>
                <a:cs typeface="Arial"/>
              </a:rPr>
              <a:t>server</a:t>
            </a:r>
            <a:endParaRPr sz="650">
              <a:latin typeface="Arial"/>
              <a:cs typeface="Arial"/>
            </a:endParaRPr>
          </a:p>
        </p:txBody>
      </p:sp>
      <p:sp>
        <p:nvSpPr>
          <p:cNvPr id="42" name="object 42"/>
          <p:cNvSpPr txBox="1"/>
          <p:nvPr/>
        </p:nvSpPr>
        <p:spPr>
          <a:xfrm>
            <a:off x="2824046" y="895123"/>
            <a:ext cx="621030" cy="214161"/>
          </a:xfrm>
          <a:prstGeom prst="rect">
            <a:avLst/>
          </a:prstGeom>
        </p:spPr>
        <p:txBody>
          <a:bodyPr vert="horz" wrap="square" lIns="0" tIns="13970" rIns="0" bIns="0" rtlCol="0">
            <a:spAutoFit/>
          </a:bodyPr>
          <a:lstStyle/>
          <a:p>
            <a:pPr marL="12700" marR="5080" indent="7619">
              <a:spcBef>
                <a:spcPts val="110"/>
              </a:spcBef>
            </a:pPr>
            <a:r>
              <a:rPr sz="650" spc="5" dirty="0">
                <a:solidFill>
                  <a:srgbClr val="231F20"/>
                </a:solidFill>
                <a:latin typeface="Arial"/>
                <a:cs typeface="Arial"/>
              </a:rPr>
              <a:t>Synchronize at  request</a:t>
            </a:r>
            <a:r>
              <a:rPr sz="650" spc="-80" dirty="0">
                <a:solidFill>
                  <a:srgbClr val="231F20"/>
                </a:solidFill>
                <a:latin typeface="Arial"/>
                <a:cs typeface="Arial"/>
              </a:rPr>
              <a:t> </a:t>
            </a:r>
            <a:r>
              <a:rPr sz="650" spc="5" dirty="0">
                <a:solidFill>
                  <a:srgbClr val="231F20"/>
                </a:solidFill>
                <a:latin typeface="Arial"/>
                <a:cs typeface="Arial"/>
              </a:rPr>
              <a:t>delivery</a:t>
            </a:r>
            <a:endParaRPr sz="650">
              <a:latin typeface="Arial"/>
              <a:cs typeface="Arial"/>
            </a:endParaRPr>
          </a:p>
        </p:txBody>
      </p:sp>
      <p:sp>
        <p:nvSpPr>
          <p:cNvPr id="43" name="object 43"/>
          <p:cNvSpPr txBox="1"/>
          <p:nvPr/>
        </p:nvSpPr>
        <p:spPr>
          <a:xfrm>
            <a:off x="1726230" y="895122"/>
            <a:ext cx="949960" cy="352661"/>
          </a:xfrm>
          <a:prstGeom prst="rect">
            <a:avLst/>
          </a:prstGeom>
        </p:spPr>
        <p:txBody>
          <a:bodyPr vert="horz" wrap="square" lIns="0" tIns="13970" rIns="0" bIns="0" rtlCol="0">
            <a:spAutoFit/>
          </a:bodyPr>
          <a:lstStyle/>
          <a:p>
            <a:pPr marL="210176" marR="5080" indent="84451">
              <a:spcBef>
                <a:spcPts val="110"/>
              </a:spcBef>
            </a:pPr>
            <a:r>
              <a:rPr sz="650" spc="5" dirty="0">
                <a:solidFill>
                  <a:srgbClr val="231F20"/>
                </a:solidFill>
                <a:latin typeface="Arial"/>
                <a:cs typeface="Arial"/>
              </a:rPr>
              <a:t>Synchronize at  request</a:t>
            </a:r>
            <a:r>
              <a:rPr sz="650" spc="-65" dirty="0">
                <a:solidFill>
                  <a:srgbClr val="231F20"/>
                </a:solidFill>
                <a:latin typeface="Arial"/>
                <a:cs typeface="Arial"/>
              </a:rPr>
              <a:t> </a:t>
            </a:r>
            <a:r>
              <a:rPr sz="650" spc="5" dirty="0">
                <a:solidFill>
                  <a:srgbClr val="231F20"/>
                </a:solidFill>
                <a:latin typeface="Arial"/>
                <a:cs typeface="Arial"/>
              </a:rPr>
              <a:t>submission</a:t>
            </a:r>
            <a:endParaRPr sz="650">
              <a:latin typeface="Arial"/>
              <a:cs typeface="Arial"/>
            </a:endParaRPr>
          </a:p>
          <a:p>
            <a:pPr marL="12700">
              <a:spcBef>
                <a:spcPts val="300"/>
              </a:spcBef>
            </a:pPr>
            <a:r>
              <a:rPr sz="650" spc="5" dirty="0">
                <a:solidFill>
                  <a:srgbClr val="231F20"/>
                </a:solidFill>
                <a:latin typeface="Arial"/>
                <a:cs typeface="Arial"/>
              </a:rPr>
              <a:t>Client</a:t>
            </a:r>
            <a:endParaRPr sz="650">
              <a:latin typeface="Arial"/>
              <a:cs typeface="Arial"/>
            </a:endParaRPr>
          </a:p>
        </p:txBody>
      </p:sp>
      <p:sp>
        <p:nvSpPr>
          <p:cNvPr id="44" name="object 44"/>
          <p:cNvSpPr txBox="1"/>
          <p:nvPr/>
        </p:nvSpPr>
        <p:spPr>
          <a:xfrm>
            <a:off x="1712562" y="1322378"/>
            <a:ext cx="339725" cy="114134"/>
          </a:xfrm>
          <a:prstGeom prst="rect">
            <a:avLst/>
          </a:prstGeom>
        </p:spPr>
        <p:txBody>
          <a:bodyPr vert="horz" wrap="square" lIns="0" tIns="13970" rIns="0" bIns="0" rtlCol="0">
            <a:spAutoFit/>
          </a:bodyPr>
          <a:lstStyle/>
          <a:p>
            <a:pPr marL="12700">
              <a:spcBef>
                <a:spcPts val="110"/>
              </a:spcBef>
            </a:pPr>
            <a:r>
              <a:rPr sz="650" spc="5" dirty="0">
                <a:solidFill>
                  <a:srgbClr val="231F20"/>
                </a:solidFill>
                <a:latin typeface="Arial"/>
                <a:cs typeface="Arial"/>
              </a:rPr>
              <a:t>Request</a:t>
            </a:r>
            <a:endParaRPr sz="650">
              <a:latin typeface="Arial"/>
              <a:cs typeface="Arial"/>
            </a:endParaRPr>
          </a:p>
        </p:txBody>
      </p:sp>
      <p:grpSp>
        <p:nvGrpSpPr>
          <p:cNvPr id="45" name="object 45"/>
          <p:cNvGrpSpPr/>
          <p:nvPr/>
        </p:nvGrpSpPr>
        <p:grpSpPr>
          <a:xfrm>
            <a:off x="2147519" y="1725873"/>
            <a:ext cx="1431925" cy="368935"/>
            <a:chOff x="1375992" y="1725872"/>
            <a:chExt cx="1431925" cy="368935"/>
          </a:xfrm>
        </p:grpSpPr>
        <p:sp>
          <p:nvSpPr>
            <p:cNvPr id="46" name="object 46"/>
            <p:cNvSpPr/>
            <p:nvPr/>
          </p:nvSpPr>
          <p:spPr>
            <a:xfrm>
              <a:off x="1375992" y="1727190"/>
              <a:ext cx="157060" cy="87696"/>
            </a:xfrm>
            <a:prstGeom prst="rect">
              <a:avLst/>
            </a:prstGeom>
            <a:blipFill>
              <a:blip r:embed="rId11" cstate="print"/>
              <a:stretch>
                <a:fillRect/>
              </a:stretch>
            </a:blipFill>
          </p:spPr>
          <p:txBody>
            <a:bodyPr wrap="square" lIns="0" tIns="0" rIns="0" bIns="0" rtlCol="0"/>
            <a:lstStyle/>
            <a:p>
              <a:endParaRPr/>
            </a:p>
          </p:txBody>
        </p:sp>
        <p:sp>
          <p:nvSpPr>
            <p:cNvPr id="47" name="object 47"/>
            <p:cNvSpPr/>
            <p:nvPr/>
          </p:nvSpPr>
          <p:spPr>
            <a:xfrm>
              <a:off x="2650573" y="1727190"/>
              <a:ext cx="157060" cy="87696"/>
            </a:xfrm>
            <a:prstGeom prst="rect">
              <a:avLst/>
            </a:prstGeom>
            <a:blipFill>
              <a:blip r:embed="rId12" cstate="print"/>
              <a:stretch>
                <a:fillRect/>
              </a:stretch>
            </a:blipFill>
          </p:spPr>
          <p:txBody>
            <a:bodyPr wrap="square" lIns="0" tIns="0" rIns="0" bIns="0" rtlCol="0"/>
            <a:lstStyle/>
            <a:p>
              <a:endParaRPr/>
            </a:p>
          </p:txBody>
        </p:sp>
        <p:sp>
          <p:nvSpPr>
            <p:cNvPr id="48" name="object 48"/>
            <p:cNvSpPr/>
            <p:nvPr/>
          </p:nvSpPr>
          <p:spPr>
            <a:xfrm>
              <a:off x="1632665" y="1725872"/>
              <a:ext cx="157060" cy="87696"/>
            </a:xfrm>
            <a:prstGeom prst="rect">
              <a:avLst/>
            </a:prstGeom>
            <a:blipFill>
              <a:blip r:embed="rId13" cstate="print"/>
              <a:stretch>
                <a:fillRect/>
              </a:stretch>
            </a:blipFill>
          </p:spPr>
          <p:txBody>
            <a:bodyPr wrap="square" lIns="0" tIns="0" rIns="0" bIns="0" rtlCol="0"/>
            <a:lstStyle/>
            <a:p>
              <a:endParaRPr/>
            </a:p>
          </p:txBody>
        </p:sp>
        <p:sp>
          <p:nvSpPr>
            <p:cNvPr id="49" name="object 49"/>
            <p:cNvSpPr/>
            <p:nvPr/>
          </p:nvSpPr>
          <p:spPr>
            <a:xfrm>
              <a:off x="1584572" y="1792475"/>
              <a:ext cx="122555" cy="299720"/>
            </a:xfrm>
            <a:custGeom>
              <a:avLst/>
              <a:gdLst/>
              <a:ahLst/>
              <a:cxnLst/>
              <a:rect l="l" t="t" r="r" b="b"/>
              <a:pathLst>
                <a:path w="122555" h="299719">
                  <a:moveTo>
                    <a:pt x="0" y="299100"/>
                  </a:moveTo>
                  <a:lnTo>
                    <a:pt x="122539" y="0"/>
                  </a:lnTo>
                </a:path>
              </a:pathLst>
            </a:custGeom>
            <a:ln w="5270">
              <a:solidFill>
                <a:srgbClr val="231F20"/>
              </a:solidFill>
            </a:ln>
          </p:spPr>
          <p:txBody>
            <a:bodyPr wrap="square" lIns="0" tIns="0" rIns="0" bIns="0" rtlCol="0"/>
            <a:lstStyle/>
            <a:p>
              <a:endParaRPr/>
            </a:p>
          </p:txBody>
        </p:sp>
      </p:grpSp>
      <p:sp>
        <p:nvSpPr>
          <p:cNvPr id="50" name="object 50"/>
          <p:cNvSpPr txBox="1"/>
          <p:nvPr/>
        </p:nvSpPr>
        <p:spPr>
          <a:xfrm>
            <a:off x="2818271" y="1502279"/>
            <a:ext cx="795655" cy="768159"/>
          </a:xfrm>
          <a:prstGeom prst="rect">
            <a:avLst/>
          </a:prstGeom>
        </p:spPr>
        <p:txBody>
          <a:bodyPr vert="horz" wrap="square" lIns="0" tIns="13970" rIns="0" bIns="0" rtlCol="0">
            <a:spAutoFit/>
          </a:bodyPr>
          <a:lstStyle/>
          <a:p>
            <a:pPr marL="198746" marR="187952" indent="-90166">
              <a:spcBef>
                <a:spcPts val="110"/>
              </a:spcBef>
            </a:pPr>
            <a:r>
              <a:rPr sz="650" spc="-75" dirty="0">
                <a:solidFill>
                  <a:srgbClr val="231F20"/>
                </a:solidFill>
                <a:latin typeface="Arial"/>
                <a:cs typeface="Arial"/>
              </a:rPr>
              <a:t>T</a:t>
            </a:r>
            <a:r>
              <a:rPr sz="650" spc="-10" dirty="0">
                <a:solidFill>
                  <a:srgbClr val="231F20"/>
                </a:solidFill>
                <a:latin typeface="Arial"/>
                <a:cs typeface="Arial"/>
              </a:rPr>
              <a:t>r</a:t>
            </a:r>
            <a:r>
              <a:rPr sz="650" spc="5" dirty="0">
                <a:solidFill>
                  <a:srgbClr val="231F20"/>
                </a:solidFill>
                <a:latin typeface="Arial"/>
                <a:cs typeface="Arial"/>
              </a:rPr>
              <a:t>ansmission  interrupt</a:t>
            </a:r>
            <a:endParaRPr sz="650">
              <a:latin typeface="Arial"/>
              <a:cs typeface="Arial"/>
            </a:endParaRPr>
          </a:p>
          <a:p>
            <a:pPr marL="12700" marR="480039">
              <a:spcBef>
                <a:spcPts val="535"/>
              </a:spcBef>
            </a:pPr>
            <a:r>
              <a:rPr sz="650" spc="5" dirty="0">
                <a:solidFill>
                  <a:srgbClr val="231F20"/>
                </a:solidFill>
                <a:latin typeface="Arial"/>
                <a:cs typeface="Arial"/>
              </a:rPr>
              <a:t>Sto</a:t>
            </a:r>
            <a:r>
              <a:rPr sz="650" spc="-10" dirty="0">
                <a:solidFill>
                  <a:srgbClr val="231F20"/>
                </a:solidFill>
                <a:latin typeface="Arial"/>
                <a:cs typeface="Arial"/>
              </a:rPr>
              <a:t>r</a:t>
            </a:r>
            <a:r>
              <a:rPr sz="650" spc="5" dirty="0">
                <a:solidFill>
                  <a:srgbClr val="231F20"/>
                </a:solidFill>
                <a:latin typeface="Arial"/>
                <a:cs typeface="Arial"/>
              </a:rPr>
              <a:t>age  </a:t>
            </a:r>
            <a:r>
              <a:rPr sz="650" dirty="0">
                <a:solidFill>
                  <a:srgbClr val="231F20"/>
                </a:solidFill>
                <a:latin typeface="Arial"/>
                <a:cs typeface="Arial"/>
              </a:rPr>
              <a:t>facility</a:t>
            </a:r>
            <a:endParaRPr sz="650">
              <a:latin typeface="Arial"/>
              <a:cs typeface="Arial"/>
            </a:endParaRPr>
          </a:p>
          <a:p>
            <a:pPr>
              <a:lnSpc>
                <a:spcPct val="100000"/>
              </a:lnSpc>
            </a:pPr>
            <a:endParaRPr sz="600">
              <a:latin typeface="Arial"/>
              <a:cs typeface="Arial"/>
            </a:endParaRPr>
          </a:p>
          <a:p>
            <a:pPr>
              <a:spcBef>
                <a:spcPts val="55"/>
              </a:spcBef>
            </a:pPr>
            <a:endParaRPr sz="550">
              <a:latin typeface="Arial"/>
              <a:cs typeface="Arial"/>
            </a:endParaRPr>
          </a:p>
          <a:p>
            <a:pPr marR="5080" algn="r"/>
            <a:r>
              <a:rPr sz="650" spc="5" dirty="0">
                <a:solidFill>
                  <a:srgbClr val="231F20"/>
                </a:solidFill>
                <a:latin typeface="Arial"/>
                <a:cs typeface="Arial"/>
              </a:rPr>
              <a:t>Reply</a:t>
            </a:r>
            <a:endParaRPr sz="650">
              <a:latin typeface="Arial"/>
              <a:cs typeface="Arial"/>
            </a:endParaRPr>
          </a:p>
        </p:txBody>
      </p:sp>
      <p:grpSp>
        <p:nvGrpSpPr>
          <p:cNvPr id="51" name="object 51"/>
          <p:cNvGrpSpPr/>
          <p:nvPr/>
        </p:nvGrpSpPr>
        <p:grpSpPr>
          <a:xfrm>
            <a:off x="1998349" y="1141084"/>
            <a:ext cx="1974214" cy="784225"/>
            <a:chOff x="1226824" y="1141082"/>
            <a:chExt cx="1974214" cy="784225"/>
          </a:xfrm>
        </p:grpSpPr>
        <p:sp>
          <p:nvSpPr>
            <p:cNvPr id="52" name="object 52"/>
            <p:cNvSpPr/>
            <p:nvPr/>
          </p:nvSpPr>
          <p:spPr>
            <a:xfrm>
              <a:off x="1226824" y="1665542"/>
              <a:ext cx="218079" cy="85427"/>
            </a:xfrm>
            <a:prstGeom prst="rect">
              <a:avLst/>
            </a:prstGeom>
            <a:blipFill>
              <a:blip r:embed="rId14" cstate="print"/>
              <a:stretch>
                <a:fillRect/>
              </a:stretch>
            </a:blipFill>
          </p:spPr>
          <p:txBody>
            <a:bodyPr wrap="square" lIns="0" tIns="0" rIns="0" bIns="0" rtlCol="0"/>
            <a:lstStyle/>
            <a:p>
              <a:endParaRPr/>
            </a:p>
          </p:txBody>
        </p:sp>
        <p:sp>
          <p:nvSpPr>
            <p:cNvPr id="53" name="object 53"/>
            <p:cNvSpPr/>
            <p:nvPr/>
          </p:nvSpPr>
          <p:spPr>
            <a:xfrm>
              <a:off x="1719715" y="1677841"/>
              <a:ext cx="218079" cy="85423"/>
            </a:xfrm>
            <a:prstGeom prst="rect">
              <a:avLst/>
            </a:prstGeom>
            <a:blipFill>
              <a:blip r:embed="rId15" cstate="print"/>
              <a:stretch>
                <a:fillRect/>
              </a:stretch>
            </a:blipFill>
          </p:spPr>
          <p:txBody>
            <a:bodyPr wrap="square" lIns="0" tIns="0" rIns="0" bIns="0" rtlCol="0"/>
            <a:lstStyle/>
            <a:p>
              <a:endParaRPr/>
            </a:p>
          </p:txBody>
        </p:sp>
        <p:sp>
          <p:nvSpPr>
            <p:cNvPr id="54" name="object 54"/>
            <p:cNvSpPr/>
            <p:nvPr/>
          </p:nvSpPr>
          <p:spPr>
            <a:xfrm>
              <a:off x="1236719" y="1811295"/>
              <a:ext cx="224749" cy="108222"/>
            </a:xfrm>
            <a:prstGeom prst="rect">
              <a:avLst/>
            </a:prstGeom>
            <a:blipFill>
              <a:blip r:embed="rId16" cstate="print"/>
              <a:stretch>
                <a:fillRect/>
              </a:stretch>
            </a:blipFill>
          </p:spPr>
          <p:txBody>
            <a:bodyPr wrap="square" lIns="0" tIns="0" rIns="0" bIns="0" rtlCol="0"/>
            <a:lstStyle/>
            <a:p>
              <a:endParaRPr/>
            </a:p>
          </p:txBody>
        </p:sp>
        <p:sp>
          <p:nvSpPr>
            <p:cNvPr id="55" name="object 55"/>
            <p:cNvSpPr/>
            <p:nvPr/>
          </p:nvSpPr>
          <p:spPr>
            <a:xfrm>
              <a:off x="1705390" y="1813272"/>
              <a:ext cx="224754" cy="108222"/>
            </a:xfrm>
            <a:prstGeom prst="rect">
              <a:avLst/>
            </a:prstGeom>
            <a:blipFill>
              <a:blip r:embed="rId17" cstate="print"/>
              <a:stretch>
                <a:fillRect/>
              </a:stretch>
            </a:blipFill>
          </p:spPr>
          <p:txBody>
            <a:bodyPr wrap="square" lIns="0" tIns="0" rIns="0" bIns="0" rtlCol="0"/>
            <a:lstStyle/>
            <a:p>
              <a:endParaRPr/>
            </a:p>
          </p:txBody>
        </p:sp>
        <p:sp>
          <p:nvSpPr>
            <p:cNvPr id="56" name="object 56"/>
            <p:cNvSpPr/>
            <p:nvPr/>
          </p:nvSpPr>
          <p:spPr>
            <a:xfrm>
              <a:off x="2741320" y="1681576"/>
              <a:ext cx="218072" cy="85427"/>
            </a:xfrm>
            <a:prstGeom prst="rect">
              <a:avLst/>
            </a:prstGeom>
            <a:blipFill>
              <a:blip r:embed="rId18" cstate="print"/>
              <a:stretch>
                <a:fillRect/>
              </a:stretch>
            </a:blipFill>
          </p:spPr>
          <p:txBody>
            <a:bodyPr wrap="square" lIns="0" tIns="0" rIns="0" bIns="0" rtlCol="0"/>
            <a:lstStyle/>
            <a:p>
              <a:endParaRPr/>
            </a:p>
          </p:txBody>
        </p:sp>
        <p:sp>
          <p:nvSpPr>
            <p:cNvPr id="57" name="object 57"/>
            <p:cNvSpPr/>
            <p:nvPr/>
          </p:nvSpPr>
          <p:spPr>
            <a:xfrm>
              <a:off x="2730727" y="1817003"/>
              <a:ext cx="224744" cy="108221"/>
            </a:xfrm>
            <a:prstGeom prst="rect">
              <a:avLst/>
            </a:prstGeom>
            <a:blipFill>
              <a:blip r:embed="rId19" cstate="print"/>
              <a:stretch>
                <a:fillRect/>
              </a:stretch>
            </a:blipFill>
          </p:spPr>
          <p:txBody>
            <a:bodyPr wrap="square" lIns="0" tIns="0" rIns="0" bIns="0" rtlCol="0"/>
            <a:lstStyle/>
            <a:p>
              <a:endParaRPr/>
            </a:p>
          </p:txBody>
        </p:sp>
        <p:sp>
          <p:nvSpPr>
            <p:cNvPr id="58" name="object 58"/>
            <p:cNvSpPr/>
            <p:nvPr/>
          </p:nvSpPr>
          <p:spPr>
            <a:xfrm>
              <a:off x="1414335" y="1143939"/>
              <a:ext cx="1783714" cy="597535"/>
            </a:xfrm>
            <a:custGeom>
              <a:avLst/>
              <a:gdLst/>
              <a:ahLst/>
              <a:cxnLst/>
              <a:rect l="l" t="t" r="r" b="b"/>
              <a:pathLst>
                <a:path w="1783714" h="597535">
                  <a:moveTo>
                    <a:pt x="151790" y="0"/>
                  </a:moveTo>
                  <a:lnTo>
                    <a:pt x="0" y="113842"/>
                  </a:lnTo>
                </a:path>
                <a:path w="1783714" h="597535">
                  <a:moveTo>
                    <a:pt x="834847" y="0"/>
                  </a:moveTo>
                  <a:lnTo>
                    <a:pt x="493318" y="113842"/>
                  </a:lnTo>
                </a:path>
                <a:path w="1783714" h="597535">
                  <a:moveTo>
                    <a:pt x="1783537" y="0"/>
                  </a:moveTo>
                  <a:lnTo>
                    <a:pt x="1517903" y="113842"/>
                  </a:lnTo>
                </a:path>
                <a:path w="1783714" h="597535">
                  <a:moveTo>
                    <a:pt x="1176902" y="491737"/>
                  </a:moveTo>
                  <a:lnTo>
                    <a:pt x="1279677" y="597147"/>
                  </a:lnTo>
                </a:path>
              </a:pathLst>
            </a:custGeom>
            <a:ln w="5270">
              <a:solidFill>
                <a:srgbClr val="231F20"/>
              </a:solidFill>
            </a:ln>
          </p:spPr>
          <p:txBody>
            <a:bodyPr wrap="square" lIns="0" tIns="0" rIns="0" bIns="0" rtlCol="0"/>
            <a:lstStyle/>
            <a:p>
              <a:endParaRPr/>
            </a:p>
          </p:txBody>
        </p:sp>
      </p:grpSp>
      <p:sp>
        <p:nvSpPr>
          <p:cNvPr id="59" name="object 59"/>
          <p:cNvSpPr txBox="1"/>
          <p:nvPr/>
        </p:nvSpPr>
        <p:spPr>
          <a:xfrm>
            <a:off x="3496182" y="2342401"/>
            <a:ext cx="213360" cy="114775"/>
          </a:xfrm>
          <a:prstGeom prst="rect">
            <a:avLst/>
          </a:prstGeom>
        </p:spPr>
        <p:txBody>
          <a:bodyPr vert="horz" wrap="square" lIns="0" tIns="14605" rIns="0" bIns="0" rtlCol="0">
            <a:spAutoFit/>
          </a:bodyPr>
          <a:lstStyle/>
          <a:p>
            <a:pPr marL="12700">
              <a:spcBef>
                <a:spcPts val="115"/>
              </a:spcBef>
            </a:pPr>
            <a:r>
              <a:rPr sz="650" spc="5" dirty="0">
                <a:solidFill>
                  <a:srgbClr val="231F20"/>
                </a:solidFill>
                <a:latin typeface="Arial"/>
                <a:cs typeface="Arial"/>
              </a:rPr>
              <a:t>Time</a:t>
            </a:r>
            <a:endParaRPr sz="650">
              <a:latin typeface="Arial"/>
              <a:cs typeface="Arial"/>
            </a:endParaRPr>
          </a:p>
        </p:txBody>
      </p:sp>
      <p:grpSp>
        <p:nvGrpSpPr>
          <p:cNvPr id="60" name="object 60"/>
          <p:cNvGrpSpPr/>
          <p:nvPr/>
        </p:nvGrpSpPr>
        <p:grpSpPr>
          <a:xfrm>
            <a:off x="1041084" y="2374788"/>
            <a:ext cx="2889885" cy="657860"/>
            <a:chOff x="269557" y="2374787"/>
            <a:chExt cx="2889885" cy="657860"/>
          </a:xfrm>
        </p:grpSpPr>
        <p:sp>
          <p:nvSpPr>
            <p:cNvPr id="61" name="object 61"/>
            <p:cNvSpPr/>
            <p:nvPr/>
          </p:nvSpPr>
          <p:spPr>
            <a:xfrm>
              <a:off x="2970187" y="2396210"/>
              <a:ext cx="152400" cy="0"/>
            </a:xfrm>
            <a:custGeom>
              <a:avLst/>
              <a:gdLst/>
              <a:ahLst/>
              <a:cxnLst/>
              <a:rect l="l" t="t" r="r" b="b"/>
              <a:pathLst>
                <a:path w="152400">
                  <a:moveTo>
                    <a:pt x="0" y="0"/>
                  </a:moveTo>
                  <a:lnTo>
                    <a:pt x="151790" y="0"/>
                  </a:lnTo>
                </a:path>
              </a:pathLst>
            </a:custGeom>
            <a:ln w="5270">
              <a:solidFill>
                <a:srgbClr val="231F20"/>
              </a:solidFill>
            </a:ln>
          </p:spPr>
          <p:txBody>
            <a:bodyPr wrap="square" lIns="0" tIns="0" rIns="0" bIns="0" rtlCol="0"/>
            <a:lstStyle/>
            <a:p>
              <a:endParaRPr/>
            </a:p>
          </p:txBody>
        </p:sp>
        <p:sp>
          <p:nvSpPr>
            <p:cNvPr id="62" name="object 62"/>
            <p:cNvSpPr/>
            <p:nvPr/>
          </p:nvSpPr>
          <p:spPr>
            <a:xfrm>
              <a:off x="3106745" y="2374787"/>
              <a:ext cx="52705" cy="43180"/>
            </a:xfrm>
            <a:custGeom>
              <a:avLst/>
              <a:gdLst/>
              <a:ahLst/>
              <a:cxnLst/>
              <a:rect l="l" t="t" r="r" b="b"/>
              <a:pathLst>
                <a:path w="52705" h="43180">
                  <a:moveTo>
                    <a:pt x="0" y="0"/>
                  </a:moveTo>
                  <a:lnTo>
                    <a:pt x="12448" y="21423"/>
                  </a:lnTo>
                  <a:lnTo>
                    <a:pt x="0" y="42843"/>
                  </a:lnTo>
                  <a:lnTo>
                    <a:pt x="52441" y="21423"/>
                  </a:lnTo>
                  <a:lnTo>
                    <a:pt x="0" y="0"/>
                  </a:lnTo>
                  <a:close/>
                </a:path>
              </a:pathLst>
            </a:custGeom>
            <a:solidFill>
              <a:srgbClr val="231F20"/>
            </a:solidFill>
          </p:spPr>
          <p:txBody>
            <a:bodyPr wrap="square" lIns="0" tIns="0" rIns="0" bIns="0" rtlCol="0"/>
            <a:lstStyle/>
            <a:p>
              <a:endParaRPr/>
            </a:p>
          </p:txBody>
        </p:sp>
        <p:sp>
          <p:nvSpPr>
            <p:cNvPr id="63" name="object 63"/>
            <p:cNvSpPr/>
            <p:nvPr/>
          </p:nvSpPr>
          <p:spPr>
            <a:xfrm>
              <a:off x="269557" y="2803969"/>
              <a:ext cx="76809" cy="76809"/>
            </a:xfrm>
            <a:prstGeom prst="rect">
              <a:avLst/>
            </a:prstGeom>
            <a:blipFill>
              <a:blip r:embed="rId20" cstate="print"/>
              <a:stretch>
                <a:fillRect/>
              </a:stretch>
            </a:blipFill>
          </p:spPr>
          <p:txBody>
            <a:bodyPr wrap="square" lIns="0" tIns="0" rIns="0" bIns="0" rtlCol="0"/>
            <a:lstStyle/>
            <a:p>
              <a:endParaRPr/>
            </a:p>
          </p:txBody>
        </p:sp>
        <p:sp>
          <p:nvSpPr>
            <p:cNvPr id="64" name="object 64"/>
            <p:cNvSpPr/>
            <p:nvPr/>
          </p:nvSpPr>
          <p:spPr>
            <a:xfrm>
              <a:off x="269557" y="2955798"/>
              <a:ext cx="76809" cy="76809"/>
            </a:xfrm>
            <a:prstGeom prst="rect">
              <a:avLst/>
            </a:prstGeom>
            <a:blipFill>
              <a:blip r:embed="rId20" cstate="print"/>
              <a:stretch>
                <a:fillRect/>
              </a:stretch>
            </a:blipFill>
          </p:spPr>
          <p:txBody>
            <a:bodyPr wrap="square" lIns="0" tIns="0" rIns="0" bIns="0" rtlCol="0"/>
            <a:lstStyle/>
            <a:p>
              <a:endParaRPr/>
            </a:p>
          </p:txBody>
        </p:sp>
      </p:grpSp>
      <p:sp>
        <p:nvSpPr>
          <p:cNvPr id="65" name="object 65"/>
          <p:cNvSpPr txBox="1"/>
          <p:nvPr/>
        </p:nvSpPr>
        <p:spPr>
          <a:xfrm>
            <a:off x="1174457" y="2744083"/>
            <a:ext cx="3426118" cy="332783"/>
          </a:xfrm>
          <a:prstGeom prst="rect">
            <a:avLst/>
          </a:prstGeom>
        </p:spPr>
        <p:txBody>
          <a:bodyPr vert="horz" wrap="square" lIns="0" tIns="12065" rIns="0" bIns="0" rtlCol="0">
            <a:spAutoFit/>
          </a:bodyPr>
          <a:lstStyle/>
          <a:p>
            <a:pPr marL="12700" marR="5080">
              <a:spcBef>
                <a:spcPts val="95"/>
              </a:spcBef>
            </a:pPr>
            <a:r>
              <a:rPr sz="1000" spc="-10" dirty="0">
                <a:solidFill>
                  <a:srgbClr val="0000FA"/>
                </a:solidFill>
                <a:latin typeface="Arial"/>
                <a:cs typeface="Arial"/>
              </a:rPr>
              <a:t>Transient</a:t>
            </a:r>
            <a:r>
              <a:rPr lang="en-US" sz="1000" spc="-10" dirty="0">
                <a:solidFill>
                  <a:srgbClr val="0000FA"/>
                </a:solidFill>
                <a:latin typeface="Arial"/>
                <a:cs typeface="Arial"/>
              </a:rPr>
              <a:t> </a:t>
            </a:r>
            <a:r>
              <a:rPr sz="1000" spc="-10" dirty="0">
                <a:latin typeface="Arial"/>
                <a:cs typeface="Arial"/>
              </a:rPr>
              <a:t>versus</a:t>
            </a:r>
            <a:r>
              <a:rPr lang="en-US" sz="1000" spc="-10" dirty="0">
                <a:latin typeface="Arial"/>
                <a:cs typeface="Arial"/>
              </a:rPr>
              <a:t> </a:t>
            </a:r>
            <a:r>
              <a:rPr sz="1000" spc="-10" dirty="0">
                <a:solidFill>
                  <a:srgbClr val="0000FA"/>
                </a:solidFill>
                <a:latin typeface="Arial"/>
                <a:cs typeface="Arial"/>
              </a:rPr>
              <a:t>persistent</a:t>
            </a:r>
            <a:r>
              <a:rPr lang="en-US" sz="1000" spc="-10" dirty="0">
                <a:solidFill>
                  <a:srgbClr val="0000FA"/>
                </a:solidFill>
                <a:latin typeface="Arial"/>
                <a:cs typeface="Arial"/>
              </a:rPr>
              <a:t> </a:t>
            </a:r>
            <a:r>
              <a:rPr sz="1000" spc="-10" dirty="0">
                <a:latin typeface="Arial"/>
                <a:cs typeface="Arial"/>
              </a:rPr>
              <a:t>communication  </a:t>
            </a:r>
            <a:endParaRPr lang="en-US" sz="1000" spc="-10" dirty="0">
              <a:latin typeface="Arial"/>
              <a:cs typeface="Arial"/>
            </a:endParaRPr>
          </a:p>
          <a:p>
            <a:pPr marL="12700" marR="5080">
              <a:spcBef>
                <a:spcPts val="95"/>
              </a:spcBef>
            </a:pPr>
            <a:r>
              <a:rPr sz="1000" spc="-5" dirty="0">
                <a:solidFill>
                  <a:srgbClr val="0000FA"/>
                </a:solidFill>
                <a:latin typeface="Arial"/>
                <a:cs typeface="Arial"/>
              </a:rPr>
              <a:t>Asynchronous</a:t>
            </a:r>
            <a:r>
              <a:rPr lang="en-US" sz="1000" spc="-5" dirty="0">
                <a:solidFill>
                  <a:srgbClr val="0000FA"/>
                </a:solidFill>
                <a:latin typeface="Arial"/>
                <a:cs typeface="Arial"/>
              </a:rPr>
              <a:t> </a:t>
            </a:r>
            <a:r>
              <a:rPr sz="1000" spc="-30" dirty="0">
                <a:latin typeface="Arial"/>
                <a:cs typeface="Arial"/>
              </a:rPr>
              <a:t>v</a:t>
            </a:r>
            <a:r>
              <a:rPr sz="1000" spc="-5" dirty="0">
                <a:latin typeface="Arial"/>
                <a:cs typeface="Arial"/>
              </a:rPr>
              <a:t>ersus</a:t>
            </a:r>
            <a:r>
              <a:rPr lang="en-US" sz="1000" spc="-5" dirty="0">
                <a:latin typeface="Arial"/>
                <a:cs typeface="Arial"/>
              </a:rPr>
              <a:t> </a:t>
            </a:r>
            <a:r>
              <a:rPr sz="1000" spc="-5" dirty="0">
                <a:solidFill>
                  <a:srgbClr val="0000FA"/>
                </a:solidFill>
                <a:latin typeface="Arial"/>
                <a:cs typeface="Arial"/>
              </a:rPr>
              <a:t>synchronous</a:t>
            </a:r>
            <a:r>
              <a:rPr lang="en-US" sz="1000" spc="-5" dirty="0">
                <a:solidFill>
                  <a:srgbClr val="0000FA"/>
                </a:solidFill>
                <a:latin typeface="Arial"/>
                <a:cs typeface="Arial"/>
              </a:rPr>
              <a:t> </a:t>
            </a:r>
            <a:r>
              <a:rPr sz="1000" spc="-5" dirty="0">
                <a:latin typeface="Arial"/>
                <a:cs typeface="Arial"/>
              </a:rPr>
              <a:t>com</a:t>
            </a:r>
            <a:r>
              <a:rPr sz="1000" spc="-15" dirty="0">
                <a:latin typeface="Arial"/>
                <a:cs typeface="Arial"/>
              </a:rPr>
              <a:t>m</a:t>
            </a:r>
            <a:r>
              <a:rPr sz="1000" spc="-5" dirty="0">
                <a:latin typeface="Arial"/>
                <a:cs typeface="Arial"/>
              </a:rPr>
              <a:t>unication</a:t>
            </a:r>
            <a:endParaRPr sz="1000" dirty="0">
              <a:latin typeface="Arial"/>
              <a:cs typeface="Arial"/>
            </a:endParaRPr>
          </a:p>
        </p:txBody>
      </p:sp>
      <p:grpSp>
        <p:nvGrpSpPr>
          <p:cNvPr id="66" name="object 66"/>
          <p:cNvGrpSpPr/>
          <p:nvPr/>
        </p:nvGrpSpPr>
        <p:grpSpPr>
          <a:xfrm>
            <a:off x="771526" y="3326969"/>
            <a:ext cx="4608195" cy="129539"/>
            <a:chOff x="0" y="3326968"/>
            <a:chExt cx="4608195" cy="129539"/>
          </a:xfrm>
        </p:grpSpPr>
        <p:sp>
          <p:nvSpPr>
            <p:cNvPr id="67" name="object 67"/>
            <p:cNvSpPr/>
            <p:nvPr/>
          </p:nvSpPr>
          <p:spPr>
            <a:xfrm>
              <a:off x="0"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11E"/>
            </a:solidFill>
          </p:spPr>
          <p:txBody>
            <a:bodyPr wrap="square" lIns="0" tIns="0" rIns="0" bIns="0" rtlCol="0"/>
            <a:lstStyle/>
            <a:p>
              <a:endParaRPr/>
            </a:p>
          </p:txBody>
        </p:sp>
        <p:sp>
          <p:nvSpPr>
            <p:cNvPr id="68" name="object 68"/>
            <p:cNvSpPr/>
            <p:nvPr/>
          </p:nvSpPr>
          <p:spPr>
            <a:xfrm>
              <a:off x="2303995"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F50"/>
            </a:solidFill>
          </p:spPr>
          <p:txBody>
            <a:bodyPr wrap="square" lIns="0" tIns="0" rIns="0" bIns="0" rtlCol="0"/>
            <a:lstStyle/>
            <a:p>
              <a:endParaRPr/>
            </a:p>
          </p:txBody>
        </p:sp>
      </p:grpSp>
      <p:sp>
        <p:nvSpPr>
          <p:cNvPr id="69" name="object 69"/>
          <p:cNvSpPr txBox="1"/>
          <p:nvPr/>
        </p:nvSpPr>
        <p:spPr>
          <a:xfrm>
            <a:off x="5072088" y="3331253"/>
            <a:ext cx="241300" cy="193643"/>
          </a:xfrm>
          <a:prstGeom prst="rect">
            <a:avLst/>
          </a:prstGeom>
        </p:spPr>
        <p:txBody>
          <a:bodyPr vert="horz" wrap="square" lIns="0" tIns="8890" rIns="0" bIns="0" rtlCol="0">
            <a:spAutoFit/>
          </a:bodyPr>
          <a:lstStyle/>
          <a:p>
            <a:pPr marL="38098">
              <a:spcBef>
                <a:spcPts val="70"/>
              </a:spcBef>
            </a:pPr>
            <a:fld id="{81D60167-4931-47E6-BA6A-407CBD079E47}" type="slidenum">
              <a:rPr sz="600" spc="-5" dirty="0">
                <a:solidFill>
                  <a:srgbClr val="04064C"/>
                </a:solidFill>
                <a:latin typeface="Arial"/>
                <a:cs typeface="Arial"/>
              </a:rPr>
              <a:pPr marL="38098">
                <a:spcBef>
                  <a:spcPts val="70"/>
                </a:spcBef>
              </a:pPr>
              <a:t>18</a:t>
            </a:fld>
            <a:r>
              <a:rPr sz="600" spc="-5" dirty="0">
                <a:solidFill>
                  <a:srgbClr val="04064C"/>
                </a:solidFill>
                <a:latin typeface="Arial"/>
                <a:cs typeface="Arial"/>
              </a:rPr>
              <a:t> /</a:t>
            </a:r>
            <a:r>
              <a:rPr sz="600" spc="-70" dirty="0">
                <a:solidFill>
                  <a:srgbClr val="04064C"/>
                </a:solidFill>
                <a:latin typeface="Arial"/>
                <a:cs typeface="Arial"/>
              </a:rPr>
              <a:t> </a:t>
            </a:r>
            <a:r>
              <a:rPr sz="600" spc="-5" dirty="0">
                <a:solidFill>
                  <a:srgbClr val="04064C"/>
                </a:solidFill>
                <a:latin typeface="Arial"/>
                <a:cs typeface="Arial"/>
              </a:rPr>
              <a:t>49</a:t>
            </a:r>
            <a:endParaRPr sz="600">
              <a:latin typeface="Arial"/>
              <a:cs typeface="Arial"/>
            </a:endParaRP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238" y="716"/>
            <a:ext cx="4541520" cy="104516"/>
          </a:xfrm>
          <a:prstGeom prst="rect">
            <a:avLst/>
          </a:prstGeom>
        </p:spPr>
        <p:txBody>
          <a:bodyPr vert="horz" wrap="square" lIns="0" tIns="12065" rIns="0" bIns="0" rtlCol="0">
            <a:spAutoFit/>
          </a:bodyPr>
          <a:lstStyle/>
          <a:p>
            <a:pPr marL="12700">
              <a:spcBef>
                <a:spcPts val="95"/>
              </a:spcBef>
              <a:tabLst>
                <a:tab pos="3631410" algn="l"/>
              </a:tabLst>
            </a:pPr>
            <a:r>
              <a:rPr sz="600" spc="-5" dirty="0">
                <a:solidFill>
                  <a:srgbClr val="04064C"/>
                </a:solidFill>
                <a:latin typeface="Arial"/>
                <a:cs typeface="Arial"/>
                <a:hlinkClick r:id="rId2" action="ppaction://hlinksldjump"/>
              </a:rPr>
              <a:t>Communication:</a:t>
            </a:r>
            <a:r>
              <a:rPr sz="600" spc="-5" dirty="0">
                <a:solidFill>
                  <a:srgbClr val="04064C"/>
                </a:solidFill>
                <a:latin typeface="Arial"/>
                <a:cs typeface="Arial"/>
              </a:rPr>
              <a:t> </a:t>
            </a:r>
            <a:r>
              <a:rPr sz="600" spc="10" dirty="0">
                <a:solidFill>
                  <a:srgbClr val="04064C"/>
                </a:solidFill>
                <a:latin typeface="Arial"/>
                <a:cs typeface="Arial"/>
              </a:rPr>
              <a:t> </a:t>
            </a:r>
            <a:r>
              <a:rPr sz="600" spc="-5" dirty="0">
                <a:solidFill>
                  <a:srgbClr val="04064C"/>
                </a:solidFill>
                <a:latin typeface="Arial"/>
                <a:cs typeface="Arial"/>
                <a:hlinkClick r:id="rId2" action="ppaction://hlinksldjump"/>
              </a:rPr>
              <a:t>Foundations</a:t>
            </a:r>
            <a:r>
              <a:rPr sz="600" spc="-5" dirty="0">
                <a:solidFill>
                  <a:srgbClr val="04064C"/>
                </a:solidFill>
                <a:latin typeface="Arial"/>
                <a:cs typeface="Arial"/>
              </a:rPr>
              <a:t>	</a:t>
            </a:r>
            <a:r>
              <a:rPr sz="600" spc="-20" dirty="0">
                <a:solidFill>
                  <a:srgbClr val="04064C"/>
                </a:solidFill>
                <a:latin typeface="Arial"/>
                <a:cs typeface="Arial"/>
                <a:hlinkClick r:id="rId3" action="ppaction://hlinksldjump"/>
              </a:rPr>
              <a:t>Types </a:t>
            </a:r>
            <a:r>
              <a:rPr sz="600" spc="-5" dirty="0">
                <a:solidFill>
                  <a:srgbClr val="04064C"/>
                </a:solidFill>
                <a:latin typeface="Arial"/>
                <a:cs typeface="Arial"/>
                <a:hlinkClick r:id="rId3" action="ppaction://hlinksldjump"/>
              </a:rPr>
              <a:t>of Communication</a:t>
            </a:r>
            <a:endParaRPr sz="600">
              <a:latin typeface="Arial"/>
              <a:cs typeface="Arial"/>
            </a:endParaRPr>
          </a:p>
        </p:txBody>
      </p:sp>
      <p:sp>
        <p:nvSpPr>
          <p:cNvPr id="3" name="object 3"/>
          <p:cNvSpPr txBox="1">
            <a:spLocks noGrp="1"/>
          </p:cNvSpPr>
          <p:nvPr>
            <p:ph type="title"/>
          </p:nvPr>
        </p:nvSpPr>
        <p:spPr>
          <a:xfrm>
            <a:off x="771526" y="129033"/>
            <a:ext cx="4608195" cy="278281"/>
          </a:xfrm>
          <a:prstGeom prst="rect">
            <a:avLst/>
          </a:prstGeom>
          <a:solidFill>
            <a:srgbClr val="FFE600"/>
          </a:solidFill>
        </p:spPr>
        <p:txBody>
          <a:bodyPr vert="horz" wrap="square" lIns="0" tIns="62230" rIns="0" bIns="0" rtlCol="0">
            <a:spAutoFit/>
          </a:bodyPr>
          <a:lstStyle/>
          <a:p>
            <a:pPr marL="107945">
              <a:spcBef>
                <a:spcPts val="490"/>
              </a:spcBef>
            </a:pPr>
            <a:r>
              <a:rPr spc="-20" dirty="0"/>
              <a:t>Types </a:t>
            </a:r>
            <a:r>
              <a:rPr spc="10" dirty="0"/>
              <a:t>of</a:t>
            </a:r>
            <a:r>
              <a:rPr spc="25" dirty="0"/>
              <a:t> </a:t>
            </a:r>
            <a:r>
              <a:rPr spc="15" dirty="0"/>
              <a:t>communication</a:t>
            </a:r>
          </a:p>
        </p:txBody>
      </p:sp>
      <p:sp>
        <p:nvSpPr>
          <p:cNvPr id="4" name="object 4"/>
          <p:cNvSpPr/>
          <p:nvPr/>
        </p:nvSpPr>
        <p:spPr>
          <a:xfrm>
            <a:off x="859269" y="444687"/>
            <a:ext cx="4432935" cy="183515"/>
          </a:xfrm>
          <a:custGeom>
            <a:avLst/>
            <a:gdLst/>
            <a:ahLst/>
            <a:cxnLst/>
            <a:rect l="l" t="t" r="r" b="b"/>
            <a:pathLst>
              <a:path w="4432935" h="183515">
                <a:moveTo>
                  <a:pt x="4381767" y="0"/>
                </a:moveTo>
                <a:lnTo>
                  <a:pt x="50800" y="0"/>
                </a:lnTo>
                <a:lnTo>
                  <a:pt x="31075" y="4008"/>
                </a:lnTo>
                <a:lnTo>
                  <a:pt x="14922" y="14922"/>
                </a:lnTo>
                <a:lnTo>
                  <a:pt x="4008" y="31075"/>
                </a:lnTo>
                <a:lnTo>
                  <a:pt x="0" y="50800"/>
                </a:lnTo>
                <a:lnTo>
                  <a:pt x="0" y="182971"/>
                </a:lnTo>
                <a:lnTo>
                  <a:pt x="4432567" y="182971"/>
                </a:lnTo>
                <a:lnTo>
                  <a:pt x="4432567" y="50800"/>
                </a:lnTo>
                <a:lnTo>
                  <a:pt x="4428558" y="31075"/>
                </a:lnTo>
                <a:lnTo>
                  <a:pt x="4417644" y="14922"/>
                </a:lnTo>
                <a:lnTo>
                  <a:pt x="4401492" y="4008"/>
                </a:lnTo>
                <a:lnTo>
                  <a:pt x="4381767" y="0"/>
                </a:lnTo>
                <a:close/>
              </a:path>
            </a:pathLst>
          </a:custGeom>
          <a:solidFill>
            <a:srgbClr val="FCBB06"/>
          </a:solidFill>
        </p:spPr>
        <p:txBody>
          <a:bodyPr wrap="square" lIns="0" tIns="0" rIns="0" bIns="0" rtlCol="0"/>
          <a:lstStyle/>
          <a:p>
            <a:endParaRPr/>
          </a:p>
        </p:txBody>
      </p:sp>
      <p:sp>
        <p:nvSpPr>
          <p:cNvPr id="5" name="object 5"/>
          <p:cNvSpPr txBox="1"/>
          <p:nvPr/>
        </p:nvSpPr>
        <p:spPr>
          <a:xfrm>
            <a:off x="897371" y="434977"/>
            <a:ext cx="4295369" cy="166071"/>
          </a:xfrm>
          <a:prstGeom prst="rect">
            <a:avLst/>
          </a:prstGeom>
        </p:spPr>
        <p:txBody>
          <a:bodyPr vert="horz" wrap="square" lIns="0" tIns="12065" rIns="0" bIns="0" rtlCol="0">
            <a:spAutoFit/>
          </a:bodyPr>
          <a:lstStyle/>
          <a:p>
            <a:r>
              <a:rPr lang="en-US" sz="1000" dirty="0"/>
              <a:t>Viewing middleware as an distributed service in application-level communication</a:t>
            </a:r>
            <a:endParaRPr sz="1000" dirty="0">
              <a:latin typeface="Arial"/>
              <a:cs typeface="Arial"/>
            </a:endParaRPr>
          </a:p>
        </p:txBody>
      </p:sp>
      <p:grpSp>
        <p:nvGrpSpPr>
          <p:cNvPr id="66" name="object 66"/>
          <p:cNvGrpSpPr/>
          <p:nvPr/>
        </p:nvGrpSpPr>
        <p:grpSpPr>
          <a:xfrm>
            <a:off x="771526" y="3326969"/>
            <a:ext cx="4608195" cy="129539"/>
            <a:chOff x="0" y="3326968"/>
            <a:chExt cx="4608195" cy="129539"/>
          </a:xfrm>
        </p:grpSpPr>
        <p:sp>
          <p:nvSpPr>
            <p:cNvPr id="67" name="object 67"/>
            <p:cNvSpPr/>
            <p:nvPr/>
          </p:nvSpPr>
          <p:spPr>
            <a:xfrm>
              <a:off x="0"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11E"/>
            </a:solidFill>
          </p:spPr>
          <p:txBody>
            <a:bodyPr wrap="square" lIns="0" tIns="0" rIns="0" bIns="0" rtlCol="0"/>
            <a:lstStyle/>
            <a:p>
              <a:endParaRPr/>
            </a:p>
          </p:txBody>
        </p:sp>
        <p:sp>
          <p:nvSpPr>
            <p:cNvPr id="68" name="object 68"/>
            <p:cNvSpPr/>
            <p:nvPr/>
          </p:nvSpPr>
          <p:spPr>
            <a:xfrm>
              <a:off x="2303995"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F50"/>
            </a:solidFill>
          </p:spPr>
          <p:txBody>
            <a:bodyPr wrap="square" lIns="0" tIns="0" rIns="0" bIns="0" rtlCol="0"/>
            <a:lstStyle/>
            <a:p>
              <a:endParaRPr/>
            </a:p>
          </p:txBody>
        </p:sp>
      </p:grpSp>
      <p:sp>
        <p:nvSpPr>
          <p:cNvPr id="69" name="object 69"/>
          <p:cNvSpPr txBox="1"/>
          <p:nvPr/>
        </p:nvSpPr>
        <p:spPr>
          <a:xfrm>
            <a:off x="5072088" y="3331253"/>
            <a:ext cx="241300" cy="193643"/>
          </a:xfrm>
          <a:prstGeom prst="rect">
            <a:avLst/>
          </a:prstGeom>
        </p:spPr>
        <p:txBody>
          <a:bodyPr vert="horz" wrap="square" lIns="0" tIns="8890" rIns="0" bIns="0" rtlCol="0">
            <a:spAutoFit/>
          </a:bodyPr>
          <a:lstStyle/>
          <a:p>
            <a:pPr marL="38098">
              <a:spcBef>
                <a:spcPts val="70"/>
              </a:spcBef>
            </a:pPr>
            <a:fld id="{81D60167-4931-47E6-BA6A-407CBD079E47}" type="slidenum">
              <a:rPr sz="600" spc="-5" dirty="0">
                <a:solidFill>
                  <a:srgbClr val="04064C"/>
                </a:solidFill>
                <a:latin typeface="Arial"/>
                <a:cs typeface="Arial"/>
              </a:rPr>
              <a:pPr marL="38098">
                <a:spcBef>
                  <a:spcPts val="70"/>
                </a:spcBef>
              </a:pPr>
              <a:t>19</a:t>
            </a:fld>
            <a:r>
              <a:rPr sz="600" spc="-5" dirty="0">
                <a:solidFill>
                  <a:srgbClr val="04064C"/>
                </a:solidFill>
                <a:latin typeface="Arial"/>
                <a:cs typeface="Arial"/>
              </a:rPr>
              <a:t> /</a:t>
            </a:r>
            <a:r>
              <a:rPr sz="600" spc="-70" dirty="0">
                <a:solidFill>
                  <a:srgbClr val="04064C"/>
                </a:solidFill>
                <a:latin typeface="Arial"/>
                <a:cs typeface="Arial"/>
              </a:rPr>
              <a:t> </a:t>
            </a:r>
            <a:r>
              <a:rPr sz="600" spc="-5" dirty="0">
                <a:solidFill>
                  <a:srgbClr val="04064C"/>
                </a:solidFill>
                <a:latin typeface="Arial"/>
                <a:cs typeface="Arial"/>
              </a:rPr>
              <a:t>49</a:t>
            </a:r>
            <a:endParaRPr sz="600" dirty="0">
              <a:latin typeface="Arial"/>
              <a:cs typeface="Arial"/>
            </a:endParaRPr>
          </a:p>
        </p:txBody>
      </p:sp>
      <p:sp>
        <p:nvSpPr>
          <p:cNvPr id="70" name="TextBox 69"/>
          <p:cNvSpPr txBox="1"/>
          <p:nvPr/>
        </p:nvSpPr>
        <p:spPr>
          <a:xfrm>
            <a:off x="885502" y="713286"/>
            <a:ext cx="2159552" cy="1785104"/>
          </a:xfrm>
          <a:prstGeom prst="rect">
            <a:avLst/>
          </a:prstGeom>
          <a:solidFill>
            <a:schemeClr val="bg1">
              <a:lumMod val="95000"/>
            </a:schemeClr>
          </a:solidFill>
        </p:spPr>
        <p:txBody>
          <a:bodyPr wrap="square" rtlCol="0">
            <a:spAutoFit/>
          </a:bodyPr>
          <a:lstStyle/>
          <a:p>
            <a:pPr algn="just"/>
            <a:r>
              <a:rPr lang="en-US" sz="1100" dirty="0"/>
              <a:t>With </a:t>
            </a:r>
            <a:r>
              <a:rPr lang="en-US" sz="1100" b="1" dirty="0"/>
              <a:t>persistent communication</a:t>
            </a:r>
            <a:r>
              <a:rPr lang="en-US" sz="1100" dirty="0"/>
              <a:t>, a message that has been submitted for transmission </a:t>
            </a:r>
            <a:r>
              <a:rPr lang="en-US" sz="1100" dirty="0">
                <a:solidFill>
                  <a:srgbClr val="FF0000"/>
                </a:solidFill>
              </a:rPr>
              <a:t>is stored by the communication middleware </a:t>
            </a:r>
            <a:r>
              <a:rPr lang="en-US" sz="1100" dirty="0"/>
              <a:t>as long as it takes to deliver it to the receiver. </a:t>
            </a:r>
          </a:p>
          <a:p>
            <a:pPr algn="just"/>
            <a:endParaRPr lang="en-US" sz="1100" dirty="0"/>
          </a:p>
          <a:p>
            <a:pPr algn="just"/>
            <a:r>
              <a:rPr lang="en-US" sz="1100" dirty="0"/>
              <a:t>In this case, the middleware will store the message at one or several of the storage facilities </a:t>
            </a:r>
          </a:p>
        </p:txBody>
      </p:sp>
      <p:sp>
        <p:nvSpPr>
          <p:cNvPr id="71" name="TextBox 70"/>
          <p:cNvSpPr txBox="1"/>
          <p:nvPr/>
        </p:nvSpPr>
        <p:spPr>
          <a:xfrm>
            <a:off x="3063353" y="1279556"/>
            <a:ext cx="2228850" cy="1954381"/>
          </a:xfrm>
          <a:prstGeom prst="rect">
            <a:avLst/>
          </a:prstGeom>
          <a:solidFill>
            <a:schemeClr val="bg1">
              <a:lumMod val="95000"/>
            </a:schemeClr>
          </a:solidFill>
        </p:spPr>
        <p:txBody>
          <a:bodyPr wrap="square" rtlCol="0">
            <a:spAutoFit/>
          </a:bodyPr>
          <a:lstStyle/>
          <a:p>
            <a:pPr algn="just"/>
            <a:r>
              <a:rPr lang="en-US" sz="1100" dirty="0"/>
              <a:t>with </a:t>
            </a:r>
            <a:r>
              <a:rPr lang="en-US" sz="1100" b="1" dirty="0"/>
              <a:t>transient communication, </a:t>
            </a:r>
            <a:r>
              <a:rPr lang="en-US" sz="1100" dirty="0"/>
              <a:t>a message is </a:t>
            </a:r>
            <a:r>
              <a:rPr lang="en-US" sz="1100" dirty="0">
                <a:solidFill>
                  <a:srgbClr val="FF0000"/>
                </a:solidFill>
              </a:rPr>
              <a:t>stored by the communication system only as long as the sending and receiving application are executing</a:t>
            </a:r>
            <a:r>
              <a:rPr lang="en-US" sz="1100" dirty="0"/>
              <a:t>. </a:t>
            </a:r>
          </a:p>
          <a:p>
            <a:pPr algn="just"/>
            <a:endParaRPr lang="en-US" sz="1100" dirty="0"/>
          </a:p>
          <a:p>
            <a:pPr algn="just"/>
            <a:r>
              <a:rPr lang="en-US" sz="1100" dirty="0"/>
              <a:t>More precisely, if the middleware cannot deliver a message due to a transmission interrupt, or because the recipient is currently not active, it will simply be discarded. </a:t>
            </a:r>
          </a:p>
        </p:txBody>
      </p:sp>
    </p:spTree>
    <p:extLst>
      <p:ext uri="{BB962C8B-B14F-4D97-AF65-F5344CB8AC3E}">
        <p14:creationId xmlns:p14="http://schemas.microsoft.com/office/powerpoint/2010/main" val="4111429142"/>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238" y="716"/>
            <a:ext cx="4541520" cy="104516"/>
          </a:xfrm>
          <a:prstGeom prst="rect">
            <a:avLst/>
          </a:prstGeom>
        </p:spPr>
        <p:txBody>
          <a:bodyPr vert="horz" wrap="square" lIns="0" tIns="12065" rIns="0" bIns="0" rtlCol="0">
            <a:spAutoFit/>
          </a:bodyPr>
          <a:lstStyle/>
          <a:p>
            <a:pPr marL="12700">
              <a:spcBef>
                <a:spcPts val="95"/>
              </a:spcBef>
              <a:tabLst>
                <a:tab pos="3631410" algn="l"/>
              </a:tabLst>
            </a:pPr>
            <a:r>
              <a:rPr sz="600" spc="-5" dirty="0">
                <a:solidFill>
                  <a:srgbClr val="04064C"/>
                </a:solidFill>
                <a:latin typeface="Arial"/>
                <a:cs typeface="Arial"/>
                <a:hlinkClick r:id="rId2" action="ppaction://hlinksldjump"/>
              </a:rPr>
              <a:t>Communication:</a:t>
            </a:r>
            <a:r>
              <a:rPr sz="600" spc="-5" dirty="0">
                <a:solidFill>
                  <a:srgbClr val="04064C"/>
                </a:solidFill>
                <a:latin typeface="Arial"/>
                <a:cs typeface="Arial"/>
              </a:rPr>
              <a:t> </a:t>
            </a:r>
            <a:r>
              <a:rPr sz="600" spc="10" dirty="0">
                <a:solidFill>
                  <a:srgbClr val="04064C"/>
                </a:solidFill>
                <a:latin typeface="Arial"/>
                <a:cs typeface="Arial"/>
              </a:rPr>
              <a:t> </a:t>
            </a:r>
            <a:r>
              <a:rPr sz="600" spc="-5" dirty="0">
                <a:solidFill>
                  <a:srgbClr val="04064C"/>
                </a:solidFill>
                <a:latin typeface="Arial"/>
                <a:cs typeface="Arial"/>
                <a:hlinkClick r:id="rId2" action="ppaction://hlinksldjump"/>
              </a:rPr>
              <a:t>Foundations</a:t>
            </a:r>
            <a:r>
              <a:rPr sz="600" spc="-5" dirty="0">
                <a:solidFill>
                  <a:srgbClr val="04064C"/>
                </a:solidFill>
                <a:latin typeface="Arial"/>
                <a:cs typeface="Arial"/>
              </a:rPr>
              <a:t>	</a:t>
            </a:r>
            <a:r>
              <a:rPr sz="600" spc="-20" dirty="0">
                <a:solidFill>
                  <a:srgbClr val="04064C"/>
                </a:solidFill>
                <a:latin typeface="Arial"/>
                <a:cs typeface="Arial"/>
                <a:hlinkClick r:id="rId3" action="ppaction://hlinksldjump"/>
              </a:rPr>
              <a:t>Types </a:t>
            </a:r>
            <a:r>
              <a:rPr sz="600" spc="-5" dirty="0">
                <a:solidFill>
                  <a:srgbClr val="04064C"/>
                </a:solidFill>
                <a:latin typeface="Arial"/>
                <a:cs typeface="Arial"/>
                <a:hlinkClick r:id="rId3" action="ppaction://hlinksldjump"/>
              </a:rPr>
              <a:t>of Communication</a:t>
            </a:r>
            <a:endParaRPr sz="600">
              <a:latin typeface="Arial"/>
              <a:cs typeface="Arial"/>
            </a:endParaRPr>
          </a:p>
        </p:txBody>
      </p:sp>
      <p:sp>
        <p:nvSpPr>
          <p:cNvPr id="3" name="object 3"/>
          <p:cNvSpPr txBox="1">
            <a:spLocks noGrp="1"/>
          </p:cNvSpPr>
          <p:nvPr>
            <p:ph type="title"/>
          </p:nvPr>
        </p:nvSpPr>
        <p:spPr>
          <a:xfrm>
            <a:off x="771526" y="129033"/>
            <a:ext cx="4608195" cy="278281"/>
          </a:xfrm>
          <a:prstGeom prst="rect">
            <a:avLst/>
          </a:prstGeom>
          <a:solidFill>
            <a:srgbClr val="FFE600"/>
          </a:solidFill>
        </p:spPr>
        <p:txBody>
          <a:bodyPr vert="horz" wrap="square" lIns="0" tIns="62230" rIns="0" bIns="0" rtlCol="0">
            <a:spAutoFit/>
          </a:bodyPr>
          <a:lstStyle/>
          <a:p>
            <a:pPr marL="107945">
              <a:spcBef>
                <a:spcPts val="490"/>
              </a:spcBef>
            </a:pPr>
            <a:r>
              <a:rPr spc="-20" dirty="0"/>
              <a:t>Types </a:t>
            </a:r>
            <a:r>
              <a:rPr spc="10" dirty="0"/>
              <a:t>of</a:t>
            </a:r>
            <a:r>
              <a:rPr spc="25" dirty="0"/>
              <a:t> </a:t>
            </a:r>
            <a:r>
              <a:rPr spc="15" dirty="0"/>
              <a:t>communication</a:t>
            </a:r>
          </a:p>
        </p:txBody>
      </p:sp>
      <p:sp>
        <p:nvSpPr>
          <p:cNvPr id="4" name="object 4"/>
          <p:cNvSpPr/>
          <p:nvPr/>
        </p:nvSpPr>
        <p:spPr>
          <a:xfrm>
            <a:off x="859269" y="444687"/>
            <a:ext cx="4432935" cy="183515"/>
          </a:xfrm>
          <a:custGeom>
            <a:avLst/>
            <a:gdLst/>
            <a:ahLst/>
            <a:cxnLst/>
            <a:rect l="l" t="t" r="r" b="b"/>
            <a:pathLst>
              <a:path w="4432935" h="183515">
                <a:moveTo>
                  <a:pt x="4381767" y="0"/>
                </a:moveTo>
                <a:lnTo>
                  <a:pt x="50800" y="0"/>
                </a:lnTo>
                <a:lnTo>
                  <a:pt x="31075" y="4008"/>
                </a:lnTo>
                <a:lnTo>
                  <a:pt x="14922" y="14922"/>
                </a:lnTo>
                <a:lnTo>
                  <a:pt x="4008" y="31075"/>
                </a:lnTo>
                <a:lnTo>
                  <a:pt x="0" y="50800"/>
                </a:lnTo>
                <a:lnTo>
                  <a:pt x="0" y="182971"/>
                </a:lnTo>
                <a:lnTo>
                  <a:pt x="4432567" y="182971"/>
                </a:lnTo>
                <a:lnTo>
                  <a:pt x="4432567" y="50800"/>
                </a:lnTo>
                <a:lnTo>
                  <a:pt x="4428558" y="31075"/>
                </a:lnTo>
                <a:lnTo>
                  <a:pt x="4417644" y="14922"/>
                </a:lnTo>
                <a:lnTo>
                  <a:pt x="4401492" y="4008"/>
                </a:lnTo>
                <a:lnTo>
                  <a:pt x="4381767" y="0"/>
                </a:lnTo>
                <a:close/>
              </a:path>
            </a:pathLst>
          </a:custGeom>
          <a:solidFill>
            <a:srgbClr val="FCBB06"/>
          </a:solidFill>
        </p:spPr>
        <p:txBody>
          <a:bodyPr wrap="square" lIns="0" tIns="0" rIns="0" bIns="0" rtlCol="0"/>
          <a:lstStyle/>
          <a:p>
            <a:endParaRPr/>
          </a:p>
        </p:txBody>
      </p:sp>
      <p:sp>
        <p:nvSpPr>
          <p:cNvPr id="5" name="object 5"/>
          <p:cNvSpPr txBox="1"/>
          <p:nvPr/>
        </p:nvSpPr>
        <p:spPr>
          <a:xfrm>
            <a:off x="897371" y="434977"/>
            <a:ext cx="4295369" cy="166071"/>
          </a:xfrm>
          <a:prstGeom prst="rect">
            <a:avLst/>
          </a:prstGeom>
        </p:spPr>
        <p:txBody>
          <a:bodyPr vert="horz" wrap="square" lIns="0" tIns="12065" rIns="0" bIns="0" rtlCol="0">
            <a:spAutoFit/>
          </a:bodyPr>
          <a:lstStyle/>
          <a:p>
            <a:r>
              <a:rPr lang="en-US" sz="1000" dirty="0"/>
              <a:t>Viewing middleware as an distributed service in application-level communication</a:t>
            </a:r>
            <a:endParaRPr sz="1000" dirty="0">
              <a:latin typeface="Arial"/>
              <a:cs typeface="Arial"/>
            </a:endParaRPr>
          </a:p>
        </p:txBody>
      </p:sp>
      <p:grpSp>
        <p:nvGrpSpPr>
          <p:cNvPr id="66" name="object 66"/>
          <p:cNvGrpSpPr/>
          <p:nvPr/>
        </p:nvGrpSpPr>
        <p:grpSpPr>
          <a:xfrm>
            <a:off x="771526" y="3326969"/>
            <a:ext cx="4608195" cy="129539"/>
            <a:chOff x="0" y="3326968"/>
            <a:chExt cx="4608195" cy="129539"/>
          </a:xfrm>
        </p:grpSpPr>
        <p:sp>
          <p:nvSpPr>
            <p:cNvPr id="67" name="object 67"/>
            <p:cNvSpPr/>
            <p:nvPr/>
          </p:nvSpPr>
          <p:spPr>
            <a:xfrm>
              <a:off x="0"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11E"/>
            </a:solidFill>
          </p:spPr>
          <p:txBody>
            <a:bodyPr wrap="square" lIns="0" tIns="0" rIns="0" bIns="0" rtlCol="0"/>
            <a:lstStyle/>
            <a:p>
              <a:endParaRPr/>
            </a:p>
          </p:txBody>
        </p:sp>
        <p:sp>
          <p:nvSpPr>
            <p:cNvPr id="68" name="object 68"/>
            <p:cNvSpPr/>
            <p:nvPr/>
          </p:nvSpPr>
          <p:spPr>
            <a:xfrm>
              <a:off x="2303995" y="3326968"/>
              <a:ext cx="2304415" cy="129539"/>
            </a:xfrm>
            <a:custGeom>
              <a:avLst/>
              <a:gdLst/>
              <a:ahLst/>
              <a:cxnLst/>
              <a:rect l="l" t="t" r="r" b="b"/>
              <a:pathLst>
                <a:path w="2304415" h="129539">
                  <a:moveTo>
                    <a:pt x="2303995" y="0"/>
                  </a:moveTo>
                  <a:lnTo>
                    <a:pt x="0" y="0"/>
                  </a:lnTo>
                  <a:lnTo>
                    <a:pt x="0" y="129031"/>
                  </a:lnTo>
                  <a:lnTo>
                    <a:pt x="2303995" y="129031"/>
                  </a:lnTo>
                  <a:lnTo>
                    <a:pt x="2303995" y="0"/>
                  </a:lnTo>
                  <a:close/>
                </a:path>
              </a:pathLst>
            </a:custGeom>
            <a:solidFill>
              <a:srgbClr val="FCCF50"/>
            </a:solidFill>
          </p:spPr>
          <p:txBody>
            <a:bodyPr wrap="square" lIns="0" tIns="0" rIns="0" bIns="0" rtlCol="0"/>
            <a:lstStyle/>
            <a:p>
              <a:endParaRPr/>
            </a:p>
          </p:txBody>
        </p:sp>
      </p:grpSp>
      <p:sp>
        <p:nvSpPr>
          <p:cNvPr id="69" name="object 69"/>
          <p:cNvSpPr txBox="1"/>
          <p:nvPr/>
        </p:nvSpPr>
        <p:spPr>
          <a:xfrm>
            <a:off x="5072088" y="3331253"/>
            <a:ext cx="241300" cy="193643"/>
          </a:xfrm>
          <a:prstGeom prst="rect">
            <a:avLst/>
          </a:prstGeom>
        </p:spPr>
        <p:txBody>
          <a:bodyPr vert="horz" wrap="square" lIns="0" tIns="8890" rIns="0" bIns="0" rtlCol="0">
            <a:spAutoFit/>
          </a:bodyPr>
          <a:lstStyle/>
          <a:p>
            <a:pPr marL="38098">
              <a:spcBef>
                <a:spcPts val="70"/>
              </a:spcBef>
            </a:pPr>
            <a:fld id="{81D60167-4931-47E6-BA6A-407CBD079E47}" type="slidenum">
              <a:rPr sz="600" spc="-5" dirty="0">
                <a:solidFill>
                  <a:srgbClr val="04064C"/>
                </a:solidFill>
                <a:latin typeface="Arial"/>
                <a:cs typeface="Arial"/>
              </a:rPr>
              <a:pPr marL="38098">
                <a:spcBef>
                  <a:spcPts val="70"/>
                </a:spcBef>
              </a:pPr>
              <a:t>20</a:t>
            </a:fld>
            <a:r>
              <a:rPr sz="600" spc="-5" dirty="0">
                <a:solidFill>
                  <a:srgbClr val="04064C"/>
                </a:solidFill>
                <a:latin typeface="Arial"/>
                <a:cs typeface="Arial"/>
              </a:rPr>
              <a:t> /</a:t>
            </a:r>
            <a:r>
              <a:rPr sz="600" spc="-70" dirty="0">
                <a:solidFill>
                  <a:srgbClr val="04064C"/>
                </a:solidFill>
                <a:latin typeface="Arial"/>
                <a:cs typeface="Arial"/>
              </a:rPr>
              <a:t> </a:t>
            </a:r>
            <a:r>
              <a:rPr sz="600" spc="-5" dirty="0">
                <a:solidFill>
                  <a:srgbClr val="04064C"/>
                </a:solidFill>
                <a:latin typeface="Arial"/>
                <a:cs typeface="Arial"/>
              </a:rPr>
              <a:t>49</a:t>
            </a:r>
            <a:endParaRPr sz="600" dirty="0">
              <a:latin typeface="Arial"/>
              <a:cs typeface="Arial"/>
            </a:endParaRPr>
          </a:p>
        </p:txBody>
      </p:sp>
      <p:sp>
        <p:nvSpPr>
          <p:cNvPr id="70" name="TextBox 69"/>
          <p:cNvSpPr txBox="1"/>
          <p:nvPr/>
        </p:nvSpPr>
        <p:spPr>
          <a:xfrm>
            <a:off x="834394" y="1174399"/>
            <a:ext cx="1937383" cy="1546577"/>
          </a:xfrm>
          <a:prstGeom prst="rect">
            <a:avLst/>
          </a:prstGeom>
          <a:solidFill>
            <a:schemeClr val="bg1">
              <a:lumMod val="95000"/>
            </a:schemeClr>
          </a:solidFill>
        </p:spPr>
        <p:txBody>
          <a:bodyPr wrap="square" rtlCol="0">
            <a:spAutoFit/>
          </a:bodyPr>
          <a:lstStyle/>
          <a:p>
            <a:pPr algn="just"/>
            <a:r>
              <a:rPr lang="en-US" sz="1050" dirty="0"/>
              <a:t>The characteristic feature of </a:t>
            </a:r>
            <a:r>
              <a:rPr lang="en-US" sz="1050" b="1" dirty="0"/>
              <a:t>asynchronous communication</a:t>
            </a:r>
          </a:p>
          <a:p>
            <a:pPr algn="just"/>
            <a:r>
              <a:rPr lang="en-US" sz="1050" dirty="0"/>
              <a:t>is that </a:t>
            </a:r>
            <a:r>
              <a:rPr lang="en-US" sz="1050" dirty="0">
                <a:solidFill>
                  <a:srgbClr val="FF0000"/>
                </a:solidFill>
              </a:rPr>
              <a:t>a sender continues immediately after it has submitted its message for transmission</a:t>
            </a:r>
            <a:r>
              <a:rPr lang="en-US" sz="1050" dirty="0"/>
              <a:t>. This means that the message is (temporarily) stored immediately by the middleware upon submission. </a:t>
            </a:r>
          </a:p>
        </p:txBody>
      </p:sp>
      <p:sp>
        <p:nvSpPr>
          <p:cNvPr id="71" name="TextBox 70"/>
          <p:cNvSpPr txBox="1"/>
          <p:nvPr/>
        </p:nvSpPr>
        <p:spPr>
          <a:xfrm>
            <a:off x="2840581" y="1679176"/>
            <a:ext cx="2451622" cy="577081"/>
          </a:xfrm>
          <a:prstGeom prst="rect">
            <a:avLst/>
          </a:prstGeom>
          <a:solidFill>
            <a:schemeClr val="bg1">
              <a:lumMod val="95000"/>
            </a:schemeClr>
          </a:solidFill>
        </p:spPr>
        <p:txBody>
          <a:bodyPr wrap="square" rtlCol="0">
            <a:spAutoFit/>
          </a:bodyPr>
          <a:lstStyle/>
          <a:p>
            <a:r>
              <a:rPr lang="en-US" sz="1050" dirty="0"/>
              <a:t>With </a:t>
            </a:r>
            <a:r>
              <a:rPr lang="en-US" sz="1050" b="1" dirty="0"/>
              <a:t>synchronous communication</a:t>
            </a:r>
            <a:r>
              <a:rPr lang="en-US" sz="1050" dirty="0"/>
              <a:t>, the sender is </a:t>
            </a:r>
            <a:r>
              <a:rPr lang="en-US" sz="1050" dirty="0">
                <a:solidFill>
                  <a:srgbClr val="FF0000"/>
                </a:solidFill>
              </a:rPr>
              <a:t>blocked until its request is known to be accepted</a:t>
            </a:r>
            <a:r>
              <a:rPr lang="en-US" sz="1050" dirty="0"/>
              <a:t>. </a:t>
            </a:r>
          </a:p>
        </p:txBody>
      </p:sp>
    </p:spTree>
    <p:extLst>
      <p:ext uri="{BB962C8B-B14F-4D97-AF65-F5344CB8AC3E}">
        <p14:creationId xmlns:p14="http://schemas.microsoft.com/office/powerpoint/2010/main" val="1967637749"/>
      </p:ext>
    </p:extLst>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525" y="129032"/>
            <a:ext cx="4610100" cy="215444"/>
          </a:xfrm>
        </p:spPr>
        <p:txBody>
          <a:bodyPr/>
          <a:lstStyle/>
          <a:p>
            <a:r>
              <a:rPr lang="en-US" dirty="0"/>
              <a:t>Sync Vs </a:t>
            </a:r>
            <a:r>
              <a:rPr lang="en-US" dirty="0" err="1"/>
              <a:t>Async</a:t>
            </a:r>
            <a:endParaRPr lang="en-US" dirty="0"/>
          </a:p>
        </p:txBody>
      </p:sp>
      <p:pic>
        <p:nvPicPr>
          <p:cNvPr id="1026" name="Picture 2" descr="sync async block non-block – Fei&amp;#39;s Tech Gard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975" y="478180"/>
            <a:ext cx="4343400" cy="2890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1161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8238" y="716"/>
            <a:ext cx="4541520" cy="104516"/>
          </a:xfrm>
          <a:prstGeom prst="rect">
            <a:avLst/>
          </a:prstGeom>
        </p:spPr>
        <p:txBody>
          <a:bodyPr vert="horz" wrap="square" lIns="0" tIns="12065" rIns="0" bIns="0" rtlCol="0">
            <a:spAutoFit/>
          </a:bodyPr>
          <a:lstStyle/>
          <a:p>
            <a:pPr marL="12700">
              <a:spcBef>
                <a:spcPts val="95"/>
              </a:spcBef>
              <a:tabLst>
                <a:tab pos="3631410" algn="l"/>
              </a:tabLst>
            </a:pPr>
            <a:r>
              <a:rPr sz="600" spc="-5" dirty="0">
                <a:solidFill>
                  <a:srgbClr val="04064C"/>
                </a:solidFill>
                <a:latin typeface="Arial"/>
                <a:cs typeface="Arial"/>
                <a:hlinkClick r:id="rId2" action="ppaction://hlinksldjump"/>
              </a:rPr>
              <a:t>Communication:</a:t>
            </a:r>
            <a:r>
              <a:rPr sz="600" spc="-5" dirty="0">
                <a:solidFill>
                  <a:srgbClr val="04064C"/>
                </a:solidFill>
                <a:latin typeface="Arial"/>
                <a:cs typeface="Arial"/>
              </a:rPr>
              <a:t> </a:t>
            </a:r>
            <a:r>
              <a:rPr sz="600" spc="10" dirty="0">
                <a:solidFill>
                  <a:srgbClr val="04064C"/>
                </a:solidFill>
                <a:latin typeface="Arial"/>
                <a:cs typeface="Arial"/>
              </a:rPr>
              <a:t> </a:t>
            </a:r>
            <a:r>
              <a:rPr sz="600" spc="-5" dirty="0">
                <a:solidFill>
                  <a:srgbClr val="04064C"/>
                </a:solidFill>
                <a:latin typeface="Arial"/>
                <a:cs typeface="Arial"/>
                <a:hlinkClick r:id="rId2" action="ppaction://hlinksldjump"/>
              </a:rPr>
              <a:t>Foundations</a:t>
            </a:r>
            <a:r>
              <a:rPr sz="600" spc="-5" dirty="0">
                <a:solidFill>
                  <a:srgbClr val="04064C"/>
                </a:solidFill>
                <a:latin typeface="Arial"/>
                <a:cs typeface="Arial"/>
              </a:rPr>
              <a:t>	</a:t>
            </a:r>
            <a:r>
              <a:rPr sz="600" spc="-20" dirty="0">
                <a:solidFill>
                  <a:srgbClr val="04064C"/>
                </a:solidFill>
                <a:latin typeface="Arial"/>
                <a:cs typeface="Arial"/>
                <a:hlinkClick r:id="rId3" action="ppaction://hlinksldjump"/>
              </a:rPr>
              <a:t>Types </a:t>
            </a:r>
            <a:r>
              <a:rPr sz="600" spc="-5" dirty="0">
                <a:solidFill>
                  <a:srgbClr val="04064C"/>
                </a:solidFill>
                <a:latin typeface="Arial"/>
                <a:cs typeface="Arial"/>
                <a:hlinkClick r:id="rId3" action="ppaction://hlinksldjump"/>
              </a:rPr>
              <a:t>of Communication</a:t>
            </a:r>
            <a:endParaRPr sz="600">
              <a:latin typeface="Arial"/>
              <a:cs typeface="Arial"/>
            </a:endParaRPr>
          </a:p>
        </p:txBody>
      </p:sp>
      <p:sp>
        <p:nvSpPr>
          <p:cNvPr id="3" name="object 3"/>
          <p:cNvSpPr txBox="1">
            <a:spLocks noGrp="1"/>
          </p:cNvSpPr>
          <p:nvPr>
            <p:ph type="title"/>
          </p:nvPr>
        </p:nvSpPr>
        <p:spPr>
          <a:xfrm>
            <a:off x="771526" y="129033"/>
            <a:ext cx="4608195" cy="278281"/>
          </a:xfrm>
          <a:prstGeom prst="rect">
            <a:avLst/>
          </a:prstGeom>
          <a:solidFill>
            <a:srgbClr val="FFE600"/>
          </a:solidFill>
        </p:spPr>
        <p:txBody>
          <a:bodyPr vert="horz" wrap="square" lIns="0" tIns="62230" rIns="0" bIns="0" rtlCol="0">
            <a:spAutoFit/>
          </a:bodyPr>
          <a:lstStyle/>
          <a:p>
            <a:pPr marL="107945">
              <a:spcBef>
                <a:spcPts val="490"/>
              </a:spcBef>
            </a:pPr>
            <a:r>
              <a:rPr spc="15" dirty="0"/>
              <a:t>Messaging</a:t>
            </a:r>
          </a:p>
        </p:txBody>
      </p:sp>
      <p:grpSp>
        <p:nvGrpSpPr>
          <p:cNvPr id="4" name="object 4"/>
          <p:cNvGrpSpPr/>
          <p:nvPr/>
        </p:nvGrpSpPr>
        <p:grpSpPr>
          <a:xfrm>
            <a:off x="859270" y="1278447"/>
            <a:ext cx="4483735" cy="960119"/>
            <a:chOff x="87743" y="1278445"/>
            <a:chExt cx="4483735" cy="960119"/>
          </a:xfrm>
        </p:grpSpPr>
        <p:sp>
          <p:nvSpPr>
            <p:cNvPr id="5" name="object 5"/>
            <p:cNvSpPr/>
            <p:nvPr/>
          </p:nvSpPr>
          <p:spPr>
            <a:xfrm>
              <a:off x="87743" y="1278445"/>
              <a:ext cx="4432935" cy="183515"/>
            </a:xfrm>
            <a:custGeom>
              <a:avLst/>
              <a:gdLst/>
              <a:ahLst/>
              <a:cxnLst/>
              <a:rect l="l" t="t" r="r" b="b"/>
              <a:pathLst>
                <a:path w="4432935" h="183515">
                  <a:moveTo>
                    <a:pt x="4381767" y="0"/>
                  </a:moveTo>
                  <a:lnTo>
                    <a:pt x="50800" y="0"/>
                  </a:lnTo>
                  <a:lnTo>
                    <a:pt x="31075" y="4008"/>
                  </a:lnTo>
                  <a:lnTo>
                    <a:pt x="14922" y="14922"/>
                  </a:lnTo>
                  <a:lnTo>
                    <a:pt x="4008" y="31075"/>
                  </a:lnTo>
                  <a:lnTo>
                    <a:pt x="0" y="50800"/>
                  </a:lnTo>
                  <a:lnTo>
                    <a:pt x="0" y="182971"/>
                  </a:lnTo>
                  <a:lnTo>
                    <a:pt x="4432567" y="182971"/>
                  </a:lnTo>
                  <a:lnTo>
                    <a:pt x="4432567" y="50800"/>
                  </a:lnTo>
                  <a:lnTo>
                    <a:pt x="4428558" y="31075"/>
                  </a:lnTo>
                  <a:lnTo>
                    <a:pt x="4417644" y="14922"/>
                  </a:lnTo>
                  <a:lnTo>
                    <a:pt x="4401492" y="4008"/>
                  </a:lnTo>
                  <a:lnTo>
                    <a:pt x="4381767" y="0"/>
                  </a:lnTo>
                  <a:close/>
                </a:path>
              </a:pathLst>
            </a:custGeom>
            <a:solidFill>
              <a:srgbClr val="FCBB06"/>
            </a:solidFill>
          </p:spPr>
          <p:txBody>
            <a:bodyPr wrap="square" lIns="0" tIns="0" rIns="0" bIns="0" rtlCol="0"/>
            <a:lstStyle/>
            <a:p>
              <a:endParaRPr/>
            </a:p>
          </p:txBody>
        </p:sp>
        <p:sp>
          <p:nvSpPr>
            <p:cNvPr id="6" name="object 6"/>
            <p:cNvSpPr/>
            <p:nvPr/>
          </p:nvSpPr>
          <p:spPr>
            <a:xfrm>
              <a:off x="87744" y="1448765"/>
              <a:ext cx="4432566" cy="50609"/>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38544" y="2136889"/>
              <a:ext cx="101600" cy="101600"/>
            </a:xfrm>
            <a:prstGeom prst="rect">
              <a:avLst/>
            </a:prstGeom>
            <a:blipFill>
              <a:blip r:embed="rId5" cstate="print"/>
              <a:stretch>
                <a:fillRect/>
              </a:stretch>
            </a:blipFill>
          </p:spPr>
          <p:txBody>
            <a:bodyPr wrap="square" lIns="0" tIns="0" rIns="0" bIns="0" rtlCol="0"/>
            <a:lstStyle/>
            <a:p>
              <a:endParaRPr/>
            </a:p>
          </p:txBody>
        </p:sp>
        <p:sp>
          <p:nvSpPr>
            <p:cNvPr id="8" name="object 8"/>
            <p:cNvSpPr/>
            <p:nvPr/>
          </p:nvSpPr>
          <p:spPr>
            <a:xfrm>
              <a:off x="189344" y="2124189"/>
              <a:ext cx="4381715" cy="114300"/>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4520311" y="1322679"/>
              <a:ext cx="50749" cy="814209"/>
            </a:xfrm>
            <a:prstGeom prst="rect">
              <a:avLst/>
            </a:prstGeom>
            <a:blipFill>
              <a:blip r:embed="rId7" cstate="print"/>
              <a:stretch>
                <a:fillRect/>
              </a:stretch>
            </a:blipFill>
          </p:spPr>
          <p:txBody>
            <a:bodyPr wrap="square" lIns="0" tIns="0" rIns="0" bIns="0" rtlCol="0"/>
            <a:lstStyle/>
            <a:p>
              <a:endParaRPr/>
            </a:p>
          </p:txBody>
        </p:sp>
        <p:sp>
          <p:nvSpPr>
            <p:cNvPr id="10" name="object 10"/>
            <p:cNvSpPr/>
            <p:nvPr/>
          </p:nvSpPr>
          <p:spPr>
            <a:xfrm>
              <a:off x="87743" y="1493042"/>
              <a:ext cx="4432935" cy="694690"/>
            </a:xfrm>
            <a:custGeom>
              <a:avLst/>
              <a:gdLst/>
              <a:ahLst/>
              <a:cxnLst/>
              <a:rect l="l" t="t" r="r" b="b"/>
              <a:pathLst>
                <a:path w="4432935" h="694689">
                  <a:moveTo>
                    <a:pt x="4432567" y="0"/>
                  </a:moveTo>
                  <a:lnTo>
                    <a:pt x="0" y="0"/>
                  </a:lnTo>
                  <a:lnTo>
                    <a:pt x="0" y="643846"/>
                  </a:lnTo>
                  <a:lnTo>
                    <a:pt x="4008" y="663571"/>
                  </a:lnTo>
                  <a:lnTo>
                    <a:pt x="14922" y="679724"/>
                  </a:lnTo>
                  <a:lnTo>
                    <a:pt x="31075" y="690638"/>
                  </a:lnTo>
                  <a:lnTo>
                    <a:pt x="50800" y="694647"/>
                  </a:lnTo>
                  <a:lnTo>
                    <a:pt x="4381767" y="694647"/>
                  </a:lnTo>
                  <a:lnTo>
                    <a:pt x="4401492" y="690638"/>
                  </a:lnTo>
                  <a:lnTo>
                    <a:pt x="4417644" y="679724"/>
                  </a:lnTo>
                  <a:lnTo>
                    <a:pt x="4428558" y="663571"/>
                  </a:lnTo>
                  <a:lnTo>
                    <a:pt x="4432567" y="643846"/>
                  </a:lnTo>
                  <a:lnTo>
                    <a:pt x="4432567" y="0"/>
                  </a:lnTo>
                  <a:close/>
                </a:path>
              </a:pathLst>
            </a:custGeom>
            <a:solidFill>
              <a:srgbClr val="FEEDC0"/>
            </a:solidFill>
          </p:spPr>
          <p:txBody>
            <a:bodyPr wrap="square" lIns="0" tIns="0" rIns="0" bIns="0" rtlCol="0"/>
            <a:lstStyle/>
            <a:p>
              <a:endParaRPr/>
            </a:p>
          </p:txBody>
        </p:sp>
        <p:sp>
          <p:nvSpPr>
            <p:cNvPr id="11" name="object 11"/>
            <p:cNvSpPr/>
            <p:nvPr/>
          </p:nvSpPr>
          <p:spPr>
            <a:xfrm>
              <a:off x="4520311" y="1360775"/>
              <a:ext cx="0" cy="795655"/>
            </a:xfrm>
            <a:custGeom>
              <a:avLst/>
              <a:gdLst/>
              <a:ahLst/>
              <a:cxnLst/>
              <a:rect l="l" t="t" r="r" b="b"/>
              <a:pathLst>
                <a:path h="795655">
                  <a:moveTo>
                    <a:pt x="0" y="795163"/>
                  </a:moveTo>
                  <a:lnTo>
                    <a:pt x="0" y="0"/>
                  </a:lnTo>
                </a:path>
              </a:pathLst>
            </a:custGeom>
            <a:ln w="3175">
              <a:solidFill>
                <a:srgbClr val="7F7F7F"/>
              </a:solidFill>
            </a:ln>
          </p:spPr>
          <p:txBody>
            <a:bodyPr wrap="square" lIns="0" tIns="0" rIns="0" bIns="0" rtlCol="0"/>
            <a:lstStyle/>
            <a:p>
              <a:endParaRPr/>
            </a:p>
          </p:txBody>
        </p:sp>
        <p:sp>
          <p:nvSpPr>
            <p:cNvPr id="12" name="object 12"/>
            <p:cNvSpPr/>
            <p:nvPr/>
          </p:nvSpPr>
          <p:spPr>
            <a:xfrm>
              <a:off x="4520311" y="1348075"/>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3" name="object 13"/>
            <p:cNvSpPr/>
            <p:nvPr/>
          </p:nvSpPr>
          <p:spPr>
            <a:xfrm>
              <a:off x="4520311" y="1335375"/>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4" name="object 14"/>
            <p:cNvSpPr/>
            <p:nvPr/>
          </p:nvSpPr>
          <p:spPr>
            <a:xfrm>
              <a:off x="4520311" y="1322675"/>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15" name="object 15"/>
            <p:cNvSpPr/>
            <p:nvPr/>
          </p:nvSpPr>
          <p:spPr>
            <a:xfrm>
              <a:off x="269557" y="1758175"/>
              <a:ext cx="76809" cy="76809"/>
            </a:xfrm>
            <a:prstGeom prst="rect">
              <a:avLst/>
            </a:prstGeom>
            <a:blipFill>
              <a:blip r:embed="rId8" cstate="print"/>
              <a:stretch>
                <a:fillRect/>
              </a:stretch>
            </a:blipFill>
          </p:spPr>
          <p:txBody>
            <a:bodyPr wrap="square" lIns="0" tIns="0" rIns="0" bIns="0" rtlCol="0"/>
            <a:lstStyle/>
            <a:p>
              <a:endParaRPr/>
            </a:p>
          </p:txBody>
        </p:sp>
        <p:sp>
          <p:nvSpPr>
            <p:cNvPr id="16" name="object 16"/>
            <p:cNvSpPr/>
            <p:nvPr/>
          </p:nvSpPr>
          <p:spPr>
            <a:xfrm>
              <a:off x="269557" y="1910003"/>
              <a:ext cx="76809" cy="76809"/>
            </a:xfrm>
            <a:prstGeom prst="rect">
              <a:avLst/>
            </a:prstGeom>
            <a:blipFill>
              <a:blip r:embed="rId9" cstate="print"/>
              <a:stretch>
                <a:fillRect/>
              </a:stretch>
            </a:blipFill>
          </p:spPr>
          <p:txBody>
            <a:bodyPr wrap="square" lIns="0" tIns="0" rIns="0" bIns="0" rtlCol="0"/>
            <a:lstStyle/>
            <a:p>
              <a:endParaRPr/>
            </a:p>
          </p:txBody>
        </p:sp>
        <p:sp>
          <p:nvSpPr>
            <p:cNvPr id="17" name="object 17"/>
            <p:cNvSpPr/>
            <p:nvPr/>
          </p:nvSpPr>
          <p:spPr>
            <a:xfrm>
              <a:off x="269557" y="2061832"/>
              <a:ext cx="76809" cy="76809"/>
            </a:xfrm>
            <a:prstGeom prst="rect">
              <a:avLst/>
            </a:prstGeom>
            <a:blipFill>
              <a:blip r:embed="rId10" cstate="print"/>
              <a:stretch>
                <a:fillRect/>
              </a:stretch>
            </a:blipFill>
          </p:spPr>
          <p:txBody>
            <a:bodyPr wrap="square" lIns="0" tIns="0" rIns="0" bIns="0" rtlCol="0"/>
            <a:lstStyle/>
            <a:p>
              <a:endParaRPr/>
            </a:p>
          </p:txBody>
        </p:sp>
      </p:grpSp>
      <p:sp>
        <p:nvSpPr>
          <p:cNvPr id="18" name="object 18"/>
          <p:cNvSpPr txBox="1"/>
          <p:nvPr/>
        </p:nvSpPr>
        <p:spPr>
          <a:xfrm>
            <a:off x="893192" y="1218762"/>
            <a:ext cx="3950335" cy="960518"/>
          </a:xfrm>
          <a:prstGeom prst="rect">
            <a:avLst/>
          </a:prstGeom>
        </p:spPr>
        <p:txBody>
          <a:bodyPr vert="horz" wrap="square" lIns="0" tIns="62229" rIns="0" bIns="0" rtlCol="0">
            <a:spAutoFit/>
          </a:bodyPr>
          <a:lstStyle/>
          <a:p>
            <a:pPr marL="16509">
              <a:spcBef>
                <a:spcPts val="489"/>
              </a:spcBef>
            </a:pPr>
            <a:r>
              <a:rPr sz="1000" spc="-5" dirty="0">
                <a:solidFill>
                  <a:srgbClr val="04064C"/>
                </a:solidFill>
                <a:latin typeface="Arial"/>
                <a:cs typeface="Arial"/>
              </a:rPr>
              <a:t>Message-oriented </a:t>
            </a:r>
            <a:r>
              <a:rPr sz="1000" spc="-10" dirty="0">
                <a:solidFill>
                  <a:srgbClr val="04064C"/>
                </a:solidFill>
                <a:latin typeface="Arial"/>
                <a:cs typeface="Arial"/>
              </a:rPr>
              <a:t>middleware</a:t>
            </a:r>
            <a:endParaRPr sz="1000" dirty="0">
              <a:latin typeface="Arial"/>
              <a:cs typeface="Arial"/>
            </a:endParaRPr>
          </a:p>
          <a:p>
            <a:pPr marL="12700">
              <a:spcBef>
                <a:spcPts val="385"/>
              </a:spcBef>
            </a:pPr>
            <a:r>
              <a:rPr sz="1000" spc="-5" dirty="0">
                <a:latin typeface="Arial"/>
                <a:cs typeface="Arial"/>
              </a:rPr>
              <a:t>Aims at high-level</a:t>
            </a:r>
            <a:r>
              <a:rPr lang="en-US" sz="1000" spc="-5" dirty="0">
                <a:latin typeface="Arial"/>
                <a:cs typeface="Arial"/>
              </a:rPr>
              <a:t> </a:t>
            </a:r>
            <a:r>
              <a:rPr sz="1000" spc="-5" dirty="0">
                <a:solidFill>
                  <a:srgbClr val="0000FA"/>
                </a:solidFill>
                <a:latin typeface="Arial"/>
                <a:cs typeface="Arial"/>
              </a:rPr>
              <a:t>persistent asynchronous</a:t>
            </a:r>
            <a:r>
              <a:rPr sz="1000" spc="-10" dirty="0">
                <a:solidFill>
                  <a:srgbClr val="0000FA"/>
                </a:solidFill>
                <a:latin typeface="Arial"/>
                <a:cs typeface="Arial"/>
              </a:rPr>
              <a:t> </a:t>
            </a:r>
            <a:r>
              <a:rPr sz="1000" spc="-5" dirty="0">
                <a:solidFill>
                  <a:srgbClr val="0000FA"/>
                </a:solidFill>
                <a:latin typeface="Arial"/>
                <a:cs typeface="Arial"/>
              </a:rPr>
              <a:t>communication</a:t>
            </a:r>
            <a:r>
              <a:rPr sz="1000" spc="-5" dirty="0">
                <a:latin typeface="Arial"/>
                <a:cs typeface="Arial"/>
              </a:rPr>
              <a:t>:</a:t>
            </a:r>
            <a:endParaRPr sz="1000" dirty="0">
              <a:latin typeface="Arial"/>
              <a:cs typeface="Arial"/>
            </a:endParaRPr>
          </a:p>
          <a:p>
            <a:pPr marL="293358" marR="5080">
              <a:spcBef>
                <a:spcPts val="595"/>
              </a:spcBef>
            </a:pPr>
            <a:r>
              <a:rPr sz="1000" spc="-5" dirty="0">
                <a:latin typeface="Arial"/>
                <a:cs typeface="Arial"/>
              </a:rPr>
              <a:t>Processes send each other messages, which are queued  </a:t>
            </a:r>
            <a:r>
              <a:rPr lang="en-US" sz="1000" spc="-5" dirty="0">
                <a:latin typeface="Arial"/>
                <a:cs typeface="Arial"/>
              </a:rPr>
              <a:t> </a:t>
            </a:r>
            <a:r>
              <a:rPr sz="1000" spc="-5" dirty="0">
                <a:latin typeface="Arial"/>
                <a:cs typeface="Arial"/>
              </a:rPr>
              <a:t>Sender need not </a:t>
            </a:r>
            <a:r>
              <a:rPr sz="1000" spc="-10" dirty="0">
                <a:latin typeface="Arial"/>
                <a:cs typeface="Arial"/>
              </a:rPr>
              <a:t>wait </a:t>
            </a:r>
            <a:r>
              <a:rPr sz="1000" spc="-15" dirty="0">
                <a:latin typeface="Arial"/>
                <a:cs typeface="Arial"/>
              </a:rPr>
              <a:t>for </a:t>
            </a:r>
            <a:r>
              <a:rPr sz="1000" spc="-5" dirty="0">
                <a:latin typeface="Arial"/>
                <a:cs typeface="Arial"/>
              </a:rPr>
              <a:t>immediate </a:t>
            </a:r>
            <a:r>
              <a:rPr sz="1000" spc="-20" dirty="0">
                <a:latin typeface="Arial"/>
                <a:cs typeface="Arial"/>
              </a:rPr>
              <a:t>reply, </a:t>
            </a:r>
            <a:r>
              <a:rPr sz="1000" spc="-10" dirty="0">
                <a:latin typeface="Arial"/>
                <a:cs typeface="Arial"/>
              </a:rPr>
              <a:t>but </a:t>
            </a:r>
            <a:r>
              <a:rPr sz="1000" spc="-5" dirty="0">
                <a:latin typeface="Arial"/>
                <a:cs typeface="Arial"/>
              </a:rPr>
              <a:t>can do other things  </a:t>
            </a:r>
            <a:r>
              <a:rPr sz="1000" spc="-10" dirty="0">
                <a:latin typeface="Arial"/>
                <a:cs typeface="Arial"/>
              </a:rPr>
              <a:t>Middleware </a:t>
            </a:r>
            <a:r>
              <a:rPr sz="1000" spc="-5" dirty="0">
                <a:latin typeface="Arial"/>
                <a:cs typeface="Arial"/>
              </a:rPr>
              <a:t>often ensures </a:t>
            </a:r>
            <a:r>
              <a:rPr sz="1000" spc="-10" dirty="0">
                <a:latin typeface="Arial"/>
                <a:cs typeface="Arial"/>
              </a:rPr>
              <a:t>fault</a:t>
            </a:r>
            <a:r>
              <a:rPr sz="1000" dirty="0">
                <a:latin typeface="Arial"/>
                <a:cs typeface="Arial"/>
              </a:rPr>
              <a:t> </a:t>
            </a:r>
            <a:r>
              <a:rPr sz="1000" spc="-5" dirty="0">
                <a:latin typeface="Arial"/>
                <a:cs typeface="Arial"/>
              </a:rPr>
              <a:t>tolerance</a:t>
            </a:r>
            <a:endParaRPr sz="1000" dirty="0">
              <a:latin typeface="Arial"/>
              <a:cs typeface="Arial"/>
            </a:endParaRPr>
          </a:p>
        </p:txBody>
      </p:sp>
      <p:grpSp>
        <p:nvGrpSpPr>
          <p:cNvPr id="19" name="object 19"/>
          <p:cNvGrpSpPr/>
          <p:nvPr/>
        </p:nvGrpSpPr>
        <p:grpSpPr>
          <a:xfrm>
            <a:off x="771526" y="3326969"/>
            <a:ext cx="4608195" cy="129539"/>
            <a:chOff x="0" y="3326968"/>
            <a:chExt cx="4608195" cy="129539"/>
          </a:xfrm>
        </p:grpSpPr>
        <p:sp>
          <p:nvSpPr>
            <p:cNvPr id="20" name="object 20"/>
            <p:cNvSpPr/>
            <p:nvPr/>
          </p:nvSpPr>
          <p:spPr>
            <a:xfrm>
              <a:off x="0" y="3326968"/>
              <a:ext cx="2304415" cy="129539"/>
            </a:xfrm>
            <a:custGeom>
              <a:avLst/>
              <a:gdLst/>
              <a:ahLst/>
              <a:cxnLst/>
              <a:rect l="l" t="t" r="r" b="b"/>
              <a:pathLst>
                <a:path w="2304415" h="129539">
                  <a:moveTo>
                    <a:pt x="2303995" y="0"/>
                  </a:moveTo>
                  <a:lnTo>
                    <a:pt x="0" y="0"/>
                  </a:lnTo>
                  <a:lnTo>
                    <a:pt x="0" y="129032"/>
                  </a:lnTo>
                  <a:lnTo>
                    <a:pt x="2303995" y="129032"/>
                  </a:lnTo>
                  <a:lnTo>
                    <a:pt x="2303995" y="0"/>
                  </a:lnTo>
                  <a:close/>
                </a:path>
              </a:pathLst>
            </a:custGeom>
            <a:solidFill>
              <a:srgbClr val="FCC11E"/>
            </a:solidFill>
          </p:spPr>
          <p:txBody>
            <a:bodyPr wrap="square" lIns="0" tIns="0" rIns="0" bIns="0" rtlCol="0"/>
            <a:lstStyle/>
            <a:p>
              <a:endParaRPr/>
            </a:p>
          </p:txBody>
        </p:sp>
        <p:sp>
          <p:nvSpPr>
            <p:cNvPr id="21" name="object 21"/>
            <p:cNvSpPr/>
            <p:nvPr/>
          </p:nvSpPr>
          <p:spPr>
            <a:xfrm>
              <a:off x="2303995" y="3326968"/>
              <a:ext cx="2304415" cy="129539"/>
            </a:xfrm>
            <a:custGeom>
              <a:avLst/>
              <a:gdLst/>
              <a:ahLst/>
              <a:cxnLst/>
              <a:rect l="l" t="t" r="r" b="b"/>
              <a:pathLst>
                <a:path w="2304415" h="129539">
                  <a:moveTo>
                    <a:pt x="2303995" y="0"/>
                  </a:moveTo>
                  <a:lnTo>
                    <a:pt x="0" y="0"/>
                  </a:lnTo>
                  <a:lnTo>
                    <a:pt x="0" y="129032"/>
                  </a:lnTo>
                  <a:lnTo>
                    <a:pt x="2303995" y="129032"/>
                  </a:lnTo>
                  <a:lnTo>
                    <a:pt x="2303995" y="0"/>
                  </a:lnTo>
                  <a:close/>
                </a:path>
              </a:pathLst>
            </a:custGeom>
            <a:solidFill>
              <a:srgbClr val="FCCF50"/>
            </a:solidFill>
          </p:spPr>
          <p:txBody>
            <a:bodyPr wrap="square" lIns="0" tIns="0" rIns="0" bIns="0" rtlCol="0"/>
            <a:lstStyle/>
            <a:p>
              <a:endParaRPr/>
            </a:p>
          </p:txBody>
        </p:sp>
      </p:gr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7415D6-4506-E4DB-7B66-F0B77561E5C3}"/>
              </a:ext>
            </a:extLst>
          </p:cNvPr>
          <p:cNvSpPr txBox="1"/>
          <p:nvPr/>
        </p:nvSpPr>
        <p:spPr>
          <a:xfrm>
            <a:off x="180975" y="130174"/>
            <a:ext cx="5972175" cy="3139321"/>
          </a:xfrm>
          <a:prstGeom prst="rect">
            <a:avLst/>
          </a:prstGeom>
          <a:noFill/>
        </p:spPr>
        <p:txBody>
          <a:bodyPr wrap="square">
            <a:spAutoFit/>
          </a:bodyPr>
          <a:lstStyle/>
          <a:p>
            <a:r>
              <a:rPr lang="en-US" dirty="0"/>
              <a:t>In parallel and distributed computing, large computational tasks are divided into smaller parts and executed simultaneously using multiple processors or computers. The Python library </a:t>
            </a:r>
            <a:r>
              <a:rPr lang="en-US" b="1" dirty="0"/>
              <a:t>mpi4py</a:t>
            </a:r>
            <a:r>
              <a:rPr lang="en-US" dirty="0"/>
              <a:t> provides an interface to the </a:t>
            </a:r>
            <a:r>
              <a:rPr lang="en-US" b="1" dirty="0"/>
              <a:t>Message Passing Interface (MPI)</a:t>
            </a:r>
            <a:r>
              <a:rPr lang="en-US" dirty="0"/>
              <a:t>, which allows different processes to communicate with each other. Using mpi4py, a program can run on multiple processes where each process performs part of the computation and exchanges data when needed. This approach improves performance, reduces execution time, and enables efficient use of distributed systems such as clusters and supercomputers.</a:t>
            </a:r>
          </a:p>
        </p:txBody>
      </p:sp>
    </p:spTree>
    <p:extLst>
      <p:ext uri="{BB962C8B-B14F-4D97-AF65-F5344CB8AC3E}">
        <p14:creationId xmlns:p14="http://schemas.microsoft.com/office/powerpoint/2010/main" val="3057161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FFDC97A-B4B5-7850-A534-49142C9D21BE}"/>
              </a:ext>
            </a:extLst>
          </p:cNvPr>
          <p:cNvSpPr txBox="1"/>
          <p:nvPr/>
        </p:nvSpPr>
        <p:spPr>
          <a:xfrm>
            <a:off x="104775" y="130175"/>
            <a:ext cx="6019800" cy="3416320"/>
          </a:xfrm>
          <a:prstGeom prst="rect">
            <a:avLst/>
          </a:prstGeom>
          <a:noFill/>
        </p:spPr>
        <p:txBody>
          <a:bodyPr wrap="square">
            <a:spAutoFit/>
          </a:bodyPr>
          <a:lstStyle/>
          <a:p>
            <a:r>
              <a:rPr lang="en-US" dirty="0"/>
              <a:t>from mpi4py import MPI</a:t>
            </a:r>
          </a:p>
          <a:p>
            <a:endParaRPr lang="en-US" dirty="0"/>
          </a:p>
          <a:p>
            <a:r>
              <a:rPr lang="en-US" dirty="0"/>
              <a:t># Initialize communicator</a:t>
            </a:r>
          </a:p>
          <a:p>
            <a:r>
              <a:rPr lang="en-US" dirty="0"/>
              <a:t>comm = MPI.COMM_WORLD</a:t>
            </a:r>
          </a:p>
          <a:p>
            <a:endParaRPr lang="en-US" dirty="0"/>
          </a:p>
          <a:p>
            <a:r>
              <a:rPr lang="en-US" dirty="0"/>
              <a:t># Get process rank (ID)</a:t>
            </a:r>
          </a:p>
          <a:p>
            <a:r>
              <a:rPr lang="en-US" dirty="0"/>
              <a:t>rank = </a:t>
            </a:r>
            <a:r>
              <a:rPr lang="en-US" dirty="0" err="1"/>
              <a:t>comm.Get_rank</a:t>
            </a:r>
            <a:r>
              <a:rPr lang="en-US" dirty="0"/>
              <a:t>()</a:t>
            </a:r>
          </a:p>
          <a:p>
            <a:endParaRPr lang="en-US" dirty="0"/>
          </a:p>
          <a:p>
            <a:r>
              <a:rPr lang="en-US" dirty="0"/>
              <a:t># Get total number of processes</a:t>
            </a:r>
          </a:p>
          <a:p>
            <a:r>
              <a:rPr lang="en-US" dirty="0"/>
              <a:t>size = </a:t>
            </a:r>
            <a:r>
              <a:rPr lang="en-US" dirty="0" err="1"/>
              <a:t>comm.Get_size</a:t>
            </a:r>
            <a:r>
              <a:rPr lang="en-US" dirty="0"/>
              <a:t>()</a:t>
            </a:r>
          </a:p>
          <a:p>
            <a:endParaRPr lang="en-US" dirty="0"/>
          </a:p>
          <a:p>
            <a:r>
              <a:rPr lang="en-US" dirty="0"/>
              <a:t>print("Hello from process", rank, "out of", size)</a:t>
            </a:r>
          </a:p>
        </p:txBody>
      </p:sp>
    </p:spTree>
    <p:extLst>
      <p:ext uri="{BB962C8B-B14F-4D97-AF65-F5344CB8AC3E}">
        <p14:creationId xmlns:p14="http://schemas.microsoft.com/office/powerpoint/2010/main" val="29848036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064C"/>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7517</TotalTime>
  <Words>1745</Words>
  <Application>Microsoft Office PowerPoint</Application>
  <PresentationFormat>Custom</PresentationFormat>
  <Paragraphs>201</Paragraphs>
  <Slides>24</Slides>
  <Notes>1</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Chapter 4- Communications</vt:lpstr>
      <vt:lpstr>Overview</vt:lpstr>
      <vt:lpstr>Layered protocols</vt:lpstr>
      <vt:lpstr>Basic networking model- OSI Ref Model</vt:lpstr>
      <vt:lpstr>Layers</vt:lpstr>
      <vt:lpstr>Low-level layers</vt:lpstr>
      <vt:lpstr>Transport Layer</vt:lpstr>
      <vt:lpstr>OS and Middleware</vt:lpstr>
      <vt:lpstr>Middleware protocols</vt:lpstr>
      <vt:lpstr>Client server TCP connection- 3 way handshaking</vt:lpstr>
      <vt:lpstr>Client server  TCP connection    </vt:lpstr>
      <vt:lpstr>Push or Pull Architecture</vt:lpstr>
      <vt:lpstr>Push or Pull Architecture</vt:lpstr>
      <vt:lpstr>Middleware Role in Distributed Systems</vt:lpstr>
      <vt:lpstr>An adapted layering scheme</vt:lpstr>
      <vt:lpstr>Types of communication</vt:lpstr>
      <vt:lpstr>Types of communication</vt:lpstr>
      <vt:lpstr>Types of communication</vt:lpstr>
      <vt:lpstr>Sync Vs Async</vt:lpstr>
      <vt:lpstr>Messaging</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   (3rd Edition)</dc:title>
  <dc:creator>Dr. Danish Mehmood</dc:creator>
  <cp:lastModifiedBy>Rana Faisal Hayat</cp:lastModifiedBy>
  <cp:revision>96</cp:revision>
  <dcterms:created xsi:type="dcterms:W3CDTF">2021-10-16T17:59:20Z</dcterms:created>
  <dcterms:modified xsi:type="dcterms:W3CDTF">2026-03-09T09:45:37Z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2017-02-25T00:00:00Z</vt:filetime>
  </property>
  <property fmtid="{D5CDD505-2E9C-101B-9397-08002B2CF9AE}" pid="3" name="Creator">
    <vt:lpwstr>LaTeX with Beamer class version 3.36</vt:lpwstr>
  </property>
  <property fmtid="{D5CDD505-2E9C-101B-9397-08002B2CF9AE}" pid="4" name="LastSaved">
    <vt:filetime>2021-10-16T00:00:00Z</vt:filetime>
  </property>
</Properties>
</file>