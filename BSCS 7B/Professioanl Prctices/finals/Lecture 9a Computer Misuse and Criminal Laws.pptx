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5" r:id="rId9"/>
    <p:sldId id="271" r:id="rId10"/>
    <p:sldId id="266" r:id="rId11"/>
    <p:sldId id="267" r:id="rId12"/>
    <p:sldId id="268" r:id="rId13"/>
    <p:sldId id="272" r:id="rId14"/>
    <p:sldId id="273" r:id="rId15"/>
    <p:sldId id="269"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2370" autoAdjust="0"/>
    <p:restoredTop sz="94660"/>
  </p:normalViewPr>
  <p:slideViewPr>
    <p:cSldViewPr>
      <p:cViewPr varScale="1">
        <p:scale>
          <a:sx n="98" d="100"/>
          <a:sy n="98" d="100"/>
        </p:scale>
        <p:origin x="-96" y="-198"/>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1592080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3265567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278128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1105471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858864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252489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3624898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402066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3740474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1600450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AC948-CBA9-4FAF-BE5E-3C98A40668AC}" type="datetimeFigureOut">
              <a:rPr lang="en-US" smtClean="0"/>
              <a:pPr/>
              <a:t>3/30/2021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328872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AC948-CBA9-4FAF-BE5E-3C98A40668AC}" type="datetimeFigureOut">
              <a:rPr lang="en-US" smtClean="0"/>
              <a:pPr/>
              <a:t>3/30/2021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3AC0A2-9138-487D-A389-F3FB687C2D76}" type="slidenum">
              <a:rPr lang="en-US" smtClean="0"/>
              <a:pPr/>
              <a:t>‹#›</a:t>
            </a:fld>
            <a:endParaRPr lang="en-US" dirty="0"/>
          </a:p>
        </p:txBody>
      </p:sp>
    </p:spTree>
    <p:extLst>
      <p:ext uri="{BB962C8B-B14F-4D97-AF65-F5344CB8AC3E}">
        <p14:creationId xmlns:p14="http://schemas.microsoft.com/office/powerpoint/2010/main" xmlns="" val="7680395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3600"/>
            <a:ext cx="8382000" cy="1470025"/>
          </a:xfrm>
        </p:spPr>
        <p:txBody>
          <a:bodyPr>
            <a:noAutofit/>
          </a:bodyPr>
          <a:lstStyle/>
          <a:p>
            <a:r>
              <a:rPr lang="en-US" dirty="0" smtClean="0"/>
              <a:t>Computer Misuse and Criminal Law</a:t>
            </a:r>
            <a:br>
              <a:rPr lang="en-US" dirty="0" smtClean="0"/>
            </a:br>
            <a:r>
              <a:rPr lang="en-US" dirty="0" smtClean="0"/>
              <a:t/>
            </a:r>
            <a:br>
              <a:rPr lang="en-US" dirty="0" smtClean="0"/>
            </a:br>
            <a:r>
              <a:rPr lang="en-US" sz="3600" dirty="0" smtClean="0"/>
              <a:t>Lecture 9</a:t>
            </a:r>
            <a:endParaRPr lang="en-US" dirty="0"/>
          </a:p>
        </p:txBody>
      </p:sp>
    </p:spTree>
    <p:extLst>
      <p:ext uri="{BB962C8B-B14F-4D97-AF65-F5344CB8AC3E}">
        <p14:creationId xmlns:p14="http://schemas.microsoft.com/office/powerpoint/2010/main" xmlns="" val="41230674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lstStyle/>
          <a:p>
            <a:r>
              <a:rPr lang="en-US" dirty="0" smtClean="0"/>
              <a:t>What is Computer Misuse?</a:t>
            </a:r>
            <a:endParaRPr lang="en-US" dirty="0"/>
          </a:p>
        </p:txBody>
      </p:sp>
      <p:sp>
        <p:nvSpPr>
          <p:cNvPr id="3" name="Content Placeholder 2"/>
          <p:cNvSpPr>
            <a:spLocks noGrp="1"/>
          </p:cNvSpPr>
          <p:nvPr>
            <p:ph idx="1"/>
          </p:nvPr>
        </p:nvSpPr>
        <p:spPr>
          <a:xfrm>
            <a:off x="457200" y="2057400"/>
            <a:ext cx="8229600" cy="4068763"/>
          </a:xfrm>
        </p:spPr>
        <p:txBody>
          <a:bodyPr/>
          <a:lstStyle/>
          <a:p>
            <a:r>
              <a:rPr lang="en-US" dirty="0" smtClean="0"/>
              <a:t>Accessing or doing something illegally by using computer.</a:t>
            </a:r>
            <a:endParaRPr lang="en-US" dirty="0"/>
          </a:p>
        </p:txBody>
      </p:sp>
    </p:spTree>
    <p:extLst>
      <p:ext uri="{BB962C8B-B14F-4D97-AF65-F5344CB8AC3E}">
        <p14:creationId xmlns:p14="http://schemas.microsoft.com/office/powerpoint/2010/main" xmlns="" val="4107491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latin typeface="Times New Roman" pitchFamily="18" charset="0"/>
                <a:cs typeface="Times New Roman" pitchFamily="18" charset="0"/>
              </a:rPr>
              <a:t>Types of Computer Misuse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76400"/>
            <a:ext cx="8229600" cy="4648200"/>
          </a:xfrm>
        </p:spPr>
        <p:txBody>
          <a:bodyPr>
            <a:normAutofit/>
          </a:bodyPr>
          <a:lstStyle/>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Hacking</a:t>
            </a:r>
          </a:p>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Data misuse and unauthorized transfer or copying</a:t>
            </a:r>
          </a:p>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Copying and distributing copyrighted software, music and movies</a:t>
            </a:r>
          </a:p>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Email and chat room abuses</a:t>
            </a:r>
          </a:p>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Identity and financial abuses</a:t>
            </a:r>
          </a:p>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Fraud and theft</a:t>
            </a:r>
          </a:p>
          <a:p>
            <a:pPr>
              <a:buFont typeface="Wingdings" pitchFamily="2" charset="2"/>
              <a:buChar char="q"/>
            </a:pPr>
            <a:r>
              <a:rPr lang="en-US" sz="2400" dirty="0" smtClean="0">
                <a:latin typeface="Times New Roman" pitchFamily="18" charset="0"/>
                <a:ea typeface="Arial Unicode MS" pitchFamily="34" charset="-128"/>
                <a:cs typeface="Times New Roman" pitchFamily="18" charset="0"/>
              </a:rPr>
              <a:t>Viruses</a:t>
            </a:r>
          </a:p>
          <a:p>
            <a:pPr marL="0" indent="0">
              <a:buNone/>
            </a:pPr>
            <a:endParaRPr lang="en-US" dirty="0" smtClean="0">
              <a:latin typeface="Times New Roman" pitchFamily="18" charset="0"/>
              <a:cs typeface="Times New Roman" pitchFamily="18" charset="0"/>
            </a:endParaRPr>
          </a:p>
          <a:p>
            <a:endParaRPr lang="en-US" sz="2800" dirty="0" smtClean="0"/>
          </a:p>
          <a:p>
            <a:endParaRPr lang="en-US" dirty="0"/>
          </a:p>
        </p:txBody>
      </p:sp>
    </p:spTree>
    <p:extLst>
      <p:ext uri="{BB962C8B-B14F-4D97-AF65-F5344CB8AC3E}">
        <p14:creationId xmlns:p14="http://schemas.microsoft.com/office/powerpoint/2010/main" xmlns="" val="19003565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Hacking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Times New Roman" pitchFamily="18" charset="0"/>
                <a:cs typeface="Times New Roman" pitchFamily="18" charset="0"/>
              </a:rPr>
              <a:t>Hacking is where an unauthorized person uses a network connection to gain access to main computer without password or other security to see data stored on computer. Hackers sometimes use hacking tools to get into the targets.</a:t>
            </a:r>
          </a:p>
          <a:p>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For example use different tools to get into server on which websites are running.</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36438518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Data Misuse and Unauthorized Transfer or Copying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buNone/>
            </a:pPr>
            <a:endParaRPr lang="en-US"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Copying </a:t>
            </a:r>
            <a:r>
              <a:rPr lang="en-US" sz="2400" dirty="0">
                <a:latin typeface="Times New Roman" pitchFamily="18" charset="0"/>
                <a:cs typeface="Times New Roman" pitchFamily="18" charset="0"/>
              </a:rPr>
              <a:t>and illegal transfer of data is very quick and easy using online computers and large storage devices such as hard disks, memory sticks and DVDs. Personal data, company research and written work, such as novels and textbooks, cannot be copied without the copyright holder's </a:t>
            </a:r>
            <a:r>
              <a:rPr lang="en-US" sz="2400" dirty="0" smtClean="0">
                <a:latin typeface="Times New Roman" pitchFamily="18" charset="0"/>
                <a:cs typeface="Times New Roman" pitchFamily="18" charset="0"/>
              </a:rPr>
              <a:t>permission.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2142677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Copying and Distributing Copyrighted Software, Music and Movies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828800"/>
            <a:ext cx="8229600" cy="4297363"/>
          </a:xfrm>
        </p:spPr>
        <p:txBody>
          <a:bodyPr>
            <a:normAutofit/>
          </a:bodyPr>
          <a:lstStyle/>
          <a:p>
            <a:pPr algn="just"/>
            <a:r>
              <a:rPr lang="en-US" sz="2400" dirty="0">
                <a:latin typeface="Times New Roman" pitchFamily="18" charset="0"/>
                <a:cs typeface="Times New Roman" pitchFamily="18" charset="0"/>
              </a:rPr>
              <a:t>This includes copying music and movies with computer equipment and distributing it on the Internet without the copyright holder's permission</a:t>
            </a:r>
            <a:r>
              <a:rPr lang="en-US" sz="2400" dirty="0" smtClean="0">
                <a:latin typeface="Times New Roman" pitchFamily="18" charset="0"/>
                <a:cs typeface="Times New Roman" pitchFamily="18" charset="0"/>
              </a:rPr>
              <a:t>. This </a:t>
            </a:r>
            <a:r>
              <a:rPr lang="en-US" sz="2400" dirty="0">
                <a:latin typeface="Times New Roman" pitchFamily="18" charset="0"/>
                <a:cs typeface="Times New Roman" pitchFamily="18" charset="0"/>
              </a:rPr>
              <a:t>is a widespread misuse of both computers and the Internet that breaks copyright regulations.</a:t>
            </a:r>
          </a:p>
        </p:txBody>
      </p:sp>
    </p:spTree>
    <p:extLst>
      <p:ext uri="{BB962C8B-B14F-4D97-AF65-F5344CB8AC3E}">
        <p14:creationId xmlns:p14="http://schemas.microsoft.com/office/powerpoint/2010/main" xmlns="" val="96526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Email and Chatroom Abuses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752600"/>
            <a:ext cx="8229600" cy="4373563"/>
          </a:xfrm>
        </p:spPr>
        <p:txBody>
          <a:bodyPr>
            <a:normAutofit/>
          </a:bodyPr>
          <a:lstStyle/>
          <a:p>
            <a:pPr algn="just"/>
            <a:r>
              <a:rPr lang="en-US" sz="2400" dirty="0">
                <a:latin typeface="Times New Roman" pitchFamily="18" charset="0"/>
                <a:cs typeface="Times New Roman" pitchFamily="18" charset="0"/>
              </a:rPr>
              <a:t>Internet services such as chat rooms and email have been the subject of many </a:t>
            </a:r>
            <a:r>
              <a:rPr lang="en-US" sz="2400" dirty="0" smtClean="0">
                <a:latin typeface="Times New Roman" pitchFamily="18" charset="0"/>
                <a:cs typeface="Times New Roman" pitchFamily="18" charset="0"/>
              </a:rPr>
              <a:t>well-</a:t>
            </a:r>
            <a:r>
              <a:rPr lang="en-US" sz="2400" dirty="0" err="1" smtClean="0">
                <a:latin typeface="Times New Roman" pitchFamily="18" charset="0"/>
                <a:cs typeface="Times New Roman" pitchFamily="18" charset="0"/>
              </a:rPr>
              <a:t>publicised</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cases of impersonation and deception where people who are online pretend to have a different identity. Chat rooms have been used to spread </a:t>
            </a:r>
            <a:r>
              <a:rPr lang="en-US" sz="2400" dirty="0" smtClean="0">
                <a:latin typeface="Times New Roman" pitchFamily="18" charset="0"/>
                <a:cs typeface="Times New Roman" pitchFamily="18" charset="0"/>
              </a:rPr>
              <a:t>rumors </a:t>
            </a:r>
            <a:r>
              <a:rPr lang="en-US" sz="2400" dirty="0">
                <a:latin typeface="Times New Roman" pitchFamily="18" charset="0"/>
                <a:cs typeface="Times New Roman" pitchFamily="18" charset="0"/>
              </a:rPr>
              <a:t>about well known personalities</a:t>
            </a:r>
            <a:r>
              <a:rPr lang="en-US" sz="2400" dirty="0" smtClean="0">
                <a:latin typeface="Times New Roman" pitchFamily="18" charset="0"/>
                <a:cs typeface="Times New Roman" pitchFamily="18" charset="0"/>
              </a:rPr>
              <a:t>. A </a:t>
            </a:r>
            <a:r>
              <a:rPr lang="en-US" sz="2400" dirty="0">
                <a:latin typeface="Times New Roman" pitchFamily="18" charset="0"/>
                <a:cs typeface="Times New Roman" pitchFamily="18" charset="0"/>
              </a:rPr>
              <a:t>growing area of abuse of the Internet is email spam, where millions of emails are sent to advertise both legal and illegal products and services.</a:t>
            </a:r>
          </a:p>
          <a:p>
            <a:pPr marL="0" indent="0">
              <a:buNone/>
            </a:pPr>
            <a:endParaRPr lang="en-US" dirty="0"/>
          </a:p>
        </p:txBody>
      </p:sp>
    </p:spTree>
    <p:extLst>
      <p:ext uri="{BB962C8B-B14F-4D97-AF65-F5344CB8AC3E}">
        <p14:creationId xmlns:p14="http://schemas.microsoft.com/office/powerpoint/2010/main" xmlns="" val="863379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ea typeface="Arial Unicode MS" pitchFamily="34" charset="-128"/>
                <a:cs typeface="Times New Roman" pitchFamily="18" charset="0"/>
              </a:rPr>
              <a:t>Identity and Financial Abuses</a:t>
            </a:r>
            <a:br>
              <a:rPr lang="en-US" dirty="0" smtClean="0">
                <a:latin typeface="Times New Roman" pitchFamily="18" charset="0"/>
                <a:ea typeface="Arial Unicode MS" pitchFamily="34" charset="-128"/>
                <a:cs typeface="Times New Roman" pitchFamily="18" charset="0"/>
              </a:rPr>
            </a:br>
            <a:endParaRPr lang="en-US" dirty="0"/>
          </a:p>
        </p:txBody>
      </p:sp>
      <p:sp>
        <p:nvSpPr>
          <p:cNvPr id="3" name="Content Placeholder 2"/>
          <p:cNvSpPr>
            <a:spLocks noGrp="1"/>
          </p:cNvSpPr>
          <p:nvPr>
            <p:ph idx="1"/>
          </p:nvPr>
        </p:nvSpPr>
        <p:spPr>
          <a:xfrm>
            <a:off x="457200" y="1295400"/>
            <a:ext cx="8321040" cy="4267200"/>
          </a:xfrm>
        </p:spPr>
        <p:txBody>
          <a:bodyPr/>
          <a:lstStyle/>
          <a:p>
            <a:pPr>
              <a:buNone/>
            </a:pPr>
            <a:endParaRPr lang="en-US" dirty="0" smtClean="0"/>
          </a:p>
          <a:p>
            <a:pPr algn="just"/>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topic includes misuse of stolen or fictional credit card numbers to obtain goods or services on the Internet, and use of computers in financial frauds</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These </a:t>
            </a:r>
            <a:r>
              <a:rPr lang="en-US" sz="2400" dirty="0">
                <a:latin typeface="Times New Roman" pitchFamily="18" charset="0"/>
                <a:cs typeface="Times New Roman" pitchFamily="18" charset="0"/>
              </a:rPr>
              <a:t>can range from complex well thought out deceptions to simple uses such as </a:t>
            </a:r>
            <a:r>
              <a:rPr lang="en-US" sz="2400" dirty="0" smtClean="0">
                <a:latin typeface="Times New Roman" pitchFamily="18" charset="0"/>
                <a:cs typeface="Times New Roman" pitchFamily="18" charset="0"/>
              </a:rPr>
              <a:t>printing counterfeit </a:t>
            </a:r>
            <a:r>
              <a:rPr lang="en-US" sz="2400" dirty="0">
                <a:latin typeface="Times New Roman" pitchFamily="18" charset="0"/>
                <a:cs typeface="Times New Roman" pitchFamily="18" charset="0"/>
              </a:rPr>
              <a:t>money with </a:t>
            </a:r>
            <a:r>
              <a:rPr lang="en-US" sz="2400" dirty="0" smtClean="0">
                <a:latin typeface="Times New Roman" pitchFamily="18" charset="0"/>
                <a:cs typeface="Times New Roman" pitchFamily="18" charset="0"/>
              </a:rPr>
              <a:t>color </a:t>
            </a:r>
            <a:r>
              <a:rPr lang="en-US" sz="2400" dirty="0">
                <a:latin typeface="Times New Roman" pitchFamily="18" charset="0"/>
                <a:cs typeface="Times New Roman" pitchFamily="18" charset="0"/>
              </a:rPr>
              <a:t>printers</a:t>
            </a:r>
            <a:r>
              <a:rPr lang="en-US" dirty="0"/>
              <a:t>.</a:t>
            </a:r>
          </a:p>
        </p:txBody>
      </p:sp>
    </p:spTree>
    <p:extLst>
      <p:ext uri="{BB962C8B-B14F-4D97-AF65-F5344CB8AC3E}">
        <p14:creationId xmlns:p14="http://schemas.microsoft.com/office/powerpoint/2010/main" xmlns="" val="1163525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itchFamily="18" charset="0"/>
                <a:cs typeface="Times New Roman" pitchFamily="18" charset="0"/>
              </a:rPr>
              <a:t>Fraud and Theft</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81200"/>
            <a:ext cx="8229600" cy="4144963"/>
          </a:xfrm>
        </p:spPr>
        <p:txBody>
          <a:bodyPr>
            <a:normAutofit/>
          </a:bodyPr>
          <a:lstStyle/>
          <a:p>
            <a:pPr algn="just"/>
            <a:r>
              <a:rPr lang="en-US" sz="2400" dirty="0" smtClean="0">
                <a:latin typeface="Times New Roman" pitchFamily="18" charset="0"/>
                <a:cs typeface="Times New Roman" pitchFamily="18" charset="0"/>
              </a:rPr>
              <a:t>Dealing or stealing of personal information and money by providing others wrong things or contents on the internet.</a:t>
            </a:r>
          </a:p>
          <a:p>
            <a:pPr algn="just"/>
            <a:r>
              <a:rPr lang="en-US" sz="2400" dirty="0" smtClean="0">
                <a:latin typeface="Times New Roman" pitchFamily="18" charset="0"/>
                <a:cs typeface="Times New Roman" pitchFamily="18" charset="0"/>
              </a:rPr>
              <a:t>Example</a:t>
            </a:r>
          </a:p>
          <a:p>
            <a:pPr algn="just">
              <a:buNone/>
            </a:pPr>
            <a:r>
              <a:rPr lang="en-US" sz="2400" dirty="0" smtClean="0">
                <a:latin typeface="Times New Roman" pitchFamily="18" charset="0"/>
                <a:cs typeface="Times New Roman" pitchFamily="18" charset="0"/>
              </a:rPr>
              <a:t>    Selling the cheap things on the internet by displaying (pictures) things in expensive way.</a:t>
            </a:r>
            <a:endParaRPr lang="en-GB"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Viruses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05000"/>
            <a:ext cx="8229600" cy="4221163"/>
          </a:xfrm>
        </p:spPr>
        <p:txBody>
          <a:bodyPr>
            <a:normAutofit/>
          </a:bodyPr>
          <a:lstStyle/>
          <a:p>
            <a:pPr algn="just"/>
            <a:r>
              <a:rPr lang="en-US" sz="2400" dirty="0" smtClean="0">
                <a:latin typeface="Times New Roman" pitchFamily="18" charset="0"/>
                <a:cs typeface="Times New Roman" pitchFamily="18" charset="0"/>
              </a:rPr>
              <a:t>Viruses </a:t>
            </a:r>
            <a:r>
              <a:rPr lang="en-US" sz="2400" dirty="0">
                <a:latin typeface="Times New Roman" pitchFamily="18" charset="0"/>
                <a:cs typeface="Times New Roman" pitchFamily="18" charset="0"/>
              </a:rPr>
              <a:t>are relatively simple programs written by people and designed to cause nuisance or damage to computers or their files.</a:t>
            </a:r>
          </a:p>
        </p:txBody>
      </p:sp>
    </p:spTree>
    <p:extLst>
      <p:ext uri="{BB962C8B-B14F-4D97-AF65-F5344CB8AC3E}">
        <p14:creationId xmlns:p14="http://schemas.microsoft.com/office/powerpoint/2010/main" xmlns="" val="3237513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itchFamily="18" charset="0"/>
                <a:cs typeface="Times New Roman" pitchFamily="18" charset="0"/>
              </a:rPr>
              <a:t>The Computer Misuse Act</a:t>
            </a:r>
          </a:p>
        </p:txBody>
      </p:sp>
      <p:sp>
        <p:nvSpPr>
          <p:cNvPr id="3" name="Content Placeholder 2"/>
          <p:cNvSpPr>
            <a:spLocks noGrp="1"/>
          </p:cNvSpPr>
          <p:nvPr>
            <p:ph idx="1"/>
          </p:nvPr>
        </p:nvSpPr>
        <p:spPr/>
        <p:txBody>
          <a:bodyPr>
            <a:normAutofit/>
          </a:bodyPr>
          <a:lstStyle/>
          <a:p>
            <a:endParaRPr lang="en-US" dirty="0" smtClean="0"/>
          </a:p>
          <a:p>
            <a:pPr marL="0" indent="0" algn="just">
              <a:buNone/>
            </a:pPr>
            <a:r>
              <a:rPr lang="en-US" sz="2600" dirty="0">
                <a:latin typeface="Times New Roman" pitchFamily="18" charset="0"/>
                <a:cs typeface="Times New Roman" pitchFamily="18" charset="0"/>
              </a:rPr>
              <a:t>The Computer Misuse Act 1990 (CMA) is an act of the UK Parliament passed in 1990. CMA is designed to frame legislation and controls over computer crime and Internet fraud</a:t>
            </a:r>
            <a:r>
              <a:rPr lang="en-US" sz="2600" dirty="0" smtClean="0">
                <a:latin typeface="Times New Roman" pitchFamily="18" charset="0"/>
                <a:cs typeface="Times New Roman" pitchFamily="18" charset="0"/>
              </a:rPr>
              <a:t>. The </a:t>
            </a:r>
            <a:r>
              <a:rPr lang="en-US" sz="2600" dirty="0">
                <a:latin typeface="Times New Roman" pitchFamily="18" charset="0"/>
                <a:cs typeface="Times New Roman" pitchFamily="18" charset="0"/>
              </a:rPr>
              <a:t>legislation was created to</a:t>
            </a:r>
            <a:r>
              <a:rPr lang="en-US" sz="2600" dirty="0" smtClean="0">
                <a:latin typeface="Times New Roman" pitchFamily="18" charset="0"/>
                <a:cs typeface="Times New Roman" pitchFamily="18" charset="0"/>
              </a:rPr>
              <a:t>:</a:t>
            </a:r>
          </a:p>
          <a:p>
            <a:pPr algn="just">
              <a:buFont typeface="Wingdings" pitchFamily="2" charset="2"/>
              <a:buChar char="q"/>
            </a:pPr>
            <a:r>
              <a:rPr lang="en-US" sz="2400" dirty="0" smtClean="0">
                <a:latin typeface="Times New Roman" pitchFamily="18" charset="0"/>
                <a:cs typeface="Times New Roman" pitchFamily="18" charset="0"/>
              </a:rPr>
              <a:t>Criminalize </a:t>
            </a:r>
            <a:r>
              <a:rPr lang="en-US" sz="2400" dirty="0">
                <a:latin typeface="Times New Roman" pitchFamily="18" charset="0"/>
                <a:cs typeface="Times New Roman" pitchFamily="18" charset="0"/>
              </a:rPr>
              <a:t>unauthorized access to computer systems. </a:t>
            </a:r>
            <a:r>
              <a:rPr lang="en-US" sz="2400" dirty="0" smtClean="0">
                <a:latin typeface="Times New Roman" pitchFamily="18" charset="0"/>
                <a:cs typeface="Times New Roman" pitchFamily="18" charset="0"/>
              </a:rPr>
              <a:t> </a:t>
            </a:r>
          </a:p>
          <a:p>
            <a:pPr algn="just">
              <a:buFont typeface="Wingdings" pitchFamily="2" charset="2"/>
              <a:buChar char="q"/>
            </a:pPr>
            <a:r>
              <a:rPr lang="en-US" sz="2400" dirty="0" smtClean="0">
                <a:latin typeface="Times New Roman" pitchFamily="18" charset="0"/>
                <a:cs typeface="Times New Roman" pitchFamily="18" charset="0"/>
              </a:rPr>
              <a:t>Deter </a:t>
            </a:r>
            <a:r>
              <a:rPr lang="en-US" sz="2400" dirty="0">
                <a:latin typeface="Times New Roman" pitchFamily="18" charset="0"/>
                <a:cs typeface="Times New Roman" pitchFamily="18" charset="0"/>
              </a:rPr>
              <a:t>serious criminals from using a computer in the commission of a criminal offence or seek to hinder or impair access to data stored in a computer</a:t>
            </a:r>
            <a:r>
              <a:rPr lang="en-US" dirty="0"/>
              <a:t> </a:t>
            </a:r>
          </a:p>
        </p:txBody>
      </p:sp>
    </p:spTree>
    <p:extLst>
      <p:ext uri="{BB962C8B-B14F-4D97-AF65-F5344CB8AC3E}">
        <p14:creationId xmlns:p14="http://schemas.microsoft.com/office/powerpoint/2010/main" xmlns="" val="1086548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This Act includes 3 criminal offences:</a:t>
            </a:r>
            <a:endParaRPr lang="en-US" dirty="0"/>
          </a:p>
        </p:txBody>
      </p:sp>
      <p:sp>
        <p:nvSpPr>
          <p:cNvPr id="3" name="Content Placeholder 2"/>
          <p:cNvSpPr>
            <a:spLocks noGrp="1"/>
          </p:cNvSpPr>
          <p:nvPr>
            <p:ph idx="1"/>
          </p:nvPr>
        </p:nvSpPr>
        <p:spPr/>
        <p:txBody>
          <a:bodyPr>
            <a:normAutofit fontScale="62500" lnSpcReduction="20000"/>
          </a:bodyPr>
          <a:lstStyle/>
          <a:p>
            <a:endParaRPr lang="en-US" dirty="0" smtClean="0"/>
          </a:p>
          <a:p>
            <a:pPr algn="just">
              <a:buFont typeface="Wingdings" pitchFamily="2" charset="2"/>
              <a:buChar char="q"/>
            </a:pPr>
            <a:r>
              <a:rPr lang="en-US" dirty="0" smtClean="0"/>
              <a:t> </a:t>
            </a:r>
            <a:r>
              <a:rPr lang="en-US" sz="3800" dirty="0">
                <a:latin typeface="Times New Roman" pitchFamily="18" charset="0"/>
                <a:cs typeface="Times New Roman" pitchFamily="18" charset="0"/>
              </a:rPr>
              <a:t>Accessing computer material without </a:t>
            </a:r>
            <a:r>
              <a:rPr lang="en-US" sz="3800" dirty="0" smtClean="0">
                <a:latin typeface="Times New Roman" pitchFamily="18" charset="0"/>
                <a:cs typeface="Times New Roman" pitchFamily="18" charset="0"/>
              </a:rPr>
              <a:t>permission</a:t>
            </a:r>
          </a:p>
          <a:p>
            <a:pPr marL="0" indent="0" algn="just">
              <a:buNone/>
            </a:pPr>
            <a:r>
              <a:rPr lang="en-US" sz="3800" dirty="0" smtClean="0">
                <a:latin typeface="Times New Roman" pitchFamily="18" charset="0"/>
                <a:cs typeface="Times New Roman" pitchFamily="18" charset="0"/>
              </a:rPr>
              <a:t>        For example, </a:t>
            </a:r>
            <a:r>
              <a:rPr lang="en-US" sz="3800" dirty="0">
                <a:latin typeface="Times New Roman" pitchFamily="18" charset="0"/>
                <a:cs typeface="Times New Roman" pitchFamily="18" charset="0"/>
              </a:rPr>
              <a:t>looking at someone else's files. </a:t>
            </a:r>
            <a:endParaRPr lang="en-US" sz="3800" dirty="0" smtClean="0">
              <a:latin typeface="Times New Roman" pitchFamily="18" charset="0"/>
              <a:cs typeface="Times New Roman" pitchFamily="18" charset="0"/>
            </a:endParaRPr>
          </a:p>
          <a:p>
            <a:pPr algn="just">
              <a:buFont typeface="Wingdings" pitchFamily="2" charset="2"/>
              <a:buChar char="q"/>
            </a:pPr>
            <a:endParaRPr lang="en-US" sz="3800" dirty="0" smtClean="0">
              <a:latin typeface="Times New Roman" pitchFamily="18" charset="0"/>
              <a:cs typeface="Times New Roman" pitchFamily="18" charset="0"/>
            </a:endParaRPr>
          </a:p>
          <a:p>
            <a:pPr algn="just">
              <a:buFont typeface="Wingdings" pitchFamily="2" charset="2"/>
              <a:buChar char="q"/>
            </a:pPr>
            <a:r>
              <a:rPr lang="en-US" sz="3800" dirty="0" smtClean="0">
                <a:latin typeface="Times New Roman" pitchFamily="18" charset="0"/>
                <a:cs typeface="Times New Roman" pitchFamily="18" charset="0"/>
              </a:rPr>
              <a:t> </a:t>
            </a:r>
            <a:r>
              <a:rPr lang="en-US" sz="3800" dirty="0">
                <a:latin typeface="Times New Roman" pitchFamily="18" charset="0"/>
                <a:cs typeface="Times New Roman" pitchFamily="18" charset="0"/>
              </a:rPr>
              <a:t>Accessing computer material without permission with intent to commit further criminal </a:t>
            </a:r>
            <a:r>
              <a:rPr lang="en-US" sz="3800" dirty="0" smtClean="0">
                <a:latin typeface="Times New Roman" pitchFamily="18" charset="0"/>
                <a:cs typeface="Times New Roman" pitchFamily="18" charset="0"/>
              </a:rPr>
              <a:t>offences. </a:t>
            </a:r>
          </a:p>
          <a:p>
            <a:pPr marL="0" indent="0" algn="just">
              <a:buNone/>
            </a:pPr>
            <a:r>
              <a:rPr lang="en-US" sz="3800" dirty="0">
                <a:latin typeface="Times New Roman" pitchFamily="18" charset="0"/>
                <a:cs typeface="Times New Roman" pitchFamily="18" charset="0"/>
              </a:rPr>
              <a:t> </a:t>
            </a:r>
            <a:r>
              <a:rPr lang="en-US" sz="3800" dirty="0" smtClean="0">
                <a:latin typeface="Times New Roman" pitchFamily="18" charset="0"/>
                <a:cs typeface="Times New Roman" pitchFamily="18" charset="0"/>
              </a:rPr>
              <a:t>    For example, </a:t>
            </a:r>
            <a:r>
              <a:rPr lang="en-US" sz="3800" dirty="0">
                <a:latin typeface="Times New Roman" pitchFamily="18" charset="0"/>
                <a:cs typeface="Times New Roman" pitchFamily="18" charset="0"/>
              </a:rPr>
              <a:t>hacking into the bank's computer and </a:t>
            </a:r>
            <a:r>
              <a:rPr lang="en-US" sz="3800" dirty="0" smtClean="0">
                <a:latin typeface="Times New Roman" pitchFamily="18" charset="0"/>
                <a:cs typeface="Times New Roman" pitchFamily="18" charset="0"/>
              </a:rPr>
              <a:t>      wanting </a:t>
            </a:r>
            <a:r>
              <a:rPr lang="en-US" sz="3800" dirty="0">
                <a:latin typeface="Times New Roman" pitchFamily="18" charset="0"/>
                <a:cs typeface="Times New Roman" pitchFamily="18" charset="0"/>
              </a:rPr>
              <a:t>to increase the amount in your account. </a:t>
            </a:r>
            <a:endParaRPr lang="en-US" sz="3800" dirty="0" smtClean="0">
              <a:latin typeface="Times New Roman" pitchFamily="18" charset="0"/>
              <a:cs typeface="Times New Roman" pitchFamily="18" charset="0"/>
            </a:endParaRPr>
          </a:p>
          <a:p>
            <a:pPr marL="0" indent="0" algn="just">
              <a:buNone/>
            </a:pPr>
            <a:r>
              <a:rPr lang="en-US" sz="3800" dirty="0" smtClean="0">
                <a:latin typeface="Times New Roman" pitchFamily="18" charset="0"/>
                <a:cs typeface="Times New Roman" pitchFamily="18" charset="0"/>
              </a:rPr>
              <a:t> </a:t>
            </a:r>
          </a:p>
          <a:p>
            <a:pPr algn="just">
              <a:buFont typeface="Wingdings" pitchFamily="2" charset="2"/>
              <a:buChar char="q"/>
            </a:pPr>
            <a:r>
              <a:rPr lang="en-US" sz="3800" dirty="0" smtClean="0">
                <a:latin typeface="Times New Roman" pitchFamily="18" charset="0"/>
                <a:cs typeface="Times New Roman" pitchFamily="18" charset="0"/>
              </a:rPr>
              <a:t>Altering </a:t>
            </a:r>
            <a:r>
              <a:rPr lang="en-US" sz="3800" dirty="0">
                <a:latin typeface="Times New Roman" pitchFamily="18" charset="0"/>
                <a:cs typeface="Times New Roman" pitchFamily="18" charset="0"/>
              </a:rPr>
              <a:t>computer data without </a:t>
            </a:r>
            <a:r>
              <a:rPr lang="en-US" sz="3800" dirty="0" smtClean="0">
                <a:latin typeface="Times New Roman" pitchFamily="18" charset="0"/>
                <a:cs typeface="Times New Roman" pitchFamily="18" charset="0"/>
              </a:rPr>
              <a:t>permission.</a:t>
            </a:r>
          </a:p>
          <a:p>
            <a:pPr marL="0" indent="0" algn="just">
              <a:buNone/>
            </a:pPr>
            <a:r>
              <a:rPr lang="en-US" sz="3800" dirty="0" smtClean="0">
                <a:latin typeface="Times New Roman" pitchFamily="18" charset="0"/>
                <a:cs typeface="Times New Roman" pitchFamily="18" charset="0"/>
              </a:rPr>
              <a:t>     For example, writing </a:t>
            </a:r>
            <a:r>
              <a:rPr lang="en-US" sz="3800" dirty="0">
                <a:latin typeface="Times New Roman" pitchFamily="18" charset="0"/>
                <a:cs typeface="Times New Roman" pitchFamily="18" charset="0"/>
              </a:rPr>
              <a:t>a virus to destroy someone else's data, or actually changing the money in an account. </a:t>
            </a:r>
          </a:p>
        </p:txBody>
      </p:sp>
    </p:spTree>
    <p:extLst>
      <p:ext uri="{BB962C8B-B14F-4D97-AF65-F5344CB8AC3E}">
        <p14:creationId xmlns:p14="http://schemas.microsoft.com/office/powerpoint/2010/main" xmlns="" val="791448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pture.JPG"/>
          <p:cNvPicPr>
            <a:picLocks noChangeAspect="1"/>
          </p:cNvPicPr>
          <p:nvPr/>
        </p:nvPicPr>
        <p:blipFill>
          <a:blip r:embed="rId2" cstate="print"/>
          <a:stretch>
            <a:fillRect/>
          </a:stretch>
        </p:blipFill>
        <p:spPr>
          <a:xfrm>
            <a:off x="457200" y="228600"/>
            <a:ext cx="8115300" cy="6019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pture1.JPG"/>
          <p:cNvPicPr>
            <a:picLocks noChangeAspect="1"/>
          </p:cNvPicPr>
          <p:nvPr/>
        </p:nvPicPr>
        <p:blipFill>
          <a:blip r:embed="rId2" cstate="print"/>
          <a:stretch>
            <a:fillRect/>
          </a:stretch>
        </p:blipFill>
        <p:spPr>
          <a:xfrm>
            <a:off x="566737" y="533400"/>
            <a:ext cx="8010525" cy="54387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Punishment</a:t>
            </a:r>
            <a:endParaRPr lang="en-US" dirty="0"/>
          </a:p>
        </p:txBody>
      </p:sp>
      <p:sp>
        <p:nvSpPr>
          <p:cNvPr id="3" name="Content Placeholder 2"/>
          <p:cNvSpPr>
            <a:spLocks noGrp="1"/>
          </p:cNvSpPr>
          <p:nvPr>
            <p:ph idx="1"/>
          </p:nvPr>
        </p:nvSpPr>
        <p:spPr/>
        <p:txBody>
          <a:bodyPr>
            <a:normAutofit/>
          </a:bodyPr>
          <a:lstStyle/>
          <a:p>
            <a:endParaRPr lang="en-US" sz="2400" dirty="0" smtClean="0">
              <a:latin typeface="Times New Roman" pitchFamily="18" charset="0"/>
              <a:cs typeface="Times New Roman" pitchFamily="18" charset="0"/>
            </a:endParaRPr>
          </a:p>
          <a:p>
            <a:pPr algn="ctr">
              <a:buNone/>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offences are punishable as follows: </a:t>
            </a:r>
            <a:endParaRPr lang="en-US" sz="2400" dirty="0" smtClean="0">
              <a:latin typeface="Times New Roman" pitchFamily="18" charset="0"/>
              <a:cs typeface="Times New Roman" pitchFamily="18" charset="0"/>
            </a:endParaRPr>
          </a:p>
          <a:p>
            <a:pPr algn="just">
              <a:buFont typeface="Wingdings" pitchFamily="2" charset="2"/>
              <a:buChar char="q"/>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Offence 1. Up to 6 months' prison and up to £5,000 in fines. </a:t>
            </a:r>
            <a:endParaRPr lang="en-US" sz="2400" dirty="0" smtClean="0">
              <a:latin typeface="Times New Roman" pitchFamily="18" charset="0"/>
              <a:cs typeface="Times New Roman" pitchFamily="18" charset="0"/>
            </a:endParaRPr>
          </a:p>
          <a:p>
            <a:pPr algn="just">
              <a:buFont typeface="Wingdings" pitchFamily="2" charset="2"/>
              <a:buChar char="q"/>
            </a:pP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Offences 2 and 3. Up to 5 years in prison and any size of fine (there is no limit).</a:t>
            </a:r>
          </a:p>
        </p:txBody>
      </p:sp>
    </p:spTree>
    <p:extLst>
      <p:ext uri="{BB962C8B-B14F-4D97-AF65-F5344CB8AC3E}">
        <p14:creationId xmlns:p14="http://schemas.microsoft.com/office/powerpoint/2010/main" xmlns="" val="432009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itchFamily="18" charset="0"/>
                <a:cs typeface="Times New Roman" pitchFamily="18" charset="0"/>
              </a:rPr>
              <a:t>Prevention of Computer Misuse</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endParaRPr lang="en-GB" sz="2400" dirty="0" smtClean="0">
              <a:latin typeface="Times New Roman" pitchFamily="18" charset="0"/>
              <a:cs typeface="Times New Roman" pitchFamily="18" charset="0"/>
            </a:endParaRPr>
          </a:p>
          <a:p>
            <a:pPr>
              <a:buFont typeface="Wingdings" pitchFamily="2" charset="2"/>
              <a:buChar char="q"/>
            </a:pPr>
            <a:r>
              <a:rPr lang="en-GB" sz="2400" dirty="0" smtClean="0">
                <a:latin typeface="Times New Roman" pitchFamily="18" charset="0"/>
                <a:cs typeface="Times New Roman" pitchFamily="18" charset="0"/>
              </a:rPr>
              <a:t>The Data Protection Act </a:t>
            </a:r>
          </a:p>
          <a:p>
            <a:pPr>
              <a:buFont typeface="Wingdings" pitchFamily="2" charset="2"/>
              <a:buChar char="q"/>
            </a:pPr>
            <a:r>
              <a:rPr lang="en-GB" sz="2400" dirty="0" smtClean="0">
                <a:latin typeface="Times New Roman" pitchFamily="18" charset="0"/>
                <a:cs typeface="Times New Roman" pitchFamily="18" charset="0"/>
              </a:rPr>
              <a:t>Copyright law </a:t>
            </a:r>
          </a:p>
          <a:p>
            <a:pPr>
              <a:buFont typeface="Wingdings" pitchFamily="2" charset="2"/>
              <a:buChar char="q"/>
            </a:pPr>
            <a:r>
              <a:rPr lang="en-GB" sz="2400" dirty="0" smtClean="0">
                <a:latin typeface="Times New Roman" pitchFamily="18" charset="0"/>
                <a:cs typeface="Times New Roman" pitchFamily="18" charset="0"/>
              </a:rPr>
              <a:t>Close down chat rooms</a:t>
            </a:r>
            <a:endParaRPr lang="en-GB"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TotalTime>
  <Words>627</Words>
  <Application>Microsoft Office PowerPoint</Application>
  <PresentationFormat>On-screen Show (4:3)</PresentationFormat>
  <Paragraphs>58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Computer Misuse and Criminal Law  Lecture 9</vt:lpstr>
      <vt:lpstr>What is Computer Misuse?</vt:lpstr>
      <vt:lpstr>Types of Computer Misuse</vt:lpstr>
      <vt:lpstr>Hacking</vt:lpstr>
      <vt:lpstr>Data Misuse and Unauthorized Transfer or Copying</vt:lpstr>
      <vt:lpstr>Copying and Distributing Copyrighted Software, Music and Movies</vt:lpstr>
      <vt:lpstr>Email and Chatroom Abuses</vt:lpstr>
      <vt:lpstr>Identity and Financial Abuses </vt:lpstr>
      <vt:lpstr>Fraud and Theft</vt:lpstr>
      <vt:lpstr>Viruses</vt:lpstr>
      <vt:lpstr>The Computer Misuse Act</vt:lpstr>
      <vt:lpstr>This Act includes 3 criminal offences:</vt:lpstr>
      <vt:lpstr>Slide 13</vt:lpstr>
      <vt:lpstr>Slide 14</vt:lpstr>
      <vt:lpstr>Punishment</vt:lpstr>
      <vt:lpstr>Prevention of Computer Misuse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Misuse and Criminal Law</dc:title>
  <dc:creator>GC</dc:creator>
  <cp:lastModifiedBy>Meeting Room</cp:lastModifiedBy>
  <cp:revision>18</cp:revision>
  <dcterms:created xsi:type="dcterms:W3CDTF">2019-04-10T03:28:35Z</dcterms:created>
  <dcterms:modified xsi:type="dcterms:W3CDTF">2021-03-30T05:59:54Z</dcterms:modified>
</cp:coreProperties>
</file>