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236BA-9988-4CF8-90F1-15C0BDFD4C6B}" type="datetimeFigureOut">
              <a:rPr lang="en-US" smtClean="0"/>
              <a:pPr/>
              <a:t>4/27/2021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006DCE-9CE4-4528-949D-AE224D4ECC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52687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Start</a:t>
            </a:r>
            <a:r>
              <a:rPr lang="en-US" baseline="0" dirty="0" smtClean="0"/>
              <a:t> here….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06DCE-9CE4-4528-949D-AE224D4ECC4D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Change in</a:t>
            </a:r>
            <a:r>
              <a:rPr lang="en-US" baseline="0" dirty="0" smtClean="0"/>
              <a:t> dollar 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06DCE-9CE4-4528-949D-AE224D4ECC4D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insurance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06DCE-9CE4-4528-949D-AE224D4ECC4D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negotiation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06DCE-9CE4-4528-949D-AE224D4ECC4D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06DCE-9CE4-4528-949D-AE224D4ECC4D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Contingency: emergency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06DCE-9CE4-4528-949D-AE224D4ECC4D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8109" y="2576016"/>
            <a:ext cx="8307781" cy="757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94026" y="4463385"/>
            <a:ext cx="4155947" cy="1195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5E743-BA6F-4D89-928E-F3B2F8A459F7}" type="datetime1">
              <a:rPr lang="en-US" smtClean="0"/>
              <a:pPr/>
              <a:t>4/27/2021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spc="-5" dirty="0"/>
              <a:pPr marL="25400">
                <a:lnSpc>
                  <a:spcPts val="1425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0FF47-393A-4328-BCDB-9A5BE929DC3E}" type="datetime1">
              <a:rPr lang="en-US" smtClean="0"/>
              <a:pPr/>
              <a:t>4/27/2021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spc="-5" dirty="0"/>
              <a:pPr marL="25400">
                <a:lnSpc>
                  <a:spcPts val="1425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D84C0-977D-492E-B7B4-B8FEE90A5452}" type="datetime1">
              <a:rPr lang="en-US" smtClean="0"/>
              <a:pPr/>
              <a:t>4/27/2021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spc="-5" dirty="0"/>
              <a:pPr marL="25400">
                <a:lnSpc>
                  <a:spcPts val="1425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9BA8A-9E2F-4DFB-89F5-3F0AF873C8F0}" type="datetime1">
              <a:rPr lang="en-US" smtClean="0"/>
              <a:pPr/>
              <a:t>4/27/2021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spc="-5" dirty="0"/>
              <a:pPr marL="25400">
                <a:lnSpc>
                  <a:spcPts val="1425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4C3F1-8A85-4A72-8BE1-796723949905}" type="datetime1">
              <a:rPr lang="en-US" smtClean="0"/>
              <a:pPr/>
              <a:t>4/27/2021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spc="-5" dirty="0"/>
              <a:pPr marL="25400">
                <a:lnSpc>
                  <a:spcPts val="1425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72077" y="345389"/>
            <a:ext cx="1799844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6004" y="3277358"/>
            <a:ext cx="6800215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A5CBE-0CD3-4DE3-80A5-259529618C52}" type="datetime1">
              <a:rPr lang="en-US" smtClean="0"/>
              <a:pPr/>
              <a:t>4/27/2021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99271" y="6446122"/>
            <a:ext cx="22161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spc="-5" dirty="0"/>
              <a:pPr marL="25400">
                <a:lnSpc>
                  <a:spcPts val="1425"/>
                </a:lnSpc>
              </a:pPr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57200" y="2590800"/>
            <a:ext cx="8307781" cy="757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 Contract and</a:t>
            </a:r>
            <a:r>
              <a:rPr spc="-10" dirty="0"/>
              <a:t> </a:t>
            </a:r>
            <a:r>
              <a:rPr dirty="0"/>
              <a:t>Liability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"/>
          </p:nvPr>
        </p:nvSpPr>
        <p:spPr>
          <a:xfrm>
            <a:off x="2494026" y="4463385"/>
            <a:ext cx="4155947" cy="492443"/>
          </a:xfrm>
        </p:spPr>
        <p:txBody>
          <a:bodyPr/>
          <a:lstStyle/>
          <a:p>
            <a:pPr algn="ctr"/>
            <a:r>
              <a:rPr lang="en-US" dirty="0" smtClean="0"/>
              <a:t>Lecture 10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803648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03647" y="0"/>
            <a:ext cx="4340860" cy="1228725"/>
          </a:xfrm>
          <a:custGeom>
            <a:avLst/>
            <a:gdLst/>
            <a:ahLst/>
            <a:cxnLst/>
            <a:rect l="l" t="t" r="r" b="b"/>
            <a:pathLst>
              <a:path w="4340859" h="1228725">
                <a:moveTo>
                  <a:pt x="0" y="1228344"/>
                </a:moveTo>
                <a:lnTo>
                  <a:pt x="4340352" y="1228344"/>
                </a:lnTo>
                <a:lnTo>
                  <a:pt x="4340352" y="0"/>
                </a:lnTo>
                <a:lnTo>
                  <a:pt x="0" y="0"/>
                </a:lnTo>
                <a:lnTo>
                  <a:pt x="0" y="1228344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672073" y="250901"/>
            <a:ext cx="2607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84616" y="6446122"/>
            <a:ext cx="1358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pPr marL="25400">
                <a:lnSpc>
                  <a:spcPts val="1425"/>
                </a:lnSpc>
              </a:pPr>
              <a:t>2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28361" y="1185555"/>
            <a:ext cx="4091304" cy="529082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36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Ch.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2400">
              <a:latin typeface="Arial"/>
              <a:cs typeface="Arial"/>
            </a:endParaRPr>
          </a:p>
          <a:p>
            <a:pPr marL="27305" marR="17145" algn="ctr">
              <a:lnSpc>
                <a:spcPts val="3460"/>
              </a:lnSpc>
              <a:spcBef>
                <a:spcPts val="790"/>
              </a:spcBef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Software Contract</a:t>
            </a:r>
            <a:r>
              <a:rPr sz="3200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and  Liability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300">
              <a:latin typeface="Times New Roman"/>
              <a:cs typeface="Times New Roman"/>
            </a:endParaRPr>
          </a:p>
          <a:p>
            <a:pPr marL="71755" marR="62230" algn="ctr">
              <a:lnSpc>
                <a:spcPts val="3460"/>
              </a:lnSpc>
            </a:pP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Professional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Issues</a:t>
            </a:r>
            <a:r>
              <a:rPr sz="32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in  Information  </a:t>
            </a:r>
            <a:r>
              <a:rPr sz="3200" spc="-40" dirty="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endParaRPr sz="3200">
              <a:latin typeface="Arial"/>
              <a:cs typeface="Arial"/>
            </a:endParaRPr>
          </a:p>
          <a:p>
            <a:pPr marL="1343025">
              <a:lnSpc>
                <a:spcPct val="100000"/>
              </a:lnSpc>
              <a:spcBef>
                <a:spcPts val="26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Frank Bott</a:t>
            </a:r>
            <a:endParaRPr sz="2400">
              <a:latin typeface="Arial"/>
              <a:cs typeface="Arial"/>
            </a:endParaRPr>
          </a:p>
          <a:p>
            <a:pPr marL="54737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ISBN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9781906124489</a:t>
            </a:r>
            <a:endParaRPr sz="24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  <a:spcBef>
                <a:spcPts val="290"/>
              </a:spcBef>
            </a:pP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2005</a:t>
            </a:r>
            <a:endParaRPr sz="2400">
              <a:latin typeface="Arial"/>
              <a:cs typeface="Arial"/>
            </a:endParaRPr>
          </a:p>
          <a:p>
            <a:pPr marL="12065" marR="5080" algn="ctr">
              <a:lnSpc>
                <a:spcPts val="2590"/>
              </a:lnSpc>
              <a:spcBef>
                <a:spcPts val="615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BCS Learning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Development  Limited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1417320"/>
          </a:xfrm>
          <a:custGeom>
            <a:avLst/>
            <a:gdLst/>
            <a:ahLst/>
            <a:cxnLst/>
            <a:rect l="l" t="t" r="r" b="b"/>
            <a:pathLst>
              <a:path w="9144000" h="1417320">
                <a:moveTo>
                  <a:pt x="0" y="1417320"/>
                </a:moveTo>
                <a:lnTo>
                  <a:pt x="9144000" y="1417320"/>
                </a:lnTo>
                <a:lnTo>
                  <a:pt x="9144000" y="0"/>
                </a:lnTo>
                <a:lnTo>
                  <a:pt x="0" y="0"/>
                </a:lnTo>
                <a:lnTo>
                  <a:pt x="0" y="141732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/>
              <a:t>Outline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484616" y="6446122"/>
            <a:ext cx="1358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pPr marL="25400">
                <a:lnSpc>
                  <a:spcPts val="1425"/>
                </a:lnSpc>
              </a:pPr>
              <a:t>3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1481206"/>
            <a:ext cx="2603500" cy="165481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35"/>
              </a:spcBef>
              <a:buAutoNum type="arabicPeriod"/>
              <a:tabLst>
                <a:tab pos="355600" algn="l"/>
              </a:tabLst>
            </a:pP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endParaRPr sz="22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130"/>
              </a:spcBef>
              <a:buAutoNum type="arabicPeriod"/>
              <a:tabLst>
                <a:tab pos="355600" algn="l"/>
              </a:tabLst>
            </a:pP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Fixed Price  Contracts for  Bespoke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Systems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1159" y="3111462"/>
            <a:ext cx="2698115" cy="3138805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35"/>
              </a:spcBef>
              <a:buAutoNum type="alphaLcPeriod"/>
              <a:tabLst>
                <a:tab pos="354965" algn="l"/>
                <a:tab pos="355600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Products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35"/>
              </a:spcBef>
              <a:buAutoNum type="alphaLcPeriod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Deliverables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30"/>
              </a:spcBef>
              <a:buAutoNum type="alphaLcPeriod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Rights</a:t>
            </a:r>
            <a:r>
              <a:rPr sz="18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Ownership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35"/>
              </a:spcBef>
              <a:buAutoNum type="alphaLcPeriod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Confidentiality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35"/>
              </a:spcBef>
              <a:buAutoNum type="alphaLcPeriod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Payment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Terms</a:t>
            </a:r>
            <a:endParaRPr sz="18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030"/>
              </a:spcBef>
              <a:buAutoNum type="alphaLcPeriod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Payments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Delays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&amp; 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Changes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30"/>
              </a:spcBef>
              <a:buAutoNum type="alphaLcPeriod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Penalty</a:t>
            </a:r>
            <a:r>
              <a:rPr sz="18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Clauses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78834" y="1495514"/>
            <a:ext cx="2306320" cy="2053589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35"/>
              </a:spcBef>
              <a:buAutoNum type="alphaLcPeriod" startAt="8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Client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Obligations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35"/>
              </a:spcBef>
              <a:buAutoNum type="alphaLcPeriod" startAt="8"/>
              <a:tabLst>
                <a:tab pos="354965" algn="l"/>
                <a:tab pos="355600" algn="l"/>
              </a:tabLst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Working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Standards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35"/>
              </a:spcBef>
              <a:buAutoNum type="alphaLcPeriod" startAt="8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Progress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Meetings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30"/>
              </a:spcBef>
              <a:buAutoNum type="alphaLcPeriod" startAt="8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Managers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l.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8834" y="3654932"/>
            <a:ext cx="17297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m.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Warranty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and  Maintenance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78834" y="4204051"/>
            <a:ext cx="1903095" cy="2052320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25"/>
              </a:spcBef>
              <a:buAutoNum type="alphaLcPeriod" startAt="14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Inflation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35"/>
              </a:spcBef>
              <a:buAutoNum type="alphaLcPeriod" startAt="14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Indemnity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35"/>
              </a:spcBef>
              <a:buAutoNum type="alphaLcPeriod" startAt="14"/>
              <a:tabLst>
                <a:tab pos="354965" algn="l"/>
                <a:tab pos="355600" algn="l"/>
              </a:tabLst>
            </a:pP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Termination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30"/>
              </a:spcBef>
              <a:buAutoNum type="alphaLcPeriod" startAt="14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Arbitration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30"/>
              </a:spcBef>
              <a:buAutoNum type="alphaLcPeriod" startAt="14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Applicable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Law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54090" y="1625549"/>
            <a:ext cx="2449195" cy="696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3. Consultancy</a:t>
            </a:r>
            <a:r>
              <a:rPr sz="2200" spc="-3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endParaRPr sz="2200">
              <a:latin typeface="Arial"/>
              <a:cs typeface="Arial"/>
            </a:endParaRPr>
          </a:p>
          <a:p>
            <a:pPr marR="83185" algn="ctr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Contract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Hire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11290" y="2298319"/>
            <a:ext cx="1713230" cy="836294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30"/>
              </a:spcBef>
              <a:buAutoNum type="alphaLcPeriod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Contract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Hire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30"/>
              </a:spcBef>
              <a:buAutoNum type="alphaLcPeriod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Consultancy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21734" y="3198698"/>
            <a:ext cx="50673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Acceptance Procedure </a:t>
            </a:r>
            <a:r>
              <a:rPr sz="3300" spc="-7" baseline="-10101" dirty="0">
                <a:solidFill>
                  <a:srgbClr val="FFFFFF"/>
                </a:solidFill>
                <a:latin typeface="Arial"/>
                <a:cs typeface="Arial"/>
              </a:rPr>
              <a:t>4. </a:t>
            </a:r>
            <a:r>
              <a:rPr sz="3300" spc="-37" baseline="-10101" dirty="0">
                <a:solidFill>
                  <a:srgbClr val="FFFFFF"/>
                </a:solidFill>
                <a:latin typeface="Arial"/>
                <a:cs typeface="Arial"/>
              </a:rPr>
              <a:t>Time </a:t>
            </a:r>
            <a:r>
              <a:rPr sz="3300" spc="-7" baseline="-1010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3300" spc="-15" baseline="-1010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00" spc="-7" baseline="-10101" dirty="0">
                <a:solidFill>
                  <a:srgbClr val="FFFFFF"/>
                </a:solidFill>
                <a:latin typeface="Arial"/>
                <a:cs typeface="Arial"/>
              </a:rPr>
              <a:t>Materials</a:t>
            </a:r>
            <a:endParaRPr sz="3300" baseline="-10101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54090" y="3585743"/>
            <a:ext cx="2946400" cy="227520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25"/>
              </a:spcBef>
              <a:buAutoNum type="arabicPeriod" startAt="5"/>
              <a:tabLst>
                <a:tab pos="355600" algn="l"/>
              </a:tabLst>
            </a:pP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Outsourcing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130"/>
              </a:spcBef>
              <a:buAutoNum type="arabicPeriod" startAt="5"/>
              <a:tabLst>
                <a:tab pos="355600" algn="l"/>
              </a:tabLst>
            </a:pP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License</a:t>
            </a:r>
            <a:r>
              <a:rPr sz="22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Agreements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130"/>
              </a:spcBef>
              <a:buAutoNum type="arabicPeriod" startAt="5"/>
              <a:tabLst>
                <a:tab pos="355600" algn="l"/>
              </a:tabLst>
            </a:pP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Liability for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Defective</a:t>
            </a:r>
            <a:endParaRPr sz="22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130"/>
              </a:spcBef>
              <a:buAutoNum type="arabicPeriod" startAt="8"/>
              <a:tabLst>
                <a:tab pos="355600" algn="l"/>
              </a:tabLst>
            </a:pP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Health and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Safety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7173" y="483234"/>
            <a:ext cx="21393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527175"/>
            <a:ext cx="6929755" cy="19389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contract is an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agreement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between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two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more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persons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(the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parties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contract) that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can be  enforced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in a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court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of</a:t>
            </a:r>
            <a:r>
              <a:rPr sz="2400" spc="-1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00FF00"/>
                </a:solidFill>
                <a:latin typeface="Arial"/>
                <a:cs typeface="Arial"/>
              </a:rPr>
              <a:t>law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parties may be </a:t>
            </a: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legal or natural</a:t>
            </a:r>
            <a:r>
              <a:rPr sz="2000" spc="-114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persons.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 smtClean="0">
                <a:solidFill>
                  <a:srgbClr val="FFFFFF"/>
                </a:solidFill>
                <a:latin typeface="Arial"/>
                <a:cs typeface="Arial"/>
              </a:rPr>
              <a:t>What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 essential: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0" y="3581400"/>
            <a:ext cx="6487160" cy="21977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All the parties must </a:t>
            </a: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intend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to make a</a:t>
            </a:r>
            <a:r>
              <a:rPr sz="20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contract.</a:t>
            </a:r>
            <a:endParaRPr sz="20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All the parties must be </a:t>
            </a: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competent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to make a</a:t>
            </a:r>
            <a:r>
              <a:rPr sz="2000" spc="-2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contract.</a:t>
            </a:r>
            <a:endParaRPr sz="2000" dirty="0">
              <a:latin typeface="Arial"/>
              <a:cs typeface="Arial"/>
            </a:endParaRPr>
          </a:p>
          <a:p>
            <a:pPr marL="698500" marR="5080" lvl="1" indent="-228600">
              <a:lnSpc>
                <a:spcPct val="100000"/>
              </a:lnSpc>
              <a:spcBef>
                <a:spcPts val="400"/>
              </a:spcBef>
              <a:buChar char="•"/>
              <a:tabLst>
                <a:tab pos="698500" algn="l"/>
                <a:tab pos="699135" algn="l"/>
              </a:tabLst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Old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enough and sufficiently sound mind to understand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what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they  are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doing</a:t>
            </a:r>
            <a:endParaRPr sz="16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65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There must be a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consideration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  <a:p>
            <a:pPr marL="698500" marR="890269" lvl="1" indent="-228600">
              <a:lnSpc>
                <a:spcPct val="100000"/>
              </a:lnSpc>
              <a:spcBef>
                <a:spcPts val="400"/>
              </a:spcBef>
              <a:buChar char="•"/>
              <a:tabLst>
                <a:tab pos="698500" algn="l"/>
                <a:tab pos="699135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Each party must be receiving something and providing  something.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7E7E7E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7E7E7E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97316" y="6431686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5607" y="483234"/>
            <a:ext cx="33204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Contract</a:t>
            </a:r>
            <a:r>
              <a:rPr spc="-75" dirty="0"/>
              <a:t> </a:t>
            </a:r>
            <a:r>
              <a:rPr dirty="0"/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2172780"/>
            <a:ext cx="7026275" cy="3843654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Largely based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on common</a:t>
            </a:r>
            <a:r>
              <a:rPr sz="24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law.</a:t>
            </a:r>
            <a:endParaRPr sz="2400">
              <a:latin typeface="Arial"/>
              <a:cs typeface="Arial"/>
            </a:endParaRPr>
          </a:p>
          <a:p>
            <a:pPr marL="355600" marR="37592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existing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contract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law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perfectly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adequate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handle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contracts for 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supply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computers,  software and associated</a:t>
            </a:r>
            <a:r>
              <a:rPr sz="24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services.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However,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coming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internet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and e-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commerce has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created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 need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new provisions 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deal with such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matters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as: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Electronic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signatures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Which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county’s laws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should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govern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transactions</a:t>
            </a:r>
            <a:r>
              <a:rPr sz="20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parties to the transaction are in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different</a:t>
            </a:r>
            <a:r>
              <a:rPr sz="2000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countries?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7E7E7E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7E7E7E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84616" y="6446122"/>
            <a:ext cx="1358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pPr marL="25400">
                <a:lnSpc>
                  <a:spcPts val="1425"/>
                </a:lnSpc>
              </a:pPr>
              <a:t>5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4189" y="210438"/>
            <a:ext cx="578231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8519" marR="5080" indent="-846455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Fixed Price Contracts For  Bespoke</a:t>
            </a:r>
            <a:r>
              <a:rPr sz="4000" spc="5" dirty="0"/>
              <a:t> </a:t>
            </a:r>
            <a:r>
              <a:rPr sz="4000" spc="-5" dirty="0"/>
              <a:t>Systems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764919"/>
            <a:ext cx="7011670" cy="1892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30" dirty="0">
                <a:solidFill>
                  <a:srgbClr val="00FF00"/>
                </a:solidFill>
                <a:latin typeface="Arial"/>
                <a:cs typeface="Arial"/>
              </a:rPr>
              <a:t>Tailor-made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or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bespoke systems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: an organization  buys a system configured specifically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meet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its  needs.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Typically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consist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24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parts:</a:t>
            </a:r>
            <a:endParaRPr sz="24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445"/>
              </a:spcBef>
              <a:buAutoNum type="arabicPeriod"/>
              <a:tabLst>
                <a:tab pos="812800" algn="l"/>
                <a:tab pos="813435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Agreement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7056" y="3633058"/>
            <a:ext cx="4440555" cy="79375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States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who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the parties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endParaRPr sz="1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Says anything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have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been said or agreed</a:t>
            </a:r>
            <a:r>
              <a:rPr sz="14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before</a:t>
            </a:r>
            <a:endParaRPr sz="1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Signed by the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parties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400550"/>
            <a:ext cx="3464560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AutoNum type="arabicPeriod" startAt="2"/>
              <a:tabLst>
                <a:tab pos="355600" algn="l"/>
                <a:tab pos="356235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Standard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terms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conditions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AutoNum type="arabicPeriod" startAt="2"/>
              <a:tabLst>
                <a:tab pos="355600" algn="l"/>
                <a:tab pos="356235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Schedules or</a:t>
            </a:r>
            <a:r>
              <a:rPr sz="18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annexes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5057235"/>
            <a:ext cx="6751320" cy="14408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Used on fairly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large</a:t>
            </a:r>
            <a:r>
              <a:rPr sz="2400" spc="3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contracts</a:t>
            </a:r>
            <a:endParaRPr sz="2400">
              <a:latin typeface="Arial"/>
              <a:cs typeface="Arial"/>
            </a:endParaRPr>
          </a:p>
          <a:p>
            <a:pPr marL="756285" marR="5080" indent="-287020">
              <a:lnSpc>
                <a:spcPct val="100000"/>
              </a:lnSpc>
              <a:spcBef>
                <a:spcPts val="484"/>
              </a:spcBef>
              <a:tabLst>
                <a:tab pos="756285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–	Many small-scale projects are carried out</a:t>
            </a:r>
            <a:r>
              <a:rPr sz="2000" spc="-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satisfactory  using much simpler contracts,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often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no more than an  exchange of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letters.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84616" y="6446122"/>
            <a:ext cx="1358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pPr marL="25400">
                <a:lnSpc>
                  <a:spcPts val="1425"/>
                </a:lnSpc>
              </a:pPr>
              <a:t>6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237" y="483234"/>
            <a:ext cx="57772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 is to be</a:t>
            </a:r>
            <a:r>
              <a:rPr spc="-70" dirty="0"/>
              <a:t> </a:t>
            </a:r>
            <a:r>
              <a:rPr dirty="0"/>
              <a:t>produced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1295400"/>
            <a:ext cx="6850380" cy="5050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187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Contract necessarily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states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what is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be  produced.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Usually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two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level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reference:</a:t>
            </a:r>
            <a:endParaRPr sz="24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Standard terms and conditions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refer to an</a:t>
            </a:r>
            <a:r>
              <a:rPr sz="20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annex</a:t>
            </a:r>
            <a:endParaRPr sz="2000" dirty="0">
              <a:latin typeface="Arial"/>
              <a:cs typeface="Arial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The annex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then refers to the </a:t>
            </a: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requirement</a:t>
            </a:r>
            <a:r>
              <a:rPr sz="2000" spc="-17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specification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 in a separate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document</a:t>
            </a:r>
            <a:endParaRPr sz="2000" dirty="0">
              <a:latin typeface="Arial"/>
              <a:cs typeface="Arial"/>
            </a:endParaRPr>
          </a:p>
          <a:p>
            <a:pPr marL="469900" marR="123189">
              <a:lnSpc>
                <a:spcPct val="100000"/>
              </a:lnSpc>
              <a:spcBef>
                <a:spcPts val="480"/>
              </a:spcBef>
            </a:pP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*IMPORTANT: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reference to the requirement  specification identifies that document 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uniquely,</a:t>
            </a:r>
            <a:r>
              <a:rPr sz="20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normally  quoting a date and issue</a:t>
            </a:r>
            <a:r>
              <a:rPr sz="20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number.</a:t>
            </a:r>
            <a:endParaRPr sz="2000" dirty="0">
              <a:latin typeface="Arial"/>
              <a:cs typeface="Arial"/>
            </a:endParaRPr>
          </a:p>
          <a:p>
            <a:pPr marL="355600" marR="40386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Contract should provide a procedure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requirement specification changes,</a:t>
            </a:r>
            <a:r>
              <a:rPr sz="2400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including:</a:t>
            </a:r>
            <a:endParaRPr sz="24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 method of calculating payment for the</a:t>
            </a:r>
            <a:r>
              <a:rPr sz="2000" spc="-2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changes</a:t>
            </a:r>
            <a:endParaRPr sz="2000" dirty="0">
              <a:latin typeface="Arial"/>
              <a:cs typeface="Arial"/>
            </a:endParaRPr>
          </a:p>
          <a:p>
            <a:pPr marL="756285" marR="72580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Variation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of the level of anticipated</a:t>
            </a:r>
            <a:r>
              <a:rPr sz="20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performance  (optional)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84616" y="6446122"/>
            <a:ext cx="1358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pPr marL="25400">
                <a:lnSpc>
                  <a:spcPts val="1425"/>
                </a:lnSpc>
              </a:pPr>
              <a:t>7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6532604"/>
            <a:ext cx="5385435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  <a:tabLst>
                <a:tab pos="299085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–	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Variation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of the method of acceptance</a:t>
            </a:r>
            <a:r>
              <a:rPr sz="2000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testing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7717" y="483234"/>
            <a:ext cx="57156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 is to be</a:t>
            </a:r>
            <a:r>
              <a:rPr spc="-65" dirty="0"/>
              <a:t> </a:t>
            </a:r>
            <a:r>
              <a:rPr dirty="0"/>
              <a:t>delivered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1630807"/>
            <a:ext cx="4646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Non exhaustive list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possibilities: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6816" y="1997552"/>
            <a:ext cx="4331970" cy="207391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Source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Command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files</a:t>
            </a:r>
            <a:endParaRPr sz="200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  <a:spcBef>
                <a:spcPts val="400"/>
              </a:spcBef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For building the executable from the</a:t>
            </a:r>
            <a:r>
              <a:rPr sz="16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source</a:t>
            </a:r>
            <a:endParaRPr sz="16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65"/>
              </a:spcBef>
              <a:buAutoNum type="arabicPeriod" startAt="3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Documentation</a:t>
            </a:r>
            <a:endParaRPr sz="200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  <a:spcBef>
                <a:spcPts val="4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the design and the</a:t>
            </a:r>
            <a:r>
              <a:rPr sz="16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endParaRPr sz="16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65"/>
              </a:spcBef>
              <a:buAutoNum type="arabicPeriod" startAt="4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Manuals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6103" y="4047896"/>
            <a:ext cx="2186305" cy="9036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Reference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manuals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80"/>
              </a:spcBef>
              <a:buChar char="•"/>
              <a:tabLst>
                <a:tab pos="354965" algn="l"/>
                <a:tab pos="355600" algn="l"/>
              </a:tabLst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Training</a:t>
            </a:r>
            <a:r>
              <a:rPr sz="16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manuals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85"/>
              </a:spcBef>
              <a:buChar char="•"/>
              <a:tabLst>
                <a:tab pos="354965" algn="l"/>
                <a:tab pos="355600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Operations</a:t>
            </a:r>
            <a:r>
              <a:rPr sz="16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manuals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6816" y="4924318"/>
            <a:ext cx="5210810" cy="756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75"/>
              </a:spcBef>
              <a:buAutoNum type="arabicPeriod" startAt="5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Software tool to help maintaining the</a:t>
            </a:r>
            <a:r>
              <a:rPr sz="2000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80"/>
              </a:spcBef>
              <a:buAutoNum type="arabicPeriod" startAt="5"/>
              <a:tabLst>
                <a:tab pos="469265" algn="l"/>
                <a:tab pos="469900" algn="l"/>
              </a:tabLst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Training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6103" y="5657494"/>
            <a:ext cx="3116580" cy="6108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484"/>
              </a:spcBef>
              <a:buChar char="•"/>
              <a:tabLst>
                <a:tab pos="469265" algn="l"/>
                <a:tab pos="469900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For user</a:t>
            </a:r>
            <a:endParaRPr sz="16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80"/>
              </a:spcBef>
              <a:buChar char="•"/>
              <a:tabLst>
                <a:tab pos="469265" algn="l"/>
                <a:tab pos="469900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client’s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r>
              <a:rPr sz="16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staff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6816" y="6301232"/>
            <a:ext cx="33045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7.	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Test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data and test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results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97316" y="6431686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6299" y="483234"/>
            <a:ext cx="44392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Rights</a:t>
            </a:r>
            <a:r>
              <a:rPr spc="-70" dirty="0"/>
              <a:t> </a:t>
            </a:r>
            <a:r>
              <a:rPr dirty="0"/>
              <a:t>Ownership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1850263"/>
            <a:ext cx="6725920" cy="4562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Stating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what legal rights are being passed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from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the developer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client is</a:t>
            </a:r>
            <a:r>
              <a:rPr sz="24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important.</a:t>
            </a:r>
            <a:endParaRPr sz="2400">
              <a:latin typeface="Arial"/>
              <a:cs typeface="Arial"/>
            </a:endParaRPr>
          </a:p>
          <a:p>
            <a:pPr marL="355600" marR="1042035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Ownership in physical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items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will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usually  passed.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E.g.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books, documents,</a:t>
            </a:r>
            <a:r>
              <a:rPr sz="20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disks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More than that, software is protectable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intellectual</a:t>
            </a:r>
            <a:r>
              <a:rPr sz="24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rights: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Copyright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Design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rights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Confidentiality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Trademarks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Contract should state who is to own these</a:t>
            </a:r>
            <a:r>
              <a:rPr sz="2000" spc="-17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rights.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5879" y="483234"/>
            <a:ext cx="35401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Confidentiality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2649092"/>
            <a:ext cx="6807200" cy="2964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5844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two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parties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may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acquire confidential  information about each other when a bespoke  software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being</a:t>
            </a:r>
            <a:r>
              <a:rPr sz="24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developed.</a:t>
            </a:r>
            <a:endParaRPr sz="24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Client may have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pass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its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sz="20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operations</a:t>
            </a:r>
            <a:endParaRPr sz="2000" dirty="0">
              <a:latin typeface="Arial"/>
              <a:cs typeface="Arial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Developer may not want the client to </a:t>
            </a:r>
            <a:r>
              <a:rPr sz="2000" dirty="0" smtClean="0">
                <a:solidFill>
                  <a:srgbClr val="FFFFFF"/>
                </a:solidFill>
                <a:latin typeface="Arial"/>
                <a:cs typeface="Arial"/>
              </a:rPr>
              <a:t>disclose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000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others  about its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operations</a:t>
            </a:r>
            <a:endParaRPr sz="2000" dirty="0">
              <a:latin typeface="Arial"/>
              <a:cs typeface="Arial"/>
            </a:endParaRPr>
          </a:p>
          <a:p>
            <a:pPr marL="355600" marR="20955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this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case, the contract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should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state the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non-  disclosure</a:t>
            </a:r>
            <a:r>
              <a:rPr sz="2400" spc="2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agreement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6047" y="483234"/>
            <a:ext cx="38989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Payment</a:t>
            </a:r>
            <a:r>
              <a:rPr spc="-155" dirty="0"/>
              <a:t> </a:t>
            </a:r>
            <a:r>
              <a:rPr spc="-100" dirty="0"/>
              <a:t>Terms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2088007"/>
            <a:ext cx="6750050" cy="4086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5049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standard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terms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and conditions will specify 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payment conditions,</a:t>
            </a:r>
            <a:r>
              <a:rPr sz="2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e.g.:</a:t>
            </a:r>
            <a:endParaRPr sz="2400">
              <a:latin typeface="Arial"/>
              <a:cs typeface="Arial"/>
            </a:endParaRPr>
          </a:p>
          <a:p>
            <a:pPr marL="469900" marR="114935">
              <a:lnSpc>
                <a:spcPct val="100000"/>
              </a:lnSpc>
              <a:spcBef>
                <a:spcPts val="445"/>
              </a:spcBef>
            </a:pPr>
            <a:r>
              <a:rPr sz="1800" spc="-10" dirty="0">
                <a:solidFill>
                  <a:srgbClr val="00FF00"/>
                </a:solidFill>
                <a:latin typeface="Arial"/>
                <a:cs typeface="Arial"/>
              </a:rPr>
              <a:t>Payment </a:t>
            </a:r>
            <a:r>
              <a:rPr sz="1800" spc="-5" dirty="0">
                <a:solidFill>
                  <a:srgbClr val="00FF00"/>
                </a:solidFill>
                <a:latin typeface="Arial"/>
                <a:cs typeface="Arial"/>
              </a:rPr>
              <a:t>shall become due </a:t>
            </a:r>
            <a:r>
              <a:rPr sz="1800" spc="-10" dirty="0">
                <a:solidFill>
                  <a:srgbClr val="00FF00"/>
                </a:solidFill>
                <a:latin typeface="Arial"/>
                <a:cs typeface="Arial"/>
              </a:rPr>
              <a:t>within </a:t>
            </a:r>
            <a:r>
              <a:rPr sz="1800" spc="-5" dirty="0">
                <a:solidFill>
                  <a:srgbClr val="00FF00"/>
                </a:solidFill>
                <a:latin typeface="Arial"/>
                <a:cs typeface="Arial"/>
              </a:rPr>
              <a:t>30 </a:t>
            </a:r>
            <a:r>
              <a:rPr sz="1800" spc="-10" dirty="0">
                <a:solidFill>
                  <a:srgbClr val="00FF00"/>
                </a:solidFill>
                <a:latin typeface="Arial"/>
                <a:cs typeface="Arial"/>
              </a:rPr>
              <a:t>days </a:t>
            </a:r>
            <a:r>
              <a:rPr sz="1800" dirty="0">
                <a:solidFill>
                  <a:srgbClr val="00FF00"/>
                </a:solidFill>
                <a:latin typeface="Arial"/>
                <a:cs typeface="Arial"/>
              </a:rPr>
              <a:t>of </a:t>
            </a:r>
            <a:r>
              <a:rPr sz="1800" spc="-5" dirty="0">
                <a:solidFill>
                  <a:srgbClr val="00FF00"/>
                </a:solidFill>
                <a:latin typeface="Arial"/>
                <a:cs typeface="Arial"/>
              </a:rPr>
              <a:t>invoice issue  date. </a:t>
            </a:r>
            <a:r>
              <a:rPr sz="1800" dirty="0">
                <a:solidFill>
                  <a:srgbClr val="00FF00"/>
                </a:solidFill>
                <a:latin typeface="Arial"/>
                <a:cs typeface="Arial"/>
              </a:rPr>
              <a:t>If </a:t>
            </a:r>
            <a:r>
              <a:rPr sz="1800" spc="-10" dirty="0">
                <a:solidFill>
                  <a:srgbClr val="00FF00"/>
                </a:solidFill>
                <a:latin typeface="Arial"/>
                <a:cs typeface="Arial"/>
              </a:rPr>
              <a:t>payment </a:t>
            </a:r>
            <a:r>
              <a:rPr sz="1800" spc="-5" dirty="0">
                <a:solidFill>
                  <a:srgbClr val="00FF00"/>
                </a:solidFill>
                <a:latin typeface="Arial"/>
                <a:cs typeface="Arial"/>
              </a:rPr>
              <a:t>is </a:t>
            </a:r>
            <a:r>
              <a:rPr sz="1800" spc="-10" dirty="0">
                <a:solidFill>
                  <a:srgbClr val="00FF00"/>
                </a:solidFill>
                <a:latin typeface="Arial"/>
                <a:cs typeface="Arial"/>
              </a:rPr>
              <a:t>delayed </a:t>
            </a:r>
            <a:r>
              <a:rPr sz="1800" spc="-5" dirty="0">
                <a:solidFill>
                  <a:srgbClr val="00FF00"/>
                </a:solidFill>
                <a:latin typeface="Arial"/>
                <a:cs typeface="Arial"/>
              </a:rPr>
              <a:t>by more than that, </a:t>
            </a:r>
            <a:r>
              <a:rPr sz="1800" dirty="0">
                <a:solidFill>
                  <a:srgbClr val="00FF00"/>
                </a:solidFill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00FF00"/>
                </a:solidFill>
                <a:latin typeface="Arial"/>
                <a:cs typeface="Arial"/>
              </a:rPr>
              <a:t>company  shall have </a:t>
            </a:r>
            <a:r>
              <a:rPr sz="1800" dirty="0">
                <a:solidFill>
                  <a:srgbClr val="00FF00"/>
                </a:solidFill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00FF00"/>
                </a:solidFill>
                <a:latin typeface="Arial"/>
                <a:cs typeface="Arial"/>
              </a:rPr>
              <a:t>right, </a:t>
            </a:r>
            <a:r>
              <a:rPr sz="1800" dirty="0">
                <a:solidFill>
                  <a:srgbClr val="00FF00"/>
                </a:solidFill>
                <a:latin typeface="Arial"/>
                <a:cs typeface="Arial"/>
              </a:rPr>
              <a:t>at its </a:t>
            </a:r>
            <a:r>
              <a:rPr sz="1800" spc="-5" dirty="0">
                <a:solidFill>
                  <a:srgbClr val="00FF00"/>
                </a:solidFill>
                <a:latin typeface="Arial"/>
                <a:cs typeface="Arial"/>
              </a:rPr>
              <a:t>discretion, </a:t>
            </a:r>
            <a:r>
              <a:rPr sz="1800" dirty="0">
                <a:solidFill>
                  <a:srgbClr val="00FF00"/>
                </a:solidFill>
                <a:latin typeface="Arial"/>
                <a:cs typeface="Arial"/>
              </a:rPr>
              <a:t>to </a:t>
            </a:r>
            <a:r>
              <a:rPr sz="1800" spc="-5" dirty="0">
                <a:solidFill>
                  <a:srgbClr val="00FF00"/>
                </a:solidFill>
                <a:latin typeface="Arial"/>
                <a:cs typeface="Arial"/>
              </a:rPr>
              <a:t>terminate the contract  or </a:t>
            </a:r>
            <a:r>
              <a:rPr sz="1800" dirty="0">
                <a:solidFill>
                  <a:srgbClr val="00FF00"/>
                </a:solidFill>
                <a:latin typeface="Arial"/>
                <a:cs typeface="Arial"/>
              </a:rPr>
              <a:t>to </a:t>
            </a:r>
            <a:r>
              <a:rPr sz="1800" spc="-5" dirty="0">
                <a:solidFill>
                  <a:srgbClr val="00FF00"/>
                </a:solidFill>
                <a:latin typeface="Arial"/>
                <a:cs typeface="Arial"/>
              </a:rPr>
              <a:t>apply a surcharge </a:t>
            </a:r>
            <a:r>
              <a:rPr sz="1800" dirty="0">
                <a:solidFill>
                  <a:srgbClr val="00FF00"/>
                </a:solidFill>
                <a:latin typeface="Arial"/>
                <a:cs typeface="Arial"/>
              </a:rPr>
              <a:t>at </a:t>
            </a:r>
            <a:r>
              <a:rPr sz="1800" spc="-5" dirty="0">
                <a:solidFill>
                  <a:srgbClr val="00FF00"/>
                </a:solidFill>
                <a:latin typeface="Arial"/>
                <a:cs typeface="Arial"/>
              </a:rPr>
              <a:t>an interest </a:t>
            </a:r>
            <a:r>
              <a:rPr sz="1800" dirty="0">
                <a:solidFill>
                  <a:srgbClr val="00FF00"/>
                </a:solidFill>
                <a:latin typeface="Arial"/>
                <a:cs typeface="Arial"/>
              </a:rPr>
              <a:t>rate of </a:t>
            </a:r>
            <a:r>
              <a:rPr sz="1800" spc="-5" dirty="0">
                <a:solidFill>
                  <a:srgbClr val="00FF00"/>
                </a:solidFill>
                <a:latin typeface="Arial"/>
                <a:cs typeface="Arial"/>
              </a:rPr>
              <a:t>2% above </a:t>
            </a:r>
            <a:r>
              <a:rPr sz="1800" dirty="0">
                <a:solidFill>
                  <a:srgbClr val="00FF00"/>
                </a:solidFill>
                <a:latin typeface="Arial"/>
                <a:cs typeface="Arial"/>
              </a:rPr>
              <a:t>the  </a:t>
            </a:r>
            <a:r>
              <a:rPr sz="1800" spc="-10" dirty="0">
                <a:solidFill>
                  <a:srgbClr val="00FF00"/>
                </a:solidFill>
                <a:latin typeface="Arial"/>
                <a:cs typeface="Arial"/>
              </a:rPr>
              <a:t>bank </a:t>
            </a:r>
            <a:r>
              <a:rPr sz="1800" spc="-5" dirty="0">
                <a:solidFill>
                  <a:srgbClr val="00FF00"/>
                </a:solidFill>
                <a:latin typeface="Arial"/>
                <a:cs typeface="Arial"/>
              </a:rPr>
              <a:t>base </a:t>
            </a:r>
            <a:r>
              <a:rPr sz="1800" spc="-10" dirty="0">
                <a:solidFill>
                  <a:srgbClr val="00FF00"/>
                </a:solidFill>
                <a:latin typeface="Arial"/>
                <a:cs typeface="Arial"/>
              </a:rPr>
              <a:t>lending</a:t>
            </a:r>
            <a:r>
              <a:rPr sz="1800" spc="3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FF00"/>
                </a:solidFill>
                <a:latin typeface="Arial"/>
                <a:cs typeface="Arial"/>
              </a:rPr>
              <a:t>rate.</a:t>
            </a:r>
            <a:endParaRPr sz="18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6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practice, such clauses are brought into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effect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 extreme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case,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since using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them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is likely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 destroy 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goodwill between developer and  client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on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which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success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the project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depends.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6047" y="483234"/>
            <a:ext cx="38989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Payment</a:t>
            </a:r>
            <a:r>
              <a:rPr spc="-155" dirty="0"/>
              <a:t> </a:t>
            </a:r>
            <a:r>
              <a:rPr spc="-100" dirty="0"/>
              <a:t>Terms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2100198"/>
            <a:ext cx="6703059" cy="4062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117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annex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usually specifies a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pattern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of 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payments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, e.g.:</a:t>
            </a:r>
            <a:endParaRPr sz="2400">
              <a:latin typeface="Arial"/>
              <a:cs typeface="Arial"/>
            </a:endParaRPr>
          </a:p>
          <a:p>
            <a:pPr marL="756285" marR="1206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 initial payment of 15% becomes due on</a:t>
            </a:r>
            <a:r>
              <a:rPr sz="20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signature  of the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contract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65% at various stages during the</a:t>
            </a:r>
            <a:r>
              <a:rPr sz="20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development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25% on acceptance of the</a:t>
            </a:r>
            <a:r>
              <a:rPr sz="20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final 10% at the end of the warranty</a:t>
            </a:r>
            <a:r>
              <a:rPr sz="2000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period</a:t>
            </a:r>
            <a:endParaRPr sz="20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Such pattern has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advantages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for the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developer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 in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 it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reduces: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financial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risk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Possible cash flow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difficulties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6047" y="483234"/>
            <a:ext cx="38989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Payment</a:t>
            </a:r>
            <a:r>
              <a:rPr spc="-155" dirty="0"/>
              <a:t> </a:t>
            </a:r>
            <a:r>
              <a:rPr spc="-100" dirty="0"/>
              <a:t>Terms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2496134"/>
            <a:ext cx="6668770" cy="327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If 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client does not accept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stage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payment  pattern, the developer is likely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demand a  premium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cover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increased risk and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 costs 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financing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development.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negotiating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payment</a:t>
            </a:r>
            <a:r>
              <a:rPr sz="2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pattern,</a:t>
            </a:r>
            <a:endParaRPr sz="2400">
              <a:latin typeface="Arial"/>
              <a:cs typeface="Arial"/>
            </a:endParaRPr>
          </a:p>
          <a:p>
            <a:pPr marL="756285" marR="370840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developer will usually seek to have the</a:t>
            </a:r>
            <a:r>
              <a:rPr sz="20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stage  payments becoming due on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calendar</a:t>
            </a:r>
            <a:r>
              <a:rPr sz="20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dates.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While the client will try to have them tied to</a:t>
            </a:r>
            <a:r>
              <a:rPr sz="20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endParaRPr sz="2000">
              <a:latin typeface="Arial"/>
              <a:cs typeface="Arial"/>
            </a:endParaRPr>
          </a:p>
          <a:p>
            <a:pPr marR="320675"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achievement of specific project</a:t>
            </a:r>
            <a:r>
              <a:rPr sz="20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milestones.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921" y="210438"/>
            <a:ext cx="473646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59155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Payments for  Delays and</a:t>
            </a:r>
            <a:r>
              <a:rPr sz="4000" spc="-65" dirty="0"/>
              <a:t> </a:t>
            </a:r>
            <a:r>
              <a:rPr sz="4000" spc="-5" dirty="0"/>
              <a:t>Changes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86004" y="2063622"/>
            <a:ext cx="6817359" cy="4135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9659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Frequently,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progress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the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development is  delayed because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client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does not meet  obligations on</a:t>
            </a:r>
            <a:r>
              <a:rPr sz="24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time.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developer will be expected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its best to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rearrange activities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avoid wasting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effort,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but it  is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not always</a:t>
            </a:r>
            <a:r>
              <a:rPr sz="24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possible.</a:t>
            </a:r>
            <a:endParaRPr sz="2400">
              <a:latin typeface="Arial"/>
              <a:cs typeface="Arial"/>
            </a:endParaRPr>
          </a:p>
          <a:p>
            <a:pPr marL="355600" marR="253365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Therefore,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contract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should make provision 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for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payments to compensate</a:t>
            </a:r>
            <a:r>
              <a:rPr sz="2400" spc="1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for:</a:t>
            </a:r>
            <a:endParaRPr sz="2400">
              <a:latin typeface="Arial"/>
              <a:cs typeface="Arial"/>
            </a:endParaRPr>
          </a:p>
          <a:p>
            <a:pPr marL="756285" marR="57467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wasted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effort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when the client fails to meet</a:t>
            </a:r>
            <a:r>
              <a:rPr sz="2000" spc="-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its  obligation on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Extra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work when changes are</a:t>
            </a:r>
            <a:r>
              <a:rPr sz="20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requested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053" y="210438"/>
            <a:ext cx="567182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0059" marR="5080" indent="-467995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Calculating Payments for  Delays and</a:t>
            </a:r>
            <a:r>
              <a:rPr sz="4000" spc="-15" dirty="0"/>
              <a:t> </a:t>
            </a:r>
            <a:r>
              <a:rPr sz="4000" spc="-5" dirty="0"/>
              <a:t>Changes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86004" y="2764916"/>
            <a:ext cx="6662420" cy="2732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3718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contract must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specify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these  extra payments are</a:t>
            </a:r>
            <a:r>
              <a:rPr sz="2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calculated.</a:t>
            </a:r>
            <a:endParaRPr sz="2400">
              <a:latin typeface="Arial"/>
              <a:cs typeface="Arial"/>
            </a:endParaRPr>
          </a:p>
          <a:p>
            <a:pPr marL="355600" marR="200025" indent="-342900" algn="just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Typically,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annex will include daily charging 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rates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each grade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staff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employed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on the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the contract.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amount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extra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effort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be paid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will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be  agreed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progress</a:t>
            </a:r>
            <a:r>
              <a:rPr sz="2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meetings.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2227" y="483234"/>
            <a:ext cx="40665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Penalty</a:t>
            </a:r>
            <a:r>
              <a:rPr spc="-75" dirty="0"/>
              <a:t> </a:t>
            </a:r>
            <a:r>
              <a:rPr dirty="0"/>
              <a:t>Clauses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2758820"/>
            <a:ext cx="6699884" cy="2672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When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delay caused by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the</a:t>
            </a:r>
            <a:r>
              <a:rPr sz="2400" spc="3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00FF00"/>
                </a:solidFill>
                <a:latin typeface="Arial"/>
                <a:cs typeface="Arial"/>
              </a:rPr>
              <a:t>developer</a:t>
            </a:r>
            <a:r>
              <a:rPr sz="2400" spc="-15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Normal mechanism: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the sum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payable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to the 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developer is reduced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by a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specified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amount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each week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acceptance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product is  delayed, up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certain</a:t>
            </a:r>
            <a:r>
              <a:rPr sz="24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maximum.</a:t>
            </a:r>
            <a:endParaRPr sz="2400">
              <a:latin typeface="Arial"/>
              <a:cs typeface="Arial"/>
            </a:endParaRPr>
          </a:p>
          <a:p>
            <a:pPr marL="756285" marR="420370" indent="-287020">
              <a:lnSpc>
                <a:spcPct val="100000"/>
              </a:lnSpc>
              <a:spcBef>
                <a:spcPts val="489"/>
              </a:spcBef>
              <a:tabLst>
                <a:tab pos="756285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–	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E.g.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contract value $1 million. Penalty $5,000</a:t>
            </a:r>
            <a:r>
              <a:rPr sz="20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per  week up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maximum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$100,000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2227" y="483234"/>
            <a:ext cx="40665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Penalty</a:t>
            </a:r>
            <a:r>
              <a:rPr spc="-75" dirty="0"/>
              <a:t> </a:t>
            </a:r>
            <a:r>
              <a:rPr dirty="0"/>
              <a:t>Clauses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1466215"/>
            <a:ext cx="653415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Delays in delivering software are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common, it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might be expected software contract would  normally include such a penalty clause.  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Paradoxically,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such provision is rare</a:t>
            </a:r>
            <a:r>
              <a:rPr sz="2400" spc="18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because: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3204" y="2990469"/>
            <a:ext cx="6322695" cy="3806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Developers are very reluctant to accept penalty  clauses. Anything stronger than the example</a:t>
            </a:r>
            <a:r>
              <a:rPr sz="2000" spc="-2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quoted  above is likely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lead to reputable developers  refusing to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bid.</a:t>
            </a:r>
            <a:endParaRPr sz="2000">
              <a:latin typeface="Arial"/>
              <a:cs typeface="Arial"/>
            </a:endParaRPr>
          </a:p>
          <a:p>
            <a:pPr marL="469900" marR="120014" indent="-457200" algn="just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If the contract is to include penalty clauses, the bid  price is likely to be increased by at least ½ the</a:t>
            </a:r>
            <a:r>
              <a:rPr sz="2000" spc="-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max  value of the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penalty.</a:t>
            </a:r>
            <a:endParaRPr sz="2000">
              <a:latin typeface="Arial"/>
              <a:cs typeface="Arial"/>
            </a:endParaRPr>
          </a:p>
          <a:p>
            <a:pPr marL="469900" marR="118745" indent="-4572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If the software is seriously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late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and penalties  approach their maximum, there is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little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incentive</a:t>
            </a:r>
            <a:r>
              <a:rPr sz="20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developer to complete the work since they will  already have received in stage payments as much  as they are going to</a:t>
            </a:r>
            <a:r>
              <a:rPr sz="20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get.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11971" y="6431686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2227" y="483234"/>
            <a:ext cx="40665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Penalty</a:t>
            </a:r>
            <a:r>
              <a:rPr spc="-75" dirty="0"/>
              <a:t> </a:t>
            </a:r>
            <a:r>
              <a:rPr dirty="0"/>
              <a:t>Clauses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3020948"/>
            <a:ext cx="648144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Regardless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penalty,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every delay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eats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into  developer’s profit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margin. As a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result,  suppliers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are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strongly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motivated 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produce  the software on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time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and delay is usually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result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genuine technical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difficulties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or  incompetence rather than lack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motivation.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1538" y="483234"/>
            <a:ext cx="44081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Client</a:t>
            </a:r>
            <a:r>
              <a:rPr spc="-75" dirty="0"/>
              <a:t> </a:t>
            </a:r>
            <a:r>
              <a:rPr dirty="0"/>
              <a:t>Obligations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2307000"/>
            <a:ext cx="5009515" cy="83185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Non-exhaustive list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possibilities: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Client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Provides: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3204" y="3173349"/>
            <a:ext cx="6269990" cy="2708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1195705" indent="-45720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Documentation </a:t>
            </a:r>
            <a:r>
              <a:rPr sz="2000" spc="-5" dirty="0">
                <a:solidFill>
                  <a:srgbClr val="00FF00"/>
                </a:solidFill>
                <a:latin typeface="Arial"/>
                <a:cs typeface="Arial"/>
              </a:rPr>
              <a:t>of </a:t>
            </a: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the </a:t>
            </a:r>
            <a:r>
              <a:rPr sz="2000" spc="-5" dirty="0">
                <a:solidFill>
                  <a:srgbClr val="00FF00"/>
                </a:solidFill>
                <a:latin typeface="Arial"/>
                <a:cs typeface="Arial"/>
              </a:rPr>
              <a:t>client’s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activities</a:t>
            </a:r>
            <a:r>
              <a:rPr sz="20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or  environment in which the system will</a:t>
            </a:r>
            <a:r>
              <a:rPr sz="20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run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Access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to appropriate members of</a:t>
            </a:r>
            <a:r>
              <a:rPr sz="20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staff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Machine facilities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for development and</a:t>
            </a:r>
            <a:r>
              <a:rPr sz="20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testing</a:t>
            </a:r>
            <a:endParaRPr sz="2000">
              <a:latin typeface="Arial"/>
              <a:cs typeface="Arial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900" algn="l"/>
              </a:tabLst>
            </a:pP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Accommodation, telephone and secretarial</a:t>
            </a:r>
            <a:r>
              <a:rPr sz="2000" spc="-13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facilities  for the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company’s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staff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when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working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on the</a:t>
            </a:r>
            <a:r>
              <a:rPr sz="20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client’s 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premises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Data communications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facilities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0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site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1538" y="483234"/>
            <a:ext cx="44081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Client</a:t>
            </a:r>
            <a:r>
              <a:rPr spc="-75" dirty="0"/>
              <a:t> </a:t>
            </a:r>
            <a:r>
              <a:rPr dirty="0"/>
              <a:t>Obligations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3081909"/>
            <a:ext cx="65944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Standard 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Terms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and Conditions normally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state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a list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specific obligations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3204" y="3874084"/>
            <a:ext cx="6292215" cy="1307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Char char="–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dates at which they will be required is given</a:t>
            </a:r>
            <a:r>
              <a:rPr sz="2000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endParaRPr sz="20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annex.</a:t>
            </a:r>
            <a:endParaRPr sz="200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spcBef>
                <a:spcPts val="480"/>
              </a:spcBef>
              <a:buChar char="–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Also state that failure to meet these obligations</a:t>
            </a:r>
            <a:r>
              <a:rPr sz="2000" spc="-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may  render the client liable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delay</a:t>
            </a:r>
            <a:r>
              <a:rPr sz="20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payments.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1681" y="483234"/>
            <a:ext cx="47701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Working</a:t>
            </a:r>
            <a:r>
              <a:rPr spc="-55" dirty="0"/>
              <a:t> </a:t>
            </a:r>
            <a:r>
              <a:rPr dirty="0"/>
              <a:t>Standards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2984372"/>
            <a:ext cx="6222365" cy="229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9748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developer is likely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have company  standards or methods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working. More  sophisticated clients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may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have their own  procedures and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may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require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these be  adhered</a:t>
            </a:r>
            <a:r>
              <a:rPr sz="2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contract must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specify which is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to</a:t>
            </a:r>
            <a:r>
              <a:rPr sz="2400" spc="-2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00FF00"/>
                </a:solidFill>
                <a:latin typeface="Arial"/>
                <a:cs typeface="Arial"/>
              </a:rPr>
              <a:t>apply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1305" y="483234"/>
            <a:ext cx="46882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Progress</a:t>
            </a:r>
            <a:r>
              <a:rPr spc="-70" dirty="0"/>
              <a:t> </a:t>
            </a:r>
            <a:r>
              <a:rPr dirty="0"/>
              <a:t>Meetings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2398598"/>
            <a:ext cx="6692265" cy="3465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Regular progress meetings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are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essential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successful completion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 fixed price</a:t>
            </a:r>
            <a:r>
              <a:rPr sz="240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contract.</a:t>
            </a:r>
            <a:endParaRPr sz="2400">
              <a:latin typeface="Arial"/>
              <a:cs typeface="Arial"/>
            </a:endParaRPr>
          </a:p>
          <a:p>
            <a:pPr marL="355600" marR="55753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is advisable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 the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Standard </a:t>
            </a:r>
            <a:r>
              <a:rPr sz="2400" spc="-55" dirty="0">
                <a:solidFill>
                  <a:srgbClr val="00FF00"/>
                </a:solidFill>
                <a:latin typeface="Arial"/>
                <a:cs typeface="Arial"/>
              </a:rPr>
              <a:t>Terms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and  Conditions require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them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24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held.</a:t>
            </a:r>
            <a:endParaRPr sz="2400">
              <a:latin typeface="Arial"/>
              <a:cs typeface="Arial"/>
            </a:endParaRPr>
          </a:p>
          <a:p>
            <a:pPr marL="355600" marR="381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minutes of meetings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, duly approved and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 signed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, should have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contractual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significance in 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 they constitute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evidence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milestones  have been reached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other agreements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might be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raised.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1538" y="483234"/>
            <a:ext cx="44081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spc="-70" dirty="0"/>
              <a:t> </a:t>
            </a:r>
            <a:r>
              <a:rPr dirty="0"/>
              <a:t>Managers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1575942"/>
            <a:ext cx="6494780" cy="5111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858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Each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party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needs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know who,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the other  </a:t>
            </a:r>
            <a:r>
              <a:rPr sz="2400" spc="-15" dirty="0">
                <a:solidFill>
                  <a:srgbClr val="FFFFFF"/>
                </a:solidFill>
                <a:latin typeface="Arial"/>
                <a:cs typeface="Arial"/>
              </a:rPr>
              <a:t>party’s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staff,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has day-to-day responsibility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  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work and what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limits of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person’s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authority are.</a:t>
            </a:r>
            <a:endParaRPr sz="2400">
              <a:latin typeface="Arial"/>
              <a:cs typeface="Arial"/>
            </a:endParaRPr>
          </a:p>
          <a:p>
            <a:pPr marL="355600" marR="274320" indent="-342900" algn="just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Standard 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Terms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and Conditions should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 require each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party to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nominate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, in writing, a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project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00FF00"/>
                </a:solidFill>
                <a:latin typeface="Arial"/>
                <a:cs typeface="Arial"/>
              </a:rPr>
              <a:t>manager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756285" marR="46990" lvl="1" indent="-286385">
              <a:lnSpc>
                <a:spcPct val="100000"/>
              </a:lnSpc>
              <a:spcBef>
                <a:spcPts val="489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project managers must have at least the  authority necessary to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fulfill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obligations that</a:t>
            </a:r>
            <a:r>
              <a:rPr sz="20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 contract places on</a:t>
            </a:r>
            <a:r>
              <a:rPr sz="20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them.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It is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important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 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limits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their</a:t>
            </a:r>
            <a:r>
              <a:rPr sz="2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financial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authority are explicitly</a:t>
            </a:r>
            <a:r>
              <a:rPr sz="24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stated.</a:t>
            </a:r>
            <a:endParaRPr sz="2400">
              <a:latin typeface="Arial"/>
              <a:cs typeface="Arial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extend to which they can authorize changes</a:t>
            </a:r>
            <a:r>
              <a:rPr sz="2000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to  the cost of the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contract.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11971" y="6431686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23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4481" y="483234"/>
            <a:ext cx="56845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Acceptance</a:t>
            </a:r>
            <a:r>
              <a:rPr spc="-60" dirty="0"/>
              <a:t> </a:t>
            </a:r>
            <a:r>
              <a:rPr dirty="0"/>
              <a:t>Procedure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3014853"/>
            <a:ext cx="6520180" cy="223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Acceptance procedure are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critical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 any fixed  price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contract.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  <a:tabLst>
                <a:tab pos="756285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–	They provide the criteria by which</a:t>
            </a:r>
            <a:r>
              <a:rPr sz="20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successful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completion of the contract is</a:t>
            </a:r>
            <a:r>
              <a:rPr sz="20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judged.</a:t>
            </a:r>
            <a:endParaRPr sz="2000">
              <a:latin typeface="Arial"/>
              <a:cs typeface="Arial"/>
            </a:endParaRPr>
          </a:p>
          <a:p>
            <a:pPr marL="355600" marR="885825" indent="-342900">
              <a:lnSpc>
                <a:spcPct val="100000"/>
              </a:lnSpc>
              <a:spcBef>
                <a:spcPts val="5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client should provide a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fixed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set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of  acceptance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tests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and expected</a:t>
            </a:r>
            <a:r>
              <a:rPr sz="2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results.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4481" y="483234"/>
            <a:ext cx="56845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Acceptance</a:t>
            </a:r>
            <a:r>
              <a:rPr spc="-60" dirty="0"/>
              <a:t> </a:t>
            </a:r>
            <a:r>
              <a:rPr dirty="0"/>
              <a:t>Procedure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2679572"/>
            <a:ext cx="6563359" cy="2903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572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Extra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tests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cannot be added once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test set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has been handed</a:t>
            </a:r>
            <a:r>
              <a:rPr sz="24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over.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11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ensure that the acceptance procedure can</a:t>
            </a:r>
            <a:r>
              <a:rPr sz="20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completed in reasonable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contract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should also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includes: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Who shall be present when the tests are carried</a:t>
            </a:r>
            <a:r>
              <a:rPr sz="2000" spc="-2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out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What happens if the tests are not</a:t>
            </a:r>
            <a:r>
              <a:rPr sz="2000" spc="-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completed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successfully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016" y="483234"/>
            <a:ext cx="672210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Warranty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Maintenance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2984372"/>
            <a:ext cx="6683375" cy="2294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Once the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product has been accepted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is  common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15" dirty="0">
                <a:solidFill>
                  <a:srgbClr val="FFFFFF"/>
                </a:solidFill>
                <a:latin typeface="Arial"/>
                <a:cs typeface="Arial"/>
              </a:rPr>
              <a:t>offer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warranty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period, typically 90  days.</a:t>
            </a:r>
            <a:endParaRPr sz="2400">
              <a:latin typeface="Arial"/>
              <a:cs typeface="Arial"/>
            </a:endParaRPr>
          </a:p>
          <a:p>
            <a:pPr marL="355600" marR="77597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Any errors found within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this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period will be  corrected free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charge.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  <a:tabLst>
                <a:tab pos="756285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–	This clause is subject to</a:t>
            </a:r>
            <a:r>
              <a:rPr sz="20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negotiation.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016" y="483234"/>
            <a:ext cx="672210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Warranty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Maintenance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2313254"/>
            <a:ext cx="6623050" cy="363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After the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warranty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period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maintenance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available on</a:t>
            </a:r>
            <a:r>
              <a:rPr sz="24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request.</a:t>
            </a:r>
            <a:endParaRPr sz="2400">
              <a:latin typeface="Arial"/>
              <a:cs typeface="Arial"/>
            </a:endParaRPr>
          </a:p>
          <a:p>
            <a:pPr marL="355600" marR="49784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Since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such maintenance is likely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involve  enhancement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rather than simply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faults  correction:</a:t>
            </a:r>
            <a:endParaRPr sz="2400">
              <a:latin typeface="Arial"/>
              <a:cs typeface="Arial"/>
            </a:endParaRPr>
          </a:p>
          <a:p>
            <a:pPr marL="756285" marR="4762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resources required are unpredictable, the</a:t>
            </a:r>
            <a:r>
              <a:rPr sz="2000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client  usually does not know what enhancements will be  required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in, 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say,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two years’</a:t>
            </a:r>
            <a:r>
              <a:rPr sz="20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time.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price will not</a:t>
            </a:r>
            <a:r>
              <a:rPr sz="2000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appropriate.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Usually be charged on a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time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and materials</a:t>
            </a:r>
            <a:r>
              <a:rPr sz="20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basis.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373" y="483234"/>
            <a:ext cx="19843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Inflation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2216022"/>
            <a:ext cx="6788150" cy="383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8989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lengthy projects, the developer will wish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ensure protection against the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effects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unpredictable</a:t>
            </a:r>
            <a:r>
              <a:rPr sz="24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inflation.</a:t>
            </a:r>
            <a:endParaRPr sz="2400" dirty="0">
              <a:latin typeface="Arial"/>
              <a:cs typeface="Arial"/>
            </a:endParaRPr>
          </a:p>
          <a:p>
            <a:pPr marL="355600" marR="49530" indent="-342900" algn="just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customary 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include a clause which allows  charges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be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increased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 accordance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rise in</a:t>
            </a:r>
            <a:r>
              <a:rPr sz="2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costs.</a:t>
            </a:r>
            <a:endParaRPr sz="24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clause should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state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how often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(e.g.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once or  twice a year) charges can be increased and  how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effect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on 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overall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price is 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be  calculated.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9947" y="483234"/>
            <a:ext cx="24517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Inde</a:t>
            </a:r>
            <a:r>
              <a:rPr spc="5" dirty="0"/>
              <a:t>m</a:t>
            </a:r>
            <a:r>
              <a:rPr dirty="0"/>
              <a:t>nity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1966685"/>
            <a:ext cx="6603365" cy="425640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could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happen:</a:t>
            </a:r>
            <a:endParaRPr sz="2400" dirty="0">
              <a:latin typeface="Arial"/>
              <a:cs typeface="Arial"/>
            </a:endParaRPr>
          </a:p>
          <a:p>
            <a:pPr marL="756285" marR="6032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As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 result of the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client’s instructions,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000" spc="-5" dirty="0" smtClean="0">
                <a:solidFill>
                  <a:srgbClr val="FFFFFF"/>
                </a:solidFill>
                <a:latin typeface="Arial"/>
                <a:cs typeface="Arial"/>
              </a:rPr>
              <a:t>developer</a:t>
            </a:r>
            <a:r>
              <a:rPr lang="en-US" sz="2000" spc="-5" dirty="0" smtClean="0">
                <a:solidFill>
                  <a:srgbClr val="FFFFFF"/>
                </a:solidFill>
                <a:latin typeface="Arial"/>
                <a:cs typeface="Arial"/>
              </a:rPr>
              <a:t>(IT Team)</a:t>
            </a:r>
            <a:r>
              <a:rPr sz="2000" spc="-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 smtClean="0">
                <a:solidFill>
                  <a:srgbClr val="FFFFFF"/>
                </a:solidFill>
                <a:latin typeface="Arial"/>
                <a:cs typeface="Arial"/>
              </a:rPr>
              <a:t>led unintentionally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000" dirty="0" smtClean="0">
                <a:solidFill>
                  <a:srgbClr val="FFFFFF"/>
                </a:solidFill>
                <a:latin typeface="Arial"/>
                <a:cs typeface="Arial"/>
              </a:rPr>
              <a:t>violate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intellectual property  rights of a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third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party.</a:t>
            </a:r>
            <a:endParaRPr sz="2000" dirty="0">
              <a:latin typeface="Arial"/>
              <a:cs typeface="Arial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developer provides a system which </a:t>
            </a:r>
            <a:r>
              <a:rPr lang="en-US" sz="2000" dirty="0" smtClean="0">
                <a:solidFill>
                  <a:srgbClr val="FFFFFF"/>
                </a:solidFill>
                <a:latin typeface="Arial"/>
                <a:cs typeface="Arial"/>
              </a:rPr>
              <a:t>violates </a:t>
            </a:r>
            <a:r>
              <a:rPr sz="2000" dirty="0" smtClean="0">
                <a:solidFill>
                  <a:srgbClr val="FFFFFF"/>
                </a:solidFill>
                <a:latin typeface="Arial"/>
                <a:cs typeface="Arial"/>
              </a:rPr>
              <a:t>such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rights through carelessness or </a:t>
            </a:r>
            <a:r>
              <a:rPr sz="2000" spc="-15" dirty="0" smtClean="0">
                <a:solidFill>
                  <a:srgbClr val="FFFFFF"/>
                </a:solidFill>
                <a:latin typeface="Arial"/>
                <a:cs typeface="Arial"/>
              </a:rPr>
              <a:t>dishonesty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2000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e.g.  using proprietary software as a component of the  system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delivered.</a:t>
            </a:r>
            <a:endParaRPr sz="2000" dirty="0">
              <a:latin typeface="Arial"/>
              <a:cs typeface="Arial"/>
            </a:endParaRPr>
          </a:p>
          <a:p>
            <a:pPr marL="355600" marR="13716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 this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reason, advisable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include a clause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 under which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each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party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indemnifies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other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 for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liability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arising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from its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own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faults </a:t>
            </a:r>
            <a:r>
              <a:rPr sz="2400" spc="-10" dirty="0">
                <a:solidFill>
                  <a:srgbClr val="00FF00"/>
                </a:solidFill>
                <a:latin typeface="Arial"/>
                <a:cs typeface="Arial"/>
              </a:rPr>
              <a:t>in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this  respect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3216" y="483234"/>
            <a:ext cx="58108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Termination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Contract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1630807"/>
            <a:ext cx="6804025" cy="5000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174115" indent="-3429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There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are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many reasons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necessarily  terminate a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contract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before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has been  completed.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84"/>
              </a:spcBef>
              <a:tabLst>
                <a:tab pos="756285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–	It is not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uncommon.</a:t>
            </a:r>
            <a:endParaRPr sz="2000" dirty="0">
              <a:latin typeface="Arial"/>
              <a:cs typeface="Arial"/>
            </a:endParaRPr>
          </a:p>
          <a:p>
            <a:pPr marL="355600" marR="16510" indent="-342900">
              <a:lnSpc>
                <a:spcPct val="100000"/>
              </a:lnSpc>
              <a:spcBef>
                <a:spcPts val="5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is essential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 the contract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make provision 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for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terminating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work in an </a:t>
            </a:r>
            <a:r>
              <a:rPr sz="2400" spc="-5" dirty="0" smtClean="0">
                <a:solidFill>
                  <a:srgbClr val="FFFFFF"/>
                </a:solidFill>
                <a:latin typeface="Arial"/>
                <a:cs typeface="Arial"/>
              </a:rPr>
              <a:t>friendly</a:t>
            </a:r>
            <a:r>
              <a:rPr sz="2400" spc="60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manner.</a:t>
            </a:r>
            <a:endParaRPr sz="24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Usually means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 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developer is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be paid 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all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work carried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up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point where  the contract is terminated, together with some  compensation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 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time needed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redeploy 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staff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on other revenue earning</a:t>
            </a:r>
            <a:r>
              <a:rPr sz="24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work.</a:t>
            </a:r>
            <a:endParaRPr sz="2400" dirty="0">
              <a:latin typeface="Arial"/>
              <a:cs typeface="Arial"/>
            </a:endParaRPr>
          </a:p>
          <a:p>
            <a:pPr marL="355600" marR="441959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question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ownership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work so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far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carried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out must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also be</a:t>
            </a:r>
            <a:r>
              <a:rPr sz="2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addressed.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11971" y="6431686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8986" y="483234"/>
            <a:ext cx="25755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mtClean="0"/>
              <a:t>Arbitr</a:t>
            </a:r>
            <a:r>
              <a:rPr spc="5" dirty="0" smtClean="0"/>
              <a:t>a</a:t>
            </a:r>
            <a:r>
              <a:rPr dirty="0" smtClean="0"/>
              <a:t>tion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86004" y="1219200"/>
            <a:ext cx="6719570" cy="5537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50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Court action </a:t>
            </a:r>
            <a:r>
              <a:rPr sz="2400" spc="-10" dirty="0">
                <a:solidFill>
                  <a:srgbClr val="00FF00"/>
                </a:solidFill>
                <a:latin typeface="Arial"/>
                <a:cs typeface="Arial"/>
              </a:rPr>
              <a:t>is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expensive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. Contract often  contain a clause saying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that,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event of a  dispute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 they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cannot solve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themselves, the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party agree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accept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decision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an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independent</a:t>
            </a:r>
            <a:r>
              <a:rPr sz="24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Arial"/>
                <a:cs typeface="Arial"/>
              </a:rPr>
              <a:t>arbitrator.</a:t>
            </a:r>
            <a:endParaRPr sz="2400" dirty="0">
              <a:latin typeface="Arial"/>
              <a:cs typeface="Arial"/>
            </a:endParaRPr>
          </a:p>
          <a:p>
            <a:pPr marL="355600" marR="634365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computer-related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contracts, it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is usually 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stated that the arbitrator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appointed  either by the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President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of the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BCS or</a:t>
            </a:r>
            <a:r>
              <a:rPr sz="2400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IEE.</a:t>
            </a:r>
          </a:p>
          <a:p>
            <a:pPr marL="756285" lvl="1" indent="-286385">
              <a:lnSpc>
                <a:spcPct val="100000"/>
              </a:lnSpc>
              <a:spcBef>
                <a:spcPts val="489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Both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bodies maintain a lists of qualified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arbitrators</a:t>
            </a:r>
            <a:endParaRPr sz="20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Usually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state that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if arbitration is required,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will  comply with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Arbitration Act</a:t>
            </a:r>
            <a:r>
              <a:rPr sz="2400" spc="-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1996.</a:t>
            </a:r>
            <a:endParaRPr sz="2400" dirty="0">
              <a:latin typeface="Arial"/>
              <a:cs typeface="Arial"/>
            </a:endParaRPr>
          </a:p>
          <a:p>
            <a:pPr marL="756285" marR="68389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This act lays down set of rules that cover</a:t>
            </a:r>
            <a:r>
              <a:rPr sz="2000" spc="-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many  eventualities.</a:t>
            </a:r>
            <a:endParaRPr sz="2000" dirty="0">
              <a:latin typeface="Arial"/>
              <a:cs typeface="Arial"/>
            </a:endParaRPr>
          </a:p>
          <a:p>
            <a:pPr marL="756285" marR="18986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Reference to it avoids the need to spell these out</a:t>
            </a:r>
            <a:r>
              <a:rPr sz="20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in  detail.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11971" y="6431686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31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2435" y="483234"/>
            <a:ext cx="378650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Applicable</a:t>
            </a:r>
            <a:r>
              <a:rPr spc="-90" dirty="0"/>
              <a:t> </a:t>
            </a:r>
            <a:r>
              <a:rPr dirty="0"/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3019171"/>
            <a:ext cx="680402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Where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developer and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client in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different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legal jurisdictions or performance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the contract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involves more than one jurisdiction,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is necessary 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state which laws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contract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be  interpreted.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5607" y="483234"/>
            <a:ext cx="33210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Contract</a:t>
            </a:r>
            <a:r>
              <a:rPr spc="-70" dirty="0"/>
              <a:t> </a:t>
            </a:r>
            <a:r>
              <a:rPr dirty="0"/>
              <a:t>Hire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1844166"/>
            <a:ext cx="6824980" cy="457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2192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Contract hire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(body shopping): an arrangement  in which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developer agrees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supply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client with a certain number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staff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agreed  daily or hourly charge</a:t>
            </a:r>
            <a:r>
              <a:rPr sz="24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rates.</a:t>
            </a:r>
            <a:endParaRPr sz="2400" dirty="0">
              <a:latin typeface="Arial"/>
              <a:cs typeface="Arial"/>
            </a:endParaRPr>
          </a:p>
          <a:p>
            <a:pPr marL="355600" marR="64516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Client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takes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responsibility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managing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staff.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contract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usually fairly</a:t>
            </a:r>
            <a:r>
              <a:rPr sz="24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simple.</a:t>
            </a:r>
            <a:endParaRPr sz="2400" dirty="0">
              <a:latin typeface="Arial"/>
              <a:cs typeface="Arial"/>
            </a:endParaRPr>
          </a:p>
          <a:p>
            <a:pPr marL="756285" marR="29527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Payment is on the basis of a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rate for each</a:t>
            </a:r>
            <a:r>
              <a:rPr sz="2000" spc="-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day  worked.</a:t>
            </a:r>
            <a:endParaRPr sz="2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rate depends on the experience and</a:t>
            </a:r>
            <a:r>
              <a:rPr sz="2000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qualification.</a:t>
            </a:r>
            <a:endParaRPr sz="2000" dirty="0">
              <a:latin typeface="Arial"/>
              <a:cs typeface="Arial"/>
            </a:endParaRPr>
          </a:p>
          <a:p>
            <a:pPr marL="355600" marR="58039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Ownership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intellectual property rights still 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must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addressed.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7E7E7E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7E7E7E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3810" y="483234"/>
            <a:ext cx="31057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Consultancy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1633854"/>
            <a:ext cx="6805295" cy="49606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marR="340360" indent="-342900">
              <a:lnSpc>
                <a:spcPct val="90000"/>
              </a:lnSpc>
              <a:spcBef>
                <a:spcPts val="38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Consultant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: an expert who are called in by an  organization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assess some aspect of its  operations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or its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strategy and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make  proposals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4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improvements.</a:t>
            </a:r>
            <a:endParaRPr sz="24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45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end product is usually a report or other</a:t>
            </a:r>
            <a:r>
              <a:rPr sz="2000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document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An up-market version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contract</a:t>
            </a:r>
            <a:r>
              <a:rPr sz="24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hire.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Usually undertaken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 a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fixed</a:t>
            </a:r>
            <a:r>
              <a:rPr sz="24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price.</a:t>
            </a:r>
            <a:endParaRPr sz="2400" dirty="0">
              <a:latin typeface="Arial"/>
              <a:cs typeface="Arial"/>
            </a:endParaRPr>
          </a:p>
          <a:p>
            <a:pPr marL="355600" marR="176530" indent="-342900">
              <a:lnSpc>
                <a:spcPts val="2590"/>
              </a:lnSpc>
              <a:spcBef>
                <a:spcPts val="61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form 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contract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very much simpler than  fixed price</a:t>
            </a:r>
            <a:r>
              <a:rPr sz="24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contract</a:t>
            </a:r>
            <a:endParaRPr sz="2400" dirty="0">
              <a:latin typeface="Arial"/>
              <a:cs typeface="Arial"/>
            </a:endParaRPr>
          </a:p>
          <a:p>
            <a:pPr marL="756285" marR="286385" lvl="1" indent="-286385">
              <a:lnSpc>
                <a:spcPts val="216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value is small and neither side stands to lose</a:t>
            </a:r>
            <a:r>
              <a:rPr sz="2000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  great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deal.</a:t>
            </a:r>
            <a:endParaRPr sz="2000" dirty="0">
              <a:latin typeface="Arial"/>
              <a:cs typeface="Arial"/>
            </a:endParaRPr>
          </a:p>
          <a:p>
            <a:pPr marL="756285" marR="412115" lvl="1" indent="-286385">
              <a:lnSpc>
                <a:spcPts val="216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When the consultant failed, not usually possible</a:t>
            </a:r>
            <a:r>
              <a:rPr sz="2000" spc="-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to  demonstrate unequivocally that a report</a:t>
            </a:r>
            <a:r>
              <a:rPr sz="20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fails.</a:t>
            </a:r>
            <a:endParaRPr sz="2000" dirty="0">
              <a:latin typeface="Arial"/>
              <a:cs typeface="Arial"/>
            </a:endParaRPr>
          </a:p>
          <a:p>
            <a:pPr marL="1155700" marR="297815" lvl="2" indent="-228600">
              <a:lnSpc>
                <a:spcPts val="1730"/>
              </a:lnSpc>
              <a:spcBef>
                <a:spcPts val="390"/>
              </a:spcBef>
              <a:buChar char="•"/>
              <a:tabLst>
                <a:tab pos="1155065" algn="l"/>
                <a:tab pos="1155700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Client has to rely on the desire of the consultant to maintain  reputation. In practice, this usually</a:t>
            </a:r>
            <a:r>
              <a:rPr sz="16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sufficient.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7E7E7E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7E7E7E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11971" y="6431686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3810" y="483234"/>
            <a:ext cx="31057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Consultancy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1066800"/>
            <a:ext cx="6394450" cy="17335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Important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aspects of a consultancy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 contract:</a:t>
            </a:r>
            <a:endParaRPr sz="2400" dirty="0">
              <a:latin typeface="Arial"/>
              <a:cs typeface="Arial"/>
            </a:endParaRPr>
          </a:p>
          <a:p>
            <a:pPr marL="927100" indent="-4572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Confidentiality</a:t>
            </a:r>
            <a:endParaRPr sz="2000" dirty="0">
              <a:latin typeface="Arial"/>
              <a:cs typeface="Arial"/>
            </a:endParaRPr>
          </a:p>
          <a:p>
            <a:pPr marL="1155700" marR="5080" lvl="1" indent="-285115">
              <a:lnSpc>
                <a:spcPct val="100000"/>
              </a:lnSpc>
              <a:spcBef>
                <a:spcPts val="400"/>
              </a:spcBef>
              <a:buChar char="•"/>
              <a:tabLst>
                <a:tab pos="1155065" algn="l"/>
                <a:tab pos="1155700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Consultant would learn a lot about the companies and can  misuse this information for their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own</a:t>
            </a:r>
            <a:r>
              <a:rPr sz="16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profit</a:t>
            </a:r>
            <a:endParaRPr sz="1600" dirty="0">
              <a:latin typeface="Arial"/>
              <a:cs typeface="Arial"/>
            </a:endParaRPr>
          </a:p>
          <a:p>
            <a:pPr marL="927100" indent="-457200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Terms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reference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016" y="2818130"/>
            <a:ext cx="5949315" cy="1830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180" marR="5080" indent="-284480">
              <a:lnSpc>
                <a:spcPct val="100000"/>
              </a:lnSpc>
              <a:spcBef>
                <a:spcPts val="95"/>
              </a:spcBef>
              <a:buChar char="•"/>
              <a:tabLst>
                <a:tab pos="297180" algn="l"/>
                <a:tab pos="297815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As a result of their initial investigations, the consultants may  discover that they need to consider matters that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were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outside  their original terms of reference, but the client may be unwilling  to let</a:t>
            </a:r>
            <a:r>
              <a:rPr sz="16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it.</a:t>
            </a:r>
            <a:endParaRPr sz="1600" dirty="0">
              <a:latin typeface="Arial"/>
              <a:cs typeface="Arial"/>
            </a:endParaRPr>
          </a:p>
          <a:p>
            <a:pPr marL="297180" indent="-284480">
              <a:lnSpc>
                <a:spcPct val="100000"/>
              </a:lnSpc>
              <a:spcBef>
                <a:spcPts val="384"/>
              </a:spcBef>
              <a:buChar char="•"/>
              <a:tabLst>
                <a:tab pos="297180" algn="l"/>
                <a:tab pos="297815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Important that the contract refers explicitly to the terms</a:t>
            </a:r>
            <a:r>
              <a:rPr sz="1600" spc="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600" dirty="0">
              <a:latin typeface="Arial"/>
              <a:cs typeface="Arial"/>
            </a:endParaRPr>
          </a:p>
          <a:p>
            <a:pPr marL="297180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reference of the consultancy</a:t>
            </a:r>
            <a:r>
              <a:rPr sz="16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team.</a:t>
            </a:r>
            <a:endParaRPr sz="1600" dirty="0">
              <a:latin typeface="Arial"/>
              <a:cs typeface="Arial"/>
            </a:endParaRPr>
          </a:p>
          <a:p>
            <a:pPr marL="297180" indent="-284480">
              <a:lnSpc>
                <a:spcPct val="100000"/>
              </a:lnSpc>
              <a:spcBef>
                <a:spcPts val="385"/>
              </a:spcBef>
              <a:buChar char="•"/>
              <a:tabLst>
                <a:tab pos="297180" algn="l"/>
                <a:tab pos="297815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In practice, this is the commonest source of</a:t>
            </a:r>
            <a:r>
              <a:rPr sz="160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disagreement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3204" y="4724400"/>
            <a:ext cx="13315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3.	Liability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4016" y="5105400"/>
            <a:ext cx="5906135" cy="1293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Char char="•"/>
              <a:tabLst>
                <a:tab pos="469265" algn="l"/>
                <a:tab pos="469900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Consultant will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wish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to limit their liability for any loss that</a:t>
            </a:r>
            <a:r>
              <a:rPr sz="1600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endParaRPr sz="16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client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suffers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as a result of following their</a:t>
            </a:r>
            <a:r>
              <a:rPr sz="16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advice.</a:t>
            </a:r>
            <a:endParaRPr sz="1600" dirty="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spcBef>
                <a:spcPts val="385"/>
              </a:spcBef>
              <a:buChar char="•"/>
              <a:tabLst>
                <a:tab pos="469265" algn="l"/>
                <a:tab pos="469900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Client may not be happy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this. In some cases, they insist  on verifying that the consultant has professional liability  insurance.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3204" y="6450965"/>
            <a:ext cx="36156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4.	Who has control over</a:t>
            </a:r>
            <a:r>
              <a:rPr sz="20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report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7E7E7E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7E7E7E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11971" y="6431686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4729" y="483234"/>
            <a:ext cx="47605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Time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Materials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1219200"/>
            <a:ext cx="6741159" cy="547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7335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25" dirty="0">
                <a:solidFill>
                  <a:srgbClr val="00FF00"/>
                </a:solidFill>
                <a:latin typeface="Arial"/>
                <a:cs typeface="Arial"/>
              </a:rPr>
              <a:t>Time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and materials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cost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plus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):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supplier  agrees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undertake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development in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much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the same was as in a fixed price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contract, but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payment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is made on 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basis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the costs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incurred.</a:t>
            </a:r>
            <a:endParaRPr sz="24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Labor charged in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same way as or contract</a:t>
            </a:r>
            <a:r>
              <a:rPr sz="2000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hire.</a:t>
            </a:r>
            <a:endParaRPr sz="2000" dirty="0">
              <a:latin typeface="Arial"/>
              <a:cs typeface="Arial"/>
            </a:endParaRPr>
          </a:p>
          <a:p>
            <a:pPr marL="355600" marR="513715" indent="-342900">
              <a:lnSpc>
                <a:spcPct val="100000"/>
              </a:lnSpc>
              <a:spcBef>
                <a:spcPts val="5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Developer is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not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committed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complete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work.</a:t>
            </a:r>
            <a:endParaRPr sz="2400" dirty="0">
              <a:latin typeface="Arial"/>
              <a:cs typeface="Arial"/>
            </a:endParaRPr>
          </a:p>
          <a:p>
            <a:pPr marL="756285" marR="276860" lvl="1" indent="-286385">
              <a:lnSpc>
                <a:spcPct val="100000"/>
              </a:lnSpc>
              <a:spcBef>
                <a:spcPts val="49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Though a maximum payment may be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fixed</a:t>
            </a:r>
            <a:r>
              <a:rPr sz="20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beyond  which the project may be</a:t>
            </a:r>
            <a:r>
              <a:rPr sz="20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reviewed.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Many fixed price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contract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challenges still</a:t>
            </a:r>
            <a:r>
              <a:rPr sz="2400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occur:</a:t>
            </a:r>
            <a:endParaRPr sz="2400" dirty="0">
              <a:latin typeface="Arial"/>
              <a:cs typeface="Arial"/>
            </a:endParaRPr>
          </a:p>
          <a:p>
            <a:pPr marL="756285" marR="628650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Ownership of rights, facilities provided by</a:t>
            </a:r>
            <a:r>
              <a:rPr sz="2000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client,  progress monitoring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arrangement.</a:t>
            </a:r>
            <a:endParaRPr sz="2000" dirty="0">
              <a:latin typeface="Arial"/>
              <a:cs typeface="Arial"/>
            </a:endParaRPr>
          </a:p>
          <a:p>
            <a:pPr marL="756285" marR="614680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But some are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don’t: delay payment, acceptance 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testing.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7E7E7E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7E7E7E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FFFFFF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11971" y="6431686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36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4729" y="483234"/>
            <a:ext cx="47605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Time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Materials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1521078"/>
            <a:ext cx="62128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Why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client should prefer time and materials 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contract?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3204" y="2313254"/>
            <a:ext cx="5963920" cy="2148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Often the work to be carried out is </a:t>
            </a: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not</a:t>
            </a:r>
            <a:r>
              <a:rPr sz="2000" spc="-15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00FF00"/>
                </a:solidFill>
                <a:latin typeface="Arial"/>
                <a:cs typeface="Arial"/>
              </a:rPr>
              <a:t>sufficiently  </a:t>
            </a: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well specified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for any developer to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offer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fixed 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price.</a:t>
            </a:r>
            <a:endParaRPr sz="2000" dirty="0">
              <a:latin typeface="Arial"/>
              <a:cs typeface="Arial"/>
            </a:endParaRPr>
          </a:p>
          <a:p>
            <a:pPr marL="698500" marR="794385" lvl="1" indent="-228600">
              <a:lnSpc>
                <a:spcPct val="100000"/>
              </a:lnSpc>
              <a:spcBef>
                <a:spcPts val="400"/>
              </a:spcBef>
              <a:buChar char="•"/>
              <a:tabLst>
                <a:tab pos="697865" algn="l"/>
                <a:tab pos="698500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Part of the developer’s task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will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be to discover the  requirements.</a:t>
            </a:r>
            <a:endParaRPr sz="16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6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Developer always loads a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contract</a:t>
            </a:r>
            <a:r>
              <a:rPr sz="20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endParaRPr sz="2000" dirty="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contingency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allowance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016" y="4487417"/>
            <a:ext cx="5885815" cy="1292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180" marR="214629" indent="-284480">
              <a:lnSpc>
                <a:spcPct val="100000"/>
              </a:lnSpc>
              <a:spcBef>
                <a:spcPts val="95"/>
              </a:spcBef>
              <a:buChar char="•"/>
              <a:tabLst>
                <a:tab pos="297180" algn="l"/>
                <a:tab pos="297815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If all goes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well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developer makes extra profit, as a reward for  risk taken.</a:t>
            </a:r>
            <a:endParaRPr sz="1600" dirty="0">
              <a:latin typeface="Arial"/>
              <a:cs typeface="Arial"/>
            </a:endParaRPr>
          </a:p>
          <a:p>
            <a:pPr marL="297180" marR="5080" indent="-284480">
              <a:lnSpc>
                <a:spcPct val="100000"/>
              </a:lnSpc>
              <a:spcBef>
                <a:spcPts val="384"/>
              </a:spcBef>
              <a:buChar char="•"/>
              <a:tabLst>
                <a:tab pos="297180" algn="l"/>
                <a:tab pos="297815" algn="l"/>
              </a:tabLst>
            </a:pP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Time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and materials contract makes this </a:t>
            </a:r>
            <a:r>
              <a:rPr sz="1600" spc="-5" dirty="0">
                <a:solidFill>
                  <a:srgbClr val="00FF00"/>
                </a:solidFill>
                <a:latin typeface="Arial"/>
                <a:cs typeface="Arial"/>
              </a:rPr>
              <a:t>risk and the possibility  of extra profit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(in the form of a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lower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cost) </a:t>
            </a:r>
            <a:r>
              <a:rPr sz="1600" spc="-5" dirty="0">
                <a:solidFill>
                  <a:srgbClr val="00FF00"/>
                </a:solidFill>
                <a:latin typeface="Arial"/>
                <a:cs typeface="Arial"/>
              </a:rPr>
              <a:t>transferred to the  </a:t>
            </a:r>
            <a:r>
              <a:rPr sz="1600" dirty="0">
                <a:solidFill>
                  <a:srgbClr val="00FF00"/>
                </a:solidFill>
                <a:latin typeface="Arial"/>
                <a:cs typeface="Arial"/>
              </a:rPr>
              <a:t>client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3204" y="5813552"/>
            <a:ext cx="620649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3.	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Avoid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risk of having </a:t>
            </a: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to pay excessive sums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000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have </a:t>
            </a: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 minor changes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outside the</a:t>
            </a:r>
            <a:r>
              <a:rPr sz="20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specification.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7E7E7E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7E7E7E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FFFFFF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5814" y="483234"/>
            <a:ext cx="30410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Outsourcing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1472310"/>
            <a:ext cx="6758940" cy="4196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7399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Outsourcing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facilities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management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):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commercial arrangement under which a  company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(the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client)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hands over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planning,  management and operation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certain function 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another company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(the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developer).</a:t>
            </a:r>
            <a:endParaRPr sz="24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company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(the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developer)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specializes in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  particular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area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is likely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make a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better job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than an organization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(the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client) whose main  area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expertise is</a:t>
            </a:r>
            <a:r>
              <a:rPr sz="24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elsewhere.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Rapid increase in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UK in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past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25</a:t>
            </a:r>
            <a:r>
              <a:rPr sz="2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years.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84"/>
              </a:spcBef>
              <a:tabLst>
                <a:tab pos="756285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–	Led by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Civil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Service.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0403" y="5694679"/>
            <a:ext cx="5802630" cy="805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  <a:tab pos="241300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Great difficulty in retaining competent IT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staff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because civil  service salaries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were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low in comparison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in the IT</a:t>
            </a:r>
            <a:r>
              <a:rPr sz="160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industry</a:t>
            </a:r>
            <a:endParaRPr sz="16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384"/>
              </a:spcBef>
              <a:buChar char="•"/>
              <a:tabLst>
                <a:tab pos="240665" algn="l"/>
                <a:tab pos="241300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Allowing gov’t to reduce the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number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of civil</a:t>
            </a:r>
            <a:r>
              <a:rPr sz="16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servants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7E7E7E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7E7E7E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FFFFFF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5814" y="483234"/>
            <a:ext cx="30410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Outsourcing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1600327"/>
            <a:ext cx="6777355" cy="11233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>
              <a:lnSpc>
                <a:spcPts val="2590"/>
              </a:lnSpc>
              <a:spcBef>
                <a:spcPts val="42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outsourcing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contracts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are complex and  depend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very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much on individual</a:t>
            </a:r>
            <a:r>
              <a:rPr sz="24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circumstances.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54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Some points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need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be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addressed: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3204" y="2698470"/>
            <a:ext cx="6196965" cy="304355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How is performance to be monitored and</a:t>
            </a:r>
            <a:r>
              <a:rPr sz="2000" spc="-15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managed</a:t>
            </a:r>
            <a:endParaRPr sz="20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What happens if performance is</a:t>
            </a:r>
            <a:r>
              <a:rPr sz="2000" spc="-13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unsatisfactory</a:t>
            </a:r>
            <a:endParaRPr sz="20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Which assets are being</a:t>
            </a:r>
            <a:r>
              <a:rPr sz="20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transferred</a:t>
            </a:r>
            <a:endParaRPr sz="20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Staff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transfers</a:t>
            </a:r>
            <a:endParaRPr sz="20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Audit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rights</a:t>
            </a:r>
            <a:endParaRPr sz="20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Contingency plan and disaster</a:t>
            </a:r>
            <a:r>
              <a:rPr sz="20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recovery</a:t>
            </a:r>
            <a:endParaRPr sz="20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Intellectual property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rights</a:t>
            </a:r>
            <a:endParaRPr sz="20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Duration of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agreement</a:t>
            </a:r>
            <a:endParaRPr sz="20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Termination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provision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3204" y="5746496"/>
            <a:ext cx="6280785" cy="87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Number 1 and 2 are key elements in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outsourcing</a:t>
            </a:r>
            <a:r>
              <a:rPr sz="2000" spc="-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and  are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often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treated as a separate agreement known as a  </a:t>
            </a: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Service Level</a:t>
            </a:r>
            <a:r>
              <a:rPr sz="2000" spc="-13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Agreement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7E7E7E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7E7E7E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FFFFFF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11971" y="6431686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39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137" y="483234"/>
            <a:ext cx="50920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License</a:t>
            </a:r>
            <a:r>
              <a:rPr spc="-320" dirty="0"/>
              <a:t> </a:t>
            </a:r>
            <a:r>
              <a:rPr dirty="0"/>
              <a:t>Agreements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2545460"/>
            <a:ext cx="64357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There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are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many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different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types 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license  agreement.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license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may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allow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licensee</a:t>
            </a:r>
            <a:r>
              <a:rPr sz="2400" spc="-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use one copy </a:t>
            </a:r>
            <a:r>
              <a:rPr dirty="0"/>
              <a:t>of the </a:t>
            </a:r>
            <a:r>
              <a:rPr spc="-5" dirty="0"/>
              <a:t>software on his</a:t>
            </a:r>
            <a:r>
              <a:rPr spc="40" dirty="0"/>
              <a:t> </a:t>
            </a:r>
            <a:r>
              <a:rPr spc="-5" dirty="0"/>
              <a:t>computer</a:t>
            </a:r>
          </a:p>
          <a:p>
            <a:pPr marL="355600" marR="52451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/>
              <a:t>run the the software on a server </a:t>
            </a:r>
            <a:r>
              <a:rPr spc="-5" dirty="0"/>
              <a:t>on his</a:t>
            </a:r>
            <a:r>
              <a:rPr spc="-85" dirty="0"/>
              <a:t> </a:t>
            </a:r>
            <a:r>
              <a:rPr spc="-5" dirty="0"/>
              <a:t>local  area network and </a:t>
            </a:r>
            <a:r>
              <a:rPr dirty="0"/>
              <a:t>for </a:t>
            </a:r>
            <a:r>
              <a:rPr spc="-5" dirty="0"/>
              <a:t>it </a:t>
            </a:r>
            <a:r>
              <a:rPr dirty="0"/>
              <a:t>to </a:t>
            </a:r>
            <a:r>
              <a:rPr spc="-10" dirty="0"/>
              <a:t>be </a:t>
            </a:r>
            <a:r>
              <a:rPr spc="-5" dirty="0"/>
              <a:t>used by up </a:t>
            </a:r>
            <a:r>
              <a:rPr dirty="0"/>
              <a:t>to  </a:t>
            </a:r>
            <a:r>
              <a:rPr spc="-5" dirty="0"/>
              <a:t>some agreed maximum number </a:t>
            </a:r>
            <a:r>
              <a:rPr dirty="0"/>
              <a:t>of</a:t>
            </a:r>
            <a:r>
              <a:rPr spc="60" dirty="0"/>
              <a:t> </a:t>
            </a:r>
            <a:r>
              <a:rPr spc="-5" dirty="0"/>
              <a:t>users.</a:t>
            </a:r>
          </a:p>
          <a:p>
            <a:pPr marL="355600" marR="5080" indent="-342900">
              <a:lnSpc>
                <a:spcPts val="2870"/>
              </a:lnSpc>
              <a:spcBef>
                <a:spcPts val="680"/>
              </a:spcBef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run as many copies </a:t>
            </a:r>
            <a:r>
              <a:rPr dirty="0"/>
              <a:t>of the </a:t>
            </a:r>
            <a:r>
              <a:rPr spc="-5" dirty="0"/>
              <a:t>software </a:t>
            </a:r>
            <a:r>
              <a:rPr spc="-10" dirty="0"/>
              <a:t>on  </a:t>
            </a:r>
            <a:r>
              <a:rPr dirty="0"/>
              <a:t>computers at </a:t>
            </a:r>
            <a:r>
              <a:rPr spc="-5" dirty="0"/>
              <a:t>specified premises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dirty="0"/>
              <a:t>site</a:t>
            </a:r>
            <a:r>
              <a:rPr spc="90" dirty="0"/>
              <a:t> </a:t>
            </a:r>
            <a:r>
              <a:rPr spc="-5" dirty="0"/>
              <a:t>license.</a:t>
            </a:r>
          </a:p>
        </p:txBody>
      </p:sp>
      <p:sp>
        <p:nvSpPr>
          <p:cNvPr id="5" name="object 5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7E7E7E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7E7E7E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FFFFFF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FFFFFF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11971" y="6431686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40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5085" y="210438"/>
            <a:ext cx="516064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3782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Important Concerns  in License</a:t>
            </a:r>
            <a:r>
              <a:rPr sz="4000" spc="-265" dirty="0"/>
              <a:t> </a:t>
            </a:r>
            <a:r>
              <a:rPr sz="4000" spc="-5" dirty="0"/>
              <a:t>Agreements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86004" y="1624710"/>
            <a:ext cx="61423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Several things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 software vendor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may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be  concerned: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6004" y="2429078"/>
            <a:ext cx="6654165" cy="420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Making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sure that it is not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giving away any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its</a:t>
            </a:r>
            <a:endParaRPr sz="24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own rights in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4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software.</a:t>
            </a:r>
            <a:endParaRPr sz="2400" dirty="0">
              <a:latin typeface="Arial"/>
              <a:cs typeface="Arial"/>
            </a:endParaRPr>
          </a:p>
          <a:p>
            <a:pPr marL="355600" marR="224154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Limiting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extend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customer can use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software.</a:t>
            </a:r>
            <a:endParaRPr sz="2400" dirty="0">
              <a:latin typeface="Arial"/>
              <a:cs typeface="Arial"/>
            </a:endParaRPr>
          </a:p>
          <a:p>
            <a:pPr marL="756285" marR="4381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So that if the customer wants to use it more he</a:t>
            </a:r>
            <a:r>
              <a:rPr sz="2000" spc="-2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must  pay an additional license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fee.</a:t>
            </a:r>
            <a:endParaRPr sz="2000" dirty="0">
              <a:latin typeface="Arial"/>
              <a:cs typeface="Arial"/>
            </a:endParaRPr>
          </a:p>
          <a:p>
            <a:pPr marL="355600" marR="93599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Ensuring a regular income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support  activities.</a:t>
            </a:r>
            <a:endParaRPr sz="24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E.g.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annual maintenance charge, consultancy</a:t>
            </a:r>
            <a:r>
              <a:rPr sz="2000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fee</a:t>
            </a:r>
            <a:endParaRPr sz="2000" dirty="0">
              <a:latin typeface="Arial"/>
              <a:cs typeface="Arial"/>
            </a:endParaRPr>
          </a:p>
          <a:p>
            <a:pPr marL="355600" marR="158750" indent="-342900">
              <a:lnSpc>
                <a:spcPct val="100000"/>
              </a:lnSpc>
              <a:spcBef>
                <a:spcPts val="5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Ensuring as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far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as possible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will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not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be liable 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any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defects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software.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7E7E7E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7E7E7E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FFFFFF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FFFFFF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11971" y="6431686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41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5857" y="147955"/>
            <a:ext cx="499935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6365" marR="5080" indent="-1384300">
              <a:lnSpc>
                <a:spcPct val="100000"/>
              </a:lnSpc>
              <a:spcBef>
                <a:spcPts val="100"/>
              </a:spcBef>
            </a:pPr>
            <a:r>
              <a:rPr dirty="0"/>
              <a:t>Liability of</a:t>
            </a:r>
            <a:r>
              <a:rPr spc="-80" dirty="0"/>
              <a:t> </a:t>
            </a:r>
            <a:r>
              <a:rPr dirty="0"/>
              <a:t>Defective  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1606422"/>
            <a:ext cx="6758305" cy="5049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Developer are very reluctant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give contractual  commitment.</a:t>
            </a:r>
            <a:endParaRPr sz="2400" dirty="0">
              <a:latin typeface="Arial"/>
              <a:cs typeface="Arial"/>
            </a:endParaRPr>
          </a:p>
          <a:p>
            <a:pPr marL="756285" marR="35242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Standard terms and conditions will contain a  clause that tries to limit the developer liability if</a:t>
            </a:r>
            <a:r>
              <a:rPr sz="2000" spc="-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 software is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defective.</a:t>
            </a:r>
            <a:endParaRPr sz="2000" dirty="0">
              <a:latin typeface="Arial"/>
              <a:cs typeface="Arial"/>
            </a:endParaRPr>
          </a:p>
          <a:p>
            <a:pPr marL="756285" marR="45656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Most contracts will </a:t>
            </a: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limit the extent of any liability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 either to purchase price of the product or to</a:t>
            </a:r>
            <a:r>
              <a:rPr sz="2000" spc="-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some 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fixed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figure.</a:t>
            </a:r>
            <a:endParaRPr sz="2000" dirty="0">
              <a:latin typeface="Arial"/>
              <a:cs typeface="Arial"/>
            </a:endParaRPr>
          </a:p>
          <a:p>
            <a:pPr marL="355600" marR="1270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Unfair Contract 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Terms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Act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1977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restricts  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extend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which clauses in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contract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limiting  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liability.</a:t>
            </a:r>
            <a:endParaRPr sz="2400" dirty="0">
              <a:latin typeface="Arial"/>
              <a:cs typeface="Arial"/>
            </a:endParaRPr>
          </a:p>
          <a:p>
            <a:pPr marL="355600" marR="9271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But,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not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possible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limit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damages  payable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defect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product causes death  or 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injury.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7E7E7E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7E7E7E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FFFFFF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FFFFFF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11971" y="6431686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42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116" y="483234"/>
            <a:ext cx="66440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Using Consumer Sale</a:t>
            </a:r>
            <a:r>
              <a:rPr spc="-90" dirty="0"/>
              <a:t> </a:t>
            </a:r>
            <a:r>
              <a:rPr dirty="0"/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1820380"/>
            <a:ext cx="6621780" cy="455168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Consumer</a:t>
            </a:r>
            <a:r>
              <a:rPr sz="2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sale:</a:t>
            </a:r>
            <a:endParaRPr sz="24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buyer must be a private</a:t>
            </a:r>
            <a:r>
              <a:rPr sz="20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person</a:t>
            </a:r>
            <a:endParaRPr sz="2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Seller is acting in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course of a</a:t>
            </a:r>
            <a:r>
              <a:rPr sz="20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endParaRPr sz="2000" dirty="0">
              <a:latin typeface="Arial"/>
              <a:cs typeface="Arial"/>
            </a:endParaRPr>
          </a:p>
          <a:p>
            <a:pPr marL="756285" marR="44132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goods must be a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type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ordinarily supplied</a:t>
            </a:r>
            <a:r>
              <a:rPr sz="2000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for  private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endParaRPr sz="2000" dirty="0">
              <a:latin typeface="Arial"/>
              <a:cs typeface="Arial"/>
            </a:endParaRPr>
          </a:p>
          <a:p>
            <a:pPr marL="355600" marR="1066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consumer sale,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requirements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Sale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Goods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Act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1979 and Supply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Goods and  Services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Act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1982 cannot be</a:t>
            </a:r>
            <a:r>
              <a:rPr sz="2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excluded.</a:t>
            </a:r>
            <a:endParaRPr sz="2400" dirty="0">
              <a:latin typeface="Arial"/>
              <a:cs typeface="Arial"/>
            </a:endParaRPr>
          </a:p>
          <a:p>
            <a:pPr marL="756285" marR="3619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most important requirement of the 1979 Act is  that </a:t>
            </a: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goods sold must be </a:t>
            </a:r>
            <a:r>
              <a:rPr sz="2000" spc="-5" dirty="0">
                <a:solidFill>
                  <a:srgbClr val="00FF00"/>
                </a:solidFill>
                <a:latin typeface="Arial"/>
                <a:cs typeface="Arial"/>
              </a:rPr>
              <a:t>fit </a:t>
            </a:r>
            <a:r>
              <a:rPr sz="2000" dirty="0">
                <a:solidFill>
                  <a:srgbClr val="00FF00"/>
                </a:solidFill>
                <a:latin typeface="Arial"/>
                <a:cs typeface="Arial"/>
              </a:rPr>
              <a:t>for the purpose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000" spc="-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which  such goods are commonly</a:t>
            </a:r>
            <a:r>
              <a:rPr sz="20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supplied.</a:t>
            </a:r>
            <a:endParaRPr sz="2000" dirty="0">
              <a:latin typeface="Arial"/>
              <a:cs typeface="Arial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400"/>
              </a:spcBef>
              <a:buChar char="•"/>
              <a:tabLst>
                <a:tab pos="1155065" algn="l"/>
                <a:tab pos="1155700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E.g. printer must be capable of printing reliably and clearly at  usable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speed.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7E7E7E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7E7E7E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FFFFFF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FFFFFF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549" y="483234"/>
            <a:ext cx="61188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Software in Goods</a:t>
            </a:r>
            <a:r>
              <a:rPr spc="-65" dirty="0"/>
              <a:t> </a:t>
            </a:r>
            <a:r>
              <a:rPr dirty="0"/>
              <a:t>Law?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1740534"/>
            <a:ext cx="6791325" cy="478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8295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Problem: software is intangible,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may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not  comes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under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definition of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“goods”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It is not clear whether Sale of Goods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Act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1979</a:t>
            </a:r>
            <a:r>
              <a:rPr sz="2000" spc="-2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applies</a:t>
            </a:r>
            <a:endParaRPr sz="2000" dirty="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to the sale of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software.</a:t>
            </a:r>
            <a:endParaRPr sz="2000" dirty="0">
              <a:latin typeface="Arial"/>
              <a:cs typeface="Arial"/>
            </a:endParaRPr>
          </a:p>
          <a:p>
            <a:pPr marL="756285" marR="106680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It is generally thought that it does apply to the sale</a:t>
            </a:r>
            <a:r>
              <a:rPr sz="2000" spc="-2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of  retail software or software sold under wrapped  license.</a:t>
            </a:r>
            <a:endParaRPr sz="2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But it would not apply to bespoke</a:t>
            </a:r>
            <a:r>
              <a:rPr sz="20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software.</a:t>
            </a:r>
            <a:endParaRPr sz="2000" dirty="0">
              <a:latin typeface="Arial"/>
              <a:cs typeface="Arial"/>
            </a:endParaRPr>
          </a:p>
          <a:p>
            <a:pPr marL="1155700" marR="343535" lvl="2" indent="-228600">
              <a:lnSpc>
                <a:spcPct val="100000"/>
              </a:lnSpc>
              <a:spcBef>
                <a:spcPts val="400"/>
              </a:spcBef>
              <a:buChar char="•"/>
              <a:tabLst>
                <a:tab pos="1155065" algn="l"/>
                <a:tab pos="1155700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Then it comes under the 1982 Act,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which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only requires that  “reasonable skill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care”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has been</a:t>
            </a:r>
            <a:r>
              <a:rPr sz="16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used.</a:t>
            </a:r>
            <a:endParaRPr sz="1600" dirty="0">
              <a:latin typeface="Arial"/>
              <a:cs typeface="Arial"/>
            </a:endParaRPr>
          </a:p>
          <a:p>
            <a:pPr marL="355600" marR="760095" indent="-342900">
              <a:lnSpc>
                <a:spcPct val="100000"/>
              </a:lnSpc>
              <a:spcBef>
                <a:spcPts val="55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Unfair Contract 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Terms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Act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1977</a:t>
            </a:r>
            <a:r>
              <a:rPr sz="24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again  comes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the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rescue.</a:t>
            </a:r>
            <a:endParaRPr sz="2400" dirty="0">
              <a:latin typeface="Arial"/>
              <a:cs typeface="Arial"/>
            </a:endParaRPr>
          </a:p>
          <a:p>
            <a:pPr marL="756285" marR="214629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It allows liability to be limited or excluded only to</a:t>
            </a:r>
            <a:r>
              <a:rPr sz="2000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 extent that it is reasonable to do</a:t>
            </a:r>
            <a:r>
              <a:rPr sz="20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so.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7E7E7E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7E7E7E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FFFFFF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FFFFFF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9535" y="483234"/>
            <a:ext cx="44716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Health and</a:t>
            </a:r>
            <a:r>
              <a:rPr spc="-75" dirty="0"/>
              <a:t> </a:t>
            </a:r>
            <a:r>
              <a:rPr dirty="0"/>
              <a:t>Safety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1917319"/>
            <a:ext cx="6753859" cy="4428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572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It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shall be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the duty of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every employer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to 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ensure,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so far as is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reasonably practicable,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the 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health,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safety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and welfare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at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work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all his  employees.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2400">
              <a:latin typeface="Arial"/>
              <a:cs typeface="Arial"/>
            </a:endParaRPr>
          </a:p>
          <a:p>
            <a:pPr marR="741045" algn="ctr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(The Health and Safety </a:t>
            </a:r>
            <a:r>
              <a:rPr sz="2400" spc="-15" dirty="0">
                <a:solidFill>
                  <a:srgbClr val="FFFFFF"/>
                </a:solidFill>
                <a:latin typeface="Arial"/>
                <a:cs typeface="Arial"/>
              </a:rPr>
              <a:t>Work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Act</a:t>
            </a:r>
            <a:r>
              <a:rPr sz="24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1974)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Particular concern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software</a:t>
            </a:r>
            <a:r>
              <a:rPr sz="2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engineers: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89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Provision and maintenance</a:t>
            </a:r>
            <a:r>
              <a:rPr sz="2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of: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safe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plant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safe systems of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work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such information, instruction, training and</a:t>
            </a:r>
            <a:r>
              <a:rPr sz="2000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supervision</a:t>
            </a:r>
            <a:endParaRPr sz="2000">
              <a:latin typeface="Arial"/>
              <a:cs typeface="Arial"/>
            </a:endParaRPr>
          </a:p>
          <a:p>
            <a:pPr marL="756285" marR="58483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safe working environment and adequate</a:t>
            </a:r>
            <a:r>
              <a:rPr sz="20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welfare  arrangements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7E7E7E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7E7E7E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FFFFFF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9535" y="483234"/>
            <a:ext cx="44716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Health and</a:t>
            </a:r>
            <a:r>
              <a:rPr spc="-75" dirty="0"/>
              <a:t> </a:t>
            </a:r>
            <a:r>
              <a:rPr dirty="0"/>
              <a:t>Safety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004" y="3167253"/>
            <a:ext cx="6656070" cy="192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The act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also requires employers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ensure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that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their activities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do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not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risk </a:t>
            </a:r>
            <a:r>
              <a:rPr sz="2400" dirty="0">
                <a:solidFill>
                  <a:srgbClr val="00FF00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general public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 health and</a:t>
            </a:r>
            <a:r>
              <a:rPr sz="24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safety.</a:t>
            </a:r>
            <a:endParaRPr sz="2400">
              <a:latin typeface="Arial"/>
              <a:cs typeface="Arial"/>
            </a:endParaRPr>
          </a:p>
          <a:p>
            <a:pPr marL="355600" marR="649605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Failure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comply with the act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spc="-5" dirty="0">
                <a:solidFill>
                  <a:srgbClr val="00FF00"/>
                </a:solidFill>
                <a:latin typeface="Arial"/>
                <a:cs typeface="Arial"/>
              </a:rPr>
              <a:t>criminal  </a:t>
            </a:r>
            <a:r>
              <a:rPr sz="2400" spc="-10" dirty="0">
                <a:solidFill>
                  <a:srgbClr val="00FF00"/>
                </a:solidFill>
                <a:latin typeface="Arial"/>
                <a:cs typeface="Arial"/>
              </a:rPr>
              <a:t>offence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1756" y="0"/>
            <a:ext cx="1952625" cy="6858000"/>
          </a:xfrm>
          <a:custGeom>
            <a:avLst/>
            <a:gdLst/>
            <a:ahLst/>
            <a:cxnLst/>
            <a:rect l="l" t="t" r="r" b="b"/>
            <a:pathLst>
              <a:path w="1952625" h="6858000">
                <a:moveTo>
                  <a:pt x="0" y="6858000"/>
                </a:moveTo>
                <a:lnTo>
                  <a:pt x="1952244" y="6858000"/>
                </a:lnTo>
                <a:lnTo>
                  <a:pt x="19522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72273" y="1110132"/>
            <a:ext cx="1773555" cy="453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30" dirty="0">
                <a:solidFill>
                  <a:srgbClr val="7E7E7E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Fixed </a:t>
            </a: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Price 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Contracts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120" dirty="0">
                <a:solidFill>
                  <a:srgbClr val="7E7E7E"/>
                </a:solidFill>
                <a:latin typeface="Arial"/>
                <a:cs typeface="Arial"/>
              </a:rPr>
              <a:t>Bespoke</a:t>
            </a:r>
            <a:r>
              <a:rPr sz="1600" spc="-130" dirty="0">
                <a:solidFill>
                  <a:srgbClr val="7E7E7E"/>
                </a:solidFill>
                <a:latin typeface="Arial"/>
                <a:cs typeface="Arial"/>
              </a:rPr>
              <a:t> Systems</a:t>
            </a:r>
            <a:endParaRPr sz="1600">
              <a:latin typeface="Arial"/>
              <a:cs typeface="Arial"/>
            </a:endParaRPr>
          </a:p>
          <a:p>
            <a:pPr marL="355600" marR="52705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Consultancy</a:t>
            </a:r>
            <a:r>
              <a:rPr sz="1600" spc="-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Contract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Hire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solidFill>
                  <a:srgbClr val="7E7E7E"/>
                </a:solidFill>
                <a:latin typeface="Arial"/>
                <a:cs typeface="Arial"/>
              </a:rPr>
              <a:t>Time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45" dirty="0">
                <a:solidFill>
                  <a:srgbClr val="7E7E7E"/>
                </a:solidFill>
                <a:latin typeface="Arial"/>
                <a:cs typeface="Arial"/>
              </a:rPr>
              <a:t>Materials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Outsourcing</a:t>
            </a:r>
            <a:endParaRPr sz="1600">
              <a:latin typeface="Arial"/>
              <a:cs typeface="Arial"/>
            </a:endParaRPr>
          </a:p>
          <a:p>
            <a:pPr marL="355600" marR="41338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114" dirty="0">
                <a:solidFill>
                  <a:srgbClr val="7E7E7E"/>
                </a:solidFill>
                <a:latin typeface="Arial"/>
                <a:cs typeface="Arial"/>
              </a:rPr>
              <a:t>License  </a:t>
            </a:r>
            <a:r>
              <a:rPr sz="1600" spc="-105" dirty="0">
                <a:solidFill>
                  <a:srgbClr val="7E7E7E"/>
                </a:solidFill>
                <a:latin typeface="Arial"/>
                <a:cs typeface="Arial"/>
              </a:rPr>
              <a:t>Ag</a:t>
            </a:r>
            <a:r>
              <a:rPr sz="1600" spc="-85" dirty="0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sz="1600" spc="-1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11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95" dirty="0">
                <a:solidFill>
                  <a:srgbClr val="7E7E7E"/>
                </a:solidFill>
                <a:latin typeface="Arial"/>
                <a:cs typeface="Arial"/>
              </a:rPr>
              <a:t>m</a:t>
            </a:r>
            <a:r>
              <a:rPr sz="1600" spc="-75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n</a:t>
            </a:r>
            <a:r>
              <a:rPr sz="1600" spc="90" dirty="0">
                <a:solidFill>
                  <a:srgbClr val="7E7E7E"/>
                </a:solidFill>
                <a:latin typeface="Arial"/>
                <a:cs typeface="Arial"/>
              </a:rPr>
              <a:t>t</a:t>
            </a:r>
            <a:r>
              <a:rPr sz="1600" spc="-180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355600" marR="495934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40" dirty="0">
                <a:solidFill>
                  <a:srgbClr val="7E7E7E"/>
                </a:solidFill>
                <a:latin typeface="Arial"/>
                <a:cs typeface="Arial"/>
              </a:rPr>
              <a:t>Liability</a:t>
            </a:r>
            <a:r>
              <a:rPr sz="1600" spc="-1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"/>
                <a:cs typeface="Arial"/>
              </a:rPr>
              <a:t>for  </a:t>
            </a:r>
            <a:r>
              <a:rPr sz="1600" spc="-70" dirty="0">
                <a:solidFill>
                  <a:srgbClr val="7E7E7E"/>
                </a:solidFill>
                <a:latin typeface="Arial"/>
                <a:cs typeface="Arial"/>
              </a:rPr>
              <a:t>Defective  </a:t>
            </a:r>
            <a:r>
              <a:rPr sz="1600" spc="-65" dirty="0">
                <a:solidFill>
                  <a:srgbClr val="7E7E7E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355600" marR="508000" indent="-342900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600" spc="-60" dirty="0">
                <a:solidFill>
                  <a:srgbClr val="FFFFFF"/>
                </a:solidFill>
                <a:latin typeface="Arial"/>
                <a:cs typeface="Arial"/>
              </a:rPr>
              <a:t>Health</a:t>
            </a:r>
            <a:r>
              <a:rPr sz="1600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and  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Safety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4380</Words>
  <Application>Microsoft Office PowerPoint</Application>
  <PresentationFormat>On-screen Show (4:3)</PresentationFormat>
  <Paragraphs>760</Paragraphs>
  <Slides>46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Software Contract and Liability</vt:lpstr>
      <vt:lpstr>Reference</vt:lpstr>
      <vt:lpstr>Outline</vt:lpstr>
      <vt:lpstr>Contract</vt:lpstr>
      <vt:lpstr>Contract Law</vt:lpstr>
      <vt:lpstr>Fixed Price Contracts For  Bespoke Systems</vt:lpstr>
      <vt:lpstr>What is to be produced</vt:lpstr>
      <vt:lpstr>What is to be delivered</vt:lpstr>
      <vt:lpstr>Rights Ownership</vt:lpstr>
      <vt:lpstr>Confidentiality</vt:lpstr>
      <vt:lpstr>Payment Terms</vt:lpstr>
      <vt:lpstr>Payment Terms</vt:lpstr>
      <vt:lpstr>Payment Terms</vt:lpstr>
      <vt:lpstr>Payments for  Delays and Changes</vt:lpstr>
      <vt:lpstr>Calculating Payments for  Delays and Changes</vt:lpstr>
      <vt:lpstr>Penalty Clauses</vt:lpstr>
      <vt:lpstr>Penalty Clauses</vt:lpstr>
      <vt:lpstr>Penalty Clauses</vt:lpstr>
      <vt:lpstr>Client Obligations</vt:lpstr>
      <vt:lpstr>Client Obligations</vt:lpstr>
      <vt:lpstr>Working Standards</vt:lpstr>
      <vt:lpstr>Progress Meetings</vt:lpstr>
      <vt:lpstr>Project Managers</vt:lpstr>
      <vt:lpstr>Acceptance Procedure</vt:lpstr>
      <vt:lpstr>Acceptance Procedure</vt:lpstr>
      <vt:lpstr>Warranty and Maintenance</vt:lpstr>
      <vt:lpstr>Warranty and Maintenance</vt:lpstr>
      <vt:lpstr>Inflation</vt:lpstr>
      <vt:lpstr>Indemnity</vt:lpstr>
      <vt:lpstr>Termination of Contract</vt:lpstr>
      <vt:lpstr>Arbitration</vt:lpstr>
      <vt:lpstr>Applicable Law</vt:lpstr>
      <vt:lpstr>Contract Hire</vt:lpstr>
      <vt:lpstr>Consultancy</vt:lpstr>
      <vt:lpstr>Consultancy</vt:lpstr>
      <vt:lpstr>Time and Materials</vt:lpstr>
      <vt:lpstr>Time and Materials</vt:lpstr>
      <vt:lpstr>Outsourcing</vt:lpstr>
      <vt:lpstr>Outsourcing</vt:lpstr>
      <vt:lpstr>License Agreements</vt:lpstr>
      <vt:lpstr>Important Concerns  in License Agreements</vt:lpstr>
      <vt:lpstr>Liability of Defective  Software</vt:lpstr>
      <vt:lpstr>Using Consumer Sale Law</vt:lpstr>
      <vt:lpstr>Software in Goods Law?</vt:lpstr>
      <vt:lpstr>Health and Safety</vt:lpstr>
      <vt:lpstr>Health and Safety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Contract and Liability</dc:title>
  <dc:creator>Aamir Anwar</dc:creator>
  <cp:lastModifiedBy>muhammad.qasim</cp:lastModifiedBy>
  <cp:revision>19</cp:revision>
  <dcterms:created xsi:type="dcterms:W3CDTF">2019-11-11T11:03:57Z</dcterms:created>
  <dcterms:modified xsi:type="dcterms:W3CDTF">2021-04-27T03:43:53Z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2014-08-24T00:00:00Z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2019-11-11T00:00:00Z</vt:filetime>
  </property>
</Properties>
</file>