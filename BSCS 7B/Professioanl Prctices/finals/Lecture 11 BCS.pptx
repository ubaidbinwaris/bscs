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1" r:id="rId15"/>
    <p:sldId id="272" r:id="rId16"/>
    <p:sldId id="274" r:id="rId17"/>
    <p:sldId id="275" r:id="rId18"/>
    <p:sldId id="276" r:id="rId19"/>
    <p:sldId id="277" r:id="rId20"/>
    <p:sldId id="269" r:id="rId21"/>
    <p:sldId id="270" r:id="rId22"/>
  </p:sldIdLst>
  <p:sldSz cx="10058400" cy="7772400"/>
  <p:notesSz cx="10058400" cy="7772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74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BC5D95-79C7-4E86-B750-9A975286A893}" type="datetimeFigureOut">
              <a:rPr lang="en-US" smtClean="0"/>
              <a:pPr/>
              <a:t>4/27/2021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692525"/>
            <a:ext cx="8045450" cy="3497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1875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1875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ED5967-F05E-483D-8836-BE2BFD367F6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1200" dirty="0">
                <a:latin typeface="Arial"/>
                <a:cs typeface="Arial"/>
              </a:rPr>
              <a:t>Diligence=carefulness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8ED5967-F05E-483D-8836-BE2BFD367F62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rgbClr val="FFF2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785"/>
              </a:lnSpc>
              <a:tabLst>
                <a:tab pos="326390" algn="l"/>
              </a:tabLst>
            </a:pPr>
            <a:r>
              <a:rPr lang="en-US" sz="1700" spc="-585">
                <a:latin typeface="Noto Sans CJK JP Regular"/>
                <a:cs typeface="Noto Sans CJK JP Regular"/>
              </a:rPr>
              <a:t>Professional Practices (BSCS)</a:t>
            </a:r>
            <a:endParaRPr sz="1650">
              <a:latin typeface="Noto Sans CJK JP Regular"/>
              <a:cs typeface="Noto Sans CJK JP Regular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60BD77-70E5-4DD2-B5F3-FBFD1BFEC0A6}" type="datetime1">
              <a:rPr lang="en-US" smtClean="0"/>
              <a:t>4/27/2021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2050"/>
              </a:lnSpc>
            </a:pPr>
            <a:fld id="{81D60167-4931-47E6-BA6A-407CBD079E47}" type="slidenum">
              <a:rPr spc="155" dirty="0"/>
              <a:pPr marL="25400">
                <a:lnSpc>
                  <a:spcPts val="2050"/>
                </a:lnSpc>
              </a:pPr>
              <a:t>‹#›</a:t>
            </a:fld>
            <a:endParaRPr spc="15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ED1C2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rgbClr val="FFF2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785"/>
              </a:lnSpc>
              <a:tabLst>
                <a:tab pos="326390" algn="l"/>
              </a:tabLst>
            </a:pPr>
            <a:r>
              <a:rPr lang="en-US" sz="1700" spc="-585">
                <a:latin typeface="Noto Sans CJK JP Regular"/>
                <a:cs typeface="Noto Sans CJK JP Regular"/>
              </a:rPr>
              <a:t>Professional Practices (BSCS)</a:t>
            </a:r>
            <a:endParaRPr sz="1650">
              <a:latin typeface="Noto Sans CJK JP Regular"/>
              <a:cs typeface="Noto Sans CJK JP Regular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3D6DAF-2BF2-4146-BD48-2A8DA43FEB74}" type="datetime1">
              <a:rPr lang="en-US" smtClean="0"/>
              <a:t>4/27/2021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2050"/>
              </a:lnSpc>
            </a:pPr>
            <a:fld id="{81D60167-4931-47E6-BA6A-407CBD079E47}" type="slidenum">
              <a:rPr spc="155" dirty="0"/>
              <a:pPr marL="25400">
                <a:lnSpc>
                  <a:spcPts val="2050"/>
                </a:lnSpc>
              </a:pPr>
              <a:t>‹#›</a:t>
            </a:fld>
            <a:endParaRPr spc="15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ED1C2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rgbClr val="FFF2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785"/>
              </a:lnSpc>
              <a:tabLst>
                <a:tab pos="326390" algn="l"/>
              </a:tabLst>
            </a:pPr>
            <a:r>
              <a:rPr lang="en-US" sz="1700" spc="-585">
                <a:latin typeface="Noto Sans CJK JP Regular"/>
                <a:cs typeface="Noto Sans CJK JP Regular"/>
              </a:rPr>
              <a:t>Professional Practices (BSCS)</a:t>
            </a:r>
            <a:endParaRPr sz="1650">
              <a:latin typeface="Noto Sans CJK JP Regular"/>
              <a:cs typeface="Noto Sans CJK JP Regular"/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60714F-67BB-4E62-B648-DB2843DB9796}" type="datetime1">
              <a:rPr lang="en-US" smtClean="0"/>
              <a:t>4/27/2021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2050"/>
              </a:lnSpc>
            </a:pPr>
            <a:fld id="{81D60167-4931-47E6-BA6A-407CBD079E47}" type="slidenum">
              <a:rPr spc="155" dirty="0"/>
              <a:pPr marL="25400">
                <a:lnSpc>
                  <a:spcPts val="2050"/>
                </a:lnSpc>
              </a:pPr>
              <a:t>‹#›</a:t>
            </a:fld>
            <a:endParaRPr spc="15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400" b="0" i="0">
                <a:solidFill>
                  <a:srgbClr val="ED1C2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rgbClr val="FFF2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785"/>
              </a:lnSpc>
              <a:tabLst>
                <a:tab pos="326390" algn="l"/>
              </a:tabLst>
            </a:pPr>
            <a:r>
              <a:rPr lang="en-US" sz="1700" spc="-585">
                <a:latin typeface="Noto Sans CJK JP Regular"/>
                <a:cs typeface="Noto Sans CJK JP Regular"/>
              </a:rPr>
              <a:t>Professional Practices (BSCS)</a:t>
            </a:r>
            <a:endParaRPr sz="1650">
              <a:latin typeface="Noto Sans CJK JP Regular"/>
              <a:cs typeface="Noto Sans CJK JP Regular"/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A43808-270B-4E32-B814-39052E983247}" type="datetime1">
              <a:rPr lang="en-US" smtClean="0"/>
              <a:t>4/27/2021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2050"/>
              </a:lnSpc>
            </a:pPr>
            <a:fld id="{81D60167-4931-47E6-BA6A-407CBD079E47}" type="slidenum">
              <a:rPr spc="155" dirty="0"/>
              <a:pPr marL="25400">
                <a:lnSpc>
                  <a:spcPts val="2050"/>
                </a:lnSpc>
              </a:pPr>
              <a:t>‹#›</a:t>
            </a:fld>
            <a:endParaRPr spc="15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650" b="0" i="0">
                <a:solidFill>
                  <a:srgbClr val="FFF2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785"/>
              </a:lnSpc>
              <a:tabLst>
                <a:tab pos="326390" algn="l"/>
              </a:tabLst>
            </a:pPr>
            <a:r>
              <a:rPr lang="en-US" sz="1700" spc="-585">
                <a:latin typeface="Noto Sans CJK JP Regular"/>
                <a:cs typeface="Noto Sans CJK JP Regular"/>
              </a:rPr>
              <a:t>Professional Practices (BSCS)</a:t>
            </a:r>
            <a:endParaRPr sz="1650">
              <a:latin typeface="Noto Sans CJK JP Regular"/>
              <a:cs typeface="Noto Sans CJK JP Regular"/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39146-7FB2-4E41-AF60-A8DF0161D17F}" type="datetime1">
              <a:rPr lang="en-US" smtClean="0"/>
              <a:t>4/27/2021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2050"/>
              </a:lnSpc>
            </a:pPr>
            <a:fld id="{81D60167-4931-47E6-BA6A-407CBD079E47}" type="slidenum">
              <a:rPr spc="155" dirty="0"/>
              <a:pPr marL="25400">
                <a:lnSpc>
                  <a:spcPts val="2050"/>
                </a:lnSpc>
              </a:pPr>
              <a:t>‹#›</a:t>
            </a:fld>
            <a:endParaRPr spc="15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38924" y="775360"/>
            <a:ext cx="8208645" cy="1026160"/>
          </a:xfrm>
          <a:custGeom>
            <a:avLst/>
            <a:gdLst/>
            <a:ahLst/>
            <a:cxnLst/>
            <a:rect l="l" t="t" r="r" b="b"/>
            <a:pathLst>
              <a:path w="8208645" h="1026160">
                <a:moveTo>
                  <a:pt x="0" y="1025651"/>
                </a:moveTo>
                <a:lnTo>
                  <a:pt x="8208264" y="1025651"/>
                </a:lnTo>
                <a:lnTo>
                  <a:pt x="8208264" y="0"/>
                </a:lnTo>
                <a:lnTo>
                  <a:pt x="0" y="0"/>
                </a:lnTo>
                <a:lnTo>
                  <a:pt x="0" y="1025651"/>
                </a:lnTo>
                <a:close/>
              </a:path>
            </a:pathLst>
          </a:custGeom>
          <a:solidFill>
            <a:srgbClr val="FEF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660647" y="938384"/>
            <a:ext cx="2737104" cy="5480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ED1C2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9911" y="1874520"/>
            <a:ext cx="6889750" cy="16211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11934" y="7237758"/>
            <a:ext cx="6875145" cy="247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0" i="0">
                <a:solidFill>
                  <a:srgbClr val="FFF200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1785"/>
              </a:lnSpc>
              <a:tabLst>
                <a:tab pos="326390" algn="l"/>
              </a:tabLst>
            </a:pPr>
            <a:r>
              <a:rPr lang="en-US" sz="1700" spc="-585">
                <a:latin typeface="Noto Sans CJK JP Regular"/>
                <a:cs typeface="Noto Sans CJK JP Regular"/>
              </a:rPr>
              <a:t>Professional Practices (BSCS)</a:t>
            </a:r>
            <a:endParaRPr sz="1650">
              <a:latin typeface="Noto Sans CJK JP Regular"/>
              <a:cs typeface="Noto Sans CJK JP Regular"/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80912-1D28-416D-8F7C-2E83AA432053}" type="datetime1">
              <a:rPr lang="en-US" smtClean="0"/>
              <a:t>4/27/2021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215119" y="7404244"/>
            <a:ext cx="208279" cy="2774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2050"/>
              </a:lnSpc>
            </a:pPr>
            <a:fld id="{81D60167-4931-47E6-BA6A-407CBD079E47}" type="slidenum">
              <a:rPr spc="155" dirty="0"/>
              <a:pPr marL="25400">
                <a:lnSpc>
                  <a:spcPts val="2050"/>
                </a:lnSpc>
              </a:pPr>
              <a:t>‹#›</a:t>
            </a:fld>
            <a:endParaRPr spc="15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://www.bcs.org/" TargetMode="External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://www.bcs.org/server.php?show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hyperlink" Target="http://www.theiet.org/" TargetMode="External"/><Relationship Id="rId7" Type="http://schemas.openxmlformats.org/officeDocument/2006/relationships/hyperlink" Target="http://www.acm.org/about/code-of-ethics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acm.org/" TargetMode="External"/><Relationship Id="rId11" Type="http://schemas.openxmlformats.org/officeDocument/2006/relationships/image" Target="../media/image5.png"/><Relationship Id="rId5" Type="http://schemas.openxmlformats.org/officeDocument/2006/relationships/hyperlink" Target="http://cpsr.org/" TargetMode="External"/><Relationship Id="rId10" Type="http://schemas.openxmlformats.org/officeDocument/2006/relationships/image" Target="../media/image4.png"/><Relationship Id="rId4" Type="http://schemas.openxmlformats.org/officeDocument/2006/relationships/hyperlink" Target="http://www.theiet.org/about/" TargetMode="External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hyperlink" Target="http://www.bcs.org/server.php?show=nav.6030" TargetMode="External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hyperlink" Target="http://www.bcs.org/server.php?show=nav.603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9200" y="2590800"/>
            <a:ext cx="7275195" cy="1124026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25"/>
              </a:spcBef>
              <a:tabLst>
                <a:tab pos="3959860" algn="l"/>
                <a:tab pos="4458335" algn="l"/>
                <a:tab pos="5765800" algn="l"/>
              </a:tabLst>
            </a:pPr>
            <a:r>
              <a:rPr lang="en-US" sz="3600" spc="105" dirty="0"/>
              <a:t>British Computer Society</a:t>
            </a:r>
            <a:br>
              <a:rPr lang="en-US" sz="3600" spc="105" dirty="0"/>
            </a:br>
            <a:r>
              <a:rPr lang="en-US" sz="3600" spc="105" dirty="0"/>
              <a:t>Code of Conduct</a:t>
            </a:r>
            <a:endParaRPr sz="3600" spc="105" dirty="0"/>
          </a:p>
        </p:txBody>
      </p:sp>
      <p:sp>
        <p:nvSpPr>
          <p:cNvPr id="3" name="object 3"/>
          <p:cNvSpPr/>
          <p:nvPr/>
        </p:nvSpPr>
        <p:spPr>
          <a:xfrm>
            <a:off x="638924" y="1801012"/>
            <a:ext cx="8208264" cy="73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6934200"/>
            <a:ext cx="10058399" cy="10632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19200" y="7026800"/>
            <a:ext cx="7627988" cy="7455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847181" y="776884"/>
            <a:ext cx="73152" cy="69955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8918808" y="776884"/>
            <a:ext cx="1139591" cy="618744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962400" y="4419600"/>
            <a:ext cx="17387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Lecture 11</a:t>
            </a:r>
          </a:p>
        </p:txBody>
      </p:sp>
      <p:sp>
        <p:nvSpPr>
          <p:cNvPr id="15" name="Footer Placeholder 10"/>
          <p:cNvSpPr>
            <a:spLocks noGrp="1"/>
          </p:cNvSpPr>
          <p:nvPr>
            <p:ph type="ftr" sz="quarter" idx="5"/>
          </p:nvPr>
        </p:nvSpPr>
        <p:spPr>
          <a:xfrm>
            <a:off x="1011934" y="7237758"/>
            <a:ext cx="6875145" cy="230832"/>
          </a:xfrm>
        </p:spPr>
        <p:txBody>
          <a:bodyPr/>
          <a:lstStyle/>
          <a:p>
            <a:pPr marL="12700" algn="ctr">
              <a:lnSpc>
                <a:spcPts val="1785"/>
              </a:lnSpc>
              <a:tabLst>
                <a:tab pos="326390" algn="l"/>
              </a:tabLst>
            </a:pPr>
            <a:r>
              <a:rPr lang="en-US" sz="1700">
                <a:latin typeface="Noto Sans CJK JP Regular"/>
                <a:cs typeface="Noto Sans CJK JP Regular"/>
              </a:rPr>
              <a:t>Professional Practices (BSCS)</a:t>
            </a:r>
            <a:endParaRPr lang="en-US" sz="1650" dirty="0">
              <a:latin typeface="Noto Sans CJK JP Regular"/>
              <a:cs typeface="Noto Sans CJK JP Regular"/>
            </a:endParaRPr>
          </a:p>
        </p:txBody>
      </p:sp>
      <p:sp>
        <p:nvSpPr>
          <p:cNvPr id="16" name="object 9"/>
          <p:cNvSpPr/>
          <p:nvPr/>
        </p:nvSpPr>
        <p:spPr>
          <a:xfrm>
            <a:off x="0" y="762000"/>
            <a:ext cx="1143000" cy="61722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8"/>
          <p:cNvSpPr/>
          <p:nvPr/>
        </p:nvSpPr>
        <p:spPr>
          <a:xfrm>
            <a:off x="1146048" y="776885"/>
            <a:ext cx="73152" cy="69955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2840" y="938384"/>
            <a:ext cx="2282825" cy="548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Overview</a:t>
            </a:r>
          </a:p>
        </p:txBody>
      </p:sp>
      <p:sp>
        <p:nvSpPr>
          <p:cNvPr id="3" name="object 3"/>
          <p:cNvSpPr/>
          <p:nvPr/>
        </p:nvSpPr>
        <p:spPr>
          <a:xfrm>
            <a:off x="638924" y="1801012"/>
            <a:ext cx="8208264" cy="73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19911" y="2045335"/>
            <a:ext cx="6680200" cy="2221865"/>
          </a:xfrm>
          <a:prstGeom prst="rect">
            <a:avLst/>
          </a:prstGeom>
        </p:spPr>
        <p:txBody>
          <a:bodyPr vert="horz" wrap="square" lIns="0" tIns="201930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1590"/>
              </a:spcBef>
              <a:buChar char="•"/>
              <a:tabLst>
                <a:tab pos="300355" algn="l"/>
                <a:tab pos="300990" algn="l"/>
                <a:tab pos="1131570" algn="l"/>
                <a:tab pos="2376805" algn="l"/>
                <a:tab pos="4198620" algn="l"/>
                <a:tab pos="5574030" algn="l"/>
              </a:tabLst>
            </a:pPr>
            <a:r>
              <a:rPr sz="2350" dirty="0">
                <a:solidFill>
                  <a:srgbClr val="2E3092"/>
                </a:solidFill>
                <a:latin typeface="Arial"/>
                <a:cs typeface="Arial"/>
              </a:rPr>
              <a:t>The</a:t>
            </a:r>
            <a:r>
              <a:rPr lang="en-US" sz="2350" dirty="0">
                <a:solidFill>
                  <a:srgbClr val="2E3092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2E3092"/>
                </a:solidFill>
                <a:latin typeface="Arial"/>
                <a:cs typeface="Arial"/>
              </a:rPr>
              <a:t>British</a:t>
            </a:r>
            <a:r>
              <a:rPr lang="en-US" sz="2350" dirty="0">
                <a:solidFill>
                  <a:srgbClr val="2E3092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2E3092"/>
                </a:solidFill>
                <a:latin typeface="Arial"/>
                <a:cs typeface="Arial"/>
              </a:rPr>
              <a:t>Computer</a:t>
            </a:r>
            <a:r>
              <a:rPr lang="en-US" sz="2350" dirty="0">
                <a:solidFill>
                  <a:srgbClr val="2E3092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2E3092"/>
                </a:solidFill>
                <a:latin typeface="Arial"/>
                <a:cs typeface="Arial"/>
              </a:rPr>
              <a:t>Society	</a:t>
            </a:r>
            <a:r>
              <a:rPr lang="en-US" sz="2350" dirty="0">
                <a:solidFill>
                  <a:srgbClr val="2E3092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2E3092"/>
                </a:solidFill>
                <a:latin typeface="Arial"/>
                <a:cs typeface="Arial"/>
              </a:rPr>
              <a:t>(BCS)</a:t>
            </a:r>
            <a:endParaRPr sz="2350" dirty="0">
              <a:latin typeface="Arial"/>
              <a:cs typeface="Arial"/>
            </a:endParaRPr>
          </a:p>
          <a:p>
            <a:pPr marL="300355" indent="-287655">
              <a:lnSpc>
                <a:spcPct val="100000"/>
              </a:lnSpc>
              <a:spcBef>
                <a:spcPts val="1500"/>
              </a:spcBef>
              <a:buChar char="•"/>
              <a:tabLst>
                <a:tab pos="300355" algn="l"/>
                <a:tab pos="300990" algn="l"/>
                <a:tab pos="1208405" algn="l"/>
                <a:tab pos="2226945" algn="l"/>
                <a:tab pos="2699385" algn="l"/>
              </a:tabLst>
            </a:pPr>
            <a:r>
              <a:rPr sz="2350" dirty="0">
                <a:solidFill>
                  <a:srgbClr val="2E3092"/>
                </a:solidFill>
                <a:latin typeface="Arial"/>
                <a:cs typeface="Arial"/>
              </a:rPr>
              <a:t>BCS</a:t>
            </a:r>
            <a:r>
              <a:rPr lang="en-US" sz="2350" dirty="0">
                <a:solidFill>
                  <a:srgbClr val="2E3092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2E3092"/>
                </a:solidFill>
                <a:latin typeface="Arial"/>
                <a:cs typeface="Arial"/>
              </a:rPr>
              <a:t>Code</a:t>
            </a:r>
            <a:r>
              <a:rPr lang="en-US" sz="2350" dirty="0">
                <a:solidFill>
                  <a:srgbClr val="2E3092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2E3092"/>
                </a:solidFill>
                <a:latin typeface="Arial"/>
                <a:cs typeface="Arial"/>
              </a:rPr>
              <a:t>of</a:t>
            </a:r>
            <a:r>
              <a:rPr lang="en-US" sz="2350" dirty="0">
                <a:solidFill>
                  <a:srgbClr val="2E3092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2E3092"/>
                </a:solidFill>
                <a:latin typeface="Arial"/>
                <a:cs typeface="Arial"/>
              </a:rPr>
              <a:t>Conduct</a:t>
            </a:r>
            <a:endParaRPr sz="2350" dirty="0">
              <a:latin typeface="Arial"/>
              <a:cs typeface="Arial"/>
            </a:endParaRPr>
          </a:p>
          <a:p>
            <a:pPr marL="300355" indent="-287655">
              <a:lnSpc>
                <a:spcPct val="100000"/>
              </a:lnSpc>
              <a:spcBef>
                <a:spcPts val="1515"/>
              </a:spcBef>
              <a:buChar char="•"/>
              <a:tabLst>
                <a:tab pos="300355" algn="l"/>
                <a:tab pos="300990" algn="l"/>
                <a:tab pos="1208405" algn="l"/>
                <a:tab pos="2226945" algn="l"/>
                <a:tab pos="2699385" algn="l"/>
                <a:tab pos="3760470" algn="l"/>
              </a:tabLst>
            </a:pPr>
            <a:r>
              <a:rPr sz="2350" dirty="0">
                <a:solidFill>
                  <a:srgbClr val="2E3092"/>
                </a:solidFill>
                <a:latin typeface="Arial"/>
                <a:cs typeface="Arial"/>
              </a:rPr>
              <a:t>BCS</a:t>
            </a:r>
            <a:r>
              <a:rPr lang="en-US" sz="2350" dirty="0">
                <a:solidFill>
                  <a:srgbClr val="2E3092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2E3092"/>
                </a:solidFill>
                <a:latin typeface="Arial"/>
                <a:cs typeface="Arial"/>
              </a:rPr>
              <a:t>Code</a:t>
            </a:r>
            <a:r>
              <a:rPr lang="en-US" sz="2350" dirty="0">
                <a:solidFill>
                  <a:srgbClr val="2E3092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2E3092"/>
                </a:solidFill>
                <a:latin typeface="Arial"/>
                <a:cs typeface="Arial"/>
              </a:rPr>
              <a:t>of</a:t>
            </a:r>
            <a:r>
              <a:rPr lang="en-US" sz="2350" dirty="0">
                <a:solidFill>
                  <a:srgbClr val="2E3092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2E3092"/>
                </a:solidFill>
                <a:latin typeface="Arial"/>
                <a:cs typeface="Arial"/>
              </a:rPr>
              <a:t>Good</a:t>
            </a:r>
            <a:r>
              <a:rPr lang="en-US" sz="2350" dirty="0">
                <a:solidFill>
                  <a:srgbClr val="2E3092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2E3092"/>
                </a:solidFill>
                <a:latin typeface="Arial"/>
                <a:cs typeface="Arial"/>
              </a:rPr>
              <a:t>Practice</a:t>
            </a:r>
            <a:endParaRPr sz="2350" dirty="0">
              <a:latin typeface="Arial"/>
              <a:cs typeface="Arial"/>
            </a:endParaRPr>
          </a:p>
          <a:p>
            <a:pPr marL="300355" indent="-287655">
              <a:lnSpc>
                <a:spcPct val="100000"/>
              </a:lnSpc>
              <a:spcBef>
                <a:spcPts val="1500"/>
              </a:spcBef>
              <a:buChar char="•"/>
              <a:tabLst>
                <a:tab pos="300355" algn="l"/>
                <a:tab pos="300990" algn="l"/>
              </a:tabLst>
            </a:pPr>
            <a:r>
              <a:rPr sz="2350" dirty="0">
                <a:solidFill>
                  <a:srgbClr val="2E3092"/>
                </a:solidFill>
                <a:latin typeface="Arial"/>
                <a:cs typeface="Arial"/>
              </a:rPr>
              <a:t>Summary</a:t>
            </a:r>
            <a:endParaRPr sz="235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8924" y="6967376"/>
            <a:ext cx="9419475" cy="731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8924" y="7026800"/>
            <a:ext cx="8208264" cy="7455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847181" y="776884"/>
            <a:ext cx="73152" cy="69955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18808" y="776884"/>
            <a:ext cx="1139591" cy="618744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5"/>
          </p:nvPr>
        </p:nvSpPr>
        <p:spPr>
          <a:xfrm>
            <a:off x="1011934" y="7237758"/>
            <a:ext cx="6875145" cy="230832"/>
          </a:xfrm>
        </p:spPr>
        <p:txBody>
          <a:bodyPr/>
          <a:lstStyle/>
          <a:p>
            <a:pPr marL="12700" algn="ctr">
              <a:lnSpc>
                <a:spcPts val="1785"/>
              </a:lnSpc>
              <a:tabLst>
                <a:tab pos="326390" algn="l"/>
              </a:tabLst>
            </a:pPr>
            <a:r>
              <a:rPr lang="en-US" sz="1700">
                <a:latin typeface="Noto Sans CJK JP Regular"/>
                <a:cs typeface="Noto Sans CJK JP Regular"/>
              </a:rPr>
              <a:t>Professional Practices (BSCS)</a:t>
            </a:r>
            <a:endParaRPr lang="en-US" sz="1650" dirty="0">
              <a:latin typeface="Noto Sans CJK JP Regular"/>
              <a:cs typeface="Noto Sans CJK JP Regula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8455" y="938384"/>
            <a:ext cx="2330450" cy="548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209040" algn="l"/>
              </a:tabLst>
            </a:pPr>
            <a:r>
              <a:rPr dirty="0"/>
              <a:t>The</a:t>
            </a:r>
            <a:r>
              <a:rPr lang="en-US" dirty="0"/>
              <a:t> </a:t>
            </a:r>
            <a:r>
              <a:rPr dirty="0"/>
              <a:t>BCS</a:t>
            </a:r>
          </a:p>
        </p:txBody>
      </p:sp>
      <p:sp>
        <p:nvSpPr>
          <p:cNvPr id="3" name="object 3"/>
          <p:cNvSpPr/>
          <p:nvPr/>
        </p:nvSpPr>
        <p:spPr>
          <a:xfrm>
            <a:off x="638924" y="1801012"/>
            <a:ext cx="8208264" cy="73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xfrm>
            <a:off x="762000" y="1981200"/>
            <a:ext cx="7943089" cy="15626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00355" marR="5080" indent="-287655" algn="just">
              <a:lnSpc>
                <a:spcPct val="148500"/>
              </a:lnSpc>
              <a:spcBef>
                <a:spcPts val="95"/>
              </a:spcBef>
              <a:buClr>
                <a:srgbClr val="2E3092"/>
              </a:buClr>
              <a:buChar char="•"/>
              <a:tabLst>
                <a:tab pos="300355" algn="l"/>
                <a:tab pos="300990" algn="l"/>
                <a:tab pos="1185545" algn="l"/>
                <a:tab pos="1463040" algn="l"/>
                <a:tab pos="2455545" algn="l"/>
                <a:tab pos="2840355" algn="l"/>
                <a:tab pos="3747770" algn="l"/>
                <a:tab pos="4244340" algn="l"/>
                <a:tab pos="4317365" algn="l"/>
                <a:tab pos="4835525" algn="l"/>
                <a:tab pos="5625465" algn="l"/>
              </a:tabLst>
            </a:pPr>
            <a:r>
              <a:rPr dirty="0"/>
              <a:t>The</a:t>
            </a:r>
            <a:r>
              <a:rPr lang="en-US" dirty="0"/>
              <a:t> </a:t>
            </a:r>
            <a:r>
              <a:rPr i="1" dirty="0">
                <a:latin typeface="Verdana"/>
                <a:cs typeface="Verdana"/>
              </a:rPr>
              <a:t>British</a:t>
            </a:r>
            <a:r>
              <a:rPr lang="en-US" i="1" dirty="0">
                <a:latin typeface="Verdana"/>
                <a:cs typeface="Verdana"/>
              </a:rPr>
              <a:t> </a:t>
            </a:r>
            <a:r>
              <a:rPr i="1" dirty="0">
                <a:latin typeface="Verdana"/>
                <a:cs typeface="Verdana"/>
              </a:rPr>
              <a:t>Computer</a:t>
            </a:r>
            <a:r>
              <a:rPr lang="en-US" i="1" dirty="0">
                <a:latin typeface="Verdana"/>
                <a:cs typeface="Verdana"/>
              </a:rPr>
              <a:t> </a:t>
            </a:r>
            <a:r>
              <a:rPr i="1" dirty="0">
                <a:latin typeface="Verdana"/>
                <a:cs typeface="Verdana"/>
              </a:rPr>
              <a:t>Society</a:t>
            </a:r>
            <a:r>
              <a:rPr lang="en-US" i="1" dirty="0">
                <a:latin typeface="Verdana"/>
                <a:cs typeface="Verdana"/>
              </a:rPr>
              <a:t> </a:t>
            </a:r>
            <a:r>
              <a:rPr i="1" dirty="0">
                <a:latin typeface="Verdana"/>
                <a:cs typeface="Verdana"/>
              </a:rPr>
              <a:t>(BCS)  </a:t>
            </a:r>
            <a:r>
              <a:rPr dirty="0"/>
              <a:t>British</a:t>
            </a:r>
            <a:r>
              <a:rPr lang="en-US" dirty="0"/>
              <a:t> is the </a:t>
            </a:r>
            <a:r>
              <a:rPr dirty="0"/>
              <a:t>	national	body</a:t>
            </a:r>
            <a:r>
              <a:rPr lang="en-US" dirty="0"/>
              <a:t> </a:t>
            </a:r>
            <a:r>
              <a:rPr dirty="0"/>
              <a:t>for</a:t>
            </a:r>
            <a:r>
              <a:rPr lang="en-US" dirty="0"/>
              <a:t> </a:t>
            </a:r>
            <a:r>
              <a:rPr dirty="0"/>
              <a:t>IT</a:t>
            </a:r>
            <a:r>
              <a:rPr lang="en-US" dirty="0"/>
              <a:t> </a:t>
            </a:r>
            <a:r>
              <a:rPr dirty="0"/>
              <a:t>professionals.</a:t>
            </a:r>
            <a:r>
              <a:rPr lang="en-US" dirty="0"/>
              <a:t> con</a:t>
            </a:r>
            <a:r>
              <a:rPr dirty="0"/>
              <a:t>sider to become a member.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19911" y="3892285"/>
            <a:ext cx="7877809" cy="17125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130"/>
              </a:spcBef>
              <a:buClr>
                <a:srgbClr val="2E3092"/>
              </a:buClr>
              <a:buChar char="•"/>
              <a:tabLst>
                <a:tab pos="300355" algn="l"/>
                <a:tab pos="300990" algn="l"/>
                <a:tab pos="1665605" algn="l"/>
              </a:tabLst>
            </a:pPr>
            <a:r>
              <a:rPr sz="2350" dirty="0">
                <a:latin typeface="Arial"/>
                <a:cs typeface="Arial"/>
              </a:rPr>
              <a:t>Info on:</a:t>
            </a:r>
            <a:r>
              <a:rPr lang="en-US" sz="2350" dirty="0">
                <a:latin typeface="Arial"/>
                <a:cs typeface="Arial"/>
              </a:rPr>
              <a:t> </a:t>
            </a:r>
            <a:r>
              <a:rPr sz="2350" dirty="0">
                <a:latin typeface="Times New Roman"/>
                <a:cs typeface="Times New Roman"/>
                <a:hlinkClick r:id="rId3"/>
              </a:rPr>
              <a:t>http://www.bcs.or</a:t>
            </a:r>
            <a:r>
              <a:rPr lang="en-US" sz="2350" dirty="0">
                <a:latin typeface="Times New Roman"/>
                <a:cs typeface="Times New Roman"/>
                <a:hlinkClick r:id="rId3"/>
              </a:rPr>
              <a:t>g</a:t>
            </a:r>
            <a:r>
              <a:rPr lang="en-US" sz="2350" dirty="0">
                <a:latin typeface="Times New Roman"/>
                <a:cs typeface="Times New Roman"/>
              </a:rPr>
              <a:t> </a:t>
            </a:r>
            <a:endParaRPr sz="2350" dirty="0">
              <a:latin typeface="Times New Roman"/>
              <a:cs typeface="Times New Roman"/>
            </a:endParaRPr>
          </a:p>
          <a:p>
            <a:pPr marL="300355" marR="5080" indent="-287655">
              <a:lnSpc>
                <a:spcPct val="148500"/>
              </a:lnSpc>
              <a:spcBef>
                <a:spcPts val="1980"/>
              </a:spcBef>
              <a:buClr>
                <a:srgbClr val="2E3092"/>
              </a:buClr>
              <a:buChar char="•"/>
              <a:tabLst>
                <a:tab pos="300355" algn="l"/>
                <a:tab pos="300990" algn="l"/>
                <a:tab pos="4447540" algn="l"/>
                <a:tab pos="7033895" algn="l"/>
              </a:tabLst>
            </a:pPr>
            <a:r>
              <a:rPr lang="en-US" sz="2350" dirty="0">
                <a:latin typeface="Arial"/>
                <a:cs typeface="Arial"/>
              </a:rPr>
              <a:t>T</a:t>
            </a:r>
            <a:r>
              <a:rPr sz="2350" dirty="0">
                <a:latin typeface="Arial"/>
                <a:cs typeface="Arial"/>
              </a:rPr>
              <a:t>hey  offer  information  on</a:t>
            </a:r>
            <a:r>
              <a:rPr lang="en-US" sz="2350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professionalism:</a:t>
            </a:r>
            <a:r>
              <a:rPr lang="en-US" sz="2350" dirty="0">
                <a:latin typeface="Arial"/>
                <a:cs typeface="Arial"/>
              </a:rPr>
              <a:t> </a:t>
            </a:r>
            <a:r>
              <a:rPr sz="2350" dirty="0">
                <a:latin typeface="Arial"/>
                <a:cs typeface="Arial"/>
              </a:rPr>
              <a:t>interviews at </a:t>
            </a:r>
            <a:r>
              <a:rPr sz="2350" dirty="0">
                <a:latin typeface="Times New Roman"/>
                <a:cs typeface="Times New Roman"/>
                <a:hlinkClick r:id="rId4"/>
              </a:rPr>
              <a:t>http://www.bcs.org/server.php?show=</a:t>
            </a:r>
            <a:r>
              <a:rPr sz="2350" dirty="0">
                <a:latin typeface="Times New Roman"/>
                <a:cs typeface="Times New Roman"/>
              </a:rPr>
              <a:t>ConWebDoc.11961</a:t>
            </a:r>
          </a:p>
        </p:txBody>
      </p:sp>
      <p:sp>
        <p:nvSpPr>
          <p:cNvPr id="8" name="object 8"/>
          <p:cNvSpPr/>
          <p:nvPr/>
        </p:nvSpPr>
        <p:spPr>
          <a:xfrm>
            <a:off x="638924" y="6967376"/>
            <a:ext cx="9419475" cy="7315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38924" y="7026800"/>
            <a:ext cx="8208264" cy="7455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847181" y="776884"/>
            <a:ext cx="73152" cy="699551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18808" y="776884"/>
            <a:ext cx="1139591" cy="618744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5"/>
          </p:nvPr>
        </p:nvSpPr>
        <p:spPr>
          <a:xfrm>
            <a:off x="1011934" y="7237758"/>
            <a:ext cx="6875145" cy="230832"/>
          </a:xfrm>
        </p:spPr>
        <p:txBody>
          <a:bodyPr/>
          <a:lstStyle/>
          <a:p>
            <a:pPr marL="12700" algn="ctr">
              <a:lnSpc>
                <a:spcPts val="1785"/>
              </a:lnSpc>
              <a:tabLst>
                <a:tab pos="326390" algn="l"/>
              </a:tabLst>
            </a:pPr>
            <a:r>
              <a:rPr lang="en-US" sz="1700">
                <a:latin typeface="Noto Sans CJK JP Regular"/>
                <a:cs typeface="Noto Sans CJK JP Regular"/>
              </a:rPr>
              <a:t>Professional Practices (BSCS)</a:t>
            </a:r>
            <a:endParaRPr lang="en-US" sz="1650" dirty="0">
              <a:latin typeface="Noto Sans CJK JP Regular"/>
              <a:cs typeface="Noto Sans CJK JP Regula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98675" y="938384"/>
            <a:ext cx="6431280" cy="548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656080" algn="l"/>
                <a:tab pos="4781550" algn="l"/>
              </a:tabLst>
            </a:pPr>
            <a:r>
              <a:rPr spc="969" dirty="0"/>
              <a:t>O</a:t>
            </a:r>
            <a:r>
              <a:rPr spc="755" dirty="0"/>
              <a:t>t</a:t>
            </a:r>
            <a:r>
              <a:rPr spc="434" dirty="0"/>
              <a:t>h</a:t>
            </a:r>
            <a:r>
              <a:rPr spc="254" dirty="0"/>
              <a:t>e</a:t>
            </a:r>
            <a:r>
              <a:rPr spc="425" dirty="0"/>
              <a:t>r</a:t>
            </a:r>
            <a:r>
              <a:rPr dirty="0"/>
              <a:t>	</a:t>
            </a:r>
            <a:r>
              <a:rPr spc="695" dirty="0"/>
              <a:t>P</a:t>
            </a:r>
            <a:r>
              <a:rPr spc="425" dirty="0"/>
              <a:t>r</a:t>
            </a:r>
            <a:r>
              <a:rPr spc="459" dirty="0"/>
              <a:t>o</a:t>
            </a:r>
            <a:r>
              <a:rPr spc="490" dirty="0"/>
              <a:t>f</a:t>
            </a:r>
            <a:r>
              <a:rPr spc="254" dirty="0"/>
              <a:t>e</a:t>
            </a:r>
            <a:r>
              <a:rPr spc="110" dirty="0"/>
              <a:t>ss</a:t>
            </a:r>
            <a:r>
              <a:rPr spc="260" dirty="0"/>
              <a:t>i</a:t>
            </a:r>
            <a:r>
              <a:rPr spc="459" dirty="0"/>
              <a:t>o</a:t>
            </a:r>
            <a:r>
              <a:rPr spc="434" dirty="0"/>
              <a:t>n</a:t>
            </a:r>
            <a:r>
              <a:rPr spc="310" dirty="0"/>
              <a:t>a</a:t>
            </a:r>
            <a:r>
              <a:rPr spc="265" dirty="0"/>
              <a:t>l</a:t>
            </a:r>
            <a:r>
              <a:rPr dirty="0"/>
              <a:t>	</a:t>
            </a:r>
            <a:r>
              <a:rPr spc="825" dirty="0"/>
              <a:t>B</a:t>
            </a:r>
            <a:r>
              <a:rPr spc="590" dirty="0"/>
              <a:t>o</a:t>
            </a:r>
            <a:r>
              <a:rPr spc="434" dirty="0"/>
              <a:t>d</a:t>
            </a:r>
            <a:r>
              <a:rPr spc="260" dirty="0"/>
              <a:t>i</a:t>
            </a:r>
            <a:r>
              <a:rPr spc="254" dirty="0"/>
              <a:t>e</a:t>
            </a:r>
            <a:r>
              <a:rPr spc="105" dirty="0"/>
              <a:t>s</a:t>
            </a:r>
          </a:p>
        </p:txBody>
      </p:sp>
      <p:sp>
        <p:nvSpPr>
          <p:cNvPr id="3" name="object 3"/>
          <p:cNvSpPr/>
          <p:nvPr/>
        </p:nvSpPr>
        <p:spPr>
          <a:xfrm>
            <a:off x="638924" y="1801012"/>
            <a:ext cx="8208264" cy="73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19911" y="1967486"/>
            <a:ext cx="7885430" cy="4564583"/>
          </a:xfrm>
          <a:prstGeom prst="rect">
            <a:avLst/>
          </a:prstGeom>
        </p:spPr>
        <p:txBody>
          <a:bodyPr vert="horz" wrap="square" lIns="0" tIns="184150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1450"/>
              </a:spcBef>
              <a:buChar char="•"/>
              <a:tabLst>
                <a:tab pos="300355" algn="l"/>
                <a:tab pos="300990" algn="l"/>
              </a:tabLst>
            </a:pPr>
            <a:r>
              <a:rPr sz="2350" spc="295" dirty="0">
                <a:solidFill>
                  <a:srgbClr val="2E3092"/>
                </a:solidFill>
                <a:latin typeface="Arial"/>
                <a:cs typeface="Arial"/>
              </a:rPr>
              <a:t>The</a:t>
            </a:r>
            <a:r>
              <a:rPr sz="2350" spc="-25" dirty="0">
                <a:solidFill>
                  <a:srgbClr val="2E3092"/>
                </a:solidFill>
                <a:latin typeface="Arial"/>
                <a:cs typeface="Arial"/>
              </a:rPr>
              <a:t> </a:t>
            </a:r>
            <a:r>
              <a:rPr sz="2350" spc="85" dirty="0">
                <a:solidFill>
                  <a:srgbClr val="2E3092"/>
                </a:solidFill>
                <a:latin typeface="Arial"/>
                <a:cs typeface="Arial"/>
              </a:rPr>
              <a:t>Institution</a:t>
            </a:r>
            <a:r>
              <a:rPr sz="2350" spc="-30" dirty="0">
                <a:solidFill>
                  <a:srgbClr val="2E3092"/>
                </a:solidFill>
                <a:latin typeface="Arial"/>
                <a:cs typeface="Arial"/>
              </a:rPr>
              <a:t> </a:t>
            </a:r>
            <a:r>
              <a:rPr sz="2350" spc="204" dirty="0">
                <a:solidFill>
                  <a:srgbClr val="2E3092"/>
                </a:solidFill>
                <a:latin typeface="Arial"/>
                <a:cs typeface="Arial"/>
              </a:rPr>
              <a:t>of</a:t>
            </a:r>
            <a:r>
              <a:rPr sz="2350" spc="-10" dirty="0">
                <a:solidFill>
                  <a:srgbClr val="2E3092"/>
                </a:solidFill>
                <a:latin typeface="Arial"/>
                <a:cs typeface="Arial"/>
              </a:rPr>
              <a:t> </a:t>
            </a:r>
            <a:r>
              <a:rPr sz="2350" spc="45" dirty="0">
                <a:solidFill>
                  <a:srgbClr val="2E3092"/>
                </a:solidFill>
                <a:latin typeface="Arial"/>
                <a:cs typeface="Arial"/>
              </a:rPr>
              <a:t>Engineering</a:t>
            </a:r>
            <a:r>
              <a:rPr sz="2350" spc="-30" dirty="0">
                <a:solidFill>
                  <a:srgbClr val="2E3092"/>
                </a:solidFill>
                <a:latin typeface="Arial"/>
                <a:cs typeface="Arial"/>
              </a:rPr>
              <a:t> </a:t>
            </a:r>
            <a:r>
              <a:rPr sz="2350" spc="114" dirty="0">
                <a:solidFill>
                  <a:srgbClr val="2E3092"/>
                </a:solidFill>
                <a:latin typeface="Arial"/>
                <a:cs typeface="Arial"/>
              </a:rPr>
              <a:t>and</a:t>
            </a:r>
            <a:r>
              <a:rPr sz="2350" spc="-5" dirty="0">
                <a:solidFill>
                  <a:srgbClr val="2E3092"/>
                </a:solidFill>
                <a:latin typeface="Arial"/>
                <a:cs typeface="Arial"/>
              </a:rPr>
              <a:t> </a:t>
            </a:r>
            <a:r>
              <a:rPr sz="2350" spc="110" dirty="0">
                <a:solidFill>
                  <a:srgbClr val="2E3092"/>
                </a:solidFill>
                <a:latin typeface="Arial"/>
                <a:cs typeface="Arial"/>
              </a:rPr>
              <a:t>Technology</a:t>
            </a:r>
            <a:r>
              <a:rPr sz="2350" spc="-30" dirty="0">
                <a:solidFill>
                  <a:srgbClr val="2E3092"/>
                </a:solidFill>
                <a:latin typeface="Arial"/>
                <a:cs typeface="Arial"/>
              </a:rPr>
              <a:t> </a:t>
            </a:r>
            <a:r>
              <a:rPr sz="2350" spc="305" dirty="0">
                <a:solidFill>
                  <a:srgbClr val="2E3092"/>
                </a:solidFill>
                <a:latin typeface="Arial"/>
                <a:cs typeface="Arial"/>
              </a:rPr>
              <a:t>(IET)</a:t>
            </a:r>
            <a:endParaRPr sz="2350" dirty="0">
              <a:latin typeface="Arial"/>
              <a:cs typeface="Arial"/>
            </a:endParaRPr>
          </a:p>
          <a:p>
            <a:pPr marL="300355">
              <a:lnSpc>
                <a:spcPct val="100000"/>
              </a:lnSpc>
              <a:spcBef>
                <a:spcPts val="1355"/>
              </a:spcBef>
            </a:pPr>
            <a:r>
              <a:rPr sz="2350" spc="295" dirty="0">
                <a:latin typeface="Times New Roman"/>
                <a:cs typeface="Times New Roman"/>
                <a:hlinkClick r:id="rId3"/>
              </a:rPr>
              <a:t>http://www.theiet.org</a:t>
            </a:r>
            <a:endParaRPr sz="2350" dirty="0">
              <a:latin typeface="Times New Roman"/>
              <a:cs typeface="Times New Roman"/>
            </a:endParaRPr>
          </a:p>
          <a:p>
            <a:pPr marL="1874520" marR="338455" indent="-1574800">
              <a:lnSpc>
                <a:spcPct val="148500"/>
              </a:lnSpc>
              <a:tabLst>
                <a:tab pos="3052445" algn="l"/>
              </a:tabLst>
            </a:pPr>
            <a:r>
              <a:rPr sz="2350" spc="-55" dirty="0">
                <a:latin typeface="Arial"/>
                <a:cs typeface="Arial"/>
              </a:rPr>
              <a:t>‘‘Rules</a:t>
            </a:r>
            <a:r>
              <a:rPr sz="2350" spc="-135" dirty="0">
                <a:latin typeface="Arial"/>
                <a:cs typeface="Arial"/>
              </a:rPr>
              <a:t> </a:t>
            </a:r>
            <a:r>
              <a:rPr sz="2350" spc="90" dirty="0">
                <a:latin typeface="Arial"/>
                <a:cs typeface="Arial"/>
              </a:rPr>
              <a:t>of</a:t>
            </a:r>
            <a:r>
              <a:rPr sz="2350" spc="-150" dirty="0">
                <a:latin typeface="Arial"/>
                <a:cs typeface="Arial"/>
              </a:rPr>
              <a:t> </a:t>
            </a:r>
            <a:r>
              <a:rPr sz="2350" spc="-5" dirty="0">
                <a:latin typeface="Arial"/>
                <a:cs typeface="Arial"/>
              </a:rPr>
              <a:t>Conduct’’:	</a:t>
            </a:r>
            <a:r>
              <a:rPr sz="2350" spc="300" dirty="0">
                <a:latin typeface="Times New Roman"/>
                <a:cs typeface="Times New Roman"/>
                <a:hlinkClick r:id="rId4"/>
              </a:rPr>
              <a:t>http://www.theiet.org/about/ </a:t>
            </a:r>
            <a:r>
              <a:rPr sz="2350" spc="300" dirty="0">
                <a:latin typeface="Times New Roman"/>
                <a:cs typeface="Times New Roman"/>
              </a:rPr>
              <a:t> </a:t>
            </a:r>
            <a:r>
              <a:rPr sz="2350" spc="245" dirty="0">
                <a:latin typeface="Times New Roman"/>
                <a:cs typeface="Times New Roman"/>
              </a:rPr>
              <a:t>governance/rules-conduct/index.cfm</a:t>
            </a:r>
            <a:endParaRPr sz="2350" dirty="0">
              <a:latin typeface="Times New Roman"/>
              <a:cs typeface="Times New Roman"/>
            </a:endParaRPr>
          </a:p>
          <a:p>
            <a:pPr marL="300355" indent="-287655">
              <a:lnSpc>
                <a:spcPct val="100000"/>
              </a:lnSpc>
              <a:spcBef>
                <a:spcPts val="875"/>
              </a:spcBef>
              <a:buChar char="•"/>
              <a:tabLst>
                <a:tab pos="300355" algn="l"/>
                <a:tab pos="300990" algn="l"/>
                <a:tab pos="2053589" algn="l"/>
                <a:tab pos="4151629" algn="l"/>
                <a:tab pos="4855845" algn="l"/>
                <a:tab pos="5989955" algn="l"/>
              </a:tabLst>
            </a:pPr>
            <a:r>
              <a:rPr sz="2350" spc="140" dirty="0">
                <a:solidFill>
                  <a:srgbClr val="2E3092"/>
                </a:solidFill>
                <a:latin typeface="Arial"/>
                <a:cs typeface="Arial"/>
              </a:rPr>
              <a:t>Computer	</a:t>
            </a:r>
            <a:r>
              <a:rPr sz="2350" spc="5" dirty="0">
                <a:solidFill>
                  <a:srgbClr val="2E3092"/>
                </a:solidFill>
                <a:latin typeface="Arial"/>
                <a:cs typeface="Arial"/>
              </a:rPr>
              <a:t>Professionals	</a:t>
            </a:r>
            <a:r>
              <a:rPr sz="2350" spc="150" dirty="0">
                <a:solidFill>
                  <a:srgbClr val="2E3092"/>
                </a:solidFill>
                <a:latin typeface="Arial"/>
                <a:cs typeface="Arial"/>
              </a:rPr>
              <a:t>for	</a:t>
            </a:r>
            <a:r>
              <a:rPr sz="2350" spc="30" dirty="0">
                <a:solidFill>
                  <a:srgbClr val="2E3092"/>
                </a:solidFill>
                <a:latin typeface="Arial"/>
                <a:cs typeface="Arial"/>
              </a:rPr>
              <a:t>Social	</a:t>
            </a:r>
            <a:r>
              <a:rPr sz="2350" spc="20" dirty="0">
                <a:solidFill>
                  <a:srgbClr val="2E3092"/>
                </a:solidFill>
                <a:latin typeface="Arial"/>
                <a:cs typeface="Arial"/>
              </a:rPr>
              <a:t>Responsibility</a:t>
            </a:r>
            <a:endParaRPr sz="2350" dirty="0">
              <a:latin typeface="Arial"/>
              <a:cs typeface="Arial"/>
            </a:endParaRPr>
          </a:p>
          <a:p>
            <a:pPr marL="300355">
              <a:lnSpc>
                <a:spcPct val="100000"/>
              </a:lnSpc>
              <a:spcBef>
                <a:spcPts val="1370"/>
              </a:spcBef>
            </a:pPr>
            <a:r>
              <a:rPr sz="2350" spc="210" dirty="0">
                <a:solidFill>
                  <a:srgbClr val="2E3092"/>
                </a:solidFill>
                <a:latin typeface="Arial"/>
                <a:cs typeface="Arial"/>
              </a:rPr>
              <a:t>(CPSR)</a:t>
            </a:r>
            <a:r>
              <a:rPr sz="2350" spc="310" dirty="0">
                <a:solidFill>
                  <a:srgbClr val="2E3092"/>
                </a:solidFill>
                <a:latin typeface="Arial"/>
                <a:cs typeface="Arial"/>
              </a:rPr>
              <a:t> </a:t>
            </a:r>
            <a:r>
              <a:rPr sz="2350" spc="375" dirty="0">
                <a:latin typeface="Times New Roman"/>
                <a:cs typeface="Times New Roman"/>
                <a:hlinkClick r:id="rId5"/>
              </a:rPr>
              <a:t>http://cpsr.org</a:t>
            </a:r>
            <a:endParaRPr sz="2350" dirty="0">
              <a:latin typeface="Times New Roman"/>
              <a:cs typeface="Times New Roman"/>
            </a:endParaRPr>
          </a:p>
          <a:p>
            <a:pPr marL="300355" indent="-287655">
              <a:lnSpc>
                <a:spcPct val="100000"/>
              </a:lnSpc>
              <a:spcBef>
                <a:spcPts val="875"/>
              </a:spcBef>
              <a:buChar char="•"/>
              <a:tabLst>
                <a:tab pos="300355" algn="l"/>
                <a:tab pos="300990" algn="l"/>
                <a:tab pos="6739255" algn="l"/>
              </a:tabLst>
            </a:pPr>
            <a:r>
              <a:rPr sz="2350" spc="45" dirty="0">
                <a:solidFill>
                  <a:srgbClr val="2E3092"/>
                </a:solidFill>
                <a:latin typeface="Arial"/>
                <a:cs typeface="Arial"/>
              </a:rPr>
              <a:t>Association </a:t>
            </a:r>
            <a:r>
              <a:rPr sz="2350" spc="150" dirty="0">
                <a:solidFill>
                  <a:srgbClr val="2E3092"/>
                </a:solidFill>
                <a:latin typeface="Arial"/>
                <a:cs typeface="Arial"/>
              </a:rPr>
              <a:t>for </a:t>
            </a:r>
            <a:r>
              <a:rPr sz="2350" spc="135" dirty="0">
                <a:solidFill>
                  <a:srgbClr val="2E3092"/>
                </a:solidFill>
                <a:latin typeface="Arial"/>
                <a:cs typeface="Arial"/>
              </a:rPr>
              <a:t>Computing</a:t>
            </a:r>
            <a:r>
              <a:rPr sz="2350" spc="130" dirty="0">
                <a:solidFill>
                  <a:srgbClr val="2E3092"/>
                </a:solidFill>
                <a:latin typeface="Arial"/>
                <a:cs typeface="Arial"/>
              </a:rPr>
              <a:t> </a:t>
            </a:r>
            <a:r>
              <a:rPr sz="2350" spc="80" dirty="0">
                <a:solidFill>
                  <a:srgbClr val="2E3092"/>
                </a:solidFill>
                <a:latin typeface="Arial"/>
                <a:cs typeface="Arial"/>
              </a:rPr>
              <a:t>Machinery</a:t>
            </a:r>
            <a:r>
              <a:rPr sz="2350" spc="110" dirty="0">
                <a:solidFill>
                  <a:srgbClr val="2E3092"/>
                </a:solidFill>
                <a:latin typeface="Arial"/>
                <a:cs typeface="Arial"/>
              </a:rPr>
              <a:t> </a:t>
            </a:r>
            <a:r>
              <a:rPr sz="2350" spc="204" dirty="0">
                <a:solidFill>
                  <a:srgbClr val="2E3092"/>
                </a:solidFill>
                <a:latin typeface="Arial"/>
                <a:cs typeface="Arial"/>
              </a:rPr>
              <a:t>(</a:t>
            </a:r>
            <a:r>
              <a:rPr lang="en-US" sz="2350" spc="204" dirty="0">
                <a:solidFill>
                  <a:srgbClr val="2E3092"/>
                </a:solidFill>
                <a:latin typeface="Arial"/>
                <a:cs typeface="Arial"/>
              </a:rPr>
              <a:t>ACM</a:t>
            </a:r>
            <a:r>
              <a:rPr sz="2350" spc="204" dirty="0">
                <a:solidFill>
                  <a:srgbClr val="2E3092"/>
                </a:solidFill>
                <a:latin typeface="Arial"/>
                <a:cs typeface="Arial"/>
              </a:rPr>
              <a:t>)	</a:t>
            </a:r>
            <a:r>
              <a:rPr sz="2350" spc="455" dirty="0">
                <a:latin typeface="Times New Roman"/>
                <a:cs typeface="Times New Roman"/>
                <a:hlinkClick r:id="rId6"/>
              </a:rPr>
              <a:t>http://</a:t>
            </a:r>
            <a:r>
              <a:rPr sz="2350" spc="45" dirty="0">
                <a:latin typeface="Times New Roman"/>
                <a:cs typeface="Times New Roman"/>
                <a:hlinkClick r:id="rId6"/>
              </a:rPr>
              <a:t>www.acm.org</a:t>
            </a:r>
            <a:r>
              <a:rPr lang="en-US" sz="2350" spc="45" dirty="0">
                <a:latin typeface="Times New Roman"/>
                <a:cs typeface="Times New Roman"/>
              </a:rPr>
              <a:t> </a:t>
            </a:r>
            <a:r>
              <a:rPr sz="2350" spc="254" dirty="0">
                <a:latin typeface="Arial"/>
                <a:cs typeface="Arial"/>
              </a:rPr>
              <a:t>with</a:t>
            </a:r>
            <a:r>
              <a:rPr lang="en-US" sz="2350" spc="254" dirty="0">
                <a:latin typeface="Arial"/>
                <a:cs typeface="Arial"/>
              </a:rPr>
              <a:t> </a:t>
            </a:r>
            <a:r>
              <a:rPr sz="2350" spc="270" dirty="0">
                <a:latin typeface="Arial"/>
                <a:cs typeface="Arial"/>
              </a:rPr>
              <a:t>“Code </a:t>
            </a:r>
            <a:r>
              <a:rPr sz="2350" spc="215" dirty="0">
                <a:latin typeface="Arial"/>
                <a:cs typeface="Arial"/>
              </a:rPr>
              <a:t>of </a:t>
            </a:r>
            <a:r>
              <a:rPr sz="2350" spc="260" dirty="0">
                <a:latin typeface="Arial"/>
                <a:cs typeface="Arial"/>
              </a:rPr>
              <a:t>Ethics”</a:t>
            </a:r>
            <a:r>
              <a:rPr sz="2350" spc="600" dirty="0">
                <a:latin typeface="Arial"/>
                <a:cs typeface="Arial"/>
              </a:rPr>
              <a:t> </a:t>
            </a:r>
            <a:r>
              <a:rPr sz="2350" spc="229" dirty="0">
                <a:latin typeface="Arial"/>
                <a:cs typeface="Arial"/>
              </a:rPr>
              <a:t>at:</a:t>
            </a:r>
            <a:endParaRPr sz="2350" dirty="0">
              <a:latin typeface="Arial"/>
              <a:cs typeface="Arial"/>
            </a:endParaRPr>
          </a:p>
          <a:p>
            <a:pPr marL="300355">
              <a:lnSpc>
                <a:spcPct val="100000"/>
              </a:lnSpc>
              <a:spcBef>
                <a:spcPts val="1370"/>
              </a:spcBef>
            </a:pPr>
            <a:r>
              <a:rPr sz="2350" spc="260" dirty="0">
                <a:latin typeface="Times New Roman"/>
                <a:cs typeface="Times New Roman"/>
                <a:hlinkClick r:id="rId7"/>
              </a:rPr>
              <a:t>http://www.acm.org/about/code-of-ethics</a:t>
            </a:r>
            <a:r>
              <a:rPr sz="2350" spc="260" dirty="0">
                <a:latin typeface="Arial"/>
                <a:cs typeface="Arial"/>
                <a:hlinkClick r:id="rId7"/>
              </a:rPr>
              <a:t>.</a:t>
            </a:r>
            <a:endParaRPr sz="235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8924" y="6967376"/>
            <a:ext cx="9419475" cy="7315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8924" y="7026800"/>
            <a:ext cx="8208264" cy="74559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847181" y="776884"/>
            <a:ext cx="73152" cy="699551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18808" y="776884"/>
            <a:ext cx="1139591" cy="618744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5"/>
          </p:nvPr>
        </p:nvSpPr>
        <p:spPr>
          <a:xfrm>
            <a:off x="1011934" y="7237758"/>
            <a:ext cx="6875145" cy="230832"/>
          </a:xfrm>
        </p:spPr>
        <p:txBody>
          <a:bodyPr/>
          <a:lstStyle/>
          <a:p>
            <a:pPr marL="12700" algn="ctr">
              <a:lnSpc>
                <a:spcPts val="1785"/>
              </a:lnSpc>
              <a:tabLst>
                <a:tab pos="326390" algn="l"/>
              </a:tabLst>
            </a:pPr>
            <a:r>
              <a:rPr lang="en-US" sz="1700">
                <a:latin typeface="Noto Sans CJK JP Regular"/>
                <a:cs typeface="Noto Sans CJK JP Regular"/>
              </a:rPr>
              <a:t>Professional Practices (BSCS)</a:t>
            </a:r>
            <a:endParaRPr lang="en-US" sz="1650" dirty="0">
              <a:latin typeface="Noto Sans CJK JP Regular"/>
              <a:cs typeface="Noto Sans CJK JP Regula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2840" y="938384"/>
            <a:ext cx="2282825" cy="548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pc="445" dirty="0"/>
              <a:t>Overview</a:t>
            </a:r>
          </a:p>
        </p:txBody>
      </p:sp>
      <p:sp>
        <p:nvSpPr>
          <p:cNvPr id="3" name="object 3"/>
          <p:cNvSpPr/>
          <p:nvPr/>
        </p:nvSpPr>
        <p:spPr>
          <a:xfrm>
            <a:off x="638924" y="1801012"/>
            <a:ext cx="8208264" cy="73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19911" y="1969135"/>
            <a:ext cx="6680200" cy="2221865"/>
          </a:xfrm>
          <a:prstGeom prst="rect">
            <a:avLst/>
          </a:prstGeom>
        </p:spPr>
        <p:txBody>
          <a:bodyPr vert="horz" wrap="square" lIns="0" tIns="201930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1590"/>
              </a:spcBef>
              <a:buClr>
                <a:srgbClr val="2E3092"/>
              </a:buClr>
              <a:buChar char="•"/>
              <a:tabLst>
                <a:tab pos="300355" algn="l"/>
                <a:tab pos="300990" algn="l"/>
                <a:tab pos="1131570" algn="l"/>
                <a:tab pos="2376805" algn="l"/>
                <a:tab pos="4198620" algn="l"/>
                <a:tab pos="5574030" algn="l"/>
              </a:tabLst>
            </a:pPr>
            <a:r>
              <a:rPr sz="2350" dirty="0">
                <a:solidFill>
                  <a:srgbClr val="939598"/>
                </a:solidFill>
                <a:latin typeface="Arial"/>
                <a:cs typeface="Arial"/>
              </a:rPr>
              <a:t>The</a:t>
            </a:r>
            <a:r>
              <a:rPr lang="en-US" sz="235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939598"/>
                </a:solidFill>
                <a:latin typeface="Arial"/>
                <a:cs typeface="Arial"/>
              </a:rPr>
              <a:t>British</a:t>
            </a:r>
            <a:r>
              <a:rPr lang="en-US" sz="235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939598"/>
                </a:solidFill>
                <a:latin typeface="Arial"/>
                <a:cs typeface="Arial"/>
              </a:rPr>
              <a:t>Computer</a:t>
            </a:r>
            <a:r>
              <a:rPr lang="en-US" sz="235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939598"/>
                </a:solidFill>
                <a:latin typeface="Arial"/>
                <a:cs typeface="Arial"/>
              </a:rPr>
              <a:t>Society	</a:t>
            </a:r>
            <a:r>
              <a:rPr lang="en-US" sz="235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939598"/>
                </a:solidFill>
                <a:latin typeface="Arial"/>
                <a:cs typeface="Arial"/>
              </a:rPr>
              <a:t>(BCS)</a:t>
            </a:r>
            <a:endParaRPr sz="2350" dirty="0">
              <a:latin typeface="Arial"/>
              <a:cs typeface="Arial"/>
            </a:endParaRPr>
          </a:p>
          <a:p>
            <a:pPr marL="300355" indent="-287655">
              <a:lnSpc>
                <a:spcPct val="100000"/>
              </a:lnSpc>
              <a:spcBef>
                <a:spcPts val="1500"/>
              </a:spcBef>
              <a:buChar char="•"/>
              <a:tabLst>
                <a:tab pos="300355" algn="l"/>
                <a:tab pos="300990" algn="l"/>
                <a:tab pos="1208405" algn="l"/>
                <a:tab pos="2226945" algn="l"/>
                <a:tab pos="2699385" algn="l"/>
              </a:tabLst>
            </a:pPr>
            <a:r>
              <a:rPr sz="2350" dirty="0">
                <a:solidFill>
                  <a:srgbClr val="2E3092"/>
                </a:solidFill>
                <a:latin typeface="Arial"/>
                <a:cs typeface="Arial"/>
              </a:rPr>
              <a:t>BCS</a:t>
            </a:r>
            <a:r>
              <a:rPr lang="en-US" sz="2350" dirty="0">
                <a:solidFill>
                  <a:srgbClr val="2E3092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2E3092"/>
                </a:solidFill>
                <a:latin typeface="Arial"/>
                <a:cs typeface="Arial"/>
              </a:rPr>
              <a:t>Code</a:t>
            </a:r>
            <a:r>
              <a:rPr lang="en-US" sz="2350" dirty="0">
                <a:solidFill>
                  <a:srgbClr val="2E3092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2E3092"/>
                </a:solidFill>
                <a:latin typeface="Arial"/>
                <a:cs typeface="Arial"/>
              </a:rPr>
              <a:t>of</a:t>
            </a:r>
            <a:r>
              <a:rPr lang="en-US" sz="2350" dirty="0">
                <a:solidFill>
                  <a:srgbClr val="2E3092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2E3092"/>
                </a:solidFill>
                <a:latin typeface="Arial"/>
                <a:cs typeface="Arial"/>
              </a:rPr>
              <a:t>Conduct</a:t>
            </a:r>
            <a:endParaRPr sz="2350" dirty="0">
              <a:latin typeface="Arial"/>
              <a:cs typeface="Arial"/>
            </a:endParaRPr>
          </a:p>
          <a:p>
            <a:pPr marL="300355" indent="-287655">
              <a:lnSpc>
                <a:spcPct val="100000"/>
              </a:lnSpc>
              <a:spcBef>
                <a:spcPts val="1515"/>
              </a:spcBef>
              <a:buClr>
                <a:srgbClr val="2E3092"/>
              </a:buClr>
              <a:buChar char="•"/>
              <a:tabLst>
                <a:tab pos="300355" algn="l"/>
                <a:tab pos="300990" algn="l"/>
                <a:tab pos="1208405" algn="l"/>
                <a:tab pos="2226945" algn="l"/>
                <a:tab pos="2699385" algn="l"/>
                <a:tab pos="3760470" algn="l"/>
              </a:tabLst>
            </a:pPr>
            <a:r>
              <a:rPr sz="2350" dirty="0">
                <a:solidFill>
                  <a:srgbClr val="939598"/>
                </a:solidFill>
                <a:latin typeface="Arial"/>
                <a:cs typeface="Arial"/>
              </a:rPr>
              <a:t>BCS</a:t>
            </a:r>
            <a:r>
              <a:rPr lang="en-US" sz="235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939598"/>
                </a:solidFill>
                <a:latin typeface="Arial"/>
                <a:cs typeface="Arial"/>
              </a:rPr>
              <a:t>Code</a:t>
            </a:r>
            <a:r>
              <a:rPr lang="en-US" sz="235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939598"/>
                </a:solidFill>
                <a:latin typeface="Arial"/>
                <a:cs typeface="Arial"/>
              </a:rPr>
              <a:t>of</a:t>
            </a:r>
            <a:r>
              <a:rPr lang="en-US" sz="235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939598"/>
                </a:solidFill>
                <a:latin typeface="Arial"/>
                <a:cs typeface="Arial"/>
              </a:rPr>
              <a:t>Good</a:t>
            </a:r>
            <a:r>
              <a:rPr lang="en-US" sz="235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939598"/>
                </a:solidFill>
                <a:latin typeface="Arial"/>
                <a:cs typeface="Arial"/>
              </a:rPr>
              <a:t>Practice</a:t>
            </a:r>
            <a:endParaRPr sz="2350" dirty="0">
              <a:latin typeface="Arial"/>
              <a:cs typeface="Arial"/>
            </a:endParaRPr>
          </a:p>
          <a:p>
            <a:pPr marL="300355" indent="-287655">
              <a:lnSpc>
                <a:spcPct val="100000"/>
              </a:lnSpc>
              <a:spcBef>
                <a:spcPts val="1500"/>
              </a:spcBef>
              <a:buClr>
                <a:srgbClr val="2E3092"/>
              </a:buClr>
              <a:buChar char="•"/>
              <a:tabLst>
                <a:tab pos="300355" algn="l"/>
                <a:tab pos="300990" algn="l"/>
              </a:tabLst>
            </a:pPr>
            <a:r>
              <a:rPr sz="2350" dirty="0">
                <a:solidFill>
                  <a:srgbClr val="939598"/>
                </a:solidFill>
                <a:latin typeface="Arial"/>
                <a:cs typeface="Arial"/>
              </a:rPr>
              <a:t>Summary</a:t>
            </a:r>
            <a:endParaRPr sz="235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8924" y="6967376"/>
            <a:ext cx="9419475" cy="731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8924" y="7026800"/>
            <a:ext cx="8208264" cy="7455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847181" y="776884"/>
            <a:ext cx="73152" cy="69955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18808" y="776884"/>
            <a:ext cx="1139591" cy="618744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5"/>
          </p:nvPr>
        </p:nvSpPr>
        <p:spPr>
          <a:xfrm>
            <a:off x="1011934" y="7237758"/>
            <a:ext cx="6875145" cy="230832"/>
          </a:xfrm>
        </p:spPr>
        <p:txBody>
          <a:bodyPr/>
          <a:lstStyle/>
          <a:p>
            <a:pPr marL="12700" algn="ctr">
              <a:lnSpc>
                <a:spcPts val="1785"/>
              </a:lnSpc>
              <a:tabLst>
                <a:tab pos="326390" algn="l"/>
              </a:tabLst>
            </a:pPr>
            <a:r>
              <a:rPr lang="en-US" sz="1700">
                <a:latin typeface="Noto Sans CJK JP Regular"/>
                <a:cs typeface="Noto Sans CJK JP Regular"/>
              </a:rPr>
              <a:t>Professional Practices (BSCS)</a:t>
            </a:r>
            <a:endParaRPr lang="en-US" sz="1650" dirty="0">
              <a:latin typeface="Noto Sans CJK JP Regular"/>
              <a:cs typeface="Noto Sans CJK JP Regula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46732" y="938384"/>
            <a:ext cx="5532755" cy="548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320165" algn="l"/>
                <a:tab pos="2786380" algn="l"/>
                <a:tab pos="3467735" algn="l"/>
              </a:tabLst>
            </a:pPr>
            <a:r>
              <a:rPr dirty="0"/>
              <a:t>BCS</a:t>
            </a:r>
            <a:r>
              <a:rPr lang="en-US" dirty="0"/>
              <a:t> </a:t>
            </a:r>
            <a:r>
              <a:rPr dirty="0"/>
              <a:t>Code</a:t>
            </a:r>
            <a:r>
              <a:rPr lang="en-US" dirty="0"/>
              <a:t> </a:t>
            </a:r>
            <a:r>
              <a:rPr dirty="0"/>
              <a:t>of</a:t>
            </a:r>
            <a:r>
              <a:rPr lang="en-US" dirty="0"/>
              <a:t> </a:t>
            </a:r>
            <a:r>
              <a:rPr dirty="0"/>
              <a:t>Conduct</a:t>
            </a:r>
          </a:p>
        </p:txBody>
      </p:sp>
      <p:sp>
        <p:nvSpPr>
          <p:cNvPr id="3" name="object 3"/>
          <p:cNvSpPr/>
          <p:nvPr/>
        </p:nvSpPr>
        <p:spPr>
          <a:xfrm>
            <a:off x="638924" y="1801012"/>
            <a:ext cx="8208264" cy="73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09600" y="1947552"/>
            <a:ext cx="8229599" cy="3426579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1424305" algn="l"/>
              </a:tabLst>
            </a:pPr>
            <a:r>
              <a:rPr sz="2850" dirty="0">
                <a:solidFill>
                  <a:srgbClr val="2E3092"/>
                </a:solidFill>
                <a:latin typeface="Arial"/>
                <a:cs typeface="Arial"/>
              </a:rPr>
              <a:t>Public</a:t>
            </a:r>
            <a:r>
              <a:rPr lang="en-US" sz="2850" dirty="0">
                <a:solidFill>
                  <a:srgbClr val="2E3092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2E3092"/>
                </a:solidFill>
                <a:latin typeface="Arial"/>
                <a:cs typeface="Arial"/>
              </a:rPr>
              <a:t>Interest</a:t>
            </a:r>
            <a:endParaRPr sz="2850" dirty="0">
              <a:latin typeface="Arial"/>
              <a:cs typeface="Arial"/>
            </a:endParaRPr>
          </a:p>
          <a:p>
            <a:pPr marL="494030" marR="5080" indent="-480059">
              <a:lnSpc>
                <a:spcPts val="4790"/>
              </a:lnSpc>
              <a:spcBef>
                <a:spcPts val="125"/>
              </a:spcBef>
              <a:buAutoNum type="arabicPeriod"/>
              <a:tabLst>
                <a:tab pos="494665" algn="l"/>
                <a:tab pos="1973580" algn="l"/>
                <a:tab pos="2654935" algn="l"/>
                <a:tab pos="3423285" algn="l"/>
                <a:tab pos="4683760" algn="l"/>
                <a:tab pos="6125845" algn="l"/>
                <a:tab pos="7477125" algn="l"/>
              </a:tabLst>
            </a:pPr>
            <a:r>
              <a:rPr sz="2400" dirty="0">
                <a:latin typeface="Arial"/>
                <a:cs typeface="Arial"/>
              </a:rPr>
              <a:t>Regard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for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public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health,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safety,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environment.</a:t>
            </a:r>
          </a:p>
          <a:p>
            <a:pPr marL="494030" indent="-480059">
              <a:lnSpc>
                <a:spcPct val="100000"/>
              </a:lnSpc>
              <a:spcBef>
                <a:spcPts val="375"/>
              </a:spcBef>
              <a:buAutoNum type="arabicPeriod"/>
              <a:tabLst>
                <a:tab pos="494665" algn="l"/>
                <a:tab pos="1948180" algn="l"/>
                <a:tab pos="3924935" algn="l"/>
                <a:tab pos="5118100" algn="l"/>
                <a:tab pos="5634355" algn="l"/>
                <a:tab pos="6654165" algn="l"/>
              </a:tabLst>
            </a:pPr>
            <a:r>
              <a:rPr sz="2400" dirty="0">
                <a:latin typeface="Arial"/>
                <a:cs typeface="Arial"/>
              </a:rPr>
              <a:t>Regard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legitimate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rights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third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parties.</a:t>
            </a:r>
          </a:p>
          <a:p>
            <a:pPr marL="494030" indent="-480059">
              <a:lnSpc>
                <a:spcPct val="100000"/>
              </a:lnSpc>
              <a:spcBef>
                <a:spcPts val="780"/>
              </a:spcBef>
              <a:buAutoNum type="arabicPeriod"/>
              <a:tabLst>
                <a:tab pos="494665" algn="l"/>
              </a:tabLst>
            </a:pPr>
            <a:r>
              <a:rPr sz="2400" dirty="0">
                <a:latin typeface="Arial"/>
                <a:cs typeface="Arial"/>
              </a:rPr>
              <a:t>Have knowledge of, comply with relevant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legislation,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regulations,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standards</a:t>
            </a:r>
          </a:p>
          <a:p>
            <a:pPr marL="494030" indent="-480059">
              <a:lnSpc>
                <a:spcPct val="100000"/>
              </a:lnSpc>
              <a:spcBef>
                <a:spcPts val="780"/>
              </a:spcBef>
              <a:buAutoNum type="arabicPeriod" startAt="4"/>
              <a:tabLst>
                <a:tab pos="494665" algn="l"/>
                <a:tab pos="1165860" algn="l"/>
              </a:tabLst>
            </a:pPr>
            <a:r>
              <a:rPr sz="2400" dirty="0">
                <a:latin typeface="Arial"/>
                <a:cs typeface="Arial"/>
              </a:rPr>
              <a:t>No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discrimination</a:t>
            </a:r>
          </a:p>
          <a:p>
            <a:pPr marL="494030" indent="-480059">
              <a:lnSpc>
                <a:spcPct val="100000"/>
              </a:lnSpc>
              <a:spcBef>
                <a:spcPts val="780"/>
              </a:spcBef>
              <a:buAutoNum type="arabicPeriod" startAt="4"/>
              <a:tabLst>
                <a:tab pos="494665" algn="l"/>
                <a:tab pos="1165860" algn="l"/>
                <a:tab pos="2400935" algn="l"/>
                <a:tab pos="4359275" algn="l"/>
              </a:tabLst>
            </a:pPr>
            <a:r>
              <a:rPr sz="2400" dirty="0">
                <a:latin typeface="Arial"/>
                <a:cs typeface="Arial"/>
              </a:rPr>
              <a:t>No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active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or passive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bribery</a:t>
            </a:r>
          </a:p>
        </p:txBody>
      </p:sp>
      <p:sp>
        <p:nvSpPr>
          <p:cNvPr id="5" name="object 5"/>
          <p:cNvSpPr/>
          <p:nvPr/>
        </p:nvSpPr>
        <p:spPr>
          <a:xfrm>
            <a:off x="638924" y="6967376"/>
            <a:ext cx="9419475" cy="731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8924" y="7026800"/>
            <a:ext cx="8208264" cy="7455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847181" y="776884"/>
            <a:ext cx="73152" cy="69955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18808" y="776884"/>
            <a:ext cx="1139591" cy="618744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5"/>
          </p:nvPr>
        </p:nvSpPr>
        <p:spPr>
          <a:xfrm>
            <a:off x="1011934" y="7237758"/>
            <a:ext cx="6875145" cy="230832"/>
          </a:xfrm>
        </p:spPr>
        <p:txBody>
          <a:bodyPr/>
          <a:lstStyle/>
          <a:p>
            <a:pPr marL="12700" algn="ctr">
              <a:lnSpc>
                <a:spcPts val="1785"/>
              </a:lnSpc>
              <a:tabLst>
                <a:tab pos="326390" algn="l"/>
              </a:tabLst>
            </a:pPr>
            <a:r>
              <a:rPr lang="en-US" sz="1700">
                <a:latin typeface="Noto Sans CJK JP Regular"/>
                <a:cs typeface="Noto Sans CJK JP Regular"/>
              </a:rPr>
              <a:t>Professional Practices (BSCS)</a:t>
            </a:r>
            <a:endParaRPr lang="en-US" sz="1650" dirty="0">
              <a:latin typeface="Noto Sans CJK JP Regular"/>
              <a:cs typeface="Noto Sans CJK JP Regula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5444" y="938384"/>
            <a:ext cx="7856220" cy="548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320165" algn="l"/>
                <a:tab pos="2787650" algn="l"/>
                <a:tab pos="3469004" algn="l"/>
                <a:tab pos="5720715" algn="l"/>
              </a:tabLst>
            </a:pPr>
            <a:r>
              <a:rPr dirty="0"/>
              <a:t>BCS</a:t>
            </a:r>
            <a:r>
              <a:rPr lang="en-US" dirty="0"/>
              <a:t> </a:t>
            </a:r>
            <a:r>
              <a:rPr dirty="0"/>
              <a:t>Code</a:t>
            </a:r>
            <a:r>
              <a:rPr lang="en-US" dirty="0"/>
              <a:t> </a:t>
            </a:r>
            <a:r>
              <a:rPr dirty="0"/>
              <a:t>of</a:t>
            </a:r>
            <a:r>
              <a:rPr lang="en-US" dirty="0"/>
              <a:t> </a:t>
            </a:r>
            <a:r>
              <a:rPr dirty="0"/>
              <a:t>Conduct</a:t>
            </a:r>
            <a:r>
              <a:rPr lang="en-US" dirty="0"/>
              <a:t> </a:t>
            </a:r>
            <a:r>
              <a:rPr dirty="0"/>
              <a:t>(Cont’d</a:t>
            </a:r>
            <a:r>
              <a:rPr spc="700" dirty="0"/>
              <a:t>)</a:t>
            </a:r>
          </a:p>
        </p:txBody>
      </p:sp>
      <p:sp>
        <p:nvSpPr>
          <p:cNvPr id="3" name="object 3"/>
          <p:cNvSpPr/>
          <p:nvPr/>
        </p:nvSpPr>
        <p:spPr>
          <a:xfrm>
            <a:off x="638924" y="1801012"/>
            <a:ext cx="8208264" cy="731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26362" y="1947552"/>
            <a:ext cx="8212837" cy="3562514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1166495" algn="l"/>
                <a:tab pos="1762760" algn="l"/>
                <a:tab pos="3696970" algn="l"/>
              </a:tabLst>
            </a:pPr>
            <a:r>
              <a:rPr sz="2800" dirty="0">
                <a:solidFill>
                  <a:srgbClr val="2E3092"/>
                </a:solidFill>
                <a:latin typeface="Arial"/>
                <a:cs typeface="Arial"/>
              </a:rPr>
              <a:t>Duty</a:t>
            </a:r>
            <a:r>
              <a:rPr lang="en-US" sz="2800" dirty="0">
                <a:solidFill>
                  <a:srgbClr val="2E3092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E3092"/>
                </a:solidFill>
                <a:latin typeface="Arial"/>
                <a:cs typeface="Arial"/>
              </a:rPr>
              <a:t>to</a:t>
            </a:r>
            <a:r>
              <a:rPr lang="en-US" sz="2800" dirty="0">
                <a:solidFill>
                  <a:srgbClr val="2E3092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E3092"/>
                </a:solidFill>
                <a:latin typeface="Arial"/>
                <a:cs typeface="Arial"/>
              </a:rPr>
              <a:t>Relevant</a:t>
            </a:r>
            <a:r>
              <a:rPr lang="en-US" sz="2800" dirty="0">
                <a:solidFill>
                  <a:srgbClr val="2E3092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E3092"/>
                </a:solidFill>
                <a:latin typeface="Arial"/>
                <a:cs typeface="Arial"/>
              </a:rPr>
              <a:t>Authority</a:t>
            </a:r>
            <a:endParaRPr sz="2800" dirty="0">
              <a:latin typeface="Arial"/>
              <a:cs typeface="Arial"/>
            </a:endParaRPr>
          </a:p>
          <a:p>
            <a:pPr marL="494030" marR="5080" indent="-480059">
              <a:lnSpc>
                <a:spcPts val="4790"/>
              </a:lnSpc>
              <a:spcBef>
                <a:spcPts val="125"/>
              </a:spcBef>
              <a:buAutoNum type="arabicPeriod" startAt="6"/>
              <a:tabLst>
                <a:tab pos="494665" algn="l"/>
                <a:tab pos="1765300" algn="l"/>
                <a:tab pos="2644775" algn="l"/>
                <a:tab pos="3263265" algn="l"/>
                <a:tab pos="3623310" algn="l"/>
                <a:tab pos="4321810" algn="l"/>
                <a:tab pos="4514850" algn="l"/>
                <a:tab pos="6647815" algn="l"/>
                <a:tab pos="7125970" algn="l"/>
              </a:tabLst>
            </a:pPr>
            <a:r>
              <a:rPr sz="2400" dirty="0">
                <a:latin typeface="Arial"/>
                <a:cs typeface="Arial"/>
              </a:rPr>
              <a:t>Apply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due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care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diligence.	If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over-ruled, indicat</a:t>
            </a:r>
            <a:r>
              <a:rPr lang="en-US" sz="2400" dirty="0">
                <a:latin typeface="Arial"/>
                <a:cs typeface="Arial"/>
              </a:rPr>
              <a:t>e </a:t>
            </a:r>
            <a:r>
              <a:rPr sz="2400" dirty="0">
                <a:latin typeface="Arial"/>
                <a:cs typeface="Arial"/>
              </a:rPr>
              <a:t>likel</a:t>
            </a:r>
            <a:r>
              <a:rPr lang="en-US" sz="2400" dirty="0">
                <a:latin typeface="Arial"/>
                <a:cs typeface="Arial"/>
              </a:rPr>
              <a:t>y </a:t>
            </a:r>
            <a:r>
              <a:rPr sz="2400" dirty="0">
                <a:latin typeface="Arial"/>
                <a:cs typeface="Arial"/>
              </a:rPr>
              <a:t>	risks</a:t>
            </a:r>
          </a:p>
          <a:p>
            <a:pPr marL="494030" indent="-480059">
              <a:lnSpc>
                <a:spcPct val="100000"/>
              </a:lnSpc>
              <a:spcBef>
                <a:spcPts val="375"/>
              </a:spcBef>
              <a:buAutoNum type="arabicPeriod" startAt="6"/>
              <a:tabLst>
                <a:tab pos="494665" algn="l"/>
                <a:tab pos="3378200" algn="l"/>
              </a:tabLst>
            </a:pPr>
            <a:r>
              <a:rPr sz="2400" dirty="0">
                <a:latin typeface="Arial"/>
                <a:cs typeface="Arial"/>
              </a:rPr>
              <a:t>Avoid conflicts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 interest</a:t>
            </a:r>
          </a:p>
          <a:p>
            <a:pPr marL="494030" indent="-480059">
              <a:lnSpc>
                <a:spcPct val="100000"/>
              </a:lnSpc>
              <a:spcBef>
                <a:spcPts val="780"/>
              </a:spcBef>
              <a:buAutoNum type="arabicPeriod" startAt="6"/>
              <a:tabLst>
                <a:tab pos="494665" algn="l"/>
                <a:tab pos="1229995" algn="l"/>
                <a:tab pos="2033270" algn="l"/>
                <a:tab pos="3625850" algn="l"/>
                <a:tab pos="5941060" algn="l"/>
              </a:tabLst>
            </a:pPr>
            <a:r>
              <a:rPr sz="2400" dirty="0">
                <a:latin typeface="Arial"/>
                <a:cs typeface="Arial"/>
              </a:rPr>
              <a:t>Do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not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disclose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confidential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informatio</a:t>
            </a:r>
            <a:r>
              <a:rPr lang="en-US" sz="2400" dirty="0">
                <a:latin typeface="Arial"/>
                <a:cs typeface="Arial"/>
              </a:rPr>
              <a:t>n </a:t>
            </a:r>
            <a:r>
              <a:rPr sz="2400" dirty="0">
                <a:latin typeface="Arial"/>
                <a:cs typeface="Arial"/>
              </a:rPr>
              <a:t>(exceptions)</a:t>
            </a:r>
          </a:p>
          <a:p>
            <a:pPr marL="494030" indent="-480059">
              <a:lnSpc>
                <a:spcPct val="100000"/>
              </a:lnSpc>
              <a:spcBef>
                <a:spcPts val="780"/>
              </a:spcBef>
              <a:buAutoNum type="arabicPeriod" startAt="9"/>
              <a:tabLst>
                <a:tab pos="494665" algn="l"/>
                <a:tab pos="1196340" algn="l"/>
                <a:tab pos="1965960" algn="l"/>
                <a:tab pos="3692525" algn="l"/>
                <a:tab pos="5962015" algn="l"/>
                <a:tab pos="6568440" algn="l"/>
                <a:tab pos="7313295" algn="l"/>
              </a:tabLst>
            </a:pPr>
            <a:r>
              <a:rPr sz="2400" dirty="0">
                <a:latin typeface="Arial"/>
                <a:cs typeface="Arial"/>
              </a:rPr>
              <a:t>Do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not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withhold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information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performance o</a:t>
            </a:r>
            <a:r>
              <a:rPr lang="en-US" sz="2400" dirty="0">
                <a:latin typeface="Arial"/>
                <a:cs typeface="Arial"/>
              </a:rPr>
              <a:t>f </a:t>
            </a:r>
            <a:r>
              <a:rPr sz="2400" dirty="0">
                <a:latin typeface="Arial"/>
                <a:cs typeface="Arial"/>
              </a:rPr>
              <a:t>	products	...</a:t>
            </a:r>
          </a:p>
        </p:txBody>
      </p:sp>
      <p:sp>
        <p:nvSpPr>
          <p:cNvPr id="5" name="object 5"/>
          <p:cNvSpPr/>
          <p:nvPr/>
        </p:nvSpPr>
        <p:spPr>
          <a:xfrm>
            <a:off x="638924" y="6967376"/>
            <a:ext cx="9419475" cy="731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8924" y="7026800"/>
            <a:ext cx="8208264" cy="7455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847181" y="776884"/>
            <a:ext cx="73152" cy="69955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18808" y="776884"/>
            <a:ext cx="1139591" cy="618744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5"/>
          </p:nvPr>
        </p:nvSpPr>
        <p:spPr>
          <a:xfrm>
            <a:off x="1011934" y="7237758"/>
            <a:ext cx="6875145" cy="230832"/>
          </a:xfrm>
        </p:spPr>
        <p:txBody>
          <a:bodyPr/>
          <a:lstStyle/>
          <a:p>
            <a:pPr marL="12700" algn="ctr">
              <a:lnSpc>
                <a:spcPts val="1785"/>
              </a:lnSpc>
              <a:tabLst>
                <a:tab pos="326390" algn="l"/>
              </a:tabLst>
            </a:pPr>
            <a:r>
              <a:rPr lang="en-US" sz="1700">
                <a:latin typeface="Noto Sans CJK JP Regular"/>
                <a:cs typeface="Noto Sans CJK JP Regular"/>
              </a:rPr>
              <a:t>Professional Practices (BSCS)</a:t>
            </a:r>
            <a:endParaRPr lang="en-US" sz="1650" dirty="0">
              <a:latin typeface="Noto Sans CJK JP Regular"/>
              <a:cs typeface="Noto Sans CJK JP Regular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5444" y="938384"/>
            <a:ext cx="7856220" cy="548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320165" algn="l"/>
                <a:tab pos="2787650" algn="l"/>
                <a:tab pos="3469004" algn="l"/>
                <a:tab pos="5720715" algn="l"/>
              </a:tabLst>
            </a:pPr>
            <a:r>
              <a:rPr dirty="0"/>
              <a:t>BCS</a:t>
            </a:r>
            <a:r>
              <a:rPr lang="en-US" dirty="0"/>
              <a:t> </a:t>
            </a:r>
            <a:r>
              <a:rPr dirty="0"/>
              <a:t>Code</a:t>
            </a:r>
            <a:r>
              <a:rPr lang="en-US" dirty="0"/>
              <a:t> </a:t>
            </a:r>
            <a:r>
              <a:rPr dirty="0"/>
              <a:t>of</a:t>
            </a:r>
            <a:r>
              <a:rPr lang="en-US" dirty="0"/>
              <a:t> </a:t>
            </a:r>
            <a:r>
              <a:rPr dirty="0"/>
              <a:t>Conduct</a:t>
            </a:r>
            <a:r>
              <a:rPr lang="en-US" dirty="0"/>
              <a:t> </a:t>
            </a:r>
            <a:r>
              <a:rPr dirty="0"/>
              <a:t>(Cont’d)</a:t>
            </a:r>
          </a:p>
        </p:txBody>
      </p:sp>
      <p:sp>
        <p:nvSpPr>
          <p:cNvPr id="3" name="object 3"/>
          <p:cNvSpPr/>
          <p:nvPr/>
        </p:nvSpPr>
        <p:spPr>
          <a:xfrm>
            <a:off x="638924" y="1801012"/>
            <a:ext cx="8208264" cy="73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0811" y="1947552"/>
            <a:ext cx="8296275" cy="4283224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238125">
              <a:lnSpc>
                <a:spcPct val="100000"/>
              </a:lnSpc>
              <a:spcBef>
                <a:spcPts val="1200"/>
              </a:spcBef>
              <a:tabLst>
                <a:tab pos="1391920" algn="l"/>
                <a:tab pos="1988185" algn="l"/>
                <a:tab pos="2808605" algn="l"/>
              </a:tabLst>
            </a:pPr>
            <a:r>
              <a:rPr sz="2800" dirty="0">
                <a:solidFill>
                  <a:srgbClr val="2E3092"/>
                </a:solidFill>
                <a:latin typeface="Arial"/>
                <a:cs typeface="Arial"/>
              </a:rPr>
              <a:t>Duty</a:t>
            </a:r>
            <a:r>
              <a:rPr lang="en-US" sz="2800" dirty="0">
                <a:solidFill>
                  <a:srgbClr val="2E3092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E3092"/>
                </a:solidFill>
                <a:latin typeface="Arial"/>
                <a:cs typeface="Arial"/>
              </a:rPr>
              <a:t>to	the</a:t>
            </a:r>
            <a:r>
              <a:rPr lang="en-US" sz="2800" dirty="0">
                <a:solidFill>
                  <a:srgbClr val="2E3092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E3092"/>
                </a:solidFill>
                <a:latin typeface="Arial"/>
                <a:cs typeface="Arial"/>
              </a:rPr>
              <a:t>Profession</a:t>
            </a:r>
            <a:endParaRPr sz="2800" dirty="0">
              <a:latin typeface="Arial"/>
              <a:cs typeface="Arial"/>
            </a:endParaRPr>
          </a:p>
          <a:p>
            <a:pPr marL="719455" indent="-706755" algn="just">
              <a:lnSpc>
                <a:spcPct val="100000"/>
              </a:lnSpc>
              <a:spcBef>
                <a:spcPts val="1105"/>
              </a:spcBef>
              <a:buAutoNum type="arabicPeriod" startAt="10"/>
              <a:tabLst>
                <a:tab pos="720090" algn="l"/>
                <a:tab pos="2914015" algn="l"/>
                <a:tab pos="4966970" algn="l"/>
                <a:tab pos="6225540" algn="l"/>
              </a:tabLst>
            </a:pPr>
            <a:r>
              <a:rPr sz="2400" dirty="0">
                <a:latin typeface="Arial"/>
                <a:cs typeface="Arial"/>
              </a:rPr>
              <a:t>Uphold the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reputation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 the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BCS</a:t>
            </a:r>
            <a:endParaRPr lang="en-US" sz="2400" dirty="0">
              <a:latin typeface="Arial"/>
              <a:cs typeface="Arial"/>
            </a:endParaRPr>
          </a:p>
          <a:p>
            <a:pPr marL="719455" indent="-706755" algn="just">
              <a:lnSpc>
                <a:spcPct val="100000"/>
              </a:lnSpc>
              <a:spcBef>
                <a:spcPts val="1105"/>
              </a:spcBef>
              <a:tabLst>
                <a:tab pos="720090" algn="l"/>
                <a:tab pos="2914015" algn="l"/>
                <a:tab pos="4966970" algn="l"/>
                <a:tab pos="6225540" algn="l"/>
              </a:tabLst>
            </a:pPr>
            <a:endParaRPr sz="2400" dirty="0">
              <a:latin typeface="Arial"/>
              <a:cs typeface="Arial"/>
            </a:endParaRPr>
          </a:p>
          <a:p>
            <a:pPr marL="719455" indent="-706755" algn="just">
              <a:lnSpc>
                <a:spcPct val="100000"/>
              </a:lnSpc>
              <a:spcBef>
                <a:spcPts val="780"/>
              </a:spcBef>
              <a:buAutoNum type="arabicPeriod" startAt="10"/>
              <a:tabLst>
                <a:tab pos="720090" algn="l"/>
                <a:tab pos="2472055" algn="l"/>
              </a:tabLst>
            </a:pPr>
            <a:r>
              <a:rPr sz="2400" dirty="0">
                <a:latin typeface="Arial"/>
                <a:cs typeface="Arial"/>
              </a:rPr>
              <a:t>Act with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integrity</a:t>
            </a:r>
            <a:endParaRPr lang="en-US" sz="2400" dirty="0">
              <a:latin typeface="Arial"/>
              <a:cs typeface="Arial"/>
            </a:endParaRPr>
          </a:p>
          <a:p>
            <a:pPr marL="719455" indent="-706755" algn="just">
              <a:lnSpc>
                <a:spcPct val="100000"/>
              </a:lnSpc>
              <a:spcBef>
                <a:spcPts val="780"/>
              </a:spcBef>
              <a:tabLst>
                <a:tab pos="720090" algn="l"/>
                <a:tab pos="2472055" algn="l"/>
              </a:tabLst>
            </a:pPr>
            <a:endParaRPr sz="2400" dirty="0">
              <a:latin typeface="Arial"/>
              <a:cs typeface="Arial"/>
            </a:endParaRPr>
          </a:p>
          <a:p>
            <a:pPr marL="719455" indent="-706755" algn="just">
              <a:lnSpc>
                <a:spcPct val="100000"/>
              </a:lnSpc>
              <a:spcBef>
                <a:spcPts val="780"/>
              </a:spcBef>
              <a:buAutoNum type="arabicPeriod" startAt="10"/>
              <a:tabLst>
                <a:tab pos="720090" algn="l"/>
                <a:tab pos="7216140" algn="l"/>
              </a:tabLst>
            </a:pPr>
            <a:r>
              <a:rPr sz="2400" dirty="0">
                <a:latin typeface="Arial"/>
                <a:cs typeface="Arial"/>
              </a:rPr>
              <a:t>Consider possible consequences of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statements on others, make public statements only if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properly qualified</a:t>
            </a:r>
            <a:endParaRPr lang="en-US" sz="2400" dirty="0">
              <a:latin typeface="Arial"/>
              <a:cs typeface="Arial"/>
            </a:endParaRPr>
          </a:p>
          <a:p>
            <a:pPr marL="719455" indent="-706755" algn="just">
              <a:lnSpc>
                <a:spcPct val="100000"/>
              </a:lnSpc>
              <a:spcBef>
                <a:spcPts val="780"/>
              </a:spcBef>
              <a:tabLst>
                <a:tab pos="720090" algn="l"/>
                <a:tab pos="7216140" algn="l"/>
              </a:tabLst>
            </a:pPr>
            <a:endParaRPr sz="2400" dirty="0">
              <a:latin typeface="Arial"/>
              <a:cs typeface="Arial"/>
            </a:endParaRPr>
          </a:p>
          <a:p>
            <a:pPr marL="719455" indent="-706755" algn="just">
              <a:lnSpc>
                <a:spcPct val="100000"/>
              </a:lnSpc>
              <a:spcBef>
                <a:spcPts val="390"/>
              </a:spcBef>
              <a:buAutoNum type="arabicPeriod" startAt="13"/>
              <a:tabLst>
                <a:tab pos="720090" algn="l"/>
                <a:tab pos="2030095" algn="l"/>
                <a:tab pos="3054350" algn="l"/>
                <a:tab pos="3477895" algn="l"/>
                <a:tab pos="5414010" algn="l"/>
                <a:tab pos="5964555" algn="l"/>
                <a:tab pos="6363335" algn="l"/>
                <a:tab pos="7691120" algn="l"/>
              </a:tabLst>
            </a:pPr>
            <a:r>
              <a:rPr sz="2400" dirty="0">
                <a:latin typeface="Arial"/>
                <a:cs typeface="Arial"/>
              </a:rPr>
              <a:t>Notify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BCS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if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convicted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crime,	becoming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bankrupt</a:t>
            </a:r>
          </a:p>
        </p:txBody>
      </p:sp>
      <p:sp>
        <p:nvSpPr>
          <p:cNvPr id="5" name="object 5"/>
          <p:cNvSpPr/>
          <p:nvPr/>
        </p:nvSpPr>
        <p:spPr>
          <a:xfrm>
            <a:off x="638924" y="6967376"/>
            <a:ext cx="9419475" cy="731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8924" y="7026800"/>
            <a:ext cx="8208264" cy="7455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847181" y="776884"/>
            <a:ext cx="73152" cy="69955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18808" y="776884"/>
            <a:ext cx="1139591" cy="618744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5"/>
          </p:nvPr>
        </p:nvSpPr>
        <p:spPr>
          <a:xfrm>
            <a:off x="1011934" y="7237758"/>
            <a:ext cx="6875145" cy="230832"/>
          </a:xfrm>
        </p:spPr>
        <p:txBody>
          <a:bodyPr/>
          <a:lstStyle/>
          <a:p>
            <a:pPr marL="12700" algn="ctr">
              <a:lnSpc>
                <a:spcPts val="1785"/>
              </a:lnSpc>
              <a:tabLst>
                <a:tab pos="326390" algn="l"/>
              </a:tabLst>
            </a:pPr>
            <a:r>
              <a:rPr lang="en-US" sz="1700">
                <a:latin typeface="Noto Sans CJK JP Regular"/>
                <a:cs typeface="Noto Sans CJK JP Regular"/>
              </a:rPr>
              <a:t>Professional Practices (BSCS)</a:t>
            </a:r>
            <a:endParaRPr lang="en-US" sz="1650" dirty="0">
              <a:latin typeface="Noto Sans CJK JP Regular"/>
              <a:cs typeface="Noto Sans CJK JP Regular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5444" y="938384"/>
            <a:ext cx="7856220" cy="548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320165" algn="l"/>
                <a:tab pos="2787650" algn="l"/>
                <a:tab pos="3469004" algn="l"/>
                <a:tab pos="5720715" algn="l"/>
              </a:tabLst>
            </a:pPr>
            <a:r>
              <a:rPr dirty="0"/>
              <a:t>BCS</a:t>
            </a:r>
            <a:r>
              <a:rPr lang="en-US" dirty="0"/>
              <a:t> </a:t>
            </a:r>
            <a:r>
              <a:rPr dirty="0"/>
              <a:t>Code</a:t>
            </a:r>
            <a:r>
              <a:rPr lang="en-US" dirty="0"/>
              <a:t> </a:t>
            </a:r>
            <a:r>
              <a:rPr dirty="0"/>
              <a:t>of</a:t>
            </a:r>
            <a:r>
              <a:rPr lang="en-US" dirty="0"/>
              <a:t> </a:t>
            </a:r>
            <a:r>
              <a:rPr dirty="0"/>
              <a:t>Conduct</a:t>
            </a:r>
            <a:r>
              <a:rPr lang="en-US" dirty="0"/>
              <a:t> </a:t>
            </a:r>
            <a:r>
              <a:rPr dirty="0"/>
              <a:t>(Cont’d)</a:t>
            </a:r>
          </a:p>
        </p:txBody>
      </p:sp>
      <p:sp>
        <p:nvSpPr>
          <p:cNvPr id="3" name="object 3"/>
          <p:cNvSpPr/>
          <p:nvPr/>
        </p:nvSpPr>
        <p:spPr>
          <a:xfrm>
            <a:off x="638924" y="1801012"/>
            <a:ext cx="8208264" cy="73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00811" y="1947552"/>
            <a:ext cx="8362189" cy="4306307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238125">
              <a:lnSpc>
                <a:spcPct val="100000"/>
              </a:lnSpc>
              <a:spcBef>
                <a:spcPts val="1200"/>
              </a:spcBef>
              <a:tabLst>
                <a:tab pos="2841625" algn="l"/>
                <a:tab pos="5552440" algn="l"/>
                <a:tab pos="6447790" algn="l"/>
              </a:tabLst>
            </a:pPr>
            <a:r>
              <a:rPr sz="2800" dirty="0">
                <a:solidFill>
                  <a:srgbClr val="2E3092"/>
                </a:solidFill>
                <a:latin typeface="Arial"/>
                <a:cs typeface="Arial"/>
              </a:rPr>
              <a:t>Professional</a:t>
            </a:r>
            <a:r>
              <a:rPr lang="en-US" sz="2800" dirty="0">
                <a:solidFill>
                  <a:srgbClr val="2E3092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E3092"/>
                </a:solidFill>
                <a:latin typeface="Arial"/>
                <a:cs typeface="Arial"/>
              </a:rPr>
              <a:t>Competence</a:t>
            </a:r>
            <a:r>
              <a:rPr lang="en-US" sz="2800" dirty="0">
                <a:solidFill>
                  <a:srgbClr val="2E3092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E3092"/>
                </a:solidFill>
                <a:latin typeface="Arial"/>
                <a:cs typeface="Arial"/>
              </a:rPr>
              <a:t>and</a:t>
            </a:r>
            <a:r>
              <a:rPr lang="en-US" sz="2800" dirty="0">
                <a:solidFill>
                  <a:srgbClr val="2E3092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E3092"/>
                </a:solidFill>
                <a:latin typeface="Arial"/>
                <a:cs typeface="Arial"/>
              </a:rPr>
              <a:t>Integrity</a:t>
            </a:r>
            <a:endParaRPr sz="2800" dirty="0">
              <a:latin typeface="Arial"/>
              <a:cs typeface="Arial"/>
            </a:endParaRPr>
          </a:p>
          <a:p>
            <a:pPr marL="719455" indent="-706755">
              <a:lnSpc>
                <a:spcPct val="150000"/>
              </a:lnSpc>
              <a:spcBef>
                <a:spcPts val="1105"/>
              </a:spcBef>
              <a:buAutoNum type="arabicPeriod" startAt="14"/>
              <a:tabLst>
                <a:tab pos="720090" algn="l"/>
              </a:tabLst>
            </a:pPr>
            <a:r>
              <a:rPr sz="2400" dirty="0">
                <a:latin typeface="Arial"/>
                <a:cs typeface="Arial"/>
              </a:rPr>
              <a:t>Upgrade your professional knowl</a:t>
            </a:r>
            <a:r>
              <a:rPr lang="en-US" sz="2400" dirty="0">
                <a:latin typeface="Arial"/>
                <a:cs typeface="Arial"/>
              </a:rPr>
              <a:t>edge </a:t>
            </a:r>
            <a:r>
              <a:rPr sz="2400" dirty="0">
                <a:latin typeface="Arial"/>
                <a:cs typeface="Arial"/>
              </a:rPr>
              <a:t>skill</a:t>
            </a:r>
            <a:r>
              <a:rPr lang="en-US" sz="2400" dirty="0">
                <a:latin typeface="Arial"/>
                <a:cs typeface="Arial"/>
              </a:rPr>
              <a:t>s</a:t>
            </a:r>
            <a:endParaRPr sz="2400" dirty="0">
              <a:latin typeface="Arial"/>
              <a:cs typeface="Arial"/>
            </a:endParaRPr>
          </a:p>
          <a:p>
            <a:pPr marL="719455" indent="-706755">
              <a:lnSpc>
                <a:spcPct val="150000"/>
              </a:lnSpc>
              <a:spcBef>
                <a:spcPts val="780"/>
              </a:spcBef>
              <a:buAutoNum type="arabicPeriod" startAt="14"/>
              <a:tabLst>
                <a:tab pos="720090" algn="l"/>
                <a:tab pos="1492250" algn="l"/>
                <a:tab pos="2334895" algn="l"/>
                <a:tab pos="3528060" algn="l"/>
                <a:tab pos="5970270" algn="l"/>
                <a:tab pos="6962140" algn="l"/>
                <a:tab pos="7829550" algn="l"/>
              </a:tabLst>
            </a:pPr>
            <a:r>
              <a:rPr sz="2400" dirty="0">
                <a:latin typeface="Arial"/>
                <a:cs typeface="Arial"/>
              </a:rPr>
              <a:t>Do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not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claim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competence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that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do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not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possess.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Work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only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within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your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professional competence</a:t>
            </a:r>
          </a:p>
          <a:p>
            <a:pPr marL="719455" indent="-706755">
              <a:lnSpc>
                <a:spcPct val="150000"/>
              </a:lnSpc>
              <a:spcBef>
                <a:spcPts val="390"/>
              </a:spcBef>
              <a:buAutoNum type="arabicPeriod" startAt="16"/>
              <a:tabLst>
                <a:tab pos="720090" algn="l"/>
                <a:tab pos="2426970" algn="l"/>
                <a:tab pos="4088129" algn="l"/>
                <a:tab pos="5582285" algn="l"/>
                <a:tab pos="6651625" algn="l"/>
                <a:tab pos="7444740" algn="l"/>
              </a:tabLst>
            </a:pPr>
            <a:r>
              <a:rPr sz="2400" dirty="0">
                <a:latin typeface="Arial"/>
                <a:cs typeface="Arial"/>
              </a:rPr>
              <a:t>Observe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relevant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clauses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from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BCS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Code of Good Practice &amp;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other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standards</a:t>
            </a:r>
          </a:p>
          <a:p>
            <a:pPr marL="719455" indent="-706755">
              <a:lnSpc>
                <a:spcPct val="150000"/>
              </a:lnSpc>
              <a:spcBef>
                <a:spcPts val="780"/>
              </a:spcBef>
              <a:buAutoNum type="arabicPeriod" startAt="17"/>
              <a:tabLst>
                <a:tab pos="720090" algn="l"/>
              </a:tabLst>
            </a:pPr>
            <a:r>
              <a:rPr sz="2400" dirty="0">
                <a:latin typeface="Arial"/>
                <a:cs typeface="Arial"/>
              </a:rPr>
              <a:t>Accept professional responsibility</a:t>
            </a:r>
          </a:p>
        </p:txBody>
      </p:sp>
      <p:sp>
        <p:nvSpPr>
          <p:cNvPr id="5" name="object 5"/>
          <p:cNvSpPr/>
          <p:nvPr/>
        </p:nvSpPr>
        <p:spPr>
          <a:xfrm>
            <a:off x="638924" y="6967376"/>
            <a:ext cx="9419475" cy="731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8924" y="7026800"/>
            <a:ext cx="8208264" cy="7455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847181" y="776884"/>
            <a:ext cx="73152" cy="69955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18808" y="776884"/>
            <a:ext cx="1139591" cy="618744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5"/>
          </p:nvPr>
        </p:nvSpPr>
        <p:spPr>
          <a:xfrm>
            <a:off x="1011934" y="7237758"/>
            <a:ext cx="6875145" cy="230832"/>
          </a:xfrm>
        </p:spPr>
        <p:txBody>
          <a:bodyPr/>
          <a:lstStyle/>
          <a:p>
            <a:pPr marL="12700" algn="ctr">
              <a:lnSpc>
                <a:spcPts val="1785"/>
              </a:lnSpc>
              <a:tabLst>
                <a:tab pos="326390" algn="l"/>
              </a:tabLst>
            </a:pPr>
            <a:r>
              <a:rPr lang="en-US" sz="1700">
                <a:latin typeface="Noto Sans CJK JP Regular"/>
                <a:cs typeface="Noto Sans CJK JP Regular"/>
              </a:rPr>
              <a:t>Professional Practices (BSCS)</a:t>
            </a:r>
            <a:endParaRPr lang="en-US" sz="1650" dirty="0">
              <a:latin typeface="Noto Sans CJK JP Regular"/>
              <a:cs typeface="Noto Sans CJK JP Regular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2840" y="938384"/>
            <a:ext cx="2282825" cy="548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Overview</a:t>
            </a:r>
          </a:p>
        </p:txBody>
      </p:sp>
      <p:sp>
        <p:nvSpPr>
          <p:cNvPr id="3" name="object 3"/>
          <p:cNvSpPr/>
          <p:nvPr/>
        </p:nvSpPr>
        <p:spPr>
          <a:xfrm>
            <a:off x="638924" y="1801012"/>
            <a:ext cx="8208264" cy="73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19911" y="1940054"/>
            <a:ext cx="6680200" cy="2221865"/>
          </a:xfrm>
          <a:prstGeom prst="rect">
            <a:avLst/>
          </a:prstGeom>
        </p:spPr>
        <p:txBody>
          <a:bodyPr vert="horz" wrap="square" lIns="0" tIns="201930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1590"/>
              </a:spcBef>
              <a:buClr>
                <a:srgbClr val="2E3092"/>
              </a:buClr>
              <a:buChar char="•"/>
              <a:tabLst>
                <a:tab pos="300355" algn="l"/>
                <a:tab pos="300990" algn="l"/>
                <a:tab pos="1131570" algn="l"/>
                <a:tab pos="2376805" algn="l"/>
                <a:tab pos="4198620" algn="l"/>
                <a:tab pos="5574030" algn="l"/>
              </a:tabLst>
            </a:pPr>
            <a:r>
              <a:rPr sz="2350" dirty="0">
                <a:solidFill>
                  <a:srgbClr val="939598"/>
                </a:solidFill>
                <a:latin typeface="Arial"/>
                <a:cs typeface="Arial"/>
              </a:rPr>
              <a:t>The</a:t>
            </a:r>
            <a:r>
              <a:rPr lang="en-US" sz="235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939598"/>
                </a:solidFill>
                <a:latin typeface="Arial"/>
                <a:cs typeface="Arial"/>
              </a:rPr>
              <a:t>British</a:t>
            </a:r>
            <a:r>
              <a:rPr lang="en-US" sz="235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939598"/>
                </a:solidFill>
                <a:latin typeface="Arial"/>
                <a:cs typeface="Arial"/>
              </a:rPr>
              <a:t>Computer</a:t>
            </a:r>
            <a:r>
              <a:rPr lang="en-US" sz="235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939598"/>
                </a:solidFill>
                <a:latin typeface="Arial"/>
                <a:cs typeface="Arial"/>
              </a:rPr>
              <a:t>Society	</a:t>
            </a:r>
            <a:r>
              <a:rPr lang="en-US" sz="235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939598"/>
                </a:solidFill>
                <a:latin typeface="Arial"/>
                <a:cs typeface="Arial"/>
              </a:rPr>
              <a:t>(BCS)</a:t>
            </a:r>
            <a:endParaRPr sz="2350" dirty="0">
              <a:latin typeface="Arial"/>
              <a:cs typeface="Arial"/>
            </a:endParaRPr>
          </a:p>
          <a:p>
            <a:pPr marL="300355" indent="-287655">
              <a:lnSpc>
                <a:spcPct val="100000"/>
              </a:lnSpc>
              <a:spcBef>
                <a:spcPts val="1500"/>
              </a:spcBef>
              <a:buClr>
                <a:srgbClr val="2E3092"/>
              </a:buClr>
              <a:buChar char="•"/>
              <a:tabLst>
                <a:tab pos="300355" algn="l"/>
                <a:tab pos="300990" algn="l"/>
                <a:tab pos="1208405" algn="l"/>
                <a:tab pos="2226945" algn="l"/>
                <a:tab pos="2699385" algn="l"/>
              </a:tabLst>
            </a:pPr>
            <a:r>
              <a:rPr sz="2350" dirty="0">
                <a:solidFill>
                  <a:srgbClr val="939598"/>
                </a:solidFill>
                <a:latin typeface="Arial"/>
                <a:cs typeface="Arial"/>
              </a:rPr>
              <a:t>BCS</a:t>
            </a:r>
            <a:r>
              <a:rPr lang="en-US" sz="235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939598"/>
                </a:solidFill>
                <a:latin typeface="Arial"/>
                <a:cs typeface="Arial"/>
              </a:rPr>
              <a:t>Code</a:t>
            </a:r>
            <a:r>
              <a:rPr lang="en-US" sz="235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939598"/>
                </a:solidFill>
                <a:latin typeface="Arial"/>
                <a:cs typeface="Arial"/>
              </a:rPr>
              <a:t>of</a:t>
            </a:r>
            <a:r>
              <a:rPr lang="en-US" sz="235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939598"/>
                </a:solidFill>
                <a:latin typeface="Arial"/>
                <a:cs typeface="Arial"/>
              </a:rPr>
              <a:t>Conduct</a:t>
            </a:r>
            <a:endParaRPr sz="2350" dirty="0">
              <a:latin typeface="Arial"/>
              <a:cs typeface="Arial"/>
            </a:endParaRPr>
          </a:p>
          <a:p>
            <a:pPr marL="300355" indent="-287655">
              <a:lnSpc>
                <a:spcPct val="100000"/>
              </a:lnSpc>
              <a:spcBef>
                <a:spcPts val="1515"/>
              </a:spcBef>
              <a:buChar char="•"/>
              <a:tabLst>
                <a:tab pos="300355" algn="l"/>
                <a:tab pos="300990" algn="l"/>
                <a:tab pos="1208405" algn="l"/>
                <a:tab pos="2226945" algn="l"/>
                <a:tab pos="2699385" algn="l"/>
                <a:tab pos="3760470" algn="l"/>
              </a:tabLst>
            </a:pPr>
            <a:r>
              <a:rPr sz="2350" dirty="0">
                <a:solidFill>
                  <a:srgbClr val="2E3092"/>
                </a:solidFill>
                <a:latin typeface="Arial"/>
                <a:cs typeface="Arial"/>
              </a:rPr>
              <a:t>BCS</a:t>
            </a:r>
            <a:r>
              <a:rPr lang="en-US" sz="2350" dirty="0">
                <a:solidFill>
                  <a:srgbClr val="2E3092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2E3092"/>
                </a:solidFill>
                <a:latin typeface="Arial"/>
                <a:cs typeface="Arial"/>
              </a:rPr>
              <a:t>Code</a:t>
            </a:r>
            <a:r>
              <a:rPr lang="en-US" sz="2350" dirty="0">
                <a:solidFill>
                  <a:srgbClr val="2E3092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2E3092"/>
                </a:solidFill>
                <a:latin typeface="Arial"/>
                <a:cs typeface="Arial"/>
              </a:rPr>
              <a:t>of</a:t>
            </a:r>
            <a:r>
              <a:rPr lang="en-US" sz="2350" dirty="0">
                <a:solidFill>
                  <a:srgbClr val="2E3092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2E3092"/>
                </a:solidFill>
                <a:latin typeface="Arial"/>
                <a:cs typeface="Arial"/>
              </a:rPr>
              <a:t>Good</a:t>
            </a:r>
            <a:r>
              <a:rPr lang="en-US" sz="2350" dirty="0">
                <a:solidFill>
                  <a:srgbClr val="2E3092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2E3092"/>
                </a:solidFill>
                <a:latin typeface="Arial"/>
                <a:cs typeface="Arial"/>
              </a:rPr>
              <a:t>Practice</a:t>
            </a:r>
            <a:endParaRPr sz="2350" dirty="0">
              <a:latin typeface="Arial"/>
              <a:cs typeface="Arial"/>
            </a:endParaRPr>
          </a:p>
          <a:p>
            <a:pPr marL="300355" indent="-287655">
              <a:lnSpc>
                <a:spcPct val="100000"/>
              </a:lnSpc>
              <a:spcBef>
                <a:spcPts val="1500"/>
              </a:spcBef>
              <a:buClr>
                <a:srgbClr val="2E3092"/>
              </a:buClr>
              <a:buChar char="•"/>
              <a:tabLst>
                <a:tab pos="300355" algn="l"/>
                <a:tab pos="300990" algn="l"/>
              </a:tabLst>
            </a:pPr>
            <a:r>
              <a:rPr sz="2350" dirty="0">
                <a:solidFill>
                  <a:srgbClr val="939598"/>
                </a:solidFill>
                <a:latin typeface="Arial"/>
                <a:cs typeface="Arial"/>
              </a:rPr>
              <a:t>Summary</a:t>
            </a:r>
            <a:endParaRPr sz="235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8924" y="6967376"/>
            <a:ext cx="9419475" cy="731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8924" y="7026800"/>
            <a:ext cx="8208264" cy="7455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847181" y="776884"/>
            <a:ext cx="73152" cy="69955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18808" y="776884"/>
            <a:ext cx="1139591" cy="618744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5"/>
          </p:nvPr>
        </p:nvSpPr>
        <p:spPr>
          <a:xfrm>
            <a:off x="1011934" y="7237758"/>
            <a:ext cx="6875145" cy="230832"/>
          </a:xfrm>
        </p:spPr>
        <p:txBody>
          <a:bodyPr/>
          <a:lstStyle/>
          <a:p>
            <a:pPr marL="12700" algn="ctr">
              <a:lnSpc>
                <a:spcPts val="1785"/>
              </a:lnSpc>
              <a:tabLst>
                <a:tab pos="326390" algn="l"/>
              </a:tabLst>
            </a:pPr>
            <a:r>
              <a:rPr lang="en-US" sz="1700">
                <a:latin typeface="Noto Sans CJK JP Regular"/>
                <a:cs typeface="Noto Sans CJK JP Regular"/>
              </a:rPr>
              <a:t>Professional Practices (BSCS)</a:t>
            </a:r>
            <a:endParaRPr lang="en-US" sz="1650" dirty="0">
              <a:latin typeface="Noto Sans CJK JP Regular"/>
              <a:cs typeface="Noto Sans CJK JP Regular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6067" y="938384"/>
            <a:ext cx="7016750" cy="548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320165" algn="l"/>
                <a:tab pos="2787650" algn="l"/>
                <a:tab pos="3469004" algn="l"/>
                <a:tab pos="4995545" algn="l"/>
              </a:tabLst>
            </a:pPr>
            <a:r>
              <a:rPr dirty="0"/>
              <a:t>BCS</a:t>
            </a:r>
            <a:r>
              <a:rPr lang="en-US" dirty="0"/>
              <a:t> </a:t>
            </a:r>
            <a:r>
              <a:rPr dirty="0"/>
              <a:t>Code</a:t>
            </a:r>
            <a:r>
              <a:rPr lang="en-US" dirty="0"/>
              <a:t> </a:t>
            </a:r>
            <a:r>
              <a:rPr dirty="0"/>
              <a:t>of</a:t>
            </a:r>
            <a:r>
              <a:rPr lang="en-US" dirty="0"/>
              <a:t> </a:t>
            </a:r>
            <a:r>
              <a:rPr dirty="0"/>
              <a:t>Good</a:t>
            </a:r>
            <a:r>
              <a:rPr lang="en-US" dirty="0"/>
              <a:t> </a:t>
            </a:r>
            <a:r>
              <a:rPr dirty="0"/>
              <a:t>Practice</a:t>
            </a:r>
          </a:p>
        </p:txBody>
      </p:sp>
      <p:sp>
        <p:nvSpPr>
          <p:cNvPr id="3" name="object 3"/>
          <p:cNvSpPr/>
          <p:nvPr/>
        </p:nvSpPr>
        <p:spPr>
          <a:xfrm>
            <a:off x="638924" y="1801012"/>
            <a:ext cx="8208264" cy="73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26363" y="1828800"/>
            <a:ext cx="7584440" cy="5719514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2042795" algn="l"/>
                <a:tab pos="4043045" algn="l"/>
                <a:tab pos="4639310" algn="l"/>
                <a:tab pos="5257165" algn="l"/>
              </a:tabLst>
            </a:pPr>
            <a:r>
              <a:rPr sz="2800" dirty="0">
                <a:solidFill>
                  <a:srgbClr val="2E3092"/>
                </a:solidFill>
                <a:cs typeface="Arial"/>
              </a:rPr>
              <a:t>Practices</a:t>
            </a:r>
            <a:r>
              <a:rPr lang="en-US" sz="2800" dirty="0">
                <a:solidFill>
                  <a:srgbClr val="2E3092"/>
                </a:solidFill>
                <a:cs typeface="Arial"/>
              </a:rPr>
              <a:t> </a:t>
            </a:r>
            <a:r>
              <a:rPr sz="2800" dirty="0">
                <a:solidFill>
                  <a:srgbClr val="2E3092"/>
                </a:solidFill>
                <a:cs typeface="Arial"/>
              </a:rPr>
              <a:t>Common</a:t>
            </a:r>
            <a:r>
              <a:rPr lang="en-US" sz="2800" dirty="0">
                <a:solidFill>
                  <a:srgbClr val="2E3092"/>
                </a:solidFill>
                <a:cs typeface="Arial"/>
              </a:rPr>
              <a:t> </a:t>
            </a:r>
            <a:r>
              <a:rPr sz="2800" dirty="0">
                <a:solidFill>
                  <a:srgbClr val="2E3092"/>
                </a:solidFill>
                <a:cs typeface="Arial"/>
              </a:rPr>
              <a:t>to</a:t>
            </a:r>
            <a:r>
              <a:rPr lang="en-US" sz="2800" dirty="0">
                <a:solidFill>
                  <a:srgbClr val="2E3092"/>
                </a:solidFill>
                <a:cs typeface="Arial"/>
              </a:rPr>
              <a:t> </a:t>
            </a:r>
            <a:r>
              <a:rPr sz="2800" dirty="0">
                <a:solidFill>
                  <a:srgbClr val="2E3092"/>
                </a:solidFill>
                <a:cs typeface="Arial"/>
              </a:rPr>
              <a:t>all</a:t>
            </a:r>
            <a:r>
              <a:rPr lang="en-US" sz="2800" dirty="0">
                <a:solidFill>
                  <a:srgbClr val="2E3092"/>
                </a:solidFill>
                <a:cs typeface="Arial"/>
              </a:rPr>
              <a:t> </a:t>
            </a:r>
            <a:r>
              <a:rPr sz="2800" dirty="0">
                <a:solidFill>
                  <a:srgbClr val="2E3092"/>
                </a:solidFill>
                <a:cs typeface="Arial"/>
              </a:rPr>
              <a:t>Disciplines</a:t>
            </a:r>
            <a:endParaRPr sz="2800" dirty="0">
              <a:cs typeface="Arial"/>
            </a:endParaRPr>
          </a:p>
          <a:p>
            <a:pPr marL="494030" indent="-320040">
              <a:lnSpc>
                <a:spcPct val="150000"/>
              </a:lnSpc>
              <a:spcBef>
                <a:spcPts val="1105"/>
              </a:spcBef>
              <a:buClr>
                <a:srgbClr val="2E3092"/>
              </a:buClr>
              <a:buChar char="•"/>
              <a:tabLst>
                <a:tab pos="494665" algn="l"/>
                <a:tab pos="2261870" algn="l"/>
              </a:tabLst>
            </a:pPr>
            <a:r>
              <a:rPr sz="2400" spc="240" dirty="0">
                <a:cs typeface="Arial"/>
              </a:rPr>
              <a:t>Maintain</a:t>
            </a:r>
            <a:r>
              <a:rPr lang="en-US" sz="2400" spc="240" dirty="0">
                <a:cs typeface="Arial"/>
              </a:rPr>
              <a:t> </a:t>
            </a:r>
            <a:r>
              <a:rPr sz="2400" spc="175" dirty="0">
                <a:cs typeface="Arial"/>
              </a:rPr>
              <a:t>your</a:t>
            </a:r>
            <a:r>
              <a:rPr sz="2400" spc="375" dirty="0">
                <a:cs typeface="Arial"/>
              </a:rPr>
              <a:t> </a:t>
            </a:r>
            <a:r>
              <a:rPr sz="2400" spc="185" dirty="0">
                <a:cs typeface="Arial"/>
              </a:rPr>
              <a:t>competence</a:t>
            </a:r>
            <a:endParaRPr sz="2400" dirty="0">
              <a:cs typeface="Arial"/>
            </a:endParaRPr>
          </a:p>
          <a:p>
            <a:pPr marL="494030" indent="-320040">
              <a:lnSpc>
                <a:spcPct val="150000"/>
              </a:lnSpc>
              <a:spcBef>
                <a:spcPts val="35"/>
              </a:spcBef>
              <a:buClr>
                <a:srgbClr val="2E3092"/>
              </a:buClr>
              <a:buChar char="•"/>
              <a:tabLst>
                <a:tab pos="494665" algn="l"/>
              </a:tabLst>
            </a:pPr>
            <a:r>
              <a:rPr sz="2400" spc="200" dirty="0">
                <a:cs typeface="Arial"/>
              </a:rPr>
              <a:t>Follow</a:t>
            </a:r>
            <a:r>
              <a:rPr sz="2400" spc="375" dirty="0">
                <a:cs typeface="Arial"/>
              </a:rPr>
              <a:t> </a:t>
            </a:r>
            <a:r>
              <a:rPr sz="2400" spc="165" dirty="0">
                <a:cs typeface="Arial"/>
              </a:rPr>
              <a:t>regulations</a:t>
            </a:r>
            <a:endParaRPr sz="2400" dirty="0">
              <a:cs typeface="Arial"/>
            </a:endParaRPr>
          </a:p>
          <a:p>
            <a:pPr marL="494030" indent="-320040">
              <a:lnSpc>
                <a:spcPct val="150000"/>
              </a:lnSpc>
              <a:spcBef>
                <a:spcPts val="35"/>
              </a:spcBef>
              <a:buClr>
                <a:srgbClr val="2E3092"/>
              </a:buClr>
              <a:buChar char="•"/>
              <a:tabLst>
                <a:tab pos="494665" algn="l"/>
              </a:tabLst>
            </a:pPr>
            <a:r>
              <a:rPr sz="2400" spc="350" dirty="0">
                <a:cs typeface="Arial"/>
              </a:rPr>
              <a:t>Act</a:t>
            </a:r>
            <a:r>
              <a:rPr sz="2400" spc="385" dirty="0">
                <a:cs typeface="Arial"/>
              </a:rPr>
              <a:t> </a:t>
            </a:r>
            <a:r>
              <a:rPr sz="2400" spc="130" dirty="0">
                <a:cs typeface="Arial"/>
              </a:rPr>
              <a:t>professionally</a:t>
            </a:r>
            <a:endParaRPr sz="2400" dirty="0">
              <a:cs typeface="Arial"/>
            </a:endParaRPr>
          </a:p>
          <a:p>
            <a:pPr marL="494030" indent="-320040">
              <a:lnSpc>
                <a:spcPct val="150000"/>
              </a:lnSpc>
              <a:spcBef>
                <a:spcPts val="40"/>
              </a:spcBef>
              <a:buClr>
                <a:srgbClr val="2E3092"/>
              </a:buClr>
              <a:buChar char="•"/>
              <a:tabLst>
                <a:tab pos="494665" algn="l"/>
              </a:tabLst>
            </a:pPr>
            <a:r>
              <a:rPr sz="2400" spc="65" dirty="0">
                <a:cs typeface="Arial"/>
              </a:rPr>
              <a:t>Use </a:t>
            </a:r>
            <a:r>
              <a:rPr sz="2400" spc="170" dirty="0">
                <a:cs typeface="Arial"/>
              </a:rPr>
              <a:t>appropriate</a:t>
            </a:r>
            <a:r>
              <a:rPr sz="2400" spc="-150" dirty="0">
                <a:cs typeface="Arial"/>
              </a:rPr>
              <a:t> </a:t>
            </a:r>
            <a:r>
              <a:rPr sz="2400" spc="275" dirty="0">
                <a:cs typeface="Arial"/>
              </a:rPr>
              <a:t>methods/tools</a:t>
            </a:r>
            <a:endParaRPr sz="2400" dirty="0">
              <a:cs typeface="Arial"/>
            </a:endParaRPr>
          </a:p>
          <a:p>
            <a:pPr marL="494030" indent="-320040">
              <a:lnSpc>
                <a:spcPct val="150000"/>
              </a:lnSpc>
              <a:spcBef>
                <a:spcPts val="35"/>
              </a:spcBef>
              <a:buClr>
                <a:srgbClr val="2E3092"/>
              </a:buClr>
              <a:buChar char="•"/>
              <a:tabLst>
                <a:tab pos="494665" algn="l"/>
                <a:tab pos="3886200" algn="l"/>
              </a:tabLst>
            </a:pPr>
            <a:r>
              <a:rPr sz="2400" spc="185" dirty="0">
                <a:cs typeface="Arial"/>
              </a:rPr>
              <a:t>Manage</a:t>
            </a:r>
            <a:r>
              <a:rPr lang="en-US" sz="2400" spc="430" dirty="0">
                <a:cs typeface="Arial"/>
              </a:rPr>
              <a:t> </a:t>
            </a:r>
            <a:r>
              <a:rPr sz="2400" spc="180" dirty="0">
                <a:cs typeface="Arial"/>
              </a:rPr>
              <a:t>workload</a:t>
            </a:r>
            <a:r>
              <a:rPr lang="en-US" sz="2400" spc="180" dirty="0">
                <a:cs typeface="Arial"/>
              </a:rPr>
              <a:t> </a:t>
            </a:r>
            <a:r>
              <a:rPr sz="2400" spc="175" dirty="0">
                <a:cs typeface="Arial"/>
              </a:rPr>
              <a:t>efficiently</a:t>
            </a:r>
            <a:endParaRPr sz="2400" dirty="0">
              <a:cs typeface="Arial"/>
            </a:endParaRPr>
          </a:p>
          <a:p>
            <a:pPr marL="494030" indent="-320040">
              <a:lnSpc>
                <a:spcPct val="150000"/>
              </a:lnSpc>
              <a:spcBef>
                <a:spcPts val="35"/>
              </a:spcBef>
              <a:buClr>
                <a:srgbClr val="2E3092"/>
              </a:buClr>
              <a:buChar char="•"/>
              <a:tabLst>
                <a:tab pos="494665" algn="l"/>
                <a:tab pos="2641600" algn="l"/>
              </a:tabLst>
            </a:pPr>
            <a:r>
              <a:rPr sz="2400" spc="200" dirty="0">
                <a:cs typeface="Arial"/>
              </a:rPr>
              <a:t>Participate</a:t>
            </a:r>
            <a:r>
              <a:rPr lang="en-US" sz="2400" spc="200" dirty="0">
                <a:cs typeface="Arial"/>
              </a:rPr>
              <a:t> </a:t>
            </a:r>
            <a:r>
              <a:rPr sz="2400" spc="229" dirty="0">
                <a:cs typeface="Arial"/>
              </a:rPr>
              <a:t>Maturely</a:t>
            </a:r>
            <a:endParaRPr sz="2400" dirty="0">
              <a:cs typeface="Arial"/>
            </a:endParaRPr>
          </a:p>
          <a:p>
            <a:pPr marL="494030" indent="-320040">
              <a:lnSpc>
                <a:spcPct val="150000"/>
              </a:lnSpc>
              <a:spcBef>
                <a:spcPts val="35"/>
              </a:spcBef>
              <a:buClr>
                <a:srgbClr val="2E3092"/>
              </a:buClr>
              <a:buChar char="•"/>
              <a:tabLst>
                <a:tab pos="494665" algn="l"/>
              </a:tabLst>
            </a:pPr>
            <a:r>
              <a:rPr sz="2400" spc="175" dirty="0">
                <a:cs typeface="Arial"/>
              </a:rPr>
              <a:t>Show</a:t>
            </a:r>
            <a:r>
              <a:rPr sz="2400" spc="385" dirty="0">
                <a:cs typeface="Arial"/>
              </a:rPr>
              <a:t> </a:t>
            </a:r>
            <a:r>
              <a:rPr sz="2400" spc="155" dirty="0">
                <a:cs typeface="Arial"/>
              </a:rPr>
              <a:t>respect</a:t>
            </a:r>
            <a:endParaRPr sz="2400" dirty="0">
              <a:cs typeface="Arial"/>
            </a:endParaRPr>
          </a:p>
          <a:p>
            <a:pPr marL="494030" indent="-320040">
              <a:lnSpc>
                <a:spcPct val="150000"/>
              </a:lnSpc>
              <a:spcBef>
                <a:spcPts val="35"/>
              </a:spcBef>
              <a:buClr>
                <a:srgbClr val="2E3092"/>
              </a:buClr>
              <a:buChar char="•"/>
              <a:tabLst>
                <a:tab pos="494665" algn="l"/>
                <a:tab pos="3335020" algn="l"/>
              </a:tabLst>
            </a:pPr>
            <a:r>
              <a:rPr sz="2400" spc="265" dirty="0">
                <a:cs typeface="Arial"/>
              </a:rPr>
              <a:t>Promote</a:t>
            </a:r>
            <a:r>
              <a:rPr lang="en-US" sz="2400" spc="595" dirty="0">
                <a:cs typeface="Arial"/>
              </a:rPr>
              <a:t> </a:t>
            </a:r>
            <a:r>
              <a:rPr sz="2400" spc="245" dirty="0">
                <a:cs typeface="Arial"/>
              </a:rPr>
              <a:t>good</a:t>
            </a:r>
            <a:r>
              <a:rPr lang="en-US" sz="2400" spc="245" dirty="0">
                <a:cs typeface="Arial"/>
              </a:rPr>
              <a:t> </a:t>
            </a:r>
            <a:r>
              <a:rPr sz="2400" spc="170" dirty="0">
                <a:cs typeface="Arial"/>
              </a:rPr>
              <a:t>practice</a:t>
            </a:r>
            <a:endParaRPr sz="2400" dirty="0">
              <a:cs typeface="Arial"/>
            </a:endParaRPr>
          </a:p>
          <a:p>
            <a:pPr marL="494030" indent="-320040">
              <a:lnSpc>
                <a:spcPct val="150000"/>
              </a:lnSpc>
              <a:spcBef>
                <a:spcPts val="40"/>
              </a:spcBef>
              <a:buClr>
                <a:srgbClr val="2E3092"/>
              </a:buClr>
              <a:buChar char="•"/>
              <a:tabLst>
                <a:tab pos="494665" algn="l"/>
                <a:tab pos="3217545" algn="l"/>
                <a:tab pos="5742940" algn="l"/>
                <a:tab pos="6487160" algn="l"/>
              </a:tabLst>
            </a:pPr>
            <a:r>
              <a:rPr sz="2400" spc="135" dirty="0">
                <a:cs typeface="Arial"/>
              </a:rPr>
              <a:t>Represent</a:t>
            </a:r>
            <a:r>
              <a:rPr lang="en-US" sz="2400" spc="770" dirty="0">
                <a:cs typeface="Arial"/>
              </a:rPr>
              <a:t> </a:t>
            </a:r>
            <a:r>
              <a:rPr sz="2400" spc="229" dirty="0">
                <a:cs typeface="Arial"/>
              </a:rPr>
              <a:t>the</a:t>
            </a:r>
            <a:r>
              <a:rPr lang="en-US" sz="2400" spc="229" dirty="0">
                <a:cs typeface="Arial"/>
              </a:rPr>
              <a:t> </a:t>
            </a:r>
            <a:r>
              <a:rPr sz="2400" spc="125" dirty="0">
                <a:cs typeface="Arial"/>
              </a:rPr>
              <a:t>profession</a:t>
            </a:r>
            <a:r>
              <a:rPr sz="2400" spc="395" dirty="0">
                <a:cs typeface="Arial"/>
              </a:rPr>
              <a:t> </a:t>
            </a:r>
            <a:r>
              <a:rPr sz="2400" spc="345" dirty="0">
                <a:cs typeface="Arial"/>
              </a:rPr>
              <a:t>to</a:t>
            </a:r>
            <a:r>
              <a:rPr lang="en-US" sz="2400" spc="345" dirty="0">
                <a:cs typeface="Arial"/>
              </a:rPr>
              <a:t> </a:t>
            </a:r>
            <a:r>
              <a:rPr sz="2400" spc="229" dirty="0">
                <a:cs typeface="Arial"/>
              </a:rPr>
              <a:t>the</a:t>
            </a:r>
            <a:r>
              <a:rPr lang="en-US" sz="2400" spc="229" dirty="0">
                <a:cs typeface="Arial"/>
              </a:rPr>
              <a:t> </a:t>
            </a:r>
            <a:r>
              <a:rPr sz="2400" spc="175" dirty="0">
                <a:cs typeface="Arial"/>
              </a:rPr>
              <a:t>public</a:t>
            </a:r>
            <a:endParaRPr sz="2400" dirty="0"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8924" y="6967376"/>
            <a:ext cx="9419475" cy="731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8924" y="7026800"/>
            <a:ext cx="8208264" cy="7455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847181" y="776884"/>
            <a:ext cx="73152" cy="69955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18808" y="776884"/>
            <a:ext cx="1139591" cy="618744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5"/>
          </p:nvPr>
        </p:nvSpPr>
        <p:spPr>
          <a:xfrm>
            <a:off x="1011934" y="7237758"/>
            <a:ext cx="6875145" cy="230832"/>
          </a:xfrm>
        </p:spPr>
        <p:txBody>
          <a:bodyPr/>
          <a:lstStyle/>
          <a:p>
            <a:pPr marL="12700" algn="ctr">
              <a:lnSpc>
                <a:spcPts val="1785"/>
              </a:lnSpc>
              <a:tabLst>
                <a:tab pos="326390" algn="l"/>
              </a:tabLst>
            </a:pPr>
            <a:r>
              <a:rPr lang="en-US" sz="1700">
                <a:latin typeface="Noto Sans CJK JP Regular"/>
                <a:cs typeface="Noto Sans CJK JP Regular"/>
              </a:rPr>
              <a:t>Professional Practices (BSCS)</a:t>
            </a:r>
            <a:endParaRPr lang="en-US" sz="1650" dirty="0">
              <a:latin typeface="Noto Sans CJK JP Regular"/>
              <a:cs typeface="Noto Sans CJK JP Regula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6067" y="938384"/>
            <a:ext cx="7016750" cy="548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320165" algn="l"/>
                <a:tab pos="2787650" algn="l"/>
                <a:tab pos="3469004" algn="l"/>
                <a:tab pos="4995545" algn="l"/>
              </a:tabLst>
            </a:pPr>
            <a:r>
              <a:rPr dirty="0"/>
              <a:t>BCS</a:t>
            </a:r>
            <a:r>
              <a:rPr lang="en-US" dirty="0"/>
              <a:t> </a:t>
            </a:r>
            <a:r>
              <a:rPr dirty="0"/>
              <a:t>Code</a:t>
            </a:r>
            <a:r>
              <a:rPr lang="en-US" dirty="0"/>
              <a:t> </a:t>
            </a:r>
            <a:r>
              <a:rPr dirty="0"/>
              <a:t>of</a:t>
            </a:r>
            <a:r>
              <a:rPr lang="en-US" dirty="0"/>
              <a:t> </a:t>
            </a:r>
            <a:r>
              <a:rPr dirty="0"/>
              <a:t>Good</a:t>
            </a:r>
            <a:r>
              <a:rPr lang="en-US" dirty="0"/>
              <a:t> </a:t>
            </a:r>
            <a:r>
              <a:rPr dirty="0"/>
              <a:t>Practice</a:t>
            </a:r>
          </a:p>
        </p:txBody>
      </p:sp>
      <p:sp>
        <p:nvSpPr>
          <p:cNvPr id="3" name="object 3"/>
          <p:cNvSpPr/>
          <p:nvPr/>
        </p:nvSpPr>
        <p:spPr>
          <a:xfrm>
            <a:off x="638924" y="1801012"/>
            <a:ext cx="8208264" cy="73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26363" y="1947554"/>
            <a:ext cx="7795895" cy="5103961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  <a:tabLst>
                <a:tab pos="962025" algn="l"/>
                <a:tab pos="1615440" algn="l"/>
              </a:tabLst>
            </a:pPr>
            <a:r>
              <a:rPr sz="2800" dirty="0">
                <a:solidFill>
                  <a:srgbClr val="2E3092"/>
                </a:solidFill>
                <a:cs typeface="Arial"/>
              </a:rPr>
              <a:t>Key</a:t>
            </a:r>
            <a:r>
              <a:rPr lang="en-US" sz="2800" dirty="0">
                <a:solidFill>
                  <a:srgbClr val="2E3092"/>
                </a:solidFill>
                <a:cs typeface="Arial"/>
              </a:rPr>
              <a:t> </a:t>
            </a:r>
            <a:r>
              <a:rPr sz="2800" dirty="0">
                <a:solidFill>
                  <a:srgbClr val="2E3092"/>
                </a:solidFill>
                <a:cs typeface="Arial"/>
              </a:rPr>
              <a:t>IT</a:t>
            </a:r>
            <a:r>
              <a:rPr lang="en-US" sz="2800" dirty="0">
                <a:solidFill>
                  <a:srgbClr val="2E3092"/>
                </a:solidFill>
                <a:cs typeface="Arial"/>
              </a:rPr>
              <a:t> </a:t>
            </a:r>
            <a:r>
              <a:rPr sz="2800" dirty="0">
                <a:solidFill>
                  <a:srgbClr val="2E3092"/>
                </a:solidFill>
                <a:cs typeface="Arial"/>
              </a:rPr>
              <a:t>Practices</a:t>
            </a:r>
            <a:endParaRPr sz="2800" dirty="0">
              <a:cs typeface="Arial"/>
            </a:endParaRPr>
          </a:p>
          <a:p>
            <a:pPr marL="494030" indent="-320040">
              <a:lnSpc>
                <a:spcPct val="100000"/>
              </a:lnSpc>
              <a:spcBef>
                <a:spcPts val="1105"/>
              </a:spcBef>
              <a:buClr>
                <a:srgbClr val="2E3092"/>
              </a:buClr>
              <a:buChar char="•"/>
              <a:tabLst>
                <a:tab pos="494665" algn="l"/>
                <a:tab pos="4375150" algn="l"/>
              </a:tabLst>
            </a:pPr>
            <a:r>
              <a:rPr sz="2400" dirty="0">
                <a:cs typeface="Arial"/>
              </a:rPr>
              <a:t>Project</a:t>
            </a:r>
            <a:r>
              <a:rPr lang="en-US" sz="2400" dirty="0">
                <a:cs typeface="Arial"/>
              </a:rPr>
              <a:t> </a:t>
            </a:r>
            <a:r>
              <a:rPr sz="2400" dirty="0">
                <a:cs typeface="Arial"/>
              </a:rPr>
              <a:t>Management</a:t>
            </a:r>
          </a:p>
          <a:p>
            <a:pPr marL="494030" indent="-320040">
              <a:lnSpc>
                <a:spcPct val="100000"/>
              </a:lnSpc>
              <a:spcBef>
                <a:spcPts val="1525"/>
              </a:spcBef>
              <a:buClr>
                <a:srgbClr val="2E3092"/>
              </a:buClr>
              <a:buChar char="•"/>
              <a:tabLst>
                <a:tab pos="494665" algn="l"/>
                <a:tab pos="2901950" algn="l"/>
              </a:tabLst>
            </a:pPr>
            <a:r>
              <a:rPr sz="2400" dirty="0">
                <a:cs typeface="Arial"/>
              </a:rPr>
              <a:t>Relationship</a:t>
            </a:r>
            <a:r>
              <a:rPr lang="en-US" sz="2400" dirty="0">
                <a:cs typeface="Arial"/>
              </a:rPr>
              <a:t> </a:t>
            </a:r>
            <a:r>
              <a:rPr sz="2400" dirty="0">
                <a:cs typeface="Arial"/>
              </a:rPr>
              <a:t>Management</a:t>
            </a:r>
          </a:p>
          <a:p>
            <a:pPr marL="494030" indent="-320040">
              <a:lnSpc>
                <a:spcPct val="100000"/>
              </a:lnSpc>
              <a:spcBef>
                <a:spcPts val="1525"/>
              </a:spcBef>
              <a:buClr>
                <a:srgbClr val="2E3092"/>
              </a:buClr>
              <a:buChar char="•"/>
              <a:tabLst>
                <a:tab pos="494665" algn="l"/>
              </a:tabLst>
            </a:pPr>
            <a:r>
              <a:rPr sz="2400" dirty="0">
                <a:cs typeface="Arial"/>
              </a:rPr>
              <a:t>Security</a:t>
            </a:r>
          </a:p>
          <a:p>
            <a:pPr marL="494030" indent="-320040">
              <a:lnSpc>
                <a:spcPct val="100000"/>
              </a:lnSpc>
              <a:spcBef>
                <a:spcPts val="1520"/>
              </a:spcBef>
              <a:buClr>
                <a:srgbClr val="2E3092"/>
              </a:buClr>
              <a:buChar char="•"/>
              <a:tabLst>
                <a:tab pos="494665" algn="l"/>
                <a:tab pos="1802764" algn="l"/>
              </a:tabLst>
            </a:pPr>
            <a:r>
              <a:rPr sz="2400" dirty="0">
                <a:cs typeface="Arial"/>
              </a:rPr>
              <a:t>Safety</a:t>
            </a:r>
            <a:r>
              <a:rPr lang="en-US" sz="2400" dirty="0">
                <a:cs typeface="Arial"/>
              </a:rPr>
              <a:t> </a:t>
            </a:r>
            <a:r>
              <a:rPr sz="2400" dirty="0">
                <a:cs typeface="Arial"/>
              </a:rPr>
              <a:t>Engineering</a:t>
            </a:r>
          </a:p>
          <a:p>
            <a:pPr marL="494030" indent="-320040">
              <a:lnSpc>
                <a:spcPct val="100000"/>
              </a:lnSpc>
              <a:spcBef>
                <a:spcPts val="1525"/>
              </a:spcBef>
              <a:buClr>
                <a:srgbClr val="2E3092"/>
              </a:buClr>
              <a:buChar char="•"/>
              <a:tabLst>
                <a:tab pos="494665" algn="l"/>
              </a:tabLst>
            </a:pPr>
            <a:r>
              <a:rPr sz="2400" dirty="0">
                <a:cs typeface="Arial"/>
              </a:rPr>
              <a:t>Change</a:t>
            </a:r>
            <a:r>
              <a:rPr lang="en-US" sz="2400" dirty="0">
                <a:cs typeface="Arial"/>
              </a:rPr>
              <a:t> </a:t>
            </a:r>
            <a:r>
              <a:rPr sz="2400" dirty="0">
                <a:cs typeface="Arial"/>
              </a:rPr>
              <a:t>Management</a:t>
            </a:r>
          </a:p>
          <a:p>
            <a:pPr marL="494030" indent="-320040">
              <a:lnSpc>
                <a:spcPct val="100000"/>
              </a:lnSpc>
              <a:spcBef>
                <a:spcPts val="1515"/>
              </a:spcBef>
              <a:buClr>
                <a:srgbClr val="2E3092"/>
              </a:buClr>
              <a:buChar char="•"/>
              <a:tabLst>
                <a:tab pos="494665" algn="l"/>
              </a:tabLst>
            </a:pPr>
            <a:r>
              <a:rPr sz="2400" dirty="0">
                <a:cs typeface="Arial"/>
              </a:rPr>
              <a:t>Quality</a:t>
            </a:r>
            <a:r>
              <a:rPr lang="en-US" sz="2400" dirty="0">
                <a:cs typeface="Arial"/>
              </a:rPr>
              <a:t> </a:t>
            </a:r>
            <a:r>
              <a:rPr sz="2400" dirty="0">
                <a:cs typeface="Arial"/>
              </a:rPr>
              <a:t>Management</a:t>
            </a:r>
            <a:endParaRPr lang="en-US" sz="2400" dirty="0">
              <a:cs typeface="Arial"/>
            </a:endParaRPr>
          </a:p>
          <a:p>
            <a:pPr marL="494030" indent="-320040">
              <a:lnSpc>
                <a:spcPct val="100000"/>
              </a:lnSpc>
              <a:spcBef>
                <a:spcPts val="1515"/>
              </a:spcBef>
              <a:buClr>
                <a:srgbClr val="2E3092"/>
              </a:buClr>
              <a:buChar char="•"/>
              <a:tabLst>
                <a:tab pos="494665" algn="l"/>
              </a:tabLst>
            </a:pPr>
            <a:r>
              <a:rPr lang="en-US" sz="2400" dirty="0" err="1">
                <a:cs typeface="Arial"/>
              </a:rPr>
              <a:t>etc</a:t>
            </a:r>
            <a:r>
              <a:rPr lang="en-US" sz="2400" dirty="0">
                <a:cs typeface="Arial"/>
              </a:rPr>
              <a:t> …..</a:t>
            </a:r>
            <a:endParaRPr sz="2400" dirty="0"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45"/>
              </a:spcBef>
              <a:tabLst>
                <a:tab pos="1856739" algn="l"/>
                <a:tab pos="3443604" algn="l"/>
                <a:tab pos="3984625" algn="l"/>
                <a:tab pos="6130290" algn="l"/>
              </a:tabLst>
            </a:pPr>
            <a:r>
              <a:rPr sz="2400" dirty="0">
                <a:cs typeface="Arial"/>
              </a:rPr>
              <a:t>Practices</a:t>
            </a:r>
            <a:r>
              <a:rPr lang="en-US" sz="2400" dirty="0">
                <a:cs typeface="Arial"/>
              </a:rPr>
              <a:t> </a:t>
            </a:r>
            <a:r>
              <a:rPr sz="2400" dirty="0">
                <a:cs typeface="Arial"/>
              </a:rPr>
              <a:t>Specific</a:t>
            </a:r>
            <a:r>
              <a:rPr lang="en-US" sz="2400" dirty="0">
                <a:cs typeface="Arial"/>
              </a:rPr>
              <a:t> </a:t>
            </a:r>
            <a:r>
              <a:rPr sz="2400" dirty="0">
                <a:cs typeface="Arial"/>
              </a:rPr>
              <a:t>to</a:t>
            </a:r>
            <a:r>
              <a:rPr lang="en-US" sz="2400" dirty="0">
                <a:cs typeface="Arial"/>
              </a:rPr>
              <a:t> </a:t>
            </a:r>
            <a:r>
              <a:rPr sz="2400" dirty="0">
                <a:cs typeface="Arial"/>
              </a:rPr>
              <a:t>Education,</a:t>
            </a:r>
            <a:r>
              <a:rPr lang="en-US" sz="2400" dirty="0">
                <a:cs typeface="Arial"/>
              </a:rPr>
              <a:t> </a:t>
            </a:r>
            <a:r>
              <a:rPr sz="2400" dirty="0">
                <a:cs typeface="Arial"/>
              </a:rPr>
              <a:t>Research</a:t>
            </a:r>
          </a:p>
        </p:txBody>
      </p:sp>
      <p:sp>
        <p:nvSpPr>
          <p:cNvPr id="5" name="object 5"/>
          <p:cNvSpPr/>
          <p:nvPr/>
        </p:nvSpPr>
        <p:spPr>
          <a:xfrm>
            <a:off x="638924" y="6967376"/>
            <a:ext cx="9419475" cy="731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8924" y="7026800"/>
            <a:ext cx="8208264" cy="7455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847181" y="776884"/>
            <a:ext cx="73152" cy="69955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18808" y="776884"/>
            <a:ext cx="1139591" cy="618744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5"/>
          </p:nvPr>
        </p:nvSpPr>
        <p:spPr>
          <a:xfrm>
            <a:off x="1011934" y="7237758"/>
            <a:ext cx="6875145" cy="230832"/>
          </a:xfrm>
        </p:spPr>
        <p:txBody>
          <a:bodyPr/>
          <a:lstStyle/>
          <a:p>
            <a:pPr marL="12700" algn="ctr">
              <a:lnSpc>
                <a:spcPts val="1785"/>
              </a:lnSpc>
              <a:tabLst>
                <a:tab pos="326390" algn="l"/>
              </a:tabLst>
            </a:pPr>
            <a:r>
              <a:rPr lang="en-US" sz="1700">
                <a:latin typeface="Noto Sans CJK JP Regular"/>
                <a:cs typeface="Noto Sans CJK JP Regular"/>
              </a:rPr>
              <a:t>Professional Practices (BSCS)</a:t>
            </a:r>
            <a:endParaRPr lang="en-US" sz="1650" dirty="0">
              <a:latin typeface="Noto Sans CJK JP Regular"/>
              <a:cs typeface="Noto Sans CJK JP Regular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06067" y="938384"/>
            <a:ext cx="7016750" cy="548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320165" algn="l"/>
                <a:tab pos="2787650" algn="l"/>
                <a:tab pos="3469004" algn="l"/>
                <a:tab pos="4995545" algn="l"/>
              </a:tabLst>
            </a:pPr>
            <a:r>
              <a:rPr dirty="0"/>
              <a:t>BCS</a:t>
            </a:r>
            <a:r>
              <a:rPr lang="en-US" dirty="0"/>
              <a:t> </a:t>
            </a:r>
            <a:r>
              <a:rPr dirty="0"/>
              <a:t>Code</a:t>
            </a:r>
            <a:r>
              <a:rPr lang="en-US" dirty="0"/>
              <a:t> </a:t>
            </a:r>
            <a:r>
              <a:rPr dirty="0"/>
              <a:t>of</a:t>
            </a:r>
            <a:r>
              <a:rPr lang="en-US" dirty="0"/>
              <a:t> </a:t>
            </a:r>
            <a:r>
              <a:rPr dirty="0"/>
              <a:t>Good</a:t>
            </a:r>
            <a:r>
              <a:rPr lang="en-US" dirty="0"/>
              <a:t> </a:t>
            </a:r>
            <a:r>
              <a:rPr dirty="0"/>
              <a:t>Practice</a:t>
            </a:r>
          </a:p>
        </p:txBody>
      </p:sp>
      <p:sp>
        <p:nvSpPr>
          <p:cNvPr id="3" name="object 3"/>
          <p:cNvSpPr/>
          <p:nvPr/>
        </p:nvSpPr>
        <p:spPr>
          <a:xfrm>
            <a:off x="638924" y="1801012"/>
            <a:ext cx="8208264" cy="73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626363" y="1676400"/>
            <a:ext cx="7670800" cy="5238614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1200"/>
              </a:spcBef>
              <a:tabLst>
                <a:tab pos="1908810" algn="l"/>
              </a:tabLst>
            </a:pPr>
            <a:r>
              <a:rPr sz="2850" dirty="0">
                <a:solidFill>
                  <a:srgbClr val="2E3092"/>
                </a:solidFill>
                <a:latin typeface="Arial"/>
                <a:cs typeface="Arial"/>
              </a:rPr>
              <a:t>Business</a:t>
            </a:r>
            <a:r>
              <a:rPr lang="en-US" sz="2850" dirty="0">
                <a:solidFill>
                  <a:srgbClr val="2E3092"/>
                </a:solidFill>
                <a:latin typeface="Arial"/>
                <a:cs typeface="Arial"/>
              </a:rPr>
              <a:t> </a:t>
            </a:r>
            <a:r>
              <a:rPr sz="2850" dirty="0">
                <a:solidFill>
                  <a:srgbClr val="2E3092"/>
                </a:solidFill>
                <a:latin typeface="Arial"/>
                <a:cs typeface="Arial"/>
              </a:rPr>
              <a:t>Functions</a:t>
            </a:r>
            <a:endParaRPr sz="2850" dirty="0">
              <a:latin typeface="Arial"/>
              <a:cs typeface="Arial"/>
            </a:endParaRPr>
          </a:p>
          <a:p>
            <a:pPr marL="494030" indent="-320040">
              <a:lnSpc>
                <a:spcPct val="150000"/>
              </a:lnSpc>
              <a:spcBef>
                <a:spcPts val="1105"/>
              </a:spcBef>
              <a:buClr>
                <a:srgbClr val="2E3092"/>
              </a:buClr>
              <a:buChar char="•"/>
              <a:tabLst>
                <a:tab pos="494665" algn="l"/>
                <a:tab pos="3167380" algn="l"/>
                <a:tab pos="4801235" algn="l"/>
              </a:tabLst>
            </a:pPr>
            <a:r>
              <a:rPr sz="2400" dirty="0">
                <a:cs typeface="Arial"/>
              </a:rPr>
              <a:t>Requirements</a:t>
            </a:r>
            <a:r>
              <a:rPr lang="en-US" sz="2400" dirty="0">
                <a:cs typeface="Arial"/>
              </a:rPr>
              <a:t> </a:t>
            </a:r>
            <a:r>
              <a:rPr sz="2400" dirty="0">
                <a:cs typeface="Arial"/>
              </a:rPr>
              <a:t>Analysis</a:t>
            </a:r>
            <a:r>
              <a:rPr lang="en-US" sz="2400" dirty="0">
                <a:cs typeface="Arial"/>
              </a:rPr>
              <a:t> </a:t>
            </a:r>
            <a:r>
              <a:rPr sz="2400" dirty="0">
                <a:cs typeface="Arial"/>
              </a:rPr>
              <a:t>&amp; Specification</a:t>
            </a:r>
          </a:p>
          <a:p>
            <a:pPr marL="494030" indent="-320040">
              <a:lnSpc>
                <a:spcPct val="150000"/>
              </a:lnSpc>
              <a:spcBef>
                <a:spcPts val="1525"/>
              </a:spcBef>
              <a:buClr>
                <a:srgbClr val="2E3092"/>
              </a:buClr>
              <a:buChar char="•"/>
              <a:tabLst>
                <a:tab pos="494665" algn="l"/>
              </a:tabLst>
            </a:pPr>
            <a:r>
              <a:rPr sz="2400" dirty="0">
                <a:cs typeface="Arial"/>
              </a:rPr>
              <a:t>Software Development</a:t>
            </a:r>
          </a:p>
          <a:p>
            <a:pPr marL="494030" indent="-320040">
              <a:lnSpc>
                <a:spcPct val="150000"/>
              </a:lnSpc>
              <a:spcBef>
                <a:spcPts val="1525"/>
              </a:spcBef>
              <a:buClr>
                <a:srgbClr val="2E3092"/>
              </a:buClr>
              <a:buChar char="•"/>
              <a:tabLst>
                <a:tab pos="494665" algn="l"/>
                <a:tab pos="1988820" algn="l"/>
              </a:tabLst>
            </a:pPr>
            <a:r>
              <a:rPr sz="2400" dirty="0">
                <a:cs typeface="Arial"/>
              </a:rPr>
              <a:t>System</a:t>
            </a:r>
            <a:r>
              <a:rPr lang="en-US" sz="2400" dirty="0">
                <a:cs typeface="Arial"/>
              </a:rPr>
              <a:t> </a:t>
            </a:r>
            <a:r>
              <a:rPr sz="2400" dirty="0">
                <a:cs typeface="Arial"/>
              </a:rPr>
              <a:t>Installation</a:t>
            </a:r>
          </a:p>
          <a:p>
            <a:pPr marL="494030" indent="-320040">
              <a:lnSpc>
                <a:spcPct val="150000"/>
              </a:lnSpc>
              <a:spcBef>
                <a:spcPts val="1520"/>
              </a:spcBef>
              <a:buClr>
                <a:srgbClr val="2E3092"/>
              </a:buClr>
              <a:buChar char="•"/>
              <a:tabLst>
                <a:tab pos="494665" algn="l"/>
              </a:tabLst>
            </a:pPr>
            <a:r>
              <a:rPr sz="2400" dirty="0">
                <a:cs typeface="Arial"/>
              </a:rPr>
              <a:t>Training</a:t>
            </a:r>
          </a:p>
          <a:p>
            <a:pPr marL="494030" indent="-320040">
              <a:lnSpc>
                <a:spcPct val="150000"/>
              </a:lnSpc>
              <a:spcBef>
                <a:spcPts val="1525"/>
              </a:spcBef>
              <a:buClr>
                <a:srgbClr val="2E3092"/>
              </a:buClr>
              <a:buChar char="•"/>
              <a:tabLst>
                <a:tab pos="494665" algn="l"/>
                <a:tab pos="1988820" algn="l"/>
              </a:tabLst>
            </a:pPr>
            <a:r>
              <a:rPr sz="2400" dirty="0">
                <a:cs typeface="Arial"/>
              </a:rPr>
              <a:t>System</a:t>
            </a:r>
            <a:r>
              <a:rPr lang="en-US" sz="2400" dirty="0">
                <a:cs typeface="Arial"/>
              </a:rPr>
              <a:t> </a:t>
            </a:r>
            <a:r>
              <a:rPr sz="2400" dirty="0">
                <a:cs typeface="Arial"/>
              </a:rPr>
              <a:t>Operations</a:t>
            </a:r>
          </a:p>
          <a:p>
            <a:pPr marL="494030" indent="-320040">
              <a:lnSpc>
                <a:spcPct val="150000"/>
              </a:lnSpc>
              <a:spcBef>
                <a:spcPts val="1515"/>
              </a:spcBef>
              <a:buClr>
                <a:srgbClr val="2E3092"/>
              </a:buClr>
              <a:buChar char="•"/>
              <a:tabLst>
                <a:tab pos="494665" algn="l"/>
                <a:tab pos="2936875" algn="l"/>
              </a:tabLst>
            </a:pPr>
            <a:r>
              <a:rPr sz="2400" dirty="0">
                <a:cs typeface="Arial"/>
              </a:rPr>
              <a:t>Support and</a:t>
            </a:r>
            <a:r>
              <a:rPr lang="en-US" sz="2400" dirty="0">
                <a:cs typeface="Arial"/>
              </a:rPr>
              <a:t> </a:t>
            </a:r>
            <a:r>
              <a:rPr sz="2400" dirty="0">
                <a:cs typeface="Arial"/>
              </a:rPr>
              <a:t>Maintenance</a:t>
            </a:r>
          </a:p>
        </p:txBody>
      </p:sp>
      <p:sp>
        <p:nvSpPr>
          <p:cNvPr id="5" name="object 5"/>
          <p:cNvSpPr/>
          <p:nvPr/>
        </p:nvSpPr>
        <p:spPr>
          <a:xfrm>
            <a:off x="638924" y="6967376"/>
            <a:ext cx="9419475" cy="731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8924" y="7026800"/>
            <a:ext cx="8208264" cy="7455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847181" y="776884"/>
            <a:ext cx="73152" cy="69955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18808" y="776884"/>
            <a:ext cx="1139591" cy="618744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5"/>
          </p:nvPr>
        </p:nvSpPr>
        <p:spPr>
          <a:xfrm>
            <a:off x="1011934" y="7237758"/>
            <a:ext cx="6875145" cy="230832"/>
          </a:xfrm>
        </p:spPr>
        <p:txBody>
          <a:bodyPr/>
          <a:lstStyle/>
          <a:p>
            <a:pPr marL="12700" algn="ctr">
              <a:lnSpc>
                <a:spcPts val="1785"/>
              </a:lnSpc>
              <a:tabLst>
                <a:tab pos="326390" algn="l"/>
              </a:tabLst>
            </a:pPr>
            <a:r>
              <a:rPr lang="en-US" sz="1700">
                <a:latin typeface="Noto Sans CJK JP Regular"/>
                <a:cs typeface="Noto Sans CJK JP Regular"/>
              </a:rPr>
              <a:t>Professional Practices (BSCS)</a:t>
            </a:r>
            <a:endParaRPr lang="en-US" sz="1650" dirty="0">
              <a:latin typeface="Noto Sans CJK JP Regular"/>
              <a:cs typeface="Noto Sans CJK JP Regular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990600"/>
            <a:ext cx="7332217" cy="5392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320165" algn="l"/>
                <a:tab pos="2787650" algn="l"/>
                <a:tab pos="3469004" algn="l"/>
                <a:tab pos="4995545" algn="l"/>
              </a:tabLst>
            </a:pPr>
            <a:r>
              <a:rPr lang="en-US" dirty="0"/>
              <a:t>1.Project Management</a:t>
            </a:r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638924" y="1801012"/>
            <a:ext cx="8208264" cy="73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38924" y="6967376"/>
            <a:ext cx="9419475" cy="731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8924" y="7026800"/>
            <a:ext cx="8208264" cy="7455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847181" y="776884"/>
            <a:ext cx="73152" cy="69955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18808" y="776884"/>
            <a:ext cx="1139591" cy="618744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5"/>
          </p:nvPr>
        </p:nvSpPr>
        <p:spPr>
          <a:xfrm>
            <a:off x="1011934" y="7237758"/>
            <a:ext cx="6875145" cy="230832"/>
          </a:xfrm>
        </p:spPr>
        <p:txBody>
          <a:bodyPr/>
          <a:lstStyle/>
          <a:p>
            <a:pPr marL="12700" algn="ctr">
              <a:lnSpc>
                <a:spcPts val="1785"/>
              </a:lnSpc>
              <a:tabLst>
                <a:tab pos="326390" algn="l"/>
              </a:tabLst>
            </a:pPr>
            <a:r>
              <a:rPr lang="en-US" sz="1700">
                <a:latin typeface="Noto Sans CJK JP Regular"/>
                <a:cs typeface="Noto Sans CJK JP Regular"/>
              </a:rPr>
              <a:t>Professional Practices (BSCS)</a:t>
            </a:r>
            <a:endParaRPr lang="en-US" sz="1650" dirty="0">
              <a:latin typeface="Noto Sans CJK JP Regular"/>
              <a:cs typeface="Noto Sans CJK JP Regular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" y="1981200"/>
            <a:ext cx="81534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2400" b="1" dirty="0"/>
              <a:t> Project management</a:t>
            </a:r>
            <a:r>
              <a:rPr lang="en-US" sz="2400" dirty="0"/>
              <a:t> is the process of managing several related projects, often with the intention of improving an organization's performance.</a:t>
            </a:r>
          </a:p>
          <a:p>
            <a:pPr algn="just"/>
            <a:endParaRPr lang="en-US" sz="2400" dirty="0"/>
          </a:p>
          <a:p>
            <a:pPr algn="just">
              <a:buFont typeface="Arial" pitchFamily="34" charset="0"/>
              <a:buChar char="•"/>
            </a:pPr>
            <a:r>
              <a:rPr lang="en-US" sz="2400" dirty="0"/>
              <a:t> Program management is often closely related to systems engineering, industrial engineering, change management, and business transformation.</a:t>
            </a:r>
          </a:p>
          <a:p>
            <a:pPr algn="just"/>
            <a:endParaRPr lang="en-US" sz="2400" dirty="0"/>
          </a:p>
          <a:p>
            <a:pPr algn="just">
              <a:buFont typeface="Arial" pitchFamily="34" charset="0"/>
              <a:buChar char="•"/>
            </a:pPr>
            <a:r>
              <a:rPr lang="en-US" sz="2400" dirty="0"/>
              <a:t> </a:t>
            </a:r>
            <a:r>
              <a:rPr lang="en-US" sz="2400" b="1" dirty="0"/>
              <a:t>Key Factors are: </a:t>
            </a:r>
            <a:r>
              <a:rPr lang="en-US" sz="2200" dirty="0"/>
              <a:t>Governance, Alignment, Assurance, Management, Integration, Finances, Infrastructure, Planning, Improvement. </a:t>
            </a:r>
            <a:endParaRPr lang="en-US" sz="2200" b="1" dirty="0"/>
          </a:p>
          <a:p>
            <a:pPr algn="just"/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990600"/>
            <a:ext cx="7332217" cy="5392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320165" algn="l"/>
                <a:tab pos="2787650" algn="l"/>
                <a:tab pos="3469004" algn="l"/>
                <a:tab pos="4995545" algn="l"/>
              </a:tabLst>
            </a:pPr>
            <a:r>
              <a:rPr lang="en-US" dirty="0"/>
              <a:t>2.Relationship Management</a:t>
            </a:r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638924" y="1801012"/>
            <a:ext cx="8208264" cy="73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38924" y="6967376"/>
            <a:ext cx="9419475" cy="731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8924" y="7026800"/>
            <a:ext cx="8208264" cy="7455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847181" y="776884"/>
            <a:ext cx="73152" cy="69955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18808" y="776884"/>
            <a:ext cx="1139591" cy="618744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5"/>
          </p:nvPr>
        </p:nvSpPr>
        <p:spPr>
          <a:xfrm>
            <a:off x="1011934" y="7237758"/>
            <a:ext cx="6875145" cy="230832"/>
          </a:xfrm>
        </p:spPr>
        <p:txBody>
          <a:bodyPr/>
          <a:lstStyle/>
          <a:p>
            <a:pPr marL="12700" algn="ctr">
              <a:lnSpc>
                <a:spcPts val="1785"/>
              </a:lnSpc>
              <a:tabLst>
                <a:tab pos="326390" algn="l"/>
              </a:tabLst>
            </a:pPr>
            <a:r>
              <a:rPr lang="en-US" sz="1700">
                <a:latin typeface="Noto Sans CJK JP Regular"/>
                <a:cs typeface="Noto Sans CJK JP Regular"/>
              </a:rPr>
              <a:t>Professional Practices (BSCS)</a:t>
            </a:r>
            <a:endParaRPr lang="en-US" sz="1650" dirty="0">
              <a:latin typeface="Noto Sans CJK JP Regular"/>
              <a:cs typeface="Noto Sans CJK JP Regular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" y="1981200"/>
            <a:ext cx="81534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2400" b="1" dirty="0"/>
              <a:t> </a:t>
            </a:r>
            <a:r>
              <a:rPr lang="en-US" sz="2400" dirty="0"/>
              <a:t>A strategy in which an organization maintains an ongoing level of engagement with its audience.</a:t>
            </a:r>
          </a:p>
          <a:p>
            <a:pPr algn="just"/>
            <a:endParaRPr lang="en-US" sz="2400" dirty="0"/>
          </a:p>
          <a:p>
            <a:pPr algn="just">
              <a:buFont typeface="Arial" pitchFamily="34" charset="0"/>
              <a:buChar char="•"/>
            </a:pPr>
            <a:r>
              <a:rPr lang="en-US" sz="2400" dirty="0"/>
              <a:t> Relationship management involves strategies to build client support for a business and its offerings, and increase brand loyalty. </a:t>
            </a:r>
          </a:p>
          <a:p>
            <a:pPr algn="just"/>
            <a:endParaRPr lang="en-US" sz="2400" dirty="0"/>
          </a:p>
          <a:p>
            <a:pPr algn="just">
              <a:buFont typeface="Arial" pitchFamily="34" charset="0"/>
              <a:buChar char="•"/>
            </a:pPr>
            <a:r>
              <a:rPr lang="en-US" sz="2400" dirty="0"/>
              <a:t> Most often, relationship building occurs at the customer level, but it is valuable between businesses as well.</a:t>
            </a:r>
          </a:p>
          <a:p>
            <a:pPr algn="just">
              <a:buFont typeface="Arial" pitchFamily="34" charset="0"/>
              <a:buChar char="•"/>
            </a:pPr>
            <a:endParaRPr lang="en-US" sz="2400" dirty="0"/>
          </a:p>
          <a:p>
            <a:pPr algn="ctr"/>
            <a:r>
              <a:rPr lang="en-US" sz="2400" b="1" dirty="0"/>
              <a:t>B2C and B2B models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990600"/>
            <a:ext cx="7332217" cy="5392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320165" algn="l"/>
                <a:tab pos="2787650" algn="l"/>
                <a:tab pos="3469004" algn="l"/>
                <a:tab pos="4995545" algn="l"/>
              </a:tabLst>
            </a:pPr>
            <a:r>
              <a:rPr lang="en-US" dirty="0"/>
              <a:t>3.Security</a:t>
            </a:r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638924" y="1801012"/>
            <a:ext cx="8208264" cy="73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38924" y="6967376"/>
            <a:ext cx="9419475" cy="731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8924" y="7026800"/>
            <a:ext cx="8208264" cy="7455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847181" y="776884"/>
            <a:ext cx="73152" cy="69955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18808" y="776884"/>
            <a:ext cx="1139591" cy="618744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5"/>
          </p:nvPr>
        </p:nvSpPr>
        <p:spPr>
          <a:xfrm>
            <a:off x="1011934" y="7237758"/>
            <a:ext cx="6875145" cy="230832"/>
          </a:xfrm>
        </p:spPr>
        <p:txBody>
          <a:bodyPr/>
          <a:lstStyle/>
          <a:p>
            <a:pPr marL="12700" algn="ctr">
              <a:lnSpc>
                <a:spcPts val="1785"/>
              </a:lnSpc>
              <a:tabLst>
                <a:tab pos="326390" algn="l"/>
              </a:tabLst>
            </a:pPr>
            <a:r>
              <a:rPr lang="en-US" sz="1700">
                <a:latin typeface="Noto Sans CJK JP Regular"/>
                <a:cs typeface="Noto Sans CJK JP Regular"/>
              </a:rPr>
              <a:t>Professional Practices (BSCS)</a:t>
            </a:r>
            <a:endParaRPr lang="en-US" sz="1650" dirty="0">
              <a:latin typeface="Noto Sans CJK JP Regular"/>
              <a:cs typeface="Noto Sans CJK JP Regular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" y="1981200"/>
            <a:ext cx="81534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US" sz="2400" b="1" dirty="0"/>
              <a:t> </a:t>
            </a:r>
            <a:r>
              <a:rPr lang="en-US" sz="2400" dirty="0"/>
              <a:t>Security is the protection of assets. The three main aspects are:</a:t>
            </a:r>
          </a:p>
          <a:p>
            <a:pPr>
              <a:buFontTx/>
              <a:buNone/>
            </a:pPr>
            <a:endParaRPr lang="en-US" sz="2400" dirty="0"/>
          </a:p>
          <a:p>
            <a:pPr>
              <a:buFont typeface="Arial" pitchFamily="34" charset="0"/>
              <a:buChar char="•"/>
            </a:pPr>
            <a:r>
              <a:rPr lang="en-US" sz="2400" dirty="0"/>
              <a:t> Prevention</a:t>
            </a:r>
          </a:p>
          <a:p>
            <a:pPr>
              <a:buFont typeface="Arial" pitchFamily="34" charset="0"/>
              <a:buChar char="•"/>
            </a:pPr>
            <a:endParaRPr lang="en-US" sz="2400" dirty="0"/>
          </a:p>
          <a:p>
            <a:pPr>
              <a:buFont typeface="Arial" pitchFamily="34" charset="0"/>
              <a:buChar char="•"/>
            </a:pPr>
            <a:r>
              <a:rPr lang="en-US" sz="2400" dirty="0"/>
              <a:t> Detection</a:t>
            </a:r>
          </a:p>
          <a:p>
            <a:pPr>
              <a:buFont typeface="Arial" pitchFamily="34" charset="0"/>
              <a:buChar char="•"/>
            </a:pPr>
            <a:endParaRPr lang="en-US" sz="2400" dirty="0"/>
          </a:p>
          <a:p>
            <a:pPr>
              <a:buFont typeface="Arial" pitchFamily="34" charset="0"/>
              <a:buChar char="•"/>
            </a:pPr>
            <a:r>
              <a:rPr lang="en-US" sz="2400" dirty="0"/>
              <a:t> Re-action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990600"/>
            <a:ext cx="7332217" cy="5392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320165" algn="l"/>
                <a:tab pos="2787650" algn="l"/>
                <a:tab pos="3469004" algn="l"/>
                <a:tab pos="4995545" algn="l"/>
              </a:tabLst>
            </a:pPr>
            <a:r>
              <a:rPr lang="en-US" dirty="0"/>
              <a:t>4.Safety Management</a:t>
            </a:r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638924" y="1801012"/>
            <a:ext cx="8208264" cy="73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38924" y="6967376"/>
            <a:ext cx="9419475" cy="731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8924" y="7026800"/>
            <a:ext cx="8208264" cy="7455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847181" y="776884"/>
            <a:ext cx="73152" cy="69955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18808" y="776884"/>
            <a:ext cx="1139591" cy="618744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5"/>
          </p:nvPr>
        </p:nvSpPr>
        <p:spPr>
          <a:xfrm>
            <a:off x="1011934" y="7237758"/>
            <a:ext cx="6875145" cy="230832"/>
          </a:xfrm>
        </p:spPr>
        <p:txBody>
          <a:bodyPr/>
          <a:lstStyle/>
          <a:p>
            <a:pPr marL="12700" algn="ctr">
              <a:lnSpc>
                <a:spcPts val="1785"/>
              </a:lnSpc>
              <a:tabLst>
                <a:tab pos="326390" algn="l"/>
              </a:tabLst>
            </a:pPr>
            <a:r>
              <a:rPr lang="en-US" sz="1700">
                <a:latin typeface="Noto Sans CJK JP Regular"/>
                <a:cs typeface="Noto Sans CJK JP Regular"/>
              </a:rPr>
              <a:t>Professional Practices (BSCS)</a:t>
            </a:r>
            <a:endParaRPr lang="en-US" sz="1650" dirty="0">
              <a:latin typeface="Noto Sans CJK JP Regular"/>
              <a:cs typeface="Noto Sans CJK JP Regular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" y="1981200"/>
            <a:ext cx="8153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US" sz="2400" b="1" dirty="0"/>
              <a:t> </a:t>
            </a:r>
            <a:endParaRPr lang="en-US" sz="2400" dirty="0"/>
          </a:p>
        </p:txBody>
      </p:sp>
      <p:sp>
        <p:nvSpPr>
          <p:cNvPr id="11" name="Rectangle 10"/>
          <p:cNvSpPr/>
          <p:nvPr/>
        </p:nvSpPr>
        <p:spPr>
          <a:xfrm>
            <a:off x="609600" y="1981200"/>
            <a:ext cx="8153400" cy="52937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2000" dirty="0"/>
              <a:t> </a:t>
            </a:r>
            <a:r>
              <a:rPr lang="en-US" sz="2400" dirty="0"/>
              <a:t>Safety management is managing business activities and applying principles, framework, processes to help prevent accidents, injuries and to minimize other risk.</a:t>
            </a:r>
            <a:endParaRPr lang="en-US" sz="2200" dirty="0"/>
          </a:p>
          <a:p>
            <a:pPr algn="just"/>
            <a:endParaRPr lang="en-US" sz="2200" dirty="0"/>
          </a:p>
          <a:p>
            <a:pPr algn="just">
              <a:buFont typeface="Arial" pitchFamily="34" charset="0"/>
              <a:buChar char="•"/>
            </a:pPr>
            <a:r>
              <a:rPr lang="en-US" sz="2400" dirty="0"/>
              <a:t> A safety management system is a systematic approach to managing safety, including organizational structures, accountabilities, policies and procedures. </a:t>
            </a:r>
          </a:p>
          <a:p>
            <a:pPr marL="514350" indent="-514350"/>
            <a:endParaRPr lang="en-US" sz="2400" dirty="0"/>
          </a:p>
          <a:p>
            <a:pPr marL="514350" indent="-514350"/>
            <a:r>
              <a:rPr lang="en-US" sz="2400" b="1" dirty="0"/>
              <a:t>Safety policy and objectives: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Management commitment and responsibility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Appointment of key safety personnel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SMS implementation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Coordination of emergency response planning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SMS documentation</a:t>
            </a:r>
          </a:p>
          <a:p>
            <a:pPr algn="just">
              <a:buFont typeface="Arial" pitchFamily="34" charset="0"/>
              <a:buChar char="•"/>
            </a:pP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990600"/>
            <a:ext cx="7332217" cy="5392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320165" algn="l"/>
                <a:tab pos="2787650" algn="l"/>
                <a:tab pos="3469004" algn="l"/>
                <a:tab pos="4995545" algn="l"/>
              </a:tabLst>
            </a:pPr>
            <a:r>
              <a:rPr lang="en-US" dirty="0"/>
              <a:t>5.Change Management</a:t>
            </a:r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638924" y="1801012"/>
            <a:ext cx="8208264" cy="73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38924" y="6967376"/>
            <a:ext cx="9419475" cy="731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8924" y="7026800"/>
            <a:ext cx="8208264" cy="7455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847181" y="776884"/>
            <a:ext cx="73152" cy="69955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18808" y="776884"/>
            <a:ext cx="1139591" cy="618744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5"/>
          </p:nvPr>
        </p:nvSpPr>
        <p:spPr>
          <a:xfrm>
            <a:off x="1011934" y="7237758"/>
            <a:ext cx="6875145" cy="230832"/>
          </a:xfrm>
        </p:spPr>
        <p:txBody>
          <a:bodyPr/>
          <a:lstStyle/>
          <a:p>
            <a:pPr marL="12700" algn="ctr">
              <a:lnSpc>
                <a:spcPts val="1785"/>
              </a:lnSpc>
              <a:tabLst>
                <a:tab pos="326390" algn="l"/>
              </a:tabLst>
            </a:pPr>
            <a:r>
              <a:rPr lang="en-US" sz="1700">
                <a:latin typeface="Noto Sans CJK JP Regular"/>
                <a:cs typeface="Noto Sans CJK JP Regular"/>
              </a:rPr>
              <a:t>Professional Practices (BSCS)</a:t>
            </a:r>
            <a:endParaRPr lang="en-US" sz="1650" dirty="0">
              <a:latin typeface="Noto Sans CJK JP Regular"/>
              <a:cs typeface="Noto Sans CJK JP Regular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" y="1981200"/>
            <a:ext cx="8153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US" sz="2400" b="1" dirty="0"/>
              <a:t> </a:t>
            </a:r>
            <a:endParaRPr lang="en-US" sz="2400" dirty="0"/>
          </a:p>
        </p:txBody>
      </p:sp>
      <p:sp>
        <p:nvSpPr>
          <p:cNvPr id="11" name="Rectangle 10"/>
          <p:cNvSpPr/>
          <p:nvPr/>
        </p:nvSpPr>
        <p:spPr>
          <a:xfrm>
            <a:off x="685800" y="1905000"/>
            <a:ext cx="8153400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Change management is the discipline that guides how we prepare, equip and support individuals to successfully adopt change in order to drive organizational success and outcomes.</a:t>
            </a:r>
          </a:p>
          <a:p>
            <a:pPr algn="just"/>
            <a:r>
              <a:rPr lang="en-US" sz="2400" dirty="0">
                <a:solidFill>
                  <a:srgbClr val="FF0000"/>
                </a:solidFill>
              </a:rPr>
              <a:t>(Record, Analyze, Decide, Implement)</a:t>
            </a:r>
          </a:p>
          <a:p>
            <a:pPr algn="just"/>
            <a:r>
              <a:rPr lang="en-US" sz="2000" b="1" dirty="0"/>
              <a:t>Individual Change Management: </a:t>
            </a:r>
            <a:r>
              <a:rPr lang="en-US" sz="2000" dirty="0"/>
              <a:t>requires understanding how people experience change and what they need to change successfully.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b="1" dirty="0"/>
              <a:t>Organizational/Initiative Change Management: </a:t>
            </a:r>
            <a:r>
              <a:rPr lang="en-US" sz="2000" dirty="0"/>
              <a:t>provides us with the steps and actions to take at the project level to support the hundreds or thousands of individuals who are impacted by a project.</a:t>
            </a:r>
          </a:p>
          <a:p>
            <a:pPr algn="just"/>
            <a:endParaRPr lang="en-US" sz="2000" dirty="0"/>
          </a:p>
          <a:p>
            <a:pPr algn="just"/>
            <a:r>
              <a:rPr lang="en-US" sz="2000" b="1" dirty="0"/>
              <a:t>Enterprise Change Management Capability: </a:t>
            </a:r>
            <a:r>
              <a:rPr lang="en-US" sz="2000" dirty="0"/>
              <a:t>is an organizational core competency that provides competitive differentiation and the ability to effectively adapt to the ever-changing world.</a:t>
            </a:r>
          </a:p>
          <a:p>
            <a:pPr algn="just"/>
            <a:endParaRPr lang="en-US" sz="2400" b="1" dirty="0"/>
          </a:p>
          <a:p>
            <a:pPr algn="just">
              <a:buFont typeface="Arial" pitchFamily="34" charset="0"/>
              <a:buChar char="•"/>
            </a:pP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0600" y="990600"/>
            <a:ext cx="7332217" cy="53925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320165" algn="l"/>
                <a:tab pos="2787650" algn="l"/>
                <a:tab pos="3469004" algn="l"/>
                <a:tab pos="4995545" algn="l"/>
              </a:tabLst>
            </a:pPr>
            <a:r>
              <a:rPr lang="en-US" dirty="0"/>
              <a:t>6.Quality Management</a:t>
            </a:r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638924" y="1801012"/>
            <a:ext cx="8208264" cy="73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38924" y="6967376"/>
            <a:ext cx="9419475" cy="731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8924" y="7026800"/>
            <a:ext cx="8208264" cy="7455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847181" y="776884"/>
            <a:ext cx="73152" cy="69955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18808" y="776884"/>
            <a:ext cx="1139591" cy="618744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5"/>
          </p:nvPr>
        </p:nvSpPr>
        <p:spPr>
          <a:xfrm>
            <a:off x="1011934" y="7237758"/>
            <a:ext cx="6875145" cy="230832"/>
          </a:xfrm>
        </p:spPr>
        <p:txBody>
          <a:bodyPr/>
          <a:lstStyle/>
          <a:p>
            <a:pPr marL="12700" algn="ctr">
              <a:lnSpc>
                <a:spcPts val="1785"/>
              </a:lnSpc>
              <a:tabLst>
                <a:tab pos="326390" algn="l"/>
              </a:tabLst>
            </a:pPr>
            <a:r>
              <a:rPr lang="en-US" sz="1700">
                <a:latin typeface="Noto Sans CJK JP Regular"/>
                <a:cs typeface="Noto Sans CJK JP Regular"/>
              </a:rPr>
              <a:t>Professional Practices (BSCS)</a:t>
            </a:r>
            <a:endParaRPr lang="en-US" sz="1650" dirty="0">
              <a:latin typeface="Noto Sans CJK JP Regular"/>
              <a:cs typeface="Noto Sans CJK JP Regular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" y="1981200"/>
            <a:ext cx="8153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Tx/>
              <a:buNone/>
            </a:pPr>
            <a:r>
              <a:rPr lang="en-US" sz="2400" b="1" dirty="0"/>
              <a:t> </a:t>
            </a:r>
            <a:endParaRPr lang="en-US" sz="2400" dirty="0"/>
          </a:p>
        </p:txBody>
      </p:sp>
      <p:sp>
        <p:nvSpPr>
          <p:cNvPr id="11" name="Rectangle 10"/>
          <p:cNvSpPr/>
          <p:nvPr/>
        </p:nvSpPr>
        <p:spPr>
          <a:xfrm>
            <a:off x="609600" y="1905000"/>
            <a:ext cx="81534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Arial" pitchFamily="34" charset="0"/>
              <a:buChar char="•"/>
            </a:pPr>
            <a:r>
              <a:rPr lang="en-US" sz="2400" dirty="0"/>
              <a:t> The act of overseeing all activities and tasks needed to maintain a desired level of excellence. </a:t>
            </a:r>
          </a:p>
          <a:p>
            <a:pPr algn="just"/>
            <a:endParaRPr lang="en-US" sz="2400" b="1" dirty="0"/>
          </a:p>
          <a:p>
            <a:pPr algn="just">
              <a:buFont typeface="Arial" pitchFamily="34" charset="0"/>
              <a:buChar char="•"/>
            </a:pPr>
            <a:r>
              <a:rPr lang="en-US" sz="2400" dirty="0"/>
              <a:t> This includes the determination of a quality policy, creating and implementing quality planning and assurance, and quality control and quality improvement. It is also referred to as total quality management (TQM).</a:t>
            </a:r>
          </a:p>
          <a:p>
            <a:pPr algn="just">
              <a:buFont typeface="Arial" pitchFamily="34" charset="0"/>
              <a:buChar char="•"/>
            </a:pPr>
            <a:endParaRPr lang="en-US" sz="2400" b="1" dirty="0"/>
          </a:p>
          <a:p>
            <a:pPr algn="just">
              <a:buFont typeface="Arial" pitchFamily="34" charset="0"/>
              <a:buChar char="•"/>
            </a:pPr>
            <a:r>
              <a:rPr lang="en-US" sz="2400" b="1" dirty="0"/>
              <a:t> </a:t>
            </a:r>
            <a:r>
              <a:rPr lang="en-US" sz="2400" dirty="0"/>
              <a:t>In general, quality management focuses on long-term goals through the implementation of short-term initiatives. </a:t>
            </a:r>
            <a:endParaRPr lang="en-US" sz="2400" b="1" dirty="0"/>
          </a:p>
          <a:p>
            <a:pPr algn="just">
              <a:buFont typeface="Arial" pitchFamily="34" charset="0"/>
              <a:buChar char="•"/>
            </a:pP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2840" y="938384"/>
            <a:ext cx="2282825" cy="548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Overview</a:t>
            </a:r>
          </a:p>
        </p:txBody>
      </p:sp>
      <p:sp>
        <p:nvSpPr>
          <p:cNvPr id="3" name="object 3"/>
          <p:cNvSpPr/>
          <p:nvPr/>
        </p:nvSpPr>
        <p:spPr>
          <a:xfrm>
            <a:off x="638924" y="1801012"/>
            <a:ext cx="8208264" cy="73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19911" y="1940054"/>
            <a:ext cx="6680200" cy="2221865"/>
          </a:xfrm>
          <a:prstGeom prst="rect">
            <a:avLst/>
          </a:prstGeom>
        </p:spPr>
        <p:txBody>
          <a:bodyPr vert="horz" wrap="square" lIns="0" tIns="201930" rIns="0" bIns="0" rtlCol="0">
            <a:spAutoFit/>
          </a:bodyPr>
          <a:lstStyle/>
          <a:p>
            <a:pPr marL="300355" indent="-287655">
              <a:lnSpc>
                <a:spcPct val="100000"/>
              </a:lnSpc>
              <a:spcBef>
                <a:spcPts val="1590"/>
              </a:spcBef>
              <a:buClr>
                <a:srgbClr val="2E3092"/>
              </a:buClr>
              <a:buChar char="•"/>
              <a:tabLst>
                <a:tab pos="300355" algn="l"/>
                <a:tab pos="300990" algn="l"/>
                <a:tab pos="1131570" algn="l"/>
                <a:tab pos="2376805" algn="l"/>
                <a:tab pos="4198620" algn="l"/>
                <a:tab pos="5574030" algn="l"/>
              </a:tabLst>
            </a:pPr>
            <a:r>
              <a:rPr sz="2350" dirty="0">
                <a:solidFill>
                  <a:srgbClr val="939598"/>
                </a:solidFill>
                <a:latin typeface="Arial"/>
                <a:cs typeface="Arial"/>
              </a:rPr>
              <a:t>The</a:t>
            </a:r>
            <a:r>
              <a:rPr lang="en-US" sz="235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939598"/>
                </a:solidFill>
                <a:latin typeface="Arial"/>
                <a:cs typeface="Arial"/>
              </a:rPr>
              <a:t>British</a:t>
            </a:r>
            <a:r>
              <a:rPr lang="en-US" sz="235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939598"/>
                </a:solidFill>
                <a:latin typeface="Arial"/>
                <a:cs typeface="Arial"/>
              </a:rPr>
              <a:t>Computer</a:t>
            </a:r>
            <a:r>
              <a:rPr lang="en-US" sz="235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939598"/>
                </a:solidFill>
                <a:latin typeface="Arial"/>
                <a:cs typeface="Arial"/>
              </a:rPr>
              <a:t>Society	(BCS)</a:t>
            </a:r>
            <a:endParaRPr sz="2350" dirty="0">
              <a:latin typeface="Arial"/>
              <a:cs typeface="Arial"/>
            </a:endParaRPr>
          </a:p>
          <a:p>
            <a:pPr marL="300355" indent="-287655">
              <a:lnSpc>
                <a:spcPct val="100000"/>
              </a:lnSpc>
              <a:spcBef>
                <a:spcPts val="1500"/>
              </a:spcBef>
              <a:buClr>
                <a:srgbClr val="2E3092"/>
              </a:buClr>
              <a:buChar char="•"/>
              <a:tabLst>
                <a:tab pos="300355" algn="l"/>
                <a:tab pos="300990" algn="l"/>
                <a:tab pos="1208405" algn="l"/>
                <a:tab pos="2226945" algn="l"/>
                <a:tab pos="2699385" algn="l"/>
              </a:tabLst>
            </a:pPr>
            <a:r>
              <a:rPr sz="2350" dirty="0">
                <a:solidFill>
                  <a:srgbClr val="939598"/>
                </a:solidFill>
                <a:latin typeface="Arial"/>
                <a:cs typeface="Arial"/>
              </a:rPr>
              <a:t>BCS</a:t>
            </a:r>
            <a:r>
              <a:rPr lang="en-US" sz="235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939598"/>
                </a:solidFill>
                <a:latin typeface="Arial"/>
                <a:cs typeface="Arial"/>
              </a:rPr>
              <a:t>Code</a:t>
            </a:r>
            <a:r>
              <a:rPr lang="en-US" sz="235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939598"/>
                </a:solidFill>
                <a:latin typeface="Arial"/>
                <a:cs typeface="Arial"/>
              </a:rPr>
              <a:t>of</a:t>
            </a:r>
            <a:r>
              <a:rPr lang="en-US" sz="235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939598"/>
                </a:solidFill>
                <a:latin typeface="Arial"/>
                <a:cs typeface="Arial"/>
              </a:rPr>
              <a:t>Conduct</a:t>
            </a:r>
            <a:endParaRPr sz="2350" dirty="0">
              <a:latin typeface="Arial"/>
              <a:cs typeface="Arial"/>
            </a:endParaRPr>
          </a:p>
          <a:p>
            <a:pPr marL="300355" indent="-287655">
              <a:lnSpc>
                <a:spcPct val="100000"/>
              </a:lnSpc>
              <a:spcBef>
                <a:spcPts val="1515"/>
              </a:spcBef>
              <a:buClr>
                <a:srgbClr val="2E3092"/>
              </a:buClr>
              <a:buChar char="•"/>
              <a:tabLst>
                <a:tab pos="300355" algn="l"/>
                <a:tab pos="300990" algn="l"/>
                <a:tab pos="1208405" algn="l"/>
                <a:tab pos="2226945" algn="l"/>
                <a:tab pos="2699385" algn="l"/>
                <a:tab pos="3760470" algn="l"/>
              </a:tabLst>
            </a:pPr>
            <a:r>
              <a:rPr sz="2350" dirty="0">
                <a:solidFill>
                  <a:srgbClr val="939598"/>
                </a:solidFill>
                <a:latin typeface="Arial"/>
                <a:cs typeface="Arial"/>
              </a:rPr>
              <a:t>BCS</a:t>
            </a:r>
            <a:r>
              <a:rPr lang="en-US" sz="235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939598"/>
                </a:solidFill>
                <a:latin typeface="Arial"/>
                <a:cs typeface="Arial"/>
              </a:rPr>
              <a:t>Code</a:t>
            </a:r>
            <a:r>
              <a:rPr lang="en-US" sz="235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939598"/>
                </a:solidFill>
                <a:latin typeface="Arial"/>
                <a:cs typeface="Arial"/>
              </a:rPr>
              <a:t>of</a:t>
            </a:r>
            <a:r>
              <a:rPr lang="en-US" sz="235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939598"/>
                </a:solidFill>
                <a:latin typeface="Arial"/>
                <a:cs typeface="Arial"/>
              </a:rPr>
              <a:t>Good</a:t>
            </a:r>
            <a:r>
              <a:rPr lang="en-US" sz="2350" dirty="0">
                <a:solidFill>
                  <a:srgbClr val="939598"/>
                </a:solidFill>
                <a:latin typeface="Arial"/>
                <a:cs typeface="Arial"/>
              </a:rPr>
              <a:t> </a:t>
            </a:r>
            <a:r>
              <a:rPr sz="2350" dirty="0">
                <a:solidFill>
                  <a:srgbClr val="939598"/>
                </a:solidFill>
                <a:latin typeface="Arial"/>
                <a:cs typeface="Arial"/>
              </a:rPr>
              <a:t>Practice</a:t>
            </a:r>
            <a:endParaRPr sz="2350" dirty="0">
              <a:latin typeface="Arial"/>
              <a:cs typeface="Arial"/>
            </a:endParaRPr>
          </a:p>
          <a:p>
            <a:pPr marL="300355" indent="-287655">
              <a:lnSpc>
                <a:spcPct val="100000"/>
              </a:lnSpc>
              <a:spcBef>
                <a:spcPts val="1500"/>
              </a:spcBef>
              <a:buChar char="•"/>
              <a:tabLst>
                <a:tab pos="300355" algn="l"/>
                <a:tab pos="300990" algn="l"/>
              </a:tabLst>
            </a:pPr>
            <a:r>
              <a:rPr sz="2350" dirty="0">
                <a:solidFill>
                  <a:srgbClr val="2E3092"/>
                </a:solidFill>
                <a:latin typeface="Arial"/>
                <a:cs typeface="Arial"/>
              </a:rPr>
              <a:t>Summary</a:t>
            </a:r>
            <a:endParaRPr sz="235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8924" y="6967376"/>
            <a:ext cx="9419475" cy="731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8924" y="7026800"/>
            <a:ext cx="8208264" cy="7455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847181" y="776884"/>
            <a:ext cx="73152" cy="69955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18808" y="776884"/>
            <a:ext cx="1139591" cy="618744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5"/>
          </p:nvPr>
        </p:nvSpPr>
        <p:spPr>
          <a:xfrm>
            <a:off x="1011934" y="7237758"/>
            <a:ext cx="6875145" cy="230832"/>
          </a:xfrm>
        </p:spPr>
        <p:txBody>
          <a:bodyPr/>
          <a:lstStyle/>
          <a:p>
            <a:pPr marL="12700" algn="ctr">
              <a:lnSpc>
                <a:spcPts val="1785"/>
              </a:lnSpc>
              <a:tabLst>
                <a:tab pos="326390" algn="l"/>
              </a:tabLst>
            </a:pPr>
            <a:r>
              <a:rPr lang="en-US" sz="1700">
                <a:latin typeface="Noto Sans CJK JP Regular"/>
                <a:cs typeface="Noto Sans CJK JP Regular"/>
              </a:rPr>
              <a:t>Professional Practices (BSCS)</a:t>
            </a:r>
            <a:endParaRPr lang="en-US" sz="1650" dirty="0">
              <a:latin typeface="Noto Sans CJK JP Regular"/>
              <a:cs typeface="Noto Sans CJK JP Regular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60647" y="938384"/>
            <a:ext cx="2302510" cy="548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/>
              <a:t>Summary</a:t>
            </a:r>
          </a:p>
        </p:txBody>
      </p:sp>
      <p:sp>
        <p:nvSpPr>
          <p:cNvPr id="3" name="object 3"/>
          <p:cNvSpPr/>
          <p:nvPr/>
        </p:nvSpPr>
        <p:spPr>
          <a:xfrm>
            <a:off x="638924" y="1801012"/>
            <a:ext cx="8208264" cy="731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87908" y="1880493"/>
            <a:ext cx="7910830" cy="3156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2740" marR="7620" indent="-320040">
              <a:lnSpc>
                <a:spcPct val="123900"/>
              </a:lnSpc>
              <a:spcBef>
                <a:spcPts val="95"/>
              </a:spcBef>
              <a:buClr>
                <a:srgbClr val="2E3092"/>
              </a:buClr>
              <a:buChar char="•"/>
              <a:tabLst>
                <a:tab pos="332740" algn="l"/>
                <a:tab pos="1487805" algn="l"/>
                <a:tab pos="2001520" algn="l"/>
                <a:tab pos="2295525" algn="l"/>
                <a:tab pos="2480310" algn="l"/>
                <a:tab pos="3644265" algn="l"/>
                <a:tab pos="4225290" algn="l"/>
                <a:tab pos="6003925" algn="l"/>
                <a:tab pos="6887209" algn="l"/>
              </a:tabLst>
            </a:pPr>
            <a:r>
              <a:rPr sz="2400" dirty="0">
                <a:latin typeface="Arial"/>
                <a:cs typeface="Arial"/>
              </a:rPr>
              <a:t>Read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Codes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of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Conduct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and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Good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Practice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in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full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at</a:t>
            </a:r>
            <a:r>
              <a:rPr lang="en-US" sz="2400" dirty="0">
                <a:latin typeface="Arial"/>
                <a:cs typeface="Arial"/>
              </a:rPr>
              <a:t>:</a:t>
            </a:r>
            <a:endParaRPr sz="2400" dirty="0">
              <a:latin typeface="Arial"/>
              <a:cs typeface="Arial"/>
            </a:endParaRPr>
          </a:p>
          <a:p>
            <a:pPr marL="332740" marR="677545">
              <a:lnSpc>
                <a:spcPct val="105500"/>
              </a:lnSpc>
              <a:spcBef>
                <a:spcPts val="1150"/>
              </a:spcBef>
            </a:pPr>
            <a:r>
              <a:rPr sz="2000" spc="220" dirty="0">
                <a:latin typeface="Times New Roman"/>
                <a:cs typeface="Times New Roman"/>
                <a:hlinkClick r:id="rId3"/>
              </a:rPr>
              <a:t>http://www.bcs.org/server.php?show=nav.6030 </a:t>
            </a:r>
            <a:r>
              <a:rPr sz="2000" spc="220" dirty="0">
                <a:latin typeface="Times New Roman"/>
                <a:cs typeface="Times New Roman"/>
              </a:rPr>
              <a:t> </a:t>
            </a:r>
            <a:r>
              <a:rPr sz="2000" spc="220" dirty="0">
                <a:latin typeface="Times New Roman"/>
                <a:cs typeface="Times New Roman"/>
                <a:hlinkClick r:id="rId4"/>
              </a:rPr>
              <a:t>http://www.bcs.org/server.php?show=nav.6031</a:t>
            </a:r>
            <a:endParaRPr lang="en-US" sz="2000" spc="220" dirty="0">
              <a:latin typeface="Times New Roman"/>
              <a:cs typeface="Times New Roman"/>
            </a:endParaRPr>
          </a:p>
          <a:p>
            <a:pPr marL="332740" marR="677545">
              <a:lnSpc>
                <a:spcPct val="105500"/>
              </a:lnSpc>
              <a:spcBef>
                <a:spcPts val="1150"/>
              </a:spcBef>
            </a:pPr>
            <a:endParaRPr sz="2000" dirty="0">
              <a:latin typeface="Times New Roman"/>
              <a:cs typeface="Times New Roman"/>
            </a:endParaRPr>
          </a:p>
          <a:p>
            <a:pPr marL="332740" marR="6350" indent="-320040">
              <a:lnSpc>
                <a:spcPct val="123500"/>
              </a:lnSpc>
              <a:spcBef>
                <a:spcPts val="155"/>
              </a:spcBef>
              <a:buClr>
                <a:srgbClr val="2E3092"/>
              </a:buClr>
              <a:buChar char="•"/>
              <a:tabLst>
                <a:tab pos="332740" algn="l"/>
                <a:tab pos="1169035" algn="l"/>
                <a:tab pos="1440180" algn="l"/>
                <a:tab pos="2258695" algn="l"/>
                <a:tab pos="3370579" algn="l"/>
                <a:tab pos="3940175" algn="l"/>
                <a:tab pos="5484495" algn="l"/>
                <a:tab pos="6964045" algn="l"/>
              </a:tabLst>
            </a:pPr>
            <a:r>
              <a:rPr sz="2400" spc="400" dirty="0">
                <a:latin typeface="Arial"/>
                <a:cs typeface="Arial"/>
              </a:rPr>
              <a:t>A</a:t>
            </a:r>
            <a:r>
              <a:rPr sz="2400" spc="155" dirty="0">
                <a:latin typeface="Arial"/>
                <a:cs typeface="Arial"/>
              </a:rPr>
              <a:t>c</a:t>
            </a:r>
            <a:r>
              <a:rPr sz="2400" spc="495" dirty="0">
                <a:latin typeface="Arial"/>
                <a:cs typeface="Arial"/>
              </a:rPr>
              <a:t>t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spc="235" dirty="0">
                <a:latin typeface="Arial"/>
                <a:cs typeface="Arial"/>
              </a:rPr>
              <a:t>r</a:t>
            </a:r>
            <a:r>
              <a:rPr sz="2400" spc="-5" dirty="0">
                <a:latin typeface="Arial"/>
                <a:cs typeface="Arial"/>
              </a:rPr>
              <a:t>e</a:t>
            </a:r>
            <a:r>
              <a:rPr sz="2400" spc="-65" dirty="0">
                <a:latin typeface="Arial"/>
                <a:cs typeface="Arial"/>
              </a:rPr>
              <a:t>s</a:t>
            </a:r>
            <a:r>
              <a:rPr sz="2400" spc="290" dirty="0">
                <a:latin typeface="Arial"/>
                <a:cs typeface="Arial"/>
              </a:rPr>
              <a:t>p</a:t>
            </a:r>
            <a:r>
              <a:rPr sz="2400" spc="195" dirty="0">
                <a:latin typeface="Arial"/>
                <a:cs typeface="Arial"/>
              </a:rPr>
              <a:t>on</a:t>
            </a:r>
            <a:r>
              <a:rPr sz="2400" spc="-65" dirty="0">
                <a:latin typeface="Arial"/>
                <a:cs typeface="Arial"/>
              </a:rPr>
              <a:t>s</a:t>
            </a:r>
            <a:r>
              <a:rPr sz="2400" spc="155" dirty="0">
                <a:latin typeface="Arial"/>
                <a:cs typeface="Arial"/>
              </a:rPr>
              <a:t>i</a:t>
            </a:r>
            <a:r>
              <a:rPr sz="2400" spc="195" dirty="0">
                <a:latin typeface="Arial"/>
                <a:cs typeface="Arial"/>
              </a:rPr>
              <a:t>b</a:t>
            </a:r>
            <a:r>
              <a:rPr sz="2400" spc="155" dirty="0">
                <a:latin typeface="Arial"/>
                <a:cs typeface="Arial"/>
              </a:rPr>
              <a:t>l</a:t>
            </a:r>
            <a:r>
              <a:rPr sz="2400" spc="160" dirty="0">
                <a:latin typeface="Arial"/>
                <a:cs typeface="Arial"/>
              </a:rPr>
              <a:t>y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spc="490" dirty="0">
                <a:latin typeface="Arial"/>
                <a:cs typeface="Arial"/>
              </a:rPr>
              <a:t>t</a:t>
            </a:r>
            <a:r>
              <a:rPr lang="en-US" sz="2400" spc="195" dirty="0">
                <a:latin typeface="Arial"/>
                <a:cs typeface="Arial"/>
              </a:rPr>
              <a:t>o </a:t>
            </a:r>
            <a:r>
              <a:rPr sz="2400" spc="-65" dirty="0">
                <a:latin typeface="Arial"/>
                <a:cs typeface="Arial"/>
              </a:rPr>
              <a:t>s</a:t>
            </a:r>
            <a:r>
              <a:rPr sz="2400" spc="290" dirty="0">
                <a:latin typeface="Arial"/>
                <a:cs typeface="Arial"/>
              </a:rPr>
              <a:t>o</a:t>
            </a:r>
            <a:r>
              <a:rPr sz="2400" spc="155" dirty="0">
                <a:latin typeface="Arial"/>
                <a:cs typeface="Arial"/>
              </a:rPr>
              <a:t>ci</a:t>
            </a:r>
            <a:r>
              <a:rPr sz="2400" spc="-5" dirty="0">
                <a:latin typeface="Arial"/>
                <a:cs typeface="Arial"/>
              </a:rPr>
              <a:t>e</a:t>
            </a:r>
            <a:r>
              <a:rPr sz="2400" spc="390" dirty="0">
                <a:latin typeface="Arial"/>
                <a:cs typeface="Arial"/>
              </a:rPr>
              <a:t>t</a:t>
            </a:r>
            <a:r>
              <a:rPr sz="2400" spc="-145" dirty="0">
                <a:latin typeface="Arial"/>
                <a:cs typeface="Arial"/>
              </a:rPr>
              <a:t>y</a:t>
            </a:r>
            <a:r>
              <a:rPr sz="2400" spc="195" dirty="0">
                <a:latin typeface="Arial"/>
                <a:cs typeface="Arial"/>
              </a:rPr>
              <a:t>,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spc="155" dirty="0">
                <a:latin typeface="Arial"/>
                <a:cs typeface="Arial"/>
              </a:rPr>
              <a:t>cli</a:t>
            </a:r>
            <a:r>
              <a:rPr sz="2400" spc="-5" dirty="0">
                <a:latin typeface="Arial"/>
                <a:cs typeface="Arial"/>
              </a:rPr>
              <a:t>e</a:t>
            </a:r>
            <a:r>
              <a:rPr sz="2400" spc="195" dirty="0">
                <a:latin typeface="Arial"/>
                <a:cs typeface="Arial"/>
              </a:rPr>
              <a:t>n</a:t>
            </a:r>
            <a:r>
              <a:rPr sz="2400" spc="490" dirty="0">
                <a:latin typeface="Arial"/>
                <a:cs typeface="Arial"/>
              </a:rPr>
              <a:t>t</a:t>
            </a:r>
            <a:r>
              <a:rPr sz="2400" spc="-65" dirty="0">
                <a:latin typeface="Arial"/>
                <a:cs typeface="Arial"/>
              </a:rPr>
              <a:t>s</a:t>
            </a:r>
            <a:r>
              <a:rPr sz="2400" spc="195" dirty="0">
                <a:latin typeface="Arial"/>
                <a:cs typeface="Arial"/>
              </a:rPr>
              <a:t>,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spc="155" dirty="0">
                <a:latin typeface="Arial"/>
                <a:cs typeface="Arial"/>
              </a:rPr>
              <a:t>c</a:t>
            </a:r>
            <a:r>
              <a:rPr sz="2400" spc="195" dirty="0">
                <a:latin typeface="Arial"/>
                <a:cs typeface="Arial"/>
              </a:rPr>
              <a:t>o</a:t>
            </a:r>
            <a:r>
              <a:rPr lang="en-US" sz="2400" spc="395" dirty="0">
                <a:latin typeface="Arial"/>
                <a:cs typeface="Arial"/>
              </a:rPr>
              <a:t>m</a:t>
            </a:r>
            <a:r>
              <a:rPr sz="2400" spc="105" dirty="0">
                <a:latin typeface="Arial"/>
                <a:cs typeface="Arial"/>
              </a:rPr>
              <a:t>pany,</a:t>
            </a:r>
            <a:r>
              <a:rPr lang="en-US" sz="2400" spc="105" dirty="0">
                <a:latin typeface="Arial"/>
                <a:cs typeface="Arial"/>
              </a:rPr>
              <a:t> </a:t>
            </a:r>
            <a:r>
              <a:rPr sz="2400" spc="160" dirty="0">
                <a:latin typeface="Arial"/>
                <a:cs typeface="Arial"/>
              </a:rPr>
              <a:t>and</a:t>
            </a:r>
            <a:r>
              <a:rPr lang="en-US" sz="2400" spc="160" dirty="0">
                <a:latin typeface="Arial"/>
                <a:cs typeface="Arial"/>
              </a:rPr>
              <a:t> </a:t>
            </a:r>
            <a:r>
              <a:rPr sz="2400" spc="135" dirty="0">
                <a:latin typeface="Arial"/>
                <a:cs typeface="Arial"/>
              </a:rPr>
              <a:t>yourself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38924" y="6967376"/>
            <a:ext cx="9419475" cy="7315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38924" y="7026800"/>
            <a:ext cx="8208264" cy="7455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8847181" y="776884"/>
            <a:ext cx="73152" cy="699551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8918808" y="776884"/>
            <a:ext cx="1139591" cy="618744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5"/>
          </p:nvPr>
        </p:nvSpPr>
        <p:spPr>
          <a:xfrm>
            <a:off x="1011934" y="7237758"/>
            <a:ext cx="6875145" cy="230832"/>
          </a:xfrm>
        </p:spPr>
        <p:txBody>
          <a:bodyPr/>
          <a:lstStyle/>
          <a:p>
            <a:pPr marL="12700" algn="ctr">
              <a:lnSpc>
                <a:spcPts val="1785"/>
              </a:lnSpc>
              <a:tabLst>
                <a:tab pos="326390" algn="l"/>
              </a:tabLst>
            </a:pPr>
            <a:r>
              <a:rPr lang="en-US" sz="1700">
                <a:latin typeface="Noto Sans CJK JP Regular"/>
                <a:cs typeface="Noto Sans CJK JP Regular"/>
              </a:rPr>
              <a:t>Professional Practices (BSCS)</a:t>
            </a:r>
            <a:endParaRPr lang="en-US" sz="1650" dirty="0">
              <a:latin typeface="Noto Sans CJK JP Regular"/>
              <a:cs typeface="Noto Sans CJK JP Regular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143</TotalTime>
  <Words>1129</Words>
  <Application>Microsoft Office PowerPoint</Application>
  <PresentationFormat>Custom</PresentationFormat>
  <Paragraphs>169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Noto Sans CJK JP Regular</vt:lpstr>
      <vt:lpstr>Times New Roman</vt:lpstr>
      <vt:lpstr>Verdana</vt:lpstr>
      <vt:lpstr>Office Theme</vt:lpstr>
      <vt:lpstr>British Computer Society Code of Conduct</vt:lpstr>
      <vt:lpstr>Overview</vt:lpstr>
      <vt:lpstr>The BCS</vt:lpstr>
      <vt:lpstr>Other Professional Bodies</vt:lpstr>
      <vt:lpstr>Overview</vt:lpstr>
      <vt:lpstr>BCS Code of Conduct</vt:lpstr>
      <vt:lpstr>BCS Code of Conduct (Cont’d)</vt:lpstr>
      <vt:lpstr>BCS Code of Conduct (Cont’d)</vt:lpstr>
      <vt:lpstr>BCS Code of Conduct (Cont’d)</vt:lpstr>
      <vt:lpstr>Overview</vt:lpstr>
      <vt:lpstr>BCS Code of Good Practice</vt:lpstr>
      <vt:lpstr>BCS Code of Good Practice</vt:lpstr>
      <vt:lpstr>BCS Code of Good Practice</vt:lpstr>
      <vt:lpstr>1.Project Management</vt:lpstr>
      <vt:lpstr>2.Relationship Management</vt:lpstr>
      <vt:lpstr>3.Security</vt:lpstr>
      <vt:lpstr>4.Safety Management</vt:lpstr>
      <vt:lpstr>5.Change Management</vt:lpstr>
      <vt:lpstr>6.Quality Management</vt:lpstr>
      <vt:lpstr>Overview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s4.dvi</dc:title>
  <dc:creator>Aamir Anwar</dc:creator>
  <cp:lastModifiedBy>Class Room</cp:lastModifiedBy>
  <cp:revision>28</cp:revision>
  <dcterms:created xsi:type="dcterms:W3CDTF">2019-11-18T05:47:43Z</dcterms:created>
  <dcterms:modified xsi:type="dcterms:W3CDTF">2021-04-27T06:29:40Z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2009-01-22T00:00:00Z</vt:filetime>
  </property>
  <property fmtid="{D5CDD505-2E9C-101B-9397-08002B2CF9AE}" pid="3" name="Creator">
    <vt:lpwstr>dvips(k) 5.95a Copyright 2005 Radical Eye Software</vt:lpwstr>
  </property>
  <property fmtid="{D5CDD505-2E9C-101B-9397-08002B2CF9AE}" pid="4" name="LastSaved">
    <vt:filetime>2019-11-18T00:00:00Z</vt:filetime>
  </property>
</Properties>
</file>