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94660"/>
  </p:normalViewPr>
  <p:slideViewPr>
    <p:cSldViewPr>
      <p:cViewPr varScale="1">
        <p:scale>
          <a:sx n="68" d="100"/>
          <a:sy n="68" d="100"/>
        </p:scale>
        <p:origin x="-61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404" cy="6859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404" cy="68595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3247" y="644728"/>
            <a:ext cx="798550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6614" y="1585975"/>
            <a:ext cx="10478770" cy="3277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23588"/>
            <a:ext cx="1743075" cy="779145"/>
          </a:xfrm>
          <a:custGeom>
            <a:avLst/>
            <a:gdLst/>
            <a:ahLst/>
            <a:cxnLst/>
            <a:rect l="l" t="t" r="r" b="b"/>
            <a:pathLst>
              <a:path w="1743075" h="779145">
                <a:moveTo>
                  <a:pt x="1346200" y="0"/>
                </a:moveTo>
                <a:lnTo>
                  <a:pt x="0" y="0"/>
                </a:lnTo>
                <a:lnTo>
                  <a:pt x="0" y="778763"/>
                </a:lnTo>
                <a:lnTo>
                  <a:pt x="1346200" y="778763"/>
                </a:lnTo>
                <a:lnTo>
                  <a:pt x="1355891" y="777956"/>
                </a:lnTo>
                <a:lnTo>
                  <a:pt x="1363821" y="775827"/>
                </a:lnTo>
                <a:lnTo>
                  <a:pt x="1369988" y="772816"/>
                </a:lnTo>
                <a:lnTo>
                  <a:pt x="1374394" y="769366"/>
                </a:lnTo>
                <a:lnTo>
                  <a:pt x="1374394" y="764667"/>
                </a:lnTo>
                <a:lnTo>
                  <a:pt x="1379093" y="764667"/>
                </a:lnTo>
                <a:lnTo>
                  <a:pt x="1735582" y="408178"/>
                </a:lnTo>
                <a:lnTo>
                  <a:pt x="1740868" y="399587"/>
                </a:lnTo>
                <a:lnTo>
                  <a:pt x="1742630" y="388794"/>
                </a:lnTo>
                <a:lnTo>
                  <a:pt x="1740868" y="377120"/>
                </a:lnTo>
                <a:lnTo>
                  <a:pt x="1735582" y="365887"/>
                </a:lnTo>
                <a:lnTo>
                  <a:pt x="1379093" y="14097"/>
                </a:lnTo>
                <a:lnTo>
                  <a:pt x="1379093" y="9398"/>
                </a:lnTo>
                <a:lnTo>
                  <a:pt x="1374394" y="9398"/>
                </a:lnTo>
                <a:lnTo>
                  <a:pt x="1369988" y="5947"/>
                </a:lnTo>
                <a:lnTo>
                  <a:pt x="1363821" y="2936"/>
                </a:lnTo>
                <a:lnTo>
                  <a:pt x="1355891" y="807"/>
                </a:lnTo>
                <a:lnTo>
                  <a:pt x="134620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4719" y="1665808"/>
            <a:ext cx="5870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Cyber Laws in</a:t>
            </a:r>
            <a:r>
              <a:rPr sz="4400" spc="-65" dirty="0"/>
              <a:t> </a:t>
            </a:r>
            <a:r>
              <a:rPr sz="4400" dirty="0"/>
              <a:t>Pakistan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5181600" y="3200400"/>
            <a:ext cx="3175000" cy="398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5330" marR="727075" algn="ctr">
              <a:lnSpc>
                <a:spcPct val="141700"/>
              </a:lnSpc>
              <a:spcBef>
                <a:spcPts val="95"/>
              </a:spcBef>
            </a:pPr>
            <a:r>
              <a:rPr lang="en-US" sz="2000" dirty="0" smtClean="0">
                <a:latin typeface="Arial"/>
                <a:cs typeface="Arial"/>
              </a:rPr>
              <a:t>Lecture 9 (b)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4261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Information </a:t>
            </a:r>
            <a:r>
              <a:rPr spc="-200" dirty="0"/>
              <a:t>To</a:t>
            </a:r>
            <a:r>
              <a:rPr spc="-110" dirty="0"/>
              <a:t> </a:t>
            </a:r>
            <a:r>
              <a:rPr dirty="0"/>
              <a:t>Share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55189" y="1551178"/>
            <a:ext cx="4909185" cy="484251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Arial"/>
                <a:cs typeface="Arial"/>
              </a:rPr>
              <a:t>Cyber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Crime</a:t>
            </a:r>
            <a:endParaRPr sz="1800" b="1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Courier New"/>
              <a:buChar char="o"/>
              <a:tabLst>
                <a:tab pos="812800" algn="l"/>
              </a:tabLst>
            </a:pPr>
            <a:r>
              <a:rPr sz="1800" spc="-5" dirty="0">
                <a:latin typeface="Arial"/>
                <a:cs typeface="Arial"/>
              </a:rPr>
              <a:t>Emergence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</a:t>
            </a:r>
            <a:endParaRPr sz="1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Courier New"/>
              <a:buChar char="o"/>
              <a:tabLst>
                <a:tab pos="812800" algn="l"/>
              </a:tabLst>
            </a:pPr>
            <a:r>
              <a:rPr sz="1800" spc="-5" dirty="0">
                <a:latin typeface="Arial"/>
                <a:cs typeface="Arial"/>
              </a:rPr>
              <a:t>Dispute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World</a:t>
            </a:r>
            <a:endParaRPr sz="1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Courier New"/>
              <a:buChar char="o"/>
              <a:tabLst>
                <a:tab pos="812800" algn="l"/>
              </a:tabLst>
            </a:pPr>
            <a:r>
              <a:rPr sz="1800" spc="-25" dirty="0">
                <a:latin typeface="Arial"/>
                <a:cs typeface="Arial"/>
              </a:rPr>
              <a:t>Types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</a:t>
            </a:r>
            <a:endParaRPr sz="1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Courier New"/>
              <a:buChar char="o"/>
              <a:tabLst>
                <a:tab pos="812800" algn="l"/>
              </a:tabLst>
            </a:pPr>
            <a:r>
              <a:rPr sz="1800" spc="-30" dirty="0">
                <a:latin typeface="Arial"/>
                <a:cs typeface="Arial"/>
              </a:rPr>
              <a:t>Targets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Arial"/>
                <a:cs typeface="Arial"/>
              </a:rPr>
              <a:t>Cyber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Law</a:t>
            </a:r>
            <a:endParaRPr sz="18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International Aspect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10" dirty="0">
                <a:latin typeface="Arial"/>
                <a:cs typeface="Arial"/>
              </a:rPr>
              <a:t>Cyber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Law</a:t>
            </a:r>
            <a:endParaRPr sz="18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Role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Pakistan in </a:t>
            </a:r>
            <a:r>
              <a:rPr sz="1800" b="1" spc="-10" dirty="0">
                <a:latin typeface="Arial"/>
                <a:cs typeface="Arial"/>
              </a:rPr>
              <a:t>Cyber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World</a:t>
            </a:r>
            <a:endParaRPr sz="18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Conventions</a:t>
            </a:r>
            <a:endParaRPr sz="1800" b="1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  <a:tab pos="4249420" algn="l"/>
              </a:tabLst>
            </a:pPr>
            <a:r>
              <a:rPr sz="1800" spc="-5" dirty="0">
                <a:latin typeface="Arial"/>
                <a:cs typeface="Arial"/>
              </a:rPr>
              <a:t>Electronic</a:t>
            </a:r>
            <a:r>
              <a:rPr sz="1800" spc="-10" dirty="0">
                <a:latin typeface="Arial"/>
                <a:cs typeface="Arial"/>
              </a:rPr>
              <a:t> Transaction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Ordinance	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2002</a:t>
            </a:r>
            <a:endParaRPr sz="1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Electronic Crime Bill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2007</a:t>
            </a:r>
            <a:endParaRPr sz="18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Electronic Crime </a:t>
            </a:r>
            <a:r>
              <a:rPr sz="1800" dirty="0">
                <a:latin typeface="Arial"/>
                <a:cs typeface="Arial"/>
              </a:rPr>
              <a:t>Act -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2015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59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Crime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703578"/>
            <a:ext cx="8505825" cy="420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Activity </a:t>
            </a:r>
            <a:r>
              <a:rPr sz="1800" spc="-5" dirty="0">
                <a:latin typeface="Arial"/>
                <a:cs typeface="Arial"/>
              </a:rPr>
              <a:t>in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computers or </a:t>
            </a:r>
            <a:r>
              <a:rPr sz="1800" spc="-10" dirty="0">
                <a:latin typeface="Arial"/>
                <a:cs typeface="Arial"/>
              </a:rPr>
              <a:t>networks </a:t>
            </a:r>
            <a:r>
              <a:rPr sz="1800" spc="-5" dirty="0">
                <a:latin typeface="Arial"/>
                <a:cs typeface="Arial"/>
              </a:rPr>
              <a:t>are a tool, a target, or a place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2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criminal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800" spc="-20" dirty="0">
                <a:latin typeface="Arial"/>
                <a:cs typeface="Arial"/>
              </a:rPr>
              <a:t>activity.</a:t>
            </a:r>
            <a:endParaRPr sz="1800">
              <a:latin typeface="Arial"/>
              <a:cs typeface="Arial"/>
            </a:endParaRPr>
          </a:p>
          <a:p>
            <a:pPr marL="355600" marR="384175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crime also </a:t>
            </a:r>
            <a:r>
              <a:rPr sz="1800" dirty="0">
                <a:latin typeface="Arial"/>
                <a:cs typeface="Arial"/>
              </a:rPr>
              <a:t>stated </a:t>
            </a:r>
            <a:r>
              <a:rPr sz="1800" spc="-5" dirty="0">
                <a:latin typeface="Arial"/>
                <a:cs typeface="Arial"/>
              </a:rPr>
              <a:t>as any use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a computer as </a:t>
            </a:r>
            <a:r>
              <a:rPr sz="1800" spc="-10" dirty="0">
                <a:latin typeface="Arial"/>
                <a:cs typeface="Arial"/>
              </a:rPr>
              <a:t>an </a:t>
            </a:r>
            <a:r>
              <a:rPr sz="1800" spc="-5" dirty="0">
                <a:latin typeface="Arial"/>
                <a:cs typeface="Arial"/>
              </a:rPr>
              <a:t>instrument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further  illegal ends, such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as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Committing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fraud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Stealing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identities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10" dirty="0">
                <a:latin typeface="Arial"/>
                <a:cs typeface="Arial"/>
              </a:rPr>
              <a:t>Violating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privacy</a:t>
            </a:r>
            <a:endParaRPr sz="1800">
              <a:latin typeface="Arial"/>
              <a:cs typeface="Arial"/>
            </a:endParaRPr>
          </a:p>
          <a:p>
            <a:pPr marL="355600" marR="257175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also include traditional crimes in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computers or </a:t>
            </a:r>
            <a:r>
              <a:rPr sz="1800" spc="-10" dirty="0">
                <a:latin typeface="Arial"/>
                <a:cs typeface="Arial"/>
              </a:rPr>
              <a:t>networks </a:t>
            </a:r>
            <a:r>
              <a:rPr sz="1800" spc="-5" dirty="0">
                <a:latin typeface="Arial"/>
                <a:cs typeface="Arial"/>
              </a:rPr>
              <a:t>are used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enable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illicit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activity.</a:t>
            </a:r>
            <a:endParaRPr sz="1800">
              <a:latin typeface="Arial"/>
              <a:cs typeface="Arial"/>
            </a:endParaRPr>
          </a:p>
          <a:p>
            <a:pPr marL="355600" marR="1006475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As the </a:t>
            </a:r>
            <a:r>
              <a:rPr sz="1800" spc="-5" dirty="0">
                <a:latin typeface="Arial"/>
                <a:cs typeface="Arial"/>
              </a:rPr>
              <a:t>computer has become central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commerce, entertainment, and  government.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crime has </a:t>
            </a:r>
            <a:r>
              <a:rPr sz="1800" spc="-15" dirty="0">
                <a:latin typeface="Arial"/>
                <a:cs typeface="Arial"/>
              </a:rPr>
              <a:t>grown </a:t>
            </a:r>
            <a:r>
              <a:rPr sz="1800" spc="-5" dirty="0">
                <a:latin typeface="Arial"/>
                <a:cs typeface="Arial"/>
              </a:rPr>
              <a:t>in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importance.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59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Crime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27174"/>
            <a:ext cx="8728710" cy="428386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" dirty="0">
                <a:latin typeface="Arial"/>
                <a:cs typeface="Arial"/>
              </a:rPr>
              <a:t>Emergence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10" dirty="0">
                <a:latin typeface="Arial"/>
                <a:cs typeface="Arial"/>
              </a:rPr>
              <a:t>Cyber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Crime</a:t>
            </a:r>
            <a:endParaRPr sz="2400" dirty="0">
              <a:latin typeface="Arial"/>
              <a:cs typeface="Arial"/>
            </a:endParaRPr>
          </a:p>
          <a:p>
            <a:pPr marL="355600" marR="89535" indent="-342900" algn="just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The first </a:t>
            </a:r>
            <a:r>
              <a:rPr sz="1800" spc="-5" dirty="0">
                <a:latin typeface="Arial"/>
                <a:cs typeface="Arial"/>
              </a:rPr>
              <a:t>recorded 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crime took place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year </a:t>
            </a:r>
            <a:r>
              <a:rPr sz="1800" spc="-5" dirty="0">
                <a:latin typeface="Arial"/>
                <a:cs typeface="Arial"/>
              </a:rPr>
              <a:t>1820!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1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not surprising  considering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fact that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abacus, </a:t>
            </a:r>
            <a:r>
              <a:rPr sz="1800" spc="-10" dirty="0">
                <a:latin typeface="Arial"/>
                <a:cs typeface="Arial"/>
              </a:rPr>
              <a:t>which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thought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earliest </a:t>
            </a:r>
            <a:r>
              <a:rPr sz="1800" dirty="0">
                <a:latin typeface="Arial"/>
                <a:cs typeface="Arial"/>
              </a:rPr>
              <a:t>form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a  </a:t>
            </a:r>
            <a:r>
              <a:rPr sz="1800" spc="-15" dirty="0">
                <a:latin typeface="Arial"/>
                <a:cs typeface="Arial"/>
              </a:rPr>
              <a:t>computer, </a:t>
            </a:r>
            <a:r>
              <a:rPr sz="1800" spc="-5" dirty="0">
                <a:latin typeface="Arial"/>
                <a:cs typeface="Arial"/>
              </a:rPr>
              <a:t>has been around since </a:t>
            </a:r>
            <a:r>
              <a:rPr sz="1800" spc="-10" dirty="0">
                <a:latin typeface="Arial"/>
                <a:cs typeface="Arial"/>
              </a:rPr>
              <a:t>3500 </a:t>
            </a:r>
            <a:r>
              <a:rPr sz="1800" dirty="0">
                <a:latin typeface="Arial"/>
                <a:cs typeface="Arial"/>
              </a:rPr>
              <a:t>B.C. </a:t>
            </a:r>
            <a:r>
              <a:rPr sz="1800" spc="-5" dirty="0">
                <a:latin typeface="Arial"/>
                <a:cs typeface="Arial"/>
              </a:rPr>
              <a:t>in India, Japan and China.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era </a:t>
            </a:r>
            <a:r>
              <a:rPr sz="1800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modern computers, </a:t>
            </a:r>
            <a:r>
              <a:rPr sz="1800" spc="-25" dirty="0">
                <a:latin typeface="Arial"/>
                <a:cs typeface="Arial"/>
              </a:rPr>
              <a:t>however, </a:t>
            </a:r>
            <a:r>
              <a:rPr sz="1800" spc="-5" dirty="0">
                <a:latin typeface="Arial"/>
                <a:cs typeface="Arial"/>
              </a:rPr>
              <a:t>began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analytical engine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Charles  Babbage.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A42F0F"/>
              </a:buClr>
              <a:buFont typeface="Wingdings"/>
              <a:buChar char=""/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A42F0F"/>
              </a:buClr>
              <a:buFont typeface="Wingdings"/>
              <a:buChar char=""/>
            </a:pPr>
            <a:endParaRPr sz="16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Clr>
                <a:srgbClr val="A42F0F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1820, </a:t>
            </a:r>
            <a:r>
              <a:rPr sz="1800" b="1" spc="-5" dirty="0">
                <a:latin typeface="Arial"/>
                <a:cs typeface="Arial"/>
              </a:rPr>
              <a:t>Joseph-Marie Jacquard</a:t>
            </a:r>
            <a:r>
              <a:rPr sz="1800" spc="-5" dirty="0">
                <a:latin typeface="Arial"/>
                <a:cs typeface="Arial"/>
              </a:rPr>
              <a:t>, a textile manufacturer in France, produced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loom. This device </a:t>
            </a:r>
            <a:r>
              <a:rPr sz="1800" spc="-10" dirty="0">
                <a:latin typeface="Arial"/>
                <a:cs typeface="Arial"/>
              </a:rPr>
              <a:t>allowed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repetition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a series of steps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weaving </a:t>
            </a:r>
            <a:r>
              <a:rPr sz="1800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special fabrics. This resulted in a fear amongst Jacquard's </a:t>
            </a:r>
            <a:r>
              <a:rPr sz="1800" spc="-10" dirty="0">
                <a:latin typeface="Arial"/>
                <a:cs typeface="Arial"/>
              </a:rPr>
              <a:t>employees </a:t>
            </a:r>
            <a:r>
              <a:rPr sz="1800" spc="-5" dirty="0">
                <a:latin typeface="Arial"/>
                <a:cs typeface="Arial"/>
              </a:rPr>
              <a:t>that their  traditional </a:t>
            </a:r>
            <a:r>
              <a:rPr sz="1800" spc="-10" dirty="0">
                <a:latin typeface="Arial"/>
                <a:cs typeface="Arial"/>
              </a:rPr>
              <a:t>employment </a:t>
            </a:r>
            <a:r>
              <a:rPr sz="1800" spc="-5" dirty="0">
                <a:latin typeface="Arial"/>
                <a:cs typeface="Arial"/>
              </a:rPr>
              <a:t>and livelihood </a:t>
            </a:r>
            <a:r>
              <a:rPr sz="1800" spc="-15" dirty="0">
                <a:latin typeface="Arial"/>
                <a:cs typeface="Arial"/>
              </a:rPr>
              <a:t>were </a:t>
            </a:r>
            <a:r>
              <a:rPr sz="1800" spc="-5" dirty="0">
                <a:latin typeface="Arial"/>
                <a:cs typeface="Arial"/>
              </a:rPr>
              <a:t>being threatened. They committed </a:t>
            </a:r>
            <a:r>
              <a:rPr sz="1800" dirty="0">
                <a:latin typeface="Arial"/>
                <a:cs typeface="Arial"/>
              </a:rPr>
              <a:t>acts  of </a:t>
            </a:r>
            <a:r>
              <a:rPr sz="1800" spc="-5" dirty="0">
                <a:latin typeface="Arial"/>
                <a:cs typeface="Arial"/>
              </a:rPr>
              <a:t>sabotage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discourage Jacquard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spc="-5" dirty="0">
                <a:latin typeface="Arial"/>
                <a:cs typeface="Arial"/>
              </a:rPr>
              <a:t>further use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new </a:t>
            </a:r>
            <a:r>
              <a:rPr sz="1800" spc="-20" dirty="0">
                <a:latin typeface="Arial"/>
                <a:cs typeface="Arial"/>
              </a:rPr>
              <a:t>technology. </a:t>
            </a:r>
            <a:r>
              <a:rPr sz="1800" spc="-5" dirty="0">
                <a:latin typeface="Arial"/>
                <a:cs typeface="Arial"/>
              </a:rPr>
              <a:t>This is 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first recorded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59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Crime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474977"/>
            <a:ext cx="8746490" cy="354076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" dirty="0">
                <a:latin typeface="Arial"/>
                <a:cs typeface="Arial"/>
              </a:rPr>
              <a:t>Disputes </a:t>
            </a:r>
            <a:r>
              <a:rPr sz="2400" b="1" dirty="0">
                <a:latin typeface="Arial"/>
                <a:cs typeface="Arial"/>
              </a:rPr>
              <a:t>in </a:t>
            </a:r>
            <a:r>
              <a:rPr sz="2400" b="1" spc="-5" dirty="0">
                <a:latin typeface="Arial"/>
                <a:cs typeface="Arial"/>
              </a:rPr>
              <a:t>the </a:t>
            </a:r>
            <a:r>
              <a:rPr sz="2400" b="1" spc="-10" dirty="0">
                <a:latin typeface="Arial"/>
                <a:cs typeface="Arial"/>
              </a:rPr>
              <a:t>Cyber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World</a:t>
            </a:r>
            <a:endParaRPr sz="2400" dirty="0">
              <a:latin typeface="Arial"/>
              <a:cs typeface="Arial"/>
            </a:endParaRPr>
          </a:p>
          <a:p>
            <a:pPr marL="355600" marR="475615" indent="-342900" algn="just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Disputes relating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on-line transactions and culture are extensively </a:t>
            </a:r>
            <a:r>
              <a:rPr sz="1800" spc="-10" dirty="0">
                <a:latin typeface="Arial"/>
                <a:cs typeface="Arial"/>
              </a:rPr>
              <a:t>different </a:t>
            </a:r>
            <a:r>
              <a:rPr sz="1800" spc="-5" dirty="0">
                <a:latin typeface="Arial"/>
                <a:cs typeface="Arial"/>
              </a:rPr>
              <a:t>in  their nature, scope and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treatment.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Pervasive societal dependence on </a:t>
            </a:r>
            <a:r>
              <a:rPr sz="1800" spc="-10" dirty="0">
                <a:latin typeface="Arial"/>
                <a:cs typeface="Arial"/>
              </a:rPr>
              <a:t>networks.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new </a:t>
            </a:r>
            <a:r>
              <a:rPr sz="1800" spc="-10" dirty="0">
                <a:latin typeface="Arial"/>
                <a:cs typeface="Arial"/>
              </a:rPr>
              <a:t>network </a:t>
            </a:r>
            <a:r>
              <a:rPr sz="1800" spc="-5" dirty="0">
                <a:latin typeface="Arial"/>
                <a:cs typeface="Arial"/>
              </a:rPr>
              <a:t>paradigm is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emerging.</a:t>
            </a:r>
            <a:endParaRPr sz="1800" dirty="0">
              <a:latin typeface="Arial"/>
              <a:cs typeface="Arial"/>
            </a:endParaRPr>
          </a:p>
          <a:p>
            <a:pPr marL="756285" marR="291465" indent="-286385" algn="just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spc="-5" dirty="0">
                <a:latin typeface="Arial"/>
                <a:cs typeface="Arial"/>
              </a:rPr>
              <a:t>, commercial organizations are integrating operations </a:t>
            </a:r>
            <a:r>
              <a:rPr sz="1800" spc="-15" dirty="0">
                <a:latin typeface="Arial"/>
                <a:cs typeface="Arial"/>
              </a:rPr>
              <a:t>with  </a:t>
            </a:r>
            <a:r>
              <a:rPr sz="1800" spc="-5" dirty="0">
                <a:latin typeface="Arial"/>
                <a:cs typeface="Arial"/>
              </a:rPr>
              <a:t>business units, suppliers, and customers through large-scale </a:t>
            </a:r>
            <a:r>
              <a:rPr sz="1800" spc="-10" dirty="0">
                <a:latin typeface="Arial"/>
                <a:cs typeface="Arial"/>
              </a:rPr>
              <a:t>networks </a:t>
            </a:r>
            <a:r>
              <a:rPr sz="1800" spc="-5" dirty="0">
                <a:latin typeface="Arial"/>
                <a:cs typeface="Arial"/>
              </a:rPr>
              <a:t>that  enhance communication and services. This new paradigm represents a shift 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spc="-5" dirty="0">
                <a:latin typeface="Arial"/>
                <a:cs typeface="Arial"/>
              </a:rPr>
              <a:t>bounded </a:t>
            </a:r>
            <a:r>
              <a:rPr sz="1800" spc="-10" dirty="0">
                <a:latin typeface="Arial"/>
                <a:cs typeface="Arial"/>
              </a:rPr>
              <a:t>networks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central control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unbounded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networks.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Extremely important feature of </a:t>
            </a:r>
            <a:r>
              <a:rPr sz="1800" spc="-10" dirty="0">
                <a:latin typeface="Arial"/>
                <a:cs typeface="Arial"/>
              </a:rPr>
              <a:t>today's </a:t>
            </a:r>
            <a:r>
              <a:rPr sz="1800" spc="-5" dirty="0">
                <a:latin typeface="Arial"/>
                <a:cs typeface="Arial"/>
              </a:rPr>
              <a:t>unbounded </a:t>
            </a:r>
            <a:r>
              <a:rPr sz="1800" spc="-10" dirty="0">
                <a:latin typeface="Arial"/>
                <a:cs typeface="Arial"/>
              </a:rPr>
              <a:t>networks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emergence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</a:p>
          <a:p>
            <a:pPr marL="35560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tremendous disputes, </a:t>
            </a:r>
            <a:r>
              <a:rPr sz="1800" spc="-10" dirty="0">
                <a:latin typeface="Arial"/>
                <a:cs typeface="Arial"/>
              </a:rPr>
              <a:t>differences, </a:t>
            </a:r>
            <a:r>
              <a:rPr sz="1800" spc="-5" dirty="0">
                <a:latin typeface="Arial"/>
                <a:cs typeface="Arial"/>
              </a:rPr>
              <a:t>fights and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dispute.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59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Crime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84782"/>
            <a:ext cx="3321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latin typeface="Arial"/>
                <a:cs typeface="Arial"/>
              </a:rPr>
              <a:t>Types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10" dirty="0">
                <a:latin typeface="Arial"/>
                <a:cs typeface="Arial"/>
              </a:rPr>
              <a:t>Cyber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Crimes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39567" y="2189479"/>
          <a:ext cx="8862695" cy="350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5405"/>
                <a:gridCol w="6257290"/>
              </a:tblGrid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2F0F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2F0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Financial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crimes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Cheating,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credit card frauds, money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laundering</a:t>
                      </a:r>
                      <a:r>
                        <a:rPr sz="1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etc.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Sale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illegal articles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Sale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narcotics,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weapons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wildlife</a:t>
                      </a:r>
                      <a:r>
                        <a:rPr sz="18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etc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Online gambling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Online gambling, money laundering</a:t>
                      </a:r>
                      <a:r>
                        <a:rPr sz="1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etc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Email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spoofing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3860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Sending e-mails that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appear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originate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one source  but actually has been sent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another</a:t>
                      </a:r>
                      <a:r>
                        <a:rPr sz="1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source.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Forgery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3987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Counterfeit currency notes, postage and revenue stamps  and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mark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sheet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etc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Cyber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Defamation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36562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Publishing/distributing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defamatory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matter	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someone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Cyber</a:t>
                      </a:r>
                      <a:r>
                        <a:rPr sz="1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stalking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Victimizing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someone</a:t>
                      </a:r>
                      <a:r>
                        <a:rPr sz="1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online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59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Crime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14727"/>
            <a:ext cx="6615430" cy="136652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30" dirty="0">
                <a:latin typeface="Arial"/>
                <a:cs typeface="Arial"/>
              </a:rPr>
              <a:t>Targets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10" dirty="0">
                <a:latin typeface="Arial"/>
                <a:cs typeface="Arial"/>
              </a:rPr>
              <a:t>Cyber</a:t>
            </a:r>
            <a:r>
              <a:rPr sz="2400" b="1" spc="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Crime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800" spc="340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crimes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-5" dirty="0">
                <a:latin typeface="Arial"/>
                <a:cs typeface="Arial"/>
              </a:rPr>
              <a:t>targeted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have </a:t>
            </a:r>
            <a:r>
              <a:rPr sz="1800" dirty="0">
                <a:latin typeface="Arial"/>
                <a:cs typeface="Arial"/>
              </a:rPr>
              <a:t>an </a:t>
            </a:r>
            <a:r>
              <a:rPr sz="1800" spc="-5" dirty="0">
                <a:latin typeface="Arial"/>
                <a:cs typeface="Arial"/>
              </a:rPr>
              <a:t>impact </a:t>
            </a:r>
            <a:r>
              <a:rPr sz="1800" dirty="0">
                <a:latin typeface="Arial"/>
                <a:cs typeface="Arial"/>
              </a:rPr>
              <a:t>at </a:t>
            </a:r>
            <a:r>
              <a:rPr sz="1800" spc="-5" dirty="0">
                <a:latin typeface="Arial"/>
                <a:cs typeface="Arial"/>
              </a:rPr>
              <a:t>three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levels:</a:t>
            </a:r>
            <a:endParaRPr sz="18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(i) Individuals (ii) Organizations (iii) Society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large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7370" y="2986277"/>
          <a:ext cx="8902065" cy="375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7355"/>
                <a:gridCol w="2967355"/>
                <a:gridCol w="2967355"/>
              </a:tblGrid>
              <a:tr h="370205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Individual Property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2F0F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Organization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2F0F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Society at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large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2F0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Computer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vandalism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893444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17665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Unauthorized  control/access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over  computer	system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spc="-5" dirty="0" smtClean="0">
                          <a:latin typeface="Arial"/>
                          <a:cs typeface="Arial"/>
                        </a:rPr>
                        <a:t>Unethical content distribution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7790" marR="779145" indent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Intellectual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Property  crimes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348615" indent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Possession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unauthorized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information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80645" indent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Polluting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youth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through  indecent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way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7790" marR="894080" indent="6350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17665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Unauthorized  control/access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over  computer	system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Cyber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terrorism against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>
                          <a:latin typeface="Arial"/>
                          <a:cs typeface="Arial"/>
                        </a:rPr>
                        <a:t>government</a:t>
                      </a:r>
                      <a:r>
                        <a:rPr sz="1800" spc="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smtClean="0">
                          <a:latin typeface="Arial"/>
                          <a:cs typeface="Arial"/>
                        </a:rPr>
                        <a:t>organization</a:t>
                      </a:r>
                      <a:endParaRPr lang="en-US" sz="1800" spc="-5" dirty="0" smtClean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Financial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crimes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CDC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Transmitting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virus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Pirated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Dist.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Sale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illegal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articles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2210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</a:t>
            </a:r>
            <a:r>
              <a:rPr spc="-100" dirty="0"/>
              <a:t> </a:t>
            </a:r>
            <a:r>
              <a:rPr dirty="0"/>
              <a:t>Law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99386"/>
            <a:ext cx="8608060" cy="3998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law or Internet law is a </a:t>
            </a:r>
            <a:r>
              <a:rPr sz="1800" dirty="0">
                <a:latin typeface="Arial"/>
                <a:cs typeface="Arial"/>
              </a:rPr>
              <a:t>term </a:t>
            </a:r>
            <a:r>
              <a:rPr sz="1800" spc="-5" dirty="0">
                <a:latin typeface="Arial"/>
                <a:cs typeface="Arial"/>
              </a:rPr>
              <a:t>that encapsulates the legal issues related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use </a:t>
            </a:r>
            <a:r>
              <a:rPr sz="1800" dirty="0">
                <a:latin typeface="Arial"/>
                <a:cs typeface="Arial"/>
              </a:rPr>
              <a:t>of the </a:t>
            </a:r>
            <a:r>
              <a:rPr sz="1800" spc="-5" dirty="0">
                <a:latin typeface="Arial"/>
                <a:cs typeface="Arial"/>
              </a:rPr>
              <a:t>Internet.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legal issues related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use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communications </a:t>
            </a:r>
            <a:r>
              <a:rPr sz="1800" spc="-20" dirty="0">
                <a:latin typeface="Arial"/>
                <a:cs typeface="Arial"/>
              </a:rPr>
              <a:t>technology,  </a:t>
            </a:r>
            <a:r>
              <a:rPr sz="1800" spc="-5" dirty="0">
                <a:latin typeface="Arial"/>
                <a:cs typeface="Arial"/>
              </a:rPr>
              <a:t>particularly </a:t>
            </a:r>
            <a:r>
              <a:rPr sz="1800" b="1" spc="-5" dirty="0">
                <a:latin typeface="Arial"/>
                <a:cs typeface="Arial"/>
              </a:rPr>
              <a:t>"cyberspace", </a:t>
            </a:r>
            <a:r>
              <a:rPr sz="1800" dirty="0">
                <a:latin typeface="Arial"/>
                <a:cs typeface="Arial"/>
              </a:rPr>
              <a:t>i.e. the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Internet.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an intersection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many legal fields,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like: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spc="-5" dirty="0">
                <a:latin typeface="Arial"/>
                <a:cs typeface="Arial"/>
              </a:rPr>
              <a:t>Intellectual property </a:t>
            </a:r>
            <a:r>
              <a:rPr sz="1800" dirty="0">
                <a:latin typeface="Arial"/>
                <a:cs typeface="Arial"/>
              </a:rPr>
              <a:t>OR </a:t>
            </a:r>
            <a:r>
              <a:rPr sz="1800" spc="-5" dirty="0">
                <a:latin typeface="Arial"/>
                <a:cs typeface="Arial"/>
              </a:rPr>
              <a:t>Contract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Law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800" spc="335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1800" spc="145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1800" spc="-5" smtClean="0">
                <a:latin typeface="Arial"/>
                <a:cs typeface="Arial"/>
              </a:rPr>
              <a:t>Privacy</a:t>
            </a:r>
            <a:endParaRPr lang="en-US" sz="1800" spc="-5" dirty="0" smtClean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355600" marR="144145" indent="-342900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15" dirty="0">
                <a:latin typeface="Arial"/>
                <a:cs typeface="Arial"/>
              </a:rPr>
              <a:t>laws </a:t>
            </a:r>
            <a:r>
              <a:rPr sz="1800" spc="-5" dirty="0">
                <a:latin typeface="Arial"/>
                <a:cs typeface="Arial"/>
              </a:rPr>
              <a:t>is an attempt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apply </a:t>
            </a:r>
            <a:r>
              <a:rPr sz="1800" spc="-15" dirty="0">
                <a:latin typeface="Arial"/>
                <a:cs typeface="Arial"/>
              </a:rPr>
              <a:t>laws </a:t>
            </a:r>
            <a:r>
              <a:rPr sz="1800" spc="-5" dirty="0">
                <a:latin typeface="Arial"/>
                <a:cs typeface="Arial"/>
              </a:rPr>
              <a:t>designed </a:t>
            </a:r>
            <a:r>
              <a:rPr sz="1800" dirty="0">
                <a:latin typeface="Arial"/>
                <a:cs typeface="Arial"/>
              </a:rPr>
              <a:t>for the </a:t>
            </a: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15" dirty="0">
                <a:latin typeface="Arial"/>
                <a:cs typeface="Arial"/>
              </a:rPr>
              <a:t>world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human  activity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Internet </a:t>
            </a:r>
            <a:r>
              <a:rPr sz="180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6858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International </a:t>
            </a:r>
            <a:r>
              <a:rPr dirty="0"/>
              <a:t>Aspect of Cyber</a:t>
            </a:r>
            <a:r>
              <a:rPr spc="-275" dirty="0"/>
              <a:t> </a:t>
            </a:r>
            <a:r>
              <a:rPr dirty="0"/>
              <a:t>Law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32731"/>
            <a:ext cx="8742045" cy="446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6794">
              <a:lnSpc>
                <a:spcPct val="1463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Information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communications flow more easily </a:t>
            </a:r>
            <a:r>
              <a:rPr sz="1800" spc="-10" dirty="0">
                <a:latin typeface="Arial"/>
                <a:cs typeface="Arial"/>
              </a:rPr>
              <a:t>around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world. </a:t>
            </a:r>
            <a:r>
              <a:rPr sz="1800" spc="-5" dirty="0">
                <a:latin typeface="Arial"/>
                <a:cs typeface="Arial"/>
              </a:rPr>
              <a:t>Borders  are no longer boundaries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this </a:t>
            </a:r>
            <a:r>
              <a:rPr sz="1800" spc="-30" dirty="0">
                <a:latin typeface="Arial"/>
                <a:cs typeface="Arial"/>
              </a:rPr>
              <a:t>flow. </a:t>
            </a:r>
            <a:r>
              <a:rPr sz="1800" spc="-5" dirty="0">
                <a:latin typeface="Arial"/>
                <a:cs typeface="Arial"/>
              </a:rPr>
              <a:t>This causes </a:t>
            </a:r>
            <a:r>
              <a:rPr sz="1800" spc="-20" dirty="0">
                <a:latin typeface="Arial"/>
                <a:cs typeface="Arial"/>
              </a:rPr>
              <a:t>difficulty, </a:t>
            </a:r>
            <a:r>
              <a:rPr sz="1800" spc="-5" dirty="0">
                <a:latin typeface="Arial"/>
                <a:cs typeface="Arial"/>
              </a:rPr>
              <a:t>as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internet  based society has no </a:t>
            </a: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5" dirty="0">
                <a:latin typeface="Arial"/>
                <a:cs typeface="Arial"/>
              </a:rPr>
              <a:t>boundaries and thus much traffic escapes  national </a:t>
            </a:r>
            <a:r>
              <a:rPr sz="1800" spc="-20" dirty="0">
                <a:latin typeface="Arial"/>
                <a:cs typeface="Arial"/>
              </a:rPr>
              <a:t>supremacy. </a:t>
            </a:r>
            <a:r>
              <a:rPr sz="1800" spc="-5" dirty="0">
                <a:latin typeface="Arial"/>
                <a:cs typeface="Arial"/>
              </a:rPr>
              <a:t>Criminals are increasingly located in places other than  </a:t>
            </a:r>
            <a:r>
              <a:rPr sz="1800" spc="-15" dirty="0">
                <a:latin typeface="Arial"/>
                <a:cs typeface="Arial"/>
              </a:rPr>
              <a:t>where </a:t>
            </a:r>
            <a:r>
              <a:rPr sz="1800" spc="-5" dirty="0">
                <a:latin typeface="Arial"/>
                <a:cs typeface="Arial"/>
              </a:rPr>
              <a:t>their acts produce their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effects.</a:t>
            </a:r>
            <a:endParaRPr sz="1800" dirty="0">
              <a:latin typeface="Arial"/>
              <a:cs typeface="Arial"/>
            </a:endParaRPr>
          </a:p>
          <a:p>
            <a:pPr marL="756285" marR="5080" indent="-286385" algn="just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Over the </a:t>
            </a:r>
            <a:r>
              <a:rPr sz="1800" b="1" spc="-5" dirty="0">
                <a:latin typeface="Arial"/>
                <a:cs typeface="Arial"/>
              </a:rPr>
              <a:t>past </a:t>
            </a:r>
            <a:r>
              <a:rPr sz="1800" b="1" dirty="0">
                <a:latin typeface="Arial"/>
                <a:cs typeface="Arial"/>
              </a:rPr>
              <a:t>thirty </a:t>
            </a:r>
            <a:r>
              <a:rPr sz="1800" b="1" spc="-10" dirty="0">
                <a:latin typeface="Arial"/>
                <a:cs typeface="Arial"/>
              </a:rPr>
              <a:t>years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spc="-5" dirty="0">
                <a:latin typeface="Arial"/>
                <a:cs typeface="Arial"/>
              </a:rPr>
              <a:t>developed nations transit </a:t>
            </a:r>
            <a:r>
              <a:rPr sz="1800" dirty="0">
                <a:latin typeface="Arial"/>
                <a:cs typeface="Arial"/>
              </a:rPr>
              <a:t>from the </a:t>
            </a:r>
            <a:r>
              <a:rPr sz="1800" b="1" spc="-5" dirty="0">
                <a:latin typeface="Arial"/>
                <a:cs typeface="Arial"/>
              </a:rPr>
              <a:t>industrial era  </a:t>
            </a:r>
            <a:r>
              <a:rPr sz="1800" b="1" dirty="0">
                <a:latin typeface="Arial"/>
                <a:cs typeface="Arial"/>
              </a:rPr>
              <a:t>to the new </a:t>
            </a:r>
            <a:r>
              <a:rPr sz="1800" b="1" spc="-5" dirty="0">
                <a:latin typeface="Arial"/>
                <a:cs typeface="Arial"/>
              </a:rPr>
              <a:t>information age </a:t>
            </a:r>
            <a:r>
              <a:rPr sz="1800" spc="-5" dirty="0">
                <a:latin typeface="Arial"/>
                <a:cs typeface="Arial"/>
              </a:rPr>
              <a:t>has enabled them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develop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Nascent  </a:t>
            </a:r>
            <a:r>
              <a:rPr sz="1800" b="1" spc="-15" dirty="0">
                <a:latin typeface="Arial"/>
                <a:cs typeface="Arial"/>
              </a:rPr>
              <a:t>Technology </a:t>
            </a:r>
            <a:r>
              <a:rPr sz="1800" spc="-5" dirty="0">
                <a:latin typeface="Arial"/>
                <a:cs typeface="Arial"/>
              </a:rPr>
              <a:t>and produce ever greater quality in standards and value. 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2000 and 2005,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average internet user </a:t>
            </a:r>
            <a:r>
              <a:rPr sz="1800" spc="-10" dirty="0">
                <a:latin typeface="Arial"/>
                <a:cs typeface="Arial"/>
              </a:rPr>
              <a:t>growth </a:t>
            </a:r>
            <a:r>
              <a:rPr sz="1800" spc="-5" dirty="0">
                <a:latin typeface="Arial"/>
                <a:cs typeface="Arial"/>
              </a:rPr>
              <a:t>rate </a:t>
            </a:r>
            <a:r>
              <a:rPr sz="1800" spc="-15" dirty="0">
                <a:latin typeface="Arial"/>
                <a:cs typeface="Arial"/>
              </a:rPr>
              <a:t>was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183.4%.</a:t>
            </a:r>
            <a:endParaRPr sz="1800" dirty="0">
              <a:latin typeface="Arial"/>
              <a:cs typeface="Arial"/>
            </a:endParaRPr>
          </a:p>
          <a:p>
            <a:pPr marL="756285" indent="-286385" algn="just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highest </a:t>
            </a:r>
            <a:r>
              <a:rPr sz="1800" spc="-5" dirty="0">
                <a:latin typeface="Arial"/>
                <a:cs typeface="Arial"/>
              </a:rPr>
              <a:t>rate </a:t>
            </a:r>
            <a:r>
              <a:rPr sz="1800" spc="-10" dirty="0">
                <a:latin typeface="Arial"/>
                <a:cs typeface="Arial"/>
              </a:rPr>
              <a:t>being </a:t>
            </a:r>
            <a:r>
              <a:rPr sz="1800" dirty="0">
                <a:latin typeface="Arial"/>
                <a:cs typeface="Arial"/>
              </a:rPr>
              <a:t>in the </a:t>
            </a:r>
            <a:r>
              <a:rPr sz="1800" spc="-5" dirty="0">
                <a:latin typeface="Arial"/>
                <a:cs typeface="Arial"/>
              </a:rPr>
              <a:t>Middle East </a:t>
            </a:r>
            <a:r>
              <a:rPr sz="1800" spc="-10" dirty="0">
                <a:latin typeface="Arial"/>
                <a:cs typeface="Arial"/>
              </a:rPr>
              <a:t>with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454.2%.</a:t>
            </a:r>
            <a:endParaRPr sz="1800" dirty="0">
              <a:latin typeface="Arial"/>
              <a:cs typeface="Arial"/>
            </a:endParaRPr>
          </a:p>
          <a:p>
            <a:pPr marL="756285" indent="-286385" algn="just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Africa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423.9%</a:t>
            </a:r>
            <a:endParaRPr sz="1800" dirty="0">
              <a:latin typeface="Arial"/>
              <a:cs typeface="Arial"/>
            </a:endParaRPr>
          </a:p>
          <a:p>
            <a:pPr marL="756285" indent="-286385" algn="just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Latin America and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Caribbean collectively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342.5%14.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7595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Int’l Aspect </a:t>
            </a:r>
            <a:r>
              <a:rPr spc="-5" dirty="0"/>
              <a:t>of Cyber Law Continue</a:t>
            </a:r>
            <a:r>
              <a:rPr spc="-29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703578"/>
            <a:ext cx="874712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4770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clear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spc="-5" dirty="0">
                <a:latin typeface="Arial"/>
                <a:cs typeface="Arial"/>
              </a:rPr>
              <a:t>these </a:t>
            </a:r>
            <a:r>
              <a:rPr sz="1800" dirty="0">
                <a:latin typeface="Arial"/>
                <a:cs typeface="Arial"/>
              </a:rPr>
              <a:t>statistics </a:t>
            </a:r>
            <a:r>
              <a:rPr sz="1800" spc="-5" dirty="0">
                <a:latin typeface="Arial"/>
                <a:cs typeface="Arial"/>
              </a:rPr>
              <a:t>that these regions, in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dirty="0">
                <a:latin typeface="Arial"/>
                <a:cs typeface="Arial"/>
              </a:rPr>
              <a:t>most </a:t>
            </a:r>
            <a:r>
              <a:rPr sz="1800" spc="-5" dirty="0">
                <a:latin typeface="Arial"/>
                <a:cs typeface="Arial"/>
              </a:rPr>
              <a:t>developing  countries are eager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implement </a:t>
            </a:r>
            <a:r>
              <a:rPr sz="1800" spc="-10" dirty="0">
                <a:latin typeface="Arial"/>
                <a:cs typeface="Arial"/>
              </a:rPr>
              <a:t>and exploit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advantages of </a:t>
            </a:r>
            <a:r>
              <a:rPr sz="1800" spc="-50" dirty="0">
                <a:latin typeface="Arial"/>
                <a:cs typeface="Arial"/>
              </a:rPr>
              <a:t>ICTs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internet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superhighway.</a:t>
            </a:r>
            <a:endParaRPr sz="18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European </a:t>
            </a:r>
            <a:r>
              <a:rPr sz="1800" b="1" dirty="0">
                <a:latin typeface="Arial"/>
                <a:cs typeface="Arial"/>
              </a:rPr>
              <a:t>Union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spc="-10" dirty="0">
                <a:latin typeface="Arial"/>
                <a:cs typeface="Arial"/>
              </a:rPr>
              <a:t>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other hand, has enabled harmonized implementation 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regulation on electronic commerce through directives in almost all European  countries,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non-member countries aligning themselves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EU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movement.</a:t>
            </a:r>
            <a:endParaRPr sz="18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55600" marR="28575" indent="-342900" algn="just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United </a:t>
            </a:r>
            <a:r>
              <a:rPr sz="1800" dirty="0">
                <a:latin typeface="Arial"/>
                <a:cs typeface="Arial"/>
              </a:rPr>
              <a:t>State </a:t>
            </a:r>
            <a:r>
              <a:rPr sz="1800" spc="-5" dirty="0">
                <a:latin typeface="Arial"/>
                <a:cs typeface="Arial"/>
              </a:rPr>
              <a:t>has both important </a:t>
            </a:r>
            <a:r>
              <a:rPr sz="1800" spc="-10" dirty="0">
                <a:latin typeface="Arial"/>
                <a:cs typeface="Arial"/>
              </a:rPr>
              <a:t>knowledge </a:t>
            </a:r>
            <a:r>
              <a:rPr sz="1800" spc="-5" dirty="0">
                <a:latin typeface="Arial"/>
                <a:cs typeface="Arial"/>
              </a:rPr>
              <a:t>and experience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legal field of  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20" dirty="0">
                <a:latin typeface="Arial"/>
                <a:cs typeface="Arial"/>
              </a:rPr>
              <a:t>security,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significant influence in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area.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7595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Int’l Aspect </a:t>
            </a:r>
            <a:r>
              <a:rPr spc="-5" dirty="0"/>
              <a:t>of Cyber Law Continue</a:t>
            </a:r>
            <a:r>
              <a:rPr spc="-29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85975"/>
            <a:ext cx="8756650" cy="37208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b="1" spc="-5" dirty="0">
                <a:latin typeface="Arial"/>
                <a:cs typeface="Arial"/>
              </a:rPr>
              <a:t>European Union</a:t>
            </a:r>
            <a:endParaRPr sz="1800" dirty="0">
              <a:latin typeface="Arial"/>
              <a:cs typeface="Arial"/>
            </a:endParaRPr>
          </a:p>
          <a:p>
            <a:pPr marL="756285" marR="133350" indent="-286385" algn="just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Council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Europe Convention on 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Crime in 2001 </a:t>
            </a:r>
            <a:r>
              <a:rPr sz="1800" spc="-15" dirty="0">
                <a:latin typeface="Arial"/>
                <a:cs typeface="Arial"/>
              </a:rPr>
              <a:t>was </a:t>
            </a:r>
            <a:r>
              <a:rPr sz="1800" dirty="0">
                <a:latin typeface="Arial"/>
                <a:cs typeface="Arial"/>
              </a:rPr>
              <a:t>the first  </a:t>
            </a:r>
            <a:r>
              <a:rPr sz="1800" spc="-5" dirty="0">
                <a:latin typeface="Arial"/>
                <a:cs typeface="Arial"/>
              </a:rPr>
              <a:t>international initiative on computer crime.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has been signed by 37 </a:t>
            </a:r>
            <a:r>
              <a:rPr sz="1800" dirty="0">
                <a:latin typeface="Arial"/>
                <a:cs typeface="Arial"/>
              </a:rPr>
              <a:t>States </a:t>
            </a:r>
            <a:r>
              <a:rPr sz="1800" spc="-5" dirty="0">
                <a:latin typeface="Arial"/>
                <a:cs typeface="Arial"/>
              </a:rPr>
              <a:t>and  entered into </a:t>
            </a:r>
            <a:r>
              <a:rPr sz="1800" dirty="0">
                <a:latin typeface="Arial"/>
                <a:cs typeface="Arial"/>
              </a:rPr>
              <a:t>force in </a:t>
            </a:r>
            <a:r>
              <a:rPr sz="1800" spc="-5" dirty="0">
                <a:latin typeface="Arial"/>
                <a:cs typeface="Arial"/>
              </a:rPr>
              <a:t>July </a:t>
            </a:r>
            <a:r>
              <a:rPr sz="1800" spc="-10" dirty="0">
                <a:latin typeface="Arial"/>
                <a:cs typeface="Arial"/>
              </a:rPr>
              <a:t>2004. </a:t>
            </a:r>
            <a:r>
              <a:rPr sz="1800" dirty="0">
                <a:latin typeface="Arial"/>
                <a:cs typeface="Arial"/>
              </a:rPr>
              <a:t>This </a:t>
            </a:r>
            <a:r>
              <a:rPr sz="1800" spc="-5" dirty="0">
                <a:latin typeface="Arial"/>
                <a:cs typeface="Arial"/>
              </a:rPr>
              <a:t>Convention </a:t>
            </a:r>
            <a:r>
              <a:rPr sz="1800" spc="-10" dirty="0">
                <a:latin typeface="Arial"/>
                <a:cs typeface="Arial"/>
              </a:rPr>
              <a:t>helps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foster international  cooperation by criminalizing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basic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b="1" spc="-5" dirty="0">
                <a:latin typeface="Arial"/>
                <a:cs typeface="Arial"/>
              </a:rPr>
              <a:t>United State</a:t>
            </a:r>
            <a:endParaRPr sz="1800" dirty="0">
              <a:latin typeface="Arial"/>
              <a:cs typeface="Arial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1000"/>
              </a:spcBef>
            </a:pPr>
            <a:r>
              <a:rPr sz="1800" spc="340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United </a:t>
            </a:r>
            <a:r>
              <a:rPr sz="1800" dirty="0">
                <a:latin typeface="Arial"/>
                <a:cs typeface="Arial"/>
              </a:rPr>
              <a:t>State </a:t>
            </a:r>
            <a:r>
              <a:rPr sz="1800" spc="-5" dirty="0">
                <a:latin typeface="Arial"/>
                <a:cs typeface="Arial"/>
              </a:rPr>
              <a:t>Resolutions on Combating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Criminal Misuse of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Information  </a:t>
            </a:r>
            <a:r>
              <a:rPr sz="1800" spc="-25" dirty="0">
                <a:latin typeface="Arial"/>
                <a:cs typeface="Arial"/>
              </a:rPr>
              <a:t>Technology </a:t>
            </a:r>
            <a:r>
              <a:rPr sz="1800" spc="-5" dirty="0">
                <a:latin typeface="Arial"/>
                <a:cs typeface="Arial"/>
              </a:rPr>
              <a:t>tried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address the problem </a:t>
            </a:r>
            <a:r>
              <a:rPr sz="1800" dirty="0">
                <a:latin typeface="Arial"/>
                <a:cs typeface="Arial"/>
              </a:rPr>
              <a:t>of safe </a:t>
            </a:r>
            <a:r>
              <a:rPr sz="1800" spc="-5" dirty="0">
                <a:latin typeface="Arial"/>
                <a:cs typeface="Arial"/>
              </a:rPr>
              <a:t>havens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those </a:t>
            </a:r>
            <a:r>
              <a:rPr sz="1800" spc="-20" dirty="0">
                <a:latin typeface="Arial"/>
                <a:cs typeface="Arial"/>
              </a:rPr>
              <a:t>who  </a:t>
            </a:r>
            <a:r>
              <a:rPr sz="1800" spc="-5" dirty="0">
                <a:latin typeface="Arial"/>
                <a:cs typeface="Arial"/>
              </a:rPr>
              <a:t>criminally misuse information technology by requesting that </a:t>
            </a:r>
            <a:r>
              <a:rPr sz="1800" dirty="0">
                <a:latin typeface="Arial"/>
                <a:cs typeface="Arial"/>
              </a:rPr>
              <a:t>States </a:t>
            </a:r>
            <a:r>
              <a:rPr sz="1800" spc="-5" dirty="0">
                <a:latin typeface="Arial"/>
                <a:cs typeface="Arial"/>
              </a:rPr>
              <a:t>put into  place </a:t>
            </a:r>
            <a:r>
              <a:rPr sz="1800" spc="-15" dirty="0">
                <a:latin typeface="Arial"/>
                <a:cs typeface="Arial"/>
              </a:rPr>
              <a:t>laws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eliminate such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havens.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7258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 of Pakistan in the Cyber</a:t>
            </a:r>
            <a:r>
              <a:rPr spc="-114" dirty="0"/>
              <a:t> </a:t>
            </a:r>
            <a:r>
              <a:rPr spc="-15" dirty="0"/>
              <a:t>World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86305"/>
            <a:ext cx="8670925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Pakistan market has now </a:t>
            </a:r>
            <a:r>
              <a:rPr sz="1800" spc="-15" dirty="0">
                <a:latin typeface="Arial"/>
                <a:cs typeface="Arial"/>
              </a:rPr>
              <a:t>grown </a:t>
            </a:r>
            <a:r>
              <a:rPr sz="1800" spc="-5" dirty="0">
                <a:latin typeface="Arial"/>
                <a:cs typeface="Arial"/>
              </a:rPr>
              <a:t>manifolds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largest majority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internet  users in </a:t>
            </a:r>
            <a:r>
              <a:rPr sz="1800" b="1" spc="-5" dirty="0">
                <a:latin typeface="Arial"/>
                <a:cs typeface="Arial"/>
              </a:rPr>
              <a:t>Karachi </a:t>
            </a:r>
            <a:r>
              <a:rPr sz="1800" spc="-5" dirty="0">
                <a:latin typeface="Arial"/>
                <a:cs typeface="Arial"/>
              </a:rPr>
              <a:t>and then </a:t>
            </a:r>
            <a:r>
              <a:rPr sz="1800" b="1" dirty="0">
                <a:latin typeface="Arial"/>
                <a:cs typeface="Arial"/>
              </a:rPr>
              <a:t>Lahore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b="1" spc="-5" dirty="0">
                <a:latin typeface="Arial"/>
                <a:cs typeface="Arial"/>
              </a:rPr>
              <a:t>Islamabad</a:t>
            </a:r>
            <a:r>
              <a:rPr sz="1800" spc="-5" dirty="0">
                <a:latin typeface="Arial"/>
                <a:cs typeface="Arial"/>
              </a:rPr>
              <a:t>. These three cities jointly  provide over </a:t>
            </a:r>
            <a:r>
              <a:rPr sz="1800" spc="-10" dirty="0">
                <a:latin typeface="Arial"/>
                <a:cs typeface="Arial"/>
              </a:rPr>
              <a:t>90%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customer base </a:t>
            </a:r>
            <a:r>
              <a:rPr sz="1800" spc="-10" dirty="0">
                <a:latin typeface="Arial"/>
                <a:cs typeface="Arial"/>
              </a:rPr>
              <a:t>and expansion </a:t>
            </a: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activity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also likely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remain primarily confined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these cities because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concentration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economic  activity in these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cities.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55600" marR="371475" indent="-342900" algn="just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Pakistan also is not free </a:t>
            </a:r>
            <a:r>
              <a:rPr sz="1800" dirty="0">
                <a:latin typeface="Arial"/>
                <a:cs typeface="Arial"/>
              </a:rPr>
              <a:t>from the </a:t>
            </a:r>
            <a:r>
              <a:rPr sz="1800" spc="-10" dirty="0">
                <a:latin typeface="Arial"/>
                <a:cs typeface="Arial"/>
              </a:rPr>
              <a:t>cyber </a:t>
            </a:r>
            <a:r>
              <a:rPr sz="1800" spc="-5" dirty="0">
                <a:latin typeface="Arial"/>
                <a:cs typeface="Arial"/>
              </a:rPr>
              <a:t>space dilemma.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availability </a:t>
            </a:r>
            <a:r>
              <a:rPr sz="1800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computers and Internet connections provides unprecedented opportunities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communicate and learn in Pakistan. </a:t>
            </a:r>
            <a:r>
              <a:rPr sz="1800" spc="-25" dirty="0">
                <a:latin typeface="Arial"/>
                <a:cs typeface="Arial"/>
              </a:rPr>
              <a:t>However, </a:t>
            </a:r>
            <a:r>
              <a:rPr sz="1800" spc="-5" dirty="0">
                <a:latin typeface="Arial"/>
                <a:cs typeface="Arial"/>
              </a:rPr>
              <a:t>certain individuals do </a:t>
            </a:r>
            <a:r>
              <a:rPr sz="1800" spc="-10" dirty="0">
                <a:latin typeface="Arial"/>
                <a:cs typeface="Arial"/>
              </a:rPr>
              <a:t>exploit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15" dirty="0">
                <a:latin typeface="Arial"/>
                <a:cs typeface="Arial"/>
              </a:rPr>
              <a:t>power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Internet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criminal purposes as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well.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6759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Pakistan Cyber Law</a:t>
            </a:r>
            <a:r>
              <a:rPr spc="-114" dirty="0"/>
              <a:t> </a:t>
            </a:r>
            <a:r>
              <a:rPr dirty="0"/>
              <a:t>Conventions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86305"/>
            <a:ext cx="8729980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While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government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Pakistan focuses on fighting terrorism and extremism  under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National </a:t>
            </a:r>
            <a:r>
              <a:rPr sz="1800" b="1" spc="-10" dirty="0">
                <a:latin typeface="Arial"/>
                <a:cs typeface="Arial"/>
              </a:rPr>
              <a:t>Action </a:t>
            </a:r>
            <a:r>
              <a:rPr sz="1800" b="1" spc="-5" dirty="0">
                <a:latin typeface="Arial"/>
                <a:cs typeface="Arial"/>
              </a:rPr>
              <a:t>Plan </a:t>
            </a:r>
            <a:r>
              <a:rPr sz="1800" b="1" spc="-10" dirty="0">
                <a:latin typeface="Arial"/>
                <a:cs typeface="Arial"/>
              </a:rPr>
              <a:t>(NAP), </a:t>
            </a:r>
            <a:r>
              <a:rPr sz="1800" spc="-5" dirty="0">
                <a:latin typeface="Arial"/>
                <a:cs typeface="Arial"/>
              </a:rPr>
              <a:t>another threat seems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 looming on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10" dirty="0">
                <a:latin typeface="Arial"/>
                <a:cs typeface="Arial"/>
              </a:rPr>
              <a:t>horizon, </a:t>
            </a:r>
            <a:r>
              <a:rPr sz="1800" spc="-5" dirty="0">
                <a:latin typeface="Arial"/>
                <a:cs typeface="Arial"/>
              </a:rPr>
              <a:t>i.e. </a:t>
            </a:r>
            <a:r>
              <a:rPr sz="1800" b="1" spc="-5" dirty="0">
                <a:latin typeface="Arial"/>
                <a:cs typeface="Arial"/>
              </a:rPr>
              <a:t>cyber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warfare</a:t>
            </a:r>
            <a:r>
              <a:rPr sz="1800" dirty="0">
                <a:latin typeface="Arial"/>
                <a:cs typeface="Arial"/>
              </a:rPr>
              <a:t>.</a:t>
            </a: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55600" marR="267970" indent="-342900" algn="just">
              <a:lnSpc>
                <a:spcPct val="100000"/>
              </a:lnSpc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Cyber-crime rises rapidly in Pakistan. There are about </a:t>
            </a:r>
            <a:r>
              <a:rPr sz="1800" b="1" spc="-5" dirty="0">
                <a:latin typeface="Arial"/>
                <a:cs typeface="Arial"/>
              </a:rPr>
              <a:t>30 </a:t>
            </a:r>
            <a:r>
              <a:rPr sz="1800" b="1" dirty="0">
                <a:latin typeface="Arial"/>
                <a:cs typeface="Arial"/>
              </a:rPr>
              <a:t>million </a:t>
            </a:r>
            <a:r>
              <a:rPr sz="1800" b="1" spc="-5" dirty="0">
                <a:latin typeface="Arial"/>
                <a:cs typeface="Arial"/>
              </a:rPr>
              <a:t>internet </a:t>
            </a:r>
            <a:r>
              <a:rPr sz="1800" spc="-5" dirty="0">
                <a:latin typeface="Arial"/>
                <a:cs typeface="Arial"/>
              </a:rPr>
              <a:t>users 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b="1" spc="-5" dirty="0">
                <a:latin typeface="Arial"/>
                <a:cs typeface="Arial"/>
              </a:rPr>
              <a:t>15 </a:t>
            </a:r>
            <a:r>
              <a:rPr sz="1800" b="1" dirty="0">
                <a:latin typeface="Arial"/>
                <a:cs typeface="Arial"/>
              </a:rPr>
              <a:t>million mobile </a:t>
            </a:r>
            <a:r>
              <a:rPr sz="1800" b="1" spc="-5" dirty="0">
                <a:latin typeface="Arial"/>
                <a:cs typeface="Arial"/>
              </a:rPr>
              <a:t>subscribers </a:t>
            </a:r>
            <a:r>
              <a:rPr sz="1800" spc="-5" dirty="0">
                <a:latin typeface="Arial"/>
                <a:cs typeface="Arial"/>
              </a:rPr>
              <a:t>in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Pakistan.</a:t>
            </a:r>
            <a:endParaRPr sz="18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756285" marR="301625" indent="-287020" algn="just">
              <a:lnSpc>
                <a:spcPct val="100000"/>
              </a:lnSpc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b="1" spc="-10" dirty="0">
                <a:latin typeface="Arial"/>
                <a:cs typeface="Arial"/>
              </a:rPr>
              <a:t>According </a:t>
            </a:r>
            <a:r>
              <a:rPr sz="1800" b="1" spc="-5" dirty="0">
                <a:latin typeface="Arial"/>
                <a:cs typeface="Arial"/>
              </a:rPr>
              <a:t>to Cyber Crime </a:t>
            </a:r>
            <a:r>
              <a:rPr sz="1800" b="1" dirty="0">
                <a:latin typeface="Arial"/>
                <a:cs typeface="Arial"/>
              </a:rPr>
              <a:t>Unit </a:t>
            </a:r>
            <a:r>
              <a:rPr sz="1800" spc="-5" dirty="0">
                <a:latin typeface="Arial"/>
                <a:cs typeface="Arial"/>
              </a:rPr>
              <a:t>(CCU), a branch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Federal Investigation  </a:t>
            </a:r>
            <a:r>
              <a:rPr sz="1800" spc="-30" dirty="0">
                <a:latin typeface="Arial"/>
                <a:cs typeface="Arial"/>
              </a:rPr>
              <a:t>Agency</a:t>
            </a:r>
            <a:r>
              <a:rPr sz="1800" spc="-30">
                <a:latin typeface="Arial"/>
                <a:cs typeface="Arial"/>
              </a:rPr>
              <a:t>, </a:t>
            </a:r>
            <a:endParaRPr lang="en-US" sz="1800" spc="-30" dirty="0" smtClean="0">
              <a:latin typeface="Arial"/>
              <a:cs typeface="Arial"/>
            </a:endParaRPr>
          </a:p>
          <a:p>
            <a:pPr marL="756285" marR="301625" indent="-287020" algn="just">
              <a:lnSpc>
                <a:spcPct val="100000"/>
              </a:lnSpc>
            </a:pPr>
            <a:r>
              <a:rPr lang="en-US" sz="1800" spc="-5" dirty="0" smtClean="0">
                <a:latin typeface="Arial"/>
                <a:cs typeface="Arial"/>
              </a:rPr>
              <a:t>	</a:t>
            </a:r>
            <a:r>
              <a:rPr sz="1800" spc="-5" smtClean="0">
                <a:latin typeface="Arial"/>
                <a:cs typeface="Arial"/>
              </a:rPr>
              <a:t>only </a:t>
            </a:r>
            <a:r>
              <a:rPr sz="1800" spc="-5" dirty="0">
                <a:latin typeface="Arial"/>
                <a:cs typeface="Arial"/>
              </a:rPr>
              <a:t>62 cases </a:t>
            </a:r>
            <a:r>
              <a:rPr sz="1800" spc="-15" dirty="0">
                <a:latin typeface="Arial"/>
                <a:cs typeface="Arial"/>
              </a:rPr>
              <a:t>were </a:t>
            </a:r>
            <a:r>
              <a:rPr sz="1800" spc="-5" dirty="0">
                <a:latin typeface="Arial"/>
                <a:cs typeface="Arial"/>
              </a:rPr>
              <a:t>reported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 unit in 2007</a:t>
            </a:r>
            <a:r>
              <a:rPr sz="1800" spc="-5">
                <a:latin typeface="Arial"/>
                <a:cs typeface="Arial"/>
              </a:rPr>
              <a:t>, </a:t>
            </a:r>
            <a:endParaRPr lang="en-US" sz="1800" spc="-5" dirty="0" smtClean="0">
              <a:latin typeface="Arial"/>
              <a:cs typeface="Arial"/>
            </a:endParaRPr>
          </a:p>
          <a:p>
            <a:pPr marL="756285" marR="301625" indent="-287020" algn="just">
              <a:lnSpc>
                <a:spcPct val="100000"/>
              </a:lnSpc>
            </a:pPr>
            <a:r>
              <a:rPr lang="en-US" sz="1800" spc="-5" dirty="0" smtClean="0">
                <a:latin typeface="Arial"/>
                <a:cs typeface="Arial"/>
              </a:rPr>
              <a:t>	</a:t>
            </a:r>
            <a:r>
              <a:rPr sz="1800" spc="-5" smtClean="0">
                <a:latin typeface="Arial"/>
                <a:cs typeface="Arial"/>
              </a:rPr>
              <a:t>287 </a:t>
            </a:r>
            <a:r>
              <a:rPr sz="1800" spc="-5" dirty="0">
                <a:latin typeface="Arial"/>
                <a:cs typeface="Arial"/>
              </a:rPr>
              <a:t>cases in 2008</a:t>
            </a:r>
            <a:r>
              <a:rPr sz="1800" spc="-5">
                <a:latin typeface="Arial"/>
                <a:cs typeface="Arial"/>
              </a:rPr>
              <a:t>,  </a:t>
            </a:r>
            <a:endParaRPr lang="en-US" sz="1800" spc="-5" dirty="0" smtClean="0">
              <a:latin typeface="Arial"/>
              <a:cs typeface="Arial"/>
            </a:endParaRPr>
          </a:p>
          <a:p>
            <a:pPr marL="756285" marR="301625" indent="-287020" algn="just">
              <a:lnSpc>
                <a:spcPct val="100000"/>
              </a:lnSpc>
            </a:pPr>
            <a:r>
              <a:rPr lang="en-US" sz="1800" spc="-5" dirty="0" smtClean="0">
                <a:latin typeface="Arial"/>
                <a:cs typeface="Arial"/>
              </a:rPr>
              <a:t>	</a:t>
            </a:r>
            <a:r>
              <a:rPr sz="1800" spc="-5" smtClean="0">
                <a:latin typeface="Arial"/>
                <a:cs typeface="Arial"/>
              </a:rPr>
              <a:t>ratio </a:t>
            </a:r>
            <a:r>
              <a:rPr sz="1800" spc="-5" dirty="0">
                <a:latin typeface="Arial"/>
                <a:cs typeface="Arial"/>
              </a:rPr>
              <a:t>dropped in </a:t>
            </a:r>
            <a:r>
              <a:rPr sz="1800" spc="-5">
                <a:latin typeface="Arial"/>
                <a:cs typeface="Arial"/>
              </a:rPr>
              <a:t>2009 </a:t>
            </a:r>
            <a:r>
              <a:rPr sz="1800" spc="-5" smtClean="0">
                <a:latin typeface="Arial"/>
                <a:cs typeface="Arial"/>
              </a:rPr>
              <a:t>but</a:t>
            </a:r>
            <a:endParaRPr lang="en-US" sz="1800" spc="-5" dirty="0" smtClean="0">
              <a:latin typeface="Arial"/>
              <a:cs typeface="Arial"/>
            </a:endParaRPr>
          </a:p>
          <a:p>
            <a:pPr marL="756285" marR="301625" indent="-287020" algn="just">
              <a:lnSpc>
                <a:spcPct val="100000"/>
              </a:lnSpc>
            </a:pPr>
            <a:r>
              <a:rPr lang="en-US" sz="1800" spc="-5" dirty="0" smtClean="0">
                <a:latin typeface="Arial"/>
                <a:cs typeface="Arial"/>
              </a:rPr>
              <a:t>	</a:t>
            </a:r>
            <a:r>
              <a:rPr sz="1800" spc="-5" smtClean="0">
                <a:latin typeface="Arial"/>
                <a:cs typeface="Arial"/>
              </a:rPr>
              <a:t>more </a:t>
            </a:r>
            <a:r>
              <a:rPr sz="1800" spc="-5" dirty="0">
                <a:latin typeface="Arial"/>
                <a:cs typeface="Arial"/>
              </a:rPr>
              <a:t>than 312 cases </a:t>
            </a:r>
            <a:r>
              <a:rPr sz="1800" spc="-15">
                <a:latin typeface="Arial"/>
                <a:cs typeface="Arial"/>
              </a:rPr>
              <a:t>were</a:t>
            </a:r>
            <a:r>
              <a:rPr sz="1800" spc="170">
                <a:latin typeface="Arial"/>
                <a:cs typeface="Arial"/>
              </a:rPr>
              <a:t> </a:t>
            </a:r>
            <a:r>
              <a:rPr sz="1800" spc="-5" smtClean="0">
                <a:latin typeface="Arial"/>
                <a:cs typeface="Arial"/>
              </a:rPr>
              <a:t>registered</a:t>
            </a:r>
            <a:r>
              <a:rPr lang="en-US" spc="-5" dirty="0" smtClean="0">
                <a:latin typeface="Arial"/>
                <a:cs typeface="Arial"/>
              </a:rPr>
              <a:t>  in 2010</a:t>
            </a:r>
            <a:r>
              <a:rPr sz="1800" spc="-5" smtClean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6849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PAK </a:t>
            </a:r>
            <a:r>
              <a:rPr spc="-5" dirty="0"/>
              <a:t>Cyber Law Con. Continue</a:t>
            </a:r>
            <a:r>
              <a:rPr spc="1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86305"/>
            <a:ext cx="8660130" cy="2613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smtClean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smtClean="0">
                <a:latin typeface="Arial"/>
                <a:cs typeface="Arial"/>
              </a:rPr>
              <a:t>There are </a:t>
            </a:r>
            <a:r>
              <a:rPr sz="1800" spc="-10" smtClean="0">
                <a:latin typeface="Arial"/>
                <a:cs typeface="Arial"/>
              </a:rPr>
              <a:t>different </a:t>
            </a:r>
            <a:r>
              <a:rPr sz="1800" spc="-5" smtClean="0">
                <a:latin typeface="Arial"/>
                <a:cs typeface="Arial"/>
              </a:rPr>
              <a:t>law are promulgated in Pakistan. These </a:t>
            </a:r>
            <a:r>
              <a:rPr sz="1800" spc="-15" smtClean="0">
                <a:latin typeface="Arial"/>
                <a:cs typeface="Arial"/>
              </a:rPr>
              <a:t>laws </a:t>
            </a:r>
            <a:r>
              <a:rPr sz="1800" spc="-5" smtClean="0">
                <a:latin typeface="Arial"/>
                <a:cs typeface="Arial"/>
              </a:rPr>
              <a:t>not only deal </a:t>
            </a:r>
            <a:r>
              <a:rPr sz="1800" spc="-15" smtClean="0">
                <a:latin typeface="Arial"/>
                <a:cs typeface="Arial"/>
              </a:rPr>
              <a:t>with  </a:t>
            </a:r>
            <a:r>
              <a:rPr sz="1800" spc="-5" smtClean="0">
                <a:latin typeface="Arial"/>
                <a:cs typeface="Arial"/>
              </a:rPr>
              <a:t>crime </a:t>
            </a:r>
            <a:r>
              <a:rPr sz="1800" smtClean="0">
                <a:latin typeface="Arial"/>
                <a:cs typeface="Arial"/>
              </a:rPr>
              <a:t>of </a:t>
            </a:r>
            <a:r>
              <a:rPr sz="1800" spc="-5" smtClean="0">
                <a:latin typeface="Arial"/>
                <a:cs typeface="Arial"/>
              </a:rPr>
              <a:t>Internet, </a:t>
            </a:r>
            <a:r>
              <a:rPr sz="1800" spc="-15" smtClean="0">
                <a:latin typeface="Arial"/>
                <a:cs typeface="Arial"/>
              </a:rPr>
              <a:t>which </a:t>
            </a:r>
            <a:r>
              <a:rPr sz="1800" spc="-5" smtClean="0">
                <a:latin typeface="Arial"/>
                <a:cs typeface="Arial"/>
              </a:rPr>
              <a:t>deal </a:t>
            </a:r>
            <a:r>
              <a:rPr sz="1800" spc="-15" smtClean="0">
                <a:latin typeface="Arial"/>
                <a:cs typeface="Arial"/>
              </a:rPr>
              <a:t>with </a:t>
            </a:r>
            <a:r>
              <a:rPr sz="1800" spc="-5" smtClean="0">
                <a:latin typeface="Arial"/>
                <a:cs typeface="Arial"/>
              </a:rPr>
              <a:t>all dimensions related </a:t>
            </a:r>
            <a:r>
              <a:rPr sz="1800" smtClean="0">
                <a:latin typeface="Arial"/>
                <a:cs typeface="Arial"/>
              </a:rPr>
              <a:t>to </a:t>
            </a:r>
            <a:r>
              <a:rPr sz="1800" spc="-5" smtClean="0">
                <a:latin typeface="Arial"/>
                <a:cs typeface="Arial"/>
              </a:rPr>
              <a:t>computer </a:t>
            </a:r>
            <a:r>
              <a:rPr sz="1800" smtClean="0">
                <a:latin typeface="Arial"/>
                <a:cs typeface="Arial"/>
              </a:rPr>
              <a:t>&amp;</a:t>
            </a:r>
            <a:r>
              <a:rPr sz="1800" spc="254" smtClean="0">
                <a:latin typeface="Arial"/>
                <a:cs typeface="Arial"/>
              </a:rPr>
              <a:t> </a:t>
            </a:r>
            <a:r>
              <a:rPr sz="1800" spc="-10" smtClean="0">
                <a:latin typeface="Arial"/>
                <a:cs typeface="Arial"/>
              </a:rPr>
              <a:t>networks.</a:t>
            </a:r>
            <a:endParaRPr sz="1800" smtClean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smtClean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600" smtClean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tabLst>
                <a:tab pos="354965" algn="l"/>
              </a:tabLst>
            </a:pPr>
            <a:r>
              <a:rPr sz="1800" spc="335" smtClean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smtClean="0">
                <a:latin typeface="Arial"/>
                <a:cs typeface="Arial"/>
              </a:rPr>
              <a:t>Three </a:t>
            </a:r>
            <a:r>
              <a:rPr sz="1800" smtClean="0">
                <a:latin typeface="Arial"/>
                <a:cs typeface="Arial"/>
              </a:rPr>
              <a:t>of </a:t>
            </a:r>
            <a:r>
              <a:rPr sz="1800" spc="-5" smtClean="0">
                <a:latin typeface="Arial"/>
                <a:cs typeface="Arial"/>
              </a:rPr>
              <a:t>them are most important as</a:t>
            </a:r>
            <a:r>
              <a:rPr sz="1800" spc="25" smtClean="0">
                <a:latin typeface="Arial"/>
                <a:cs typeface="Arial"/>
              </a:rPr>
              <a:t> </a:t>
            </a:r>
            <a:r>
              <a:rPr sz="1800" spc="-15" smtClean="0">
                <a:latin typeface="Arial"/>
                <a:cs typeface="Arial"/>
              </a:rPr>
              <a:t>below:</a:t>
            </a:r>
            <a:endParaRPr sz="1800" smtClean="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+mj-lt"/>
              <a:buAutoNum type="arabicPeriod"/>
              <a:tabLst>
                <a:tab pos="756920" algn="l"/>
                <a:tab pos="4249420" algn="l"/>
              </a:tabLst>
            </a:pPr>
            <a:r>
              <a:rPr lang="en-US" spc="-5" dirty="0" smtClean="0">
                <a:latin typeface="Arial"/>
                <a:cs typeface="Arial"/>
              </a:rPr>
              <a:t>Electronic</a:t>
            </a:r>
            <a:r>
              <a:rPr lang="en-US" spc="-10" dirty="0" smtClean="0">
                <a:latin typeface="Arial"/>
                <a:cs typeface="Arial"/>
              </a:rPr>
              <a:t> Transaction</a:t>
            </a:r>
            <a:r>
              <a:rPr lang="en-US" spc="25" dirty="0" smtClean="0">
                <a:latin typeface="Arial"/>
                <a:cs typeface="Arial"/>
              </a:rPr>
              <a:t> </a:t>
            </a:r>
            <a:r>
              <a:rPr lang="en-US" spc="-5" dirty="0" smtClean="0">
                <a:latin typeface="Arial"/>
                <a:cs typeface="Arial"/>
              </a:rPr>
              <a:t>Ordinance </a:t>
            </a:r>
            <a:r>
              <a:rPr sz="1800" smtClean="0">
                <a:latin typeface="Arial"/>
                <a:cs typeface="Arial"/>
              </a:rPr>
              <a:t>-</a:t>
            </a:r>
            <a:r>
              <a:rPr sz="1800" spc="-10" smtClean="0">
                <a:latin typeface="Arial"/>
                <a:cs typeface="Arial"/>
              </a:rPr>
              <a:t> </a:t>
            </a:r>
            <a:r>
              <a:rPr sz="1800" spc="-5" smtClean="0">
                <a:latin typeface="Arial"/>
                <a:cs typeface="Arial"/>
              </a:rPr>
              <a:t>2002</a:t>
            </a:r>
            <a:endParaRPr sz="1800" smtClean="0">
              <a:latin typeface="Arial"/>
              <a:cs typeface="Arial"/>
            </a:endParaRPr>
          </a:p>
          <a:p>
            <a:pPr marL="812800" indent="-342900" algn="just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+mj-lt"/>
              <a:buAutoNum type="arabicPeriod"/>
              <a:tabLst>
                <a:tab pos="756920" algn="l"/>
              </a:tabLst>
            </a:pPr>
            <a:r>
              <a:rPr sz="1800" spc="-5" smtClean="0">
                <a:latin typeface="Arial"/>
                <a:cs typeface="Arial"/>
              </a:rPr>
              <a:t>Electronic Crime Bill </a:t>
            </a:r>
            <a:r>
              <a:rPr sz="1800" smtClean="0">
                <a:latin typeface="Arial"/>
                <a:cs typeface="Arial"/>
              </a:rPr>
              <a:t>-</a:t>
            </a:r>
            <a:r>
              <a:rPr sz="1800" spc="5" smtClean="0">
                <a:latin typeface="Arial"/>
                <a:cs typeface="Arial"/>
              </a:rPr>
              <a:t> </a:t>
            </a:r>
            <a:r>
              <a:rPr sz="1800" spc="-10" smtClean="0">
                <a:latin typeface="Arial"/>
                <a:cs typeface="Arial"/>
              </a:rPr>
              <a:t>2007</a:t>
            </a:r>
            <a:endParaRPr sz="1800" smtClean="0">
              <a:latin typeface="Arial"/>
              <a:cs typeface="Arial"/>
            </a:endParaRPr>
          </a:p>
          <a:p>
            <a:pPr marL="812800" indent="-342900" algn="just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+mj-lt"/>
              <a:buAutoNum type="arabicPeriod"/>
              <a:tabLst>
                <a:tab pos="756920" algn="l"/>
              </a:tabLst>
            </a:pPr>
            <a:r>
              <a:rPr sz="1800" spc="-5" smtClean="0">
                <a:latin typeface="Arial"/>
                <a:cs typeface="Arial"/>
              </a:rPr>
              <a:t>Electronic Crime </a:t>
            </a:r>
            <a:r>
              <a:rPr sz="1800" smtClean="0">
                <a:latin typeface="Arial"/>
                <a:cs typeface="Arial"/>
              </a:rPr>
              <a:t>Act -</a:t>
            </a:r>
            <a:r>
              <a:rPr sz="1800" spc="-120" smtClean="0">
                <a:latin typeface="Arial"/>
                <a:cs typeface="Arial"/>
              </a:rPr>
              <a:t> </a:t>
            </a:r>
            <a:r>
              <a:rPr sz="1800" spc="-10" smtClean="0">
                <a:latin typeface="Arial"/>
                <a:cs typeface="Arial"/>
              </a:rPr>
              <a:t>2015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644728"/>
            <a:ext cx="862063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solidFill>
                  <a:srgbClr val="000000"/>
                </a:solidFill>
              </a:rPr>
              <a:t>1.</a:t>
            </a:r>
            <a:r>
              <a:rPr smtClean="0">
                <a:solidFill>
                  <a:srgbClr val="000000"/>
                </a:solidFill>
              </a:rPr>
              <a:t>Electronic </a:t>
            </a:r>
            <a:r>
              <a:rPr spc="-15" dirty="0">
                <a:solidFill>
                  <a:srgbClr val="000000"/>
                </a:solidFill>
              </a:rPr>
              <a:t>Transaction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Ordinance-2002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2074290"/>
            <a:ext cx="8595995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Electronic </a:t>
            </a:r>
            <a:r>
              <a:rPr sz="1800" spc="-10" dirty="0">
                <a:latin typeface="Arial"/>
                <a:cs typeface="Arial"/>
              </a:rPr>
              <a:t>Transaction </a:t>
            </a:r>
            <a:r>
              <a:rPr sz="1800" spc="-5" dirty="0">
                <a:latin typeface="Arial"/>
                <a:cs typeface="Arial"/>
              </a:rPr>
              <a:t>Ordinance 2002 </a:t>
            </a:r>
            <a:r>
              <a:rPr sz="1800" spc="-15" dirty="0">
                <a:latin typeface="Arial"/>
                <a:cs typeface="Arial"/>
              </a:rPr>
              <a:t>was </a:t>
            </a:r>
            <a:r>
              <a:rPr sz="1800" spc="-5" dirty="0">
                <a:latin typeface="Arial"/>
                <a:cs typeface="Arial"/>
              </a:rPr>
              <a:t>passed by Pakistan Government 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objective to recognize and facilitate documents, records, information,  communications and transactions in electronic </a:t>
            </a:r>
            <a:r>
              <a:rPr sz="1800" dirty="0">
                <a:latin typeface="Arial"/>
                <a:cs typeface="Arial"/>
              </a:rPr>
              <a:t>form,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provide </a:t>
            </a:r>
            <a:r>
              <a:rPr sz="1800" dirty="0">
                <a:latin typeface="Arial"/>
                <a:cs typeface="Arial"/>
              </a:rPr>
              <a:t>for the  </a:t>
            </a:r>
            <a:r>
              <a:rPr sz="1800" spc="-5" dirty="0">
                <a:latin typeface="Arial"/>
                <a:cs typeface="Arial"/>
              </a:rPr>
              <a:t>accreditation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certification service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providers.</a:t>
            </a:r>
            <a:endParaRPr sz="18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756285" marR="642620" indent="-287020" algn="just">
              <a:lnSpc>
                <a:spcPct val="100000"/>
              </a:lnSpc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Electronic </a:t>
            </a:r>
            <a:r>
              <a:rPr sz="1800" spc="-10" dirty="0">
                <a:latin typeface="Arial"/>
                <a:cs typeface="Arial"/>
              </a:rPr>
              <a:t>Transaction </a:t>
            </a:r>
            <a:r>
              <a:rPr sz="1800" spc="-5" dirty="0">
                <a:latin typeface="Arial"/>
                <a:cs typeface="Arial"/>
              </a:rPr>
              <a:t>Ordinance is an essential prerequisite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b="1" spc="-265" dirty="0">
                <a:latin typeface="Arial"/>
                <a:cs typeface="Arial"/>
              </a:rPr>
              <a:t>e-  </a:t>
            </a:r>
            <a:r>
              <a:rPr sz="1800" b="1" spc="-5" dirty="0">
                <a:latin typeface="Arial"/>
                <a:cs typeface="Arial"/>
              </a:rPr>
              <a:t>commerce </a:t>
            </a:r>
            <a:r>
              <a:rPr sz="1800" b="1" dirty="0">
                <a:latin typeface="Arial"/>
                <a:cs typeface="Arial"/>
              </a:rPr>
              <a:t>growth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termed </a:t>
            </a:r>
            <a:r>
              <a:rPr sz="1800" spc="-5" dirty="0">
                <a:latin typeface="Arial"/>
                <a:cs typeface="Arial"/>
              </a:rPr>
              <a:t>as "a landmark decision </a:t>
            </a:r>
            <a:r>
              <a:rPr sz="1800" dirty="0">
                <a:latin typeface="Arial"/>
                <a:cs typeface="Arial"/>
              </a:rPr>
              <a:t>for the IT  </a:t>
            </a:r>
            <a:r>
              <a:rPr sz="1800" spc="-5" dirty="0">
                <a:latin typeface="Arial"/>
                <a:cs typeface="Arial"/>
              </a:rPr>
              <a:t>development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country.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51473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2880" algn="l"/>
              </a:tabLst>
            </a:pPr>
            <a:r>
              <a:rPr spc="-25" dirty="0">
                <a:solidFill>
                  <a:srgbClr val="000000"/>
                </a:solidFill>
              </a:rPr>
              <a:t>ETO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 </a:t>
            </a:r>
            <a:r>
              <a:rPr spc="-5" dirty="0">
                <a:solidFill>
                  <a:srgbClr val="000000"/>
                </a:solidFill>
              </a:rPr>
              <a:t>2002	Continue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27174"/>
            <a:ext cx="8686800" cy="366839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" dirty="0">
                <a:latin typeface="Arial"/>
                <a:cs typeface="Arial"/>
              </a:rPr>
              <a:t>The Ordinance aimed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achieve:</a:t>
            </a:r>
            <a:endParaRPr sz="24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Great economic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impact.</a:t>
            </a:r>
            <a:endParaRPr sz="1800">
              <a:latin typeface="Arial"/>
              <a:cs typeface="Arial"/>
            </a:endParaRPr>
          </a:p>
          <a:p>
            <a:pPr marL="756285" marR="5080" indent="-286385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E-commerce and projecting </a:t>
            </a:r>
            <a:r>
              <a:rPr sz="1800" spc="-10" dirty="0">
                <a:latin typeface="Arial"/>
                <a:cs typeface="Arial"/>
              </a:rPr>
              <a:t>Pakistan’s </a:t>
            </a:r>
            <a:r>
              <a:rPr sz="1800" spc="-5" dirty="0">
                <a:latin typeface="Arial"/>
                <a:cs typeface="Arial"/>
              </a:rPr>
              <a:t>products </a:t>
            </a:r>
            <a:r>
              <a:rPr sz="1800" dirty="0">
                <a:latin typeface="Arial"/>
                <a:cs typeface="Arial"/>
              </a:rPr>
              <a:t>such </a:t>
            </a:r>
            <a:r>
              <a:rPr sz="1800" spc="-5" dirty="0">
                <a:latin typeface="Arial"/>
                <a:cs typeface="Arial"/>
              </a:rPr>
              <a:t>as textile, </a:t>
            </a:r>
            <a:r>
              <a:rPr sz="1800" spc="-10" dirty="0">
                <a:latin typeface="Arial"/>
                <a:cs typeface="Arial"/>
              </a:rPr>
              <a:t>leather </a:t>
            </a:r>
            <a:r>
              <a:rPr sz="1800" spc="-5" dirty="0">
                <a:latin typeface="Arial"/>
                <a:cs typeface="Arial"/>
              </a:rPr>
              <a:t>goods,  sports goods and surgical </a:t>
            </a:r>
            <a:r>
              <a:rPr sz="1800" dirty="0">
                <a:latin typeface="Arial"/>
                <a:cs typeface="Arial"/>
              </a:rPr>
              <a:t>items to </a:t>
            </a:r>
            <a:r>
              <a:rPr sz="1800" spc="-5" dirty="0">
                <a:latin typeface="Arial"/>
                <a:cs typeface="Arial"/>
              </a:rPr>
              <a:t>the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world.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Increased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e-transactions.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Major benefits </a:t>
            </a:r>
            <a:r>
              <a:rPr sz="1800" dirty="0">
                <a:latin typeface="Arial"/>
                <a:cs typeface="Arial"/>
              </a:rPr>
              <a:t>for the </a:t>
            </a:r>
            <a:r>
              <a:rPr sz="1800" spc="-5" dirty="0">
                <a:latin typeface="Arial"/>
                <a:cs typeface="Arial"/>
              </a:rPr>
              <a:t>small and medium business enterprises as </a:t>
            </a:r>
            <a:r>
              <a:rPr sz="1800" dirty="0">
                <a:latin typeface="Arial"/>
                <a:cs typeface="Arial"/>
              </a:rPr>
              <a:t>the cost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transactions are greatly reduced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electronically.</a:t>
            </a:r>
            <a:endParaRPr sz="1800">
              <a:latin typeface="Arial"/>
              <a:cs typeface="Arial"/>
            </a:endParaRPr>
          </a:p>
          <a:p>
            <a:pPr marL="756285" marR="240665" indent="-286385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Legal and </a:t>
            </a:r>
            <a:r>
              <a:rPr sz="1800" dirty="0">
                <a:latin typeface="Arial"/>
                <a:cs typeface="Arial"/>
              </a:rPr>
              <a:t>safe </a:t>
            </a:r>
            <a:r>
              <a:rPr sz="1800" spc="-5" dirty="0">
                <a:latin typeface="Arial"/>
                <a:cs typeface="Arial"/>
              </a:rPr>
              <a:t>trading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take place as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necessary </a:t>
            </a:r>
            <a:r>
              <a:rPr sz="1800" spc="-15" dirty="0">
                <a:latin typeface="Arial"/>
                <a:cs typeface="Arial"/>
              </a:rPr>
              <a:t>laws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protect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interests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both the </a:t>
            </a:r>
            <a:r>
              <a:rPr sz="1800" spc="-10" dirty="0">
                <a:latin typeface="Arial"/>
                <a:cs typeface="Arial"/>
              </a:rPr>
              <a:t>buyers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sellers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process of electronic sales  and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purchases.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51473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2880" algn="l"/>
              </a:tabLst>
            </a:pPr>
            <a:r>
              <a:rPr spc="-25" dirty="0">
                <a:solidFill>
                  <a:srgbClr val="000000"/>
                </a:solidFill>
              </a:rPr>
              <a:t>ETO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 </a:t>
            </a:r>
            <a:r>
              <a:rPr spc="-5" dirty="0">
                <a:solidFill>
                  <a:srgbClr val="000000"/>
                </a:solidFill>
              </a:rPr>
              <a:t>2002	Continue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14727"/>
            <a:ext cx="8427720" cy="47244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12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Important </a:t>
            </a:r>
            <a:r>
              <a:rPr sz="2400" b="1" spc="-5" dirty="0">
                <a:latin typeface="Arial"/>
                <a:cs typeface="Arial"/>
              </a:rPr>
              <a:t>Sections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20" dirty="0">
                <a:latin typeface="Arial"/>
                <a:cs typeface="Arial"/>
              </a:rPr>
              <a:t>ETO </a:t>
            </a:r>
            <a:r>
              <a:rPr sz="2400" b="1" dirty="0">
                <a:latin typeface="Arial"/>
                <a:cs typeface="Arial"/>
              </a:rPr>
              <a:t>– </a:t>
            </a:r>
            <a:r>
              <a:rPr sz="2400" b="1" spc="-10" dirty="0">
                <a:latin typeface="Arial"/>
                <a:cs typeface="Arial"/>
              </a:rPr>
              <a:t>2002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spc="-10" dirty="0" smtClean="0">
                <a:latin typeface="Arial"/>
                <a:cs typeface="Arial"/>
              </a:rPr>
              <a:t>Violation </a:t>
            </a:r>
            <a:r>
              <a:rPr sz="1800" spc="-5" dirty="0">
                <a:latin typeface="Arial"/>
                <a:cs typeface="Arial"/>
              </a:rPr>
              <a:t>of privacy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information</a:t>
            </a:r>
            <a:endParaRPr sz="1800" dirty="0">
              <a:latin typeface="Arial"/>
              <a:cs typeface="Arial"/>
            </a:endParaRPr>
          </a:p>
          <a:p>
            <a:pPr marL="1270000" lvl="1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1269365" algn="l"/>
                <a:tab pos="1270000" algn="l"/>
              </a:tabLst>
            </a:pP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acquiring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information.</a:t>
            </a:r>
            <a:endParaRPr sz="1800" dirty="0">
              <a:latin typeface="Arial"/>
              <a:cs typeface="Arial"/>
            </a:endParaRPr>
          </a:p>
          <a:p>
            <a:pPr marL="1270000" lvl="1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1269365" algn="l"/>
                <a:tab pos="1270000" algn="l"/>
              </a:tabLst>
            </a:pPr>
            <a:r>
              <a:rPr sz="1800" spc="-5" dirty="0">
                <a:latin typeface="Arial"/>
                <a:cs typeface="Arial"/>
              </a:rPr>
              <a:t>Gain Knowledge.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 smtClean="0">
                <a:latin typeface="Arial"/>
                <a:cs typeface="Arial"/>
              </a:rPr>
              <a:t>Damage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information system,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etc.</a:t>
            </a:r>
          </a:p>
          <a:p>
            <a:pPr marL="756285" lvl="1" indent="-342900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800" spc="-20" dirty="0">
                <a:latin typeface="Arial"/>
                <a:cs typeface="Arial"/>
              </a:rPr>
              <a:t>alter, </a:t>
            </a:r>
            <a:r>
              <a:rPr sz="1800" spc="-25" dirty="0">
                <a:latin typeface="Arial"/>
                <a:cs typeface="Arial"/>
              </a:rPr>
              <a:t>modify, </a:t>
            </a:r>
            <a:r>
              <a:rPr sz="1800" spc="-5" dirty="0">
                <a:latin typeface="Arial"/>
                <a:cs typeface="Arial"/>
              </a:rPr>
              <a:t>delete, remove, generate, transmit or </a:t>
            </a:r>
            <a:r>
              <a:rPr sz="1800" dirty="0">
                <a:latin typeface="Arial"/>
                <a:cs typeface="Arial"/>
              </a:rPr>
              <a:t>store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information.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 smtClean="0">
                <a:latin typeface="Arial"/>
                <a:cs typeface="Arial"/>
              </a:rPr>
              <a:t>Offences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 non bail-able, compoundable and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cognizable</a:t>
            </a:r>
            <a:endParaRPr sz="1800" dirty="0">
              <a:latin typeface="Arial"/>
              <a:cs typeface="Arial"/>
            </a:endParaRPr>
          </a:p>
          <a:p>
            <a:pPr marL="756285" marR="5080" lvl="1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All </a:t>
            </a:r>
            <a:r>
              <a:rPr sz="1800" spc="-10" dirty="0">
                <a:latin typeface="Arial"/>
                <a:cs typeface="Arial"/>
              </a:rPr>
              <a:t>offences </a:t>
            </a:r>
            <a:r>
              <a:rPr sz="1800" spc="-5" dirty="0">
                <a:latin typeface="Arial"/>
                <a:cs typeface="Arial"/>
              </a:rPr>
              <a:t>under </a:t>
            </a:r>
            <a:r>
              <a:rPr sz="1800" dirty="0">
                <a:latin typeface="Arial"/>
                <a:cs typeface="Arial"/>
              </a:rPr>
              <a:t>this </a:t>
            </a:r>
            <a:r>
              <a:rPr sz="1800" spc="-5" dirty="0">
                <a:latin typeface="Arial"/>
                <a:cs typeface="Arial"/>
              </a:rPr>
              <a:t>Ordinance shall be non bail-able, compoundable and  cognizable.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 smtClean="0">
                <a:latin typeface="Arial"/>
                <a:cs typeface="Arial"/>
              </a:rPr>
              <a:t>Prosecution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trial of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offences.</a:t>
            </a:r>
            <a:endParaRPr sz="1800" dirty="0">
              <a:latin typeface="Arial"/>
              <a:cs typeface="Arial"/>
            </a:endParaRPr>
          </a:p>
          <a:p>
            <a:pPr marL="756285" marR="327660" lvl="1" indent="-34290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No Court inferior </a:t>
            </a:r>
            <a:r>
              <a:rPr sz="1800" dirty="0">
                <a:latin typeface="Arial"/>
                <a:cs typeface="Arial"/>
              </a:rPr>
              <a:t>to the </a:t>
            </a:r>
            <a:r>
              <a:rPr sz="1800" spc="-5" dirty="0">
                <a:latin typeface="Arial"/>
                <a:cs typeface="Arial"/>
              </a:rPr>
              <a:t>Court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Sessions shall </a:t>
            </a:r>
            <a:r>
              <a:rPr sz="1800" dirty="0">
                <a:latin typeface="Arial"/>
                <a:cs typeface="Arial"/>
              </a:rPr>
              <a:t>try </a:t>
            </a:r>
            <a:r>
              <a:rPr sz="1800" spc="-5" dirty="0">
                <a:latin typeface="Arial"/>
                <a:cs typeface="Arial"/>
              </a:rPr>
              <a:t>any </a:t>
            </a:r>
            <a:r>
              <a:rPr sz="1800" spc="-10" dirty="0">
                <a:latin typeface="Arial"/>
                <a:cs typeface="Arial"/>
              </a:rPr>
              <a:t>offence </a:t>
            </a:r>
            <a:r>
              <a:rPr sz="1800" spc="-5" dirty="0">
                <a:latin typeface="Arial"/>
                <a:cs typeface="Arial"/>
              </a:rPr>
              <a:t>under </a:t>
            </a:r>
            <a:r>
              <a:rPr sz="1800" dirty="0">
                <a:latin typeface="Arial"/>
                <a:cs typeface="Arial"/>
              </a:rPr>
              <a:t>this  </a:t>
            </a:r>
            <a:r>
              <a:rPr sz="1800" spc="-5" dirty="0">
                <a:latin typeface="Arial"/>
                <a:cs typeface="Arial"/>
              </a:rPr>
              <a:t>Ordinance.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54814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2.</a:t>
            </a:r>
            <a:r>
              <a:rPr smtClean="0"/>
              <a:t>Cyber </a:t>
            </a:r>
            <a:r>
              <a:rPr dirty="0"/>
              <a:t>Crime Bill -</a:t>
            </a:r>
            <a:r>
              <a:rPr spc="-105" dirty="0"/>
              <a:t> </a:t>
            </a:r>
            <a:r>
              <a:rPr dirty="0"/>
              <a:t>2007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60286"/>
            <a:ext cx="7970520" cy="449453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Electronic Crimes Ordinance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2007.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in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forced.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340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Federal </a:t>
            </a:r>
            <a:r>
              <a:rPr sz="1800" spc="-10" dirty="0">
                <a:latin typeface="Arial"/>
                <a:cs typeface="Arial"/>
              </a:rPr>
              <a:t>Cabinet approved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adoption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Prevention of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Electronic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Crimes Bill 2007 on 17 January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2007.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bill deals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electronic crimes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included: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8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terrorism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95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Data damage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8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Electronic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fraud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8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Electronic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forgery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95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Unauthorized access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8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stalking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80"/>
              </a:spcBef>
              <a:buClr>
                <a:srgbClr val="A42F0F"/>
              </a:buClr>
              <a:buFont typeface="Courier New"/>
              <a:buChar char="o"/>
              <a:tabLst>
                <a:tab pos="756920" algn="l"/>
              </a:tabLst>
            </a:pP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Spamming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739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 Crime Bill – </a:t>
            </a:r>
            <a:r>
              <a:rPr spc="-5" dirty="0"/>
              <a:t>2007 Continue</a:t>
            </a:r>
            <a:r>
              <a:rPr spc="-114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00377"/>
            <a:ext cx="8708390" cy="313880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400" b="1" spc="-5" dirty="0">
                <a:latin typeface="Arial"/>
                <a:cs typeface="Arial"/>
              </a:rPr>
              <a:t>Characteristics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5" dirty="0">
                <a:latin typeface="Arial"/>
                <a:cs typeface="Arial"/>
              </a:rPr>
              <a:t>Bill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2007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1939"/>
              </a:lnSpc>
              <a:spcBef>
                <a:spcPts val="104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0" dirty="0">
                <a:latin typeface="Arial"/>
                <a:cs typeface="Arial"/>
              </a:rPr>
              <a:t>offers </a:t>
            </a:r>
            <a:r>
              <a:rPr sz="1800" spc="-5" dirty="0">
                <a:latin typeface="Arial"/>
                <a:cs typeface="Arial"/>
              </a:rPr>
              <a:t>penalties ranging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b="1" spc="-5" dirty="0">
                <a:latin typeface="Arial"/>
                <a:cs typeface="Arial"/>
              </a:rPr>
              <a:t>six </a:t>
            </a:r>
            <a:r>
              <a:rPr sz="1800" b="1" dirty="0">
                <a:latin typeface="Arial"/>
                <a:cs typeface="Arial"/>
              </a:rPr>
              <a:t>months </a:t>
            </a:r>
            <a:r>
              <a:rPr sz="1800" spc="-5" dirty="0">
                <a:latin typeface="Arial"/>
                <a:cs typeface="Arial"/>
              </a:rPr>
              <a:t>imprisonment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capital punishment </a:t>
            </a:r>
            <a:r>
              <a:rPr sz="1800" dirty="0">
                <a:latin typeface="Arial"/>
                <a:cs typeface="Arial"/>
              </a:rPr>
              <a:t>for  </a:t>
            </a:r>
            <a:r>
              <a:rPr sz="1800" spc="-5" dirty="0">
                <a:latin typeface="Arial"/>
                <a:cs typeface="Arial"/>
              </a:rPr>
              <a:t>17 </a:t>
            </a:r>
            <a:r>
              <a:rPr sz="1800" spc="-10" dirty="0">
                <a:latin typeface="Arial"/>
                <a:cs typeface="Arial"/>
              </a:rPr>
              <a:t>types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crimes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5600" marR="71755" indent="-342900">
              <a:lnSpc>
                <a:spcPts val="1939"/>
              </a:lnSpc>
              <a:spcBef>
                <a:spcPts val="166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apply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every person </a:t>
            </a:r>
            <a:r>
              <a:rPr sz="1800" spc="-15" dirty="0">
                <a:latin typeface="Arial"/>
                <a:cs typeface="Arial"/>
              </a:rPr>
              <a:t>who </a:t>
            </a:r>
            <a:r>
              <a:rPr sz="1800" spc="-5" dirty="0">
                <a:latin typeface="Arial"/>
                <a:cs typeface="Arial"/>
              </a:rPr>
              <a:t>commits an </a:t>
            </a:r>
            <a:r>
              <a:rPr sz="1800" spc="-10" dirty="0">
                <a:latin typeface="Arial"/>
                <a:cs typeface="Arial"/>
              </a:rPr>
              <a:t>offence, </a:t>
            </a:r>
            <a:r>
              <a:rPr sz="1800" spc="-5" dirty="0">
                <a:latin typeface="Arial"/>
                <a:cs typeface="Arial"/>
              </a:rPr>
              <a:t>irrespective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his nationality  or citizenship.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5600" marR="208279" indent="-342900">
              <a:lnSpc>
                <a:spcPts val="1939"/>
              </a:lnSpc>
              <a:spcBef>
                <a:spcPts val="1655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gives exclusive </a:t>
            </a:r>
            <a:r>
              <a:rPr sz="1800" spc="-10" dirty="0">
                <a:latin typeface="Arial"/>
                <a:cs typeface="Arial"/>
              </a:rPr>
              <a:t>powers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 Federal Investigation Agency </a:t>
            </a:r>
            <a:r>
              <a:rPr sz="1800" dirty="0">
                <a:latin typeface="Arial"/>
                <a:cs typeface="Arial"/>
              </a:rPr>
              <a:t>(FIA) to </a:t>
            </a:r>
            <a:r>
              <a:rPr sz="1800" spc="-5" dirty="0">
                <a:latin typeface="Arial"/>
                <a:cs typeface="Arial"/>
              </a:rPr>
              <a:t>investigate  and charge cases against such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crimes.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739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Cyber Crime Bill – </a:t>
            </a:r>
            <a:r>
              <a:rPr spc="-5" dirty="0"/>
              <a:t>2007 Continue</a:t>
            </a:r>
            <a:r>
              <a:rPr spc="-114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44700"/>
            <a:ext cx="8463915" cy="2854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170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OFFENCES AND PUNISHMENTS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400" spc="-5" dirty="0">
                <a:latin typeface="Arial"/>
                <a:cs typeface="Arial"/>
              </a:rPr>
              <a:t>Under </a:t>
            </a:r>
            <a:r>
              <a:rPr sz="240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law there are defined punishment for the  </a:t>
            </a:r>
            <a:r>
              <a:rPr sz="2400" spc="-40" dirty="0">
                <a:latin typeface="Arial"/>
                <a:cs typeface="Arial"/>
              </a:rPr>
              <a:t>offence.</a:t>
            </a:r>
            <a:endParaRPr sz="2400">
              <a:latin typeface="Arial"/>
              <a:cs typeface="Arial"/>
            </a:endParaRPr>
          </a:p>
          <a:p>
            <a:pPr marL="355600" marR="414020" indent="-342900">
              <a:lnSpc>
                <a:spcPct val="100000"/>
              </a:lnSpc>
              <a:spcBef>
                <a:spcPts val="100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400" spc="-5" dirty="0">
                <a:latin typeface="Arial"/>
                <a:cs typeface="Arial"/>
              </a:rPr>
              <a:t>Every respective </a:t>
            </a:r>
            <a:r>
              <a:rPr sz="2400" spc="-10" dirty="0">
                <a:latin typeface="Arial"/>
                <a:cs typeface="Arial"/>
              </a:rPr>
              <a:t>offence </a:t>
            </a:r>
            <a:r>
              <a:rPr sz="2400" spc="-5" dirty="0">
                <a:latin typeface="Arial"/>
                <a:cs typeface="Arial"/>
              </a:rPr>
              <a:t>under </a:t>
            </a:r>
            <a:r>
              <a:rPr sz="240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law has </a:t>
            </a:r>
            <a:r>
              <a:rPr sz="2400" dirty="0">
                <a:latin typeface="Arial"/>
                <a:cs typeface="Arial"/>
              </a:rPr>
              <a:t>its  </a:t>
            </a:r>
            <a:r>
              <a:rPr sz="2400" spc="-15" dirty="0">
                <a:latin typeface="Arial"/>
                <a:cs typeface="Arial"/>
              </a:rPr>
              <a:t>distinctive </a:t>
            </a:r>
            <a:r>
              <a:rPr sz="2400" spc="-5" dirty="0">
                <a:latin typeface="Arial"/>
                <a:cs typeface="Arial"/>
              </a:rPr>
              <a:t>punishment which can be imprisonment or  fine.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93370" algn="ctr">
              <a:lnSpc>
                <a:spcPct val="100000"/>
              </a:lnSpc>
              <a:spcBef>
                <a:spcPts val="1780"/>
              </a:spcBef>
              <a:tabLst>
                <a:tab pos="1316355" algn="l"/>
              </a:tabLst>
            </a:pPr>
            <a:r>
              <a:rPr sz="2400" b="1" dirty="0">
                <a:latin typeface="Arial"/>
                <a:cs typeface="Arial"/>
              </a:rPr>
              <a:t>O/P	</a:t>
            </a:r>
            <a:r>
              <a:rPr sz="2400" b="1" spc="-5" dirty="0">
                <a:latin typeface="Arial"/>
                <a:cs typeface="Arial"/>
              </a:rPr>
              <a:t>Next </a:t>
            </a:r>
            <a:r>
              <a:rPr sz="2400" b="1" dirty="0">
                <a:latin typeface="Arial"/>
                <a:cs typeface="Arial"/>
              </a:rPr>
              <a:t>Slide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6708" y="4480559"/>
            <a:ext cx="379730" cy="222885"/>
          </a:xfrm>
          <a:custGeom>
            <a:avLst/>
            <a:gdLst/>
            <a:ahLst/>
            <a:cxnLst/>
            <a:rect l="l" t="t" r="r" b="b"/>
            <a:pathLst>
              <a:path w="379729" h="222885">
                <a:moveTo>
                  <a:pt x="268223" y="0"/>
                </a:moveTo>
                <a:lnTo>
                  <a:pt x="268223" y="55625"/>
                </a:lnTo>
                <a:lnTo>
                  <a:pt x="0" y="55625"/>
                </a:lnTo>
                <a:lnTo>
                  <a:pt x="0" y="166877"/>
                </a:lnTo>
                <a:lnTo>
                  <a:pt x="268223" y="166877"/>
                </a:lnTo>
                <a:lnTo>
                  <a:pt x="268223" y="222503"/>
                </a:lnTo>
                <a:lnTo>
                  <a:pt x="379475" y="111251"/>
                </a:lnTo>
                <a:lnTo>
                  <a:pt x="26822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26708" y="4480559"/>
            <a:ext cx="379730" cy="222885"/>
          </a:xfrm>
          <a:custGeom>
            <a:avLst/>
            <a:gdLst/>
            <a:ahLst/>
            <a:cxnLst/>
            <a:rect l="l" t="t" r="r" b="b"/>
            <a:pathLst>
              <a:path w="379729" h="222885">
                <a:moveTo>
                  <a:pt x="0" y="55625"/>
                </a:moveTo>
                <a:lnTo>
                  <a:pt x="268223" y="55625"/>
                </a:lnTo>
                <a:lnTo>
                  <a:pt x="268223" y="0"/>
                </a:lnTo>
                <a:lnTo>
                  <a:pt x="379475" y="111251"/>
                </a:lnTo>
                <a:lnTo>
                  <a:pt x="268223" y="222503"/>
                </a:lnTo>
                <a:lnTo>
                  <a:pt x="268223" y="166877"/>
                </a:lnTo>
                <a:lnTo>
                  <a:pt x="0" y="166877"/>
                </a:lnTo>
                <a:lnTo>
                  <a:pt x="0" y="55625"/>
                </a:lnTo>
                <a:close/>
              </a:path>
            </a:pathLst>
          </a:custGeom>
          <a:ln w="15239">
            <a:solidFill>
              <a:srgbClr val="781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632329" y="548766"/>
          <a:ext cx="8895079" cy="602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9054"/>
                <a:gridCol w="3003550"/>
                <a:gridCol w="2022475"/>
              </a:tblGrid>
              <a:tr h="3962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Offence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Imprisonment</a:t>
                      </a:r>
                      <a:r>
                        <a:rPr sz="2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(years)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Fine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Criminal</a:t>
                      </a:r>
                      <a:r>
                        <a:rPr sz="17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Access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Criminal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7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Access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Damage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Damage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Fraud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Forgery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Misuse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Device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Unauthorized access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Malicious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Defamation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Cyber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stalking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Cyber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Spamming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months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50,000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Spoofing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Pornography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-----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Cyber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terrorism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Life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Million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952" y="644728"/>
            <a:ext cx="67768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3.</a:t>
            </a:r>
            <a:r>
              <a:rPr smtClean="0"/>
              <a:t>Cyber </a:t>
            </a:r>
            <a:r>
              <a:rPr dirty="0"/>
              <a:t>Crime Act -</a:t>
            </a:r>
            <a:r>
              <a:rPr spc="-310" dirty="0"/>
              <a:t> </a:t>
            </a:r>
            <a:r>
              <a:rPr dirty="0"/>
              <a:t>2015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647190"/>
            <a:ext cx="867854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dirty="0">
                <a:latin typeface="Arial"/>
                <a:cs typeface="Arial"/>
              </a:rPr>
              <a:t>On </a:t>
            </a:r>
            <a:r>
              <a:rPr sz="1800" spc="-5" dirty="0">
                <a:latin typeface="Arial"/>
                <a:cs typeface="Arial"/>
              </a:rPr>
              <a:t>September 17, </a:t>
            </a:r>
            <a:r>
              <a:rPr sz="1800" spc="-10" dirty="0">
                <a:latin typeface="Arial"/>
                <a:cs typeface="Arial"/>
              </a:rPr>
              <a:t>2015,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National Assembly’s </a:t>
            </a:r>
            <a:r>
              <a:rPr sz="1800" spc="-5" dirty="0">
                <a:latin typeface="Arial"/>
                <a:cs typeface="Arial"/>
              </a:rPr>
              <a:t>Standing Committee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on</a:t>
            </a:r>
            <a:endParaRPr sz="1800" dirty="0">
              <a:latin typeface="Arial"/>
              <a:cs typeface="Arial"/>
            </a:endParaRPr>
          </a:p>
          <a:p>
            <a:pPr marL="355600" marR="41402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Information </a:t>
            </a:r>
            <a:r>
              <a:rPr sz="1800" spc="-25" dirty="0">
                <a:latin typeface="Arial"/>
                <a:cs typeface="Arial"/>
              </a:rPr>
              <a:t>Technology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Telecommunications </a:t>
            </a:r>
            <a:r>
              <a:rPr sz="1800" spc="-5" dirty="0">
                <a:latin typeface="Arial"/>
                <a:cs typeface="Arial"/>
              </a:rPr>
              <a:t>approved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government’s  </a:t>
            </a:r>
            <a:r>
              <a:rPr sz="1800" spc="-5" dirty="0">
                <a:latin typeface="Arial"/>
                <a:cs typeface="Arial"/>
              </a:rPr>
              <a:t>proposed “</a:t>
            </a:r>
            <a:r>
              <a:rPr sz="1800" b="1" spc="-5" dirty="0">
                <a:latin typeface="Arial"/>
                <a:cs typeface="Arial"/>
              </a:rPr>
              <a:t>Prevention of Electronic Crimes Bill 2015</a:t>
            </a:r>
            <a:r>
              <a:rPr sz="1800" spc="-5" dirty="0">
                <a:latin typeface="Arial"/>
                <a:cs typeface="Arial"/>
              </a:rPr>
              <a:t>”, </a:t>
            </a:r>
            <a:r>
              <a:rPr sz="1800" dirty="0">
                <a:latin typeface="Arial"/>
                <a:cs typeface="Arial"/>
              </a:rPr>
              <a:t>for a </a:t>
            </a:r>
            <a:r>
              <a:rPr sz="1800" spc="-5" dirty="0">
                <a:latin typeface="Arial"/>
                <a:cs typeface="Arial"/>
              </a:rPr>
              <a:t>second </a:t>
            </a:r>
            <a:r>
              <a:rPr sz="1800" dirty="0">
                <a:latin typeface="Arial"/>
                <a:cs typeface="Arial"/>
              </a:rPr>
              <a:t>time. An  </a:t>
            </a:r>
            <a:r>
              <a:rPr sz="1800" spc="-5" dirty="0">
                <a:latin typeface="Arial"/>
                <a:cs typeface="Arial"/>
              </a:rPr>
              <a:t>earlier version </a:t>
            </a:r>
            <a:r>
              <a:rPr sz="1800" spc="-15" dirty="0">
                <a:latin typeface="Arial"/>
                <a:cs typeface="Arial"/>
              </a:rPr>
              <a:t>was </a:t>
            </a:r>
            <a:r>
              <a:rPr sz="1800" spc="-5" dirty="0">
                <a:latin typeface="Arial"/>
                <a:cs typeface="Arial"/>
              </a:rPr>
              <a:t>approved in April 16, 2015. Both versions </a:t>
            </a:r>
            <a:r>
              <a:rPr sz="1800" spc="-15" dirty="0">
                <a:latin typeface="Arial"/>
                <a:cs typeface="Arial"/>
              </a:rPr>
              <a:t>were </a:t>
            </a:r>
            <a:r>
              <a:rPr sz="1800" spc="-5" dirty="0">
                <a:latin typeface="Arial"/>
                <a:cs typeface="Arial"/>
              </a:rPr>
              <a:t>approved  despite reservations expressed by members of opposition part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National  Assembly (NA) Standing Committee on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IT.</a:t>
            </a:r>
            <a:endParaRPr sz="18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proposed bill does not distinguish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innocent people and  </a:t>
            </a:r>
            <a:r>
              <a:rPr sz="1800" spc="-40" dirty="0">
                <a:latin typeface="Arial"/>
                <a:cs typeface="Arial"/>
              </a:rPr>
              <a:t>criminals.</a:t>
            </a:r>
            <a:endParaRPr sz="1800" dirty="0">
              <a:latin typeface="Arial"/>
              <a:cs typeface="Arial"/>
            </a:endParaRPr>
          </a:p>
          <a:p>
            <a:pPr marL="756285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turn, it prescribes heavy penalties in </a:t>
            </a:r>
            <a:r>
              <a:rPr sz="1800" dirty="0">
                <a:latin typeface="Arial"/>
                <a:cs typeface="Arial"/>
              </a:rPr>
              <a:t>the form of </a:t>
            </a:r>
            <a:r>
              <a:rPr sz="1800" spc="-5" dirty="0">
                <a:latin typeface="Arial"/>
                <a:cs typeface="Arial"/>
              </a:rPr>
              <a:t>jail </a:t>
            </a:r>
            <a:r>
              <a:rPr sz="1800" dirty="0">
                <a:latin typeface="Arial"/>
                <a:cs typeface="Arial"/>
              </a:rPr>
              <a:t>terms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fines.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100"/>
              </a:spcBef>
            </a:pPr>
            <a:r>
              <a:rPr dirty="0"/>
              <a:t>Cyber Crime Act – </a:t>
            </a:r>
            <a:r>
              <a:rPr spc="-5" dirty="0"/>
              <a:t>2015 Continue</a:t>
            </a:r>
            <a:r>
              <a:rPr spc="-32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14727"/>
            <a:ext cx="8702040" cy="476567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4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10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There are 5 main points from summary </a:t>
            </a:r>
            <a:r>
              <a:rPr sz="2400" b="1" dirty="0">
                <a:latin typeface="Arial"/>
                <a:cs typeface="Arial"/>
              </a:rPr>
              <a:t>of this new bill:</a:t>
            </a:r>
            <a:endParaRPr sz="2400" dirty="0">
              <a:latin typeface="Arial"/>
              <a:cs typeface="Arial"/>
            </a:endParaRPr>
          </a:p>
          <a:p>
            <a:pPr marL="756285" indent="-286385" algn="just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AutoNum type="arabicPeriod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be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b="1" spc="-5" dirty="0">
                <a:latin typeface="Arial"/>
                <a:cs typeface="Arial"/>
              </a:rPr>
              <a:t>crime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send text messages </a:t>
            </a:r>
            <a:r>
              <a:rPr sz="1800" spc="-5" dirty="0">
                <a:latin typeface="Arial"/>
                <a:cs typeface="Arial"/>
              </a:rPr>
              <a:t>or photos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5" dirty="0">
                <a:latin typeface="Arial"/>
                <a:cs typeface="Arial"/>
              </a:rPr>
              <a:t>anyone’s </a:t>
            </a:r>
            <a:r>
              <a:rPr sz="1800" spc="-5" dirty="0">
                <a:latin typeface="Arial"/>
                <a:cs typeface="Arial"/>
              </a:rPr>
              <a:t>email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address</a:t>
            </a:r>
            <a:endParaRPr sz="1800" dirty="0">
              <a:latin typeface="Arial"/>
              <a:cs typeface="Arial"/>
            </a:endParaRPr>
          </a:p>
          <a:p>
            <a:pPr marL="756285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or </a:t>
            </a:r>
            <a:r>
              <a:rPr sz="1800" spc="-10" dirty="0">
                <a:latin typeface="Arial"/>
                <a:cs typeface="Arial"/>
              </a:rPr>
              <a:t>phone without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recipient’s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consent.</a:t>
            </a:r>
            <a:endParaRPr sz="1800" dirty="0">
              <a:latin typeface="Arial"/>
              <a:cs typeface="Arial"/>
            </a:endParaRPr>
          </a:p>
          <a:p>
            <a:pPr marL="756285" marR="14604" indent="-286385" algn="just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AutoNum type="arabicPeriod" startAt="2"/>
              <a:tabLst>
                <a:tab pos="75692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police or </a:t>
            </a:r>
            <a:r>
              <a:rPr sz="1800" dirty="0">
                <a:latin typeface="Arial"/>
                <a:cs typeface="Arial"/>
              </a:rPr>
              <a:t>FIA </a:t>
            </a:r>
            <a:r>
              <a:rPr sz="1800" spc="-5" dirty="0">
                <a:latin typeface="Arial"/>
                <a:cs typeface="Arial"/>
              </a:rPr>
              <a:t>or any other agency </a:t>
            </a:r>
            <a:r>
              <a:rPr sz="1800" spc="-15" dirty="0">
                <a:latin typeface="Arial"/>
                <a:cs typeface="Arial"/>
              </a:rPr>
              <a:t>won’t </a:t>
            </a:r>
            <a:r>
              <a:rPr sz="1800" spc="-5" dirty="0">
                <a:latin typeface="Arial"/>
                <a:cs typeface="Arial"/>
              </a:rPr>
              <a:t>need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5" dirty="0">
                <a:latin typeface="Arial"/>
                <a:cs typeface="Arial"/>
              </a:rPr>
              <a:t>warrant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search, seize or  make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arrests.</a:t>
            </a:r>
          </a:p>
          <a:p>
            <a:pPr marL="756285" marR="259715" indent="-286385" algn="just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AutoNum type="arabicPeriod" startAt="2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Under sections 17 and 18 </a:t>
            </a:r>
            <a:r>
              <a:rPr sz="1800" dirty="0">
                <a:latin typeface="Arial"/>
                <a:cs typeface="Arial"/>
              </a:rPr>
              <a:t>of the </a:t>
            </a:r>
            <a:r>
              <a:rPr sz="1800" spc="-5" dirty="0">
                <a:latin typeface="Arial"/>
                <a:cs typeface="Arial"/>
              </a:rPr>
              <a:t>new bill,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political criticism and political  </a:t>
            </a:r>
            <a:r>
              <a:rPr sz="1800" spc="-10" dirty="0">
                <a:latin typeface="Arial"/>
                <a:cs typeface="Arial"/>
              </a:rPr>
              <a:t>expression </a:t>
            </a: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the form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analysis, </a:t>
            </a:r>
            <a:r>
              <a:rPr sz="1800" spc="-20" dirty="0">
                <a:latin typeface="Arial"/>
                <a:cs typeface="Arial"/>
              </a:rPr>
              <a:t>commentary, </a:t>
            </a:r>
            <a:r>
              <a:rPr sz="1800" spc="-5" dirty="0">
                <a:latin typeface="Arial"/>
                <a:cs typeface="Arial"/>
              </a:rPr>
              <a:t>blogs, cartoons, caricatures  and memes has been criminalized. Authorities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decide </a:t>
            </a:r>
            <a:r>
              <a:rPr sz="1800" spc="-15" dirty="0">
                <a:latin typeface="Arial"/>
                <a:cs typeface="Arial"/>
              </a:rPr>
              <a:t>what </a:t>
            </a:r>
            <a:r>
              <a:rPr sz="1800" spc="-5" dirty="0">
                <a:latin typeface="Arial"/>
                <a:cs typeface="Arial"/>
              </a:rPr>
              <a:t>is moral and  </a:t>
            </a:r>
            <a:r>
              <a:rPr sz="1800" spc="-15" dirty="0">
                <a:latin typeface="Arial"/>
                <a:cs typeface="Arial"/>
              </a:rPr>
              <a:t>what </a:t>
            </a:r>
            <a:r>
              <a:rPr sz="1800" spc="-5" dirty="0">
                <a:latin typeface="Arial"/>
                <a:cs typeface="Arial"/>
              </a:rPr>
              <a:t>is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immoral.</a:t>
            </a:r>
            <a:endParaRPr sz="1800" dirty="0">
              <a:latin typeface="Arial"/>
              <a:cs typeface="Arial"/>
            </a:endParaRPr>
          </a:p>
          <a:p>
            <a:pPr marL="756285" marR="191770" indent="-286385" algn="just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AutoNum type="arabicPeriod" startAt="2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Under section 31, government can block or remove access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any </a:t>
            </a:r>
            <a:r>
              <a:rPr sz="1800" spc="-10" dirty="0">
                <a:latin typeface="Arial"/>
                <a:cs typeface="Arial"/>
              </a:rPr>
              <a:t>website </a:t>
            </a:r>
            <a:r>
              <a:rPr sz="1800" spc="-5" dirty="0">
                <a:latin typeface="Arial"/>
                <a:cs typeface="Arial"/>
              </a:rPr>
              <a:t>or  online source </a:t>
            </a:r>
            <a:r>
              <a:rPr sz="1800" dirty="0">
                <a:latin typeface="Arial"/>
                <a:cs typeface="Arial"/>
              </a:rPr>
              <a:t>if it </a:t>
            </a:r>
            <a:r>
              <a:rPr sz="1800" spc="-5" dirty="0">
                <a:latin typeface="Arial"/>
                <a:cs typeface="Arial"/>
              </a:rPr>
              <a:t>deems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inappropriate.</a:t>
            </a:r>
            <a:endParaRPr sz="1800" dirty="0">
              <a:latin typeface="Arial"/>
              <a:cs typeface="Arial"/>
            </a:endParaRPr>
          </a:p>
          <a:p>
            <a:pPr marL="756285" marR="79375" indent="-286385" algn="just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AutoNum type="arabicPeriod" startAt="2"/>
              <a:tabLst>
                <a:tab pos="756920" algn="l"/>
              </a:tabLst>
            </a:pPr>
            <a:r>
              <a:rPr sz="1800" spc="-5" dirty="0">
                <a:latin typeface="Arial"/>
                <a:cs typeface="Arial"/>
              </a:rPr>
              <a:t>Under section 26, </a:t>
            </a:r>
            <a:r>
              <a:rPr sz="1800" dirty="0">
                <a:latin typeface="Arial"/>
                <a:cs typeface="Arial"/>
              </a:rPr>
              <a:t>the ISPs, </a:t>
            </a:r>
            <a:r>
              <a:rPr sz="1800" spc="-5" dirty="0">
                <a:latin typeface="Arial"/>
                <a:cs typeface="Arial"/>
              </a:rPr>
              <a:t>restaurants, malls, hotels, offices, airports bus  stations and </a:t>
            </a:r>
            <a:r>
              <a:rPr sz="1800" spc="-10" dirty="0">
                <a:latin typeface="Arial"/>
                <a:cs typeface="Arial"/>
              </a:rPr>
              <a:t>anywhere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Internet facility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be required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hold data record 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3 months.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100"/>
              </a:spcBef>
            </a:pPr>
            <a:r>
              <a:rPr dirty="0"/>
              <a:t>Cyber Crime Act – </a:t>
            </a:r>
            <a:r>
              <a:rPr spc="-5" dirty="0"/>
              <a:t>2015 Continue</a:t>
            </a:r>
            <a:r>
              <a:rPr spc="-32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270" y="1514727"/>
            <a:ext cx="8707755" cy="459803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170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OFFENCES AND PUNISHMENTS</a:t>
            </a:r>
            <a:endParaRPr sz="24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z="1800" spc="-5" dirty="0">
                <a:latin typeface="Arial"/>
                <a:cs typeface="Arial"/>
              </a:rPr>
              <a:t>Unauthorized access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information system or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data:</a:t>
            </a:r>
            <a:endParaRPr sz="1800" dirty="0">
              <a:latin typeface="Arial"/>
              <a:cs typeface="Arial"/>
            </a:endParaRPr>
          </a:p>
          <a:p>
            <a:pPr marL="756285" marR="95250" indent="-287020" algn="just">
              <a:lnSpc>
                <a:spcPct val="100000"/>
              </a:lnSpc>
              <a:spcBef>
                <a:spcPts val="1010"/>
              </a:spcBef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spc="-5" dirty="0">
                <a:latin typeface="Arial"/>
                <a:cs typeface="Arial"/>
              </a:rPr>
              <a:t>Unauthorized access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any information system or data then imprisonment </a:t>
            </a:r>
            <a:r>
              <a:rPr sz="1800" spc="-515" dirty="0">
                <a:latin typeface="Arial"/>
                <a:cs typeface="Arial"/>
              </a:rPr>
              <a:t>for </a:t>
            </a:r>
            <a:r>
              <a:rPr sz="1800" spc="-4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b="1" spc="-5" dirty="0">
                <a:latin typeface="Arial"/>
                <a:cs typeface="Arial"/>
              </a:rPr>
              <a:t>six </a:t>
            </a:r>
            <a:r>
              <a:rPr sz="1800" b="1" dirty="0">
                <a:latin typeface="Arial"/>
                <a:cs typeface="Arial"/>
              </a:rPr>
              <a:t>months </a:t>
            </a:r>
            <a:r>
              <a:rPr sz="1800" spc="-5" dirty="0">
                <a:latin typeface="Arial"/>
                <a:cs typeface="Arial"/>
              </a:rPr>
              <a:t>or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fine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dirty="0">
                <a:latin typeface="Arial"/>
                <a:cs typeface="Arial"/>
              </a:rPr>
              <a:t>may </a:t>
            </a:r>
            <a:r>
              <a:rPr sz="1800" spc="-10" dirty="0">
                <a:latin typeface="Arial"/>
                <a:cs typeface="Arial"/>
              </a:rPr>
              <a:t>extend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5" dirty="0">
                <a:latin typeface="Arial"/>
                <a:cs typeface="Arial"/>
              </a:rPr>
              <a:t>hundred thousand  </a:t>
            </a:r>
            <a:r>
              <a:rPr sz="1800" spc="-5" dirty="0">
                <a:latin typeface="Arial"/>
                <a:cs typeface="Arial"/>
              </a:rPr>
              <a:t>rupees or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both.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800" spc="-5" dirty="0">
                <a:latin typeface="Arial"/>
                <a:cs typeface="Arial"/>
              </a:rPr>
              <a:t>Unauthorized </a:t>
            </a:r>
            <a:r>
              <a:rPr sz="1800" spc="-10" dirty="0">
                <a:latin typeface="Arial"/>
                <a:cs typeface="Arial"/>
              </a:rPr>
              <a:t>copying </a:t>
            </a:r>
            <a:r>
              <a:rPr sz="1800" spc="-5" dirty="0">
                <a:latin typeface="Arial"/>
                <a:cs typeface="Arial"/>
              </a:rPr>
              <a:t>or transmission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data:</a:t>
            </a:r>
            <a:endParaRPr sz="1800" dirty="0">
              <a:latin typeface="Arial"/>
              <a:cs typeface="Arial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1000"/>
              </a:spcBef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spc="-5" dirty="0">
                <a:latin typeface="Arial"/>
                <a:cs typeface="Arial"/>
              </a:rPr>
              <a:t>Imprisonment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b="1" spc="-5" dirty="0">
                <a:latin typeface="Arial"/>
                <a:cs typeface="Arial"/>
              </a:rPr>
              <a:t>six </a:t>
            </a:r>
            <a:r>
              <a:rPr sz="1800" b="1" dirty="0">
                <a:latin typeface="Arial"/>
                <a:cs typeface="Arial"/>
              </a:rPr>
              <a:t>months </a:t>
            </a:r>
            <a:r>
              <a:rPr sz="1800" spc="-5" dirty="0">
                <a:latin typeface="Arial"/>
                <a:cs typeface="Arial"/>
              </a:rPr>
              <a:t>or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fine </a:t>
            </a:r>
            <a:r>
              <a:rPr sz="1800" spc="-15" dirty="0">
                <a:latin typeface="Arial"/>
                <a:cs typeface="Arial"/>
              </a:rPr>
              <a:t>which </a:t>
            </a:r>
            <a:r>
              <a:rPr sz="1800" dirty="0">
                <a:latin typeface="Arial"/>
                <a:cs typeface="Arial"/>
              </a:rPr>
              <a:t>may </a:t>
            </a:r>
            <a:r>
              <a:rPr sz="1800" spc="-10" dirty="0">
                <a:latin typeface="Arial"/>
                <a:cs typeface="Arial"/>
              </a:rPr>
              <a:t>extend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80" dirty="0">
                <a:latin typeface="Arial"/>
                <a:cs typeface="Arial"/>
              </a:rPr>
              <a:t>hundred  </a:t>
            </a:r>
            <a:r>
              <a:rPr sz="1800" b="1" spc="-5" dirty="0">
                <a:latin typeface="Arial"/>
                <a:cs typeface="Arial"/>
              </a:rPr>
              <a:t>thousand </a:t>
            </a:r>
            <a:r>
              <a:rPr sz="1800" spc="-5" dirty="0">
                <a:latin typeface="Arial"/>
                <a:cs typeface="Arial"/>
              </a:rPr>
              <a:t>rupees or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both.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latin typeface="Arial"/>
                <a:cs typeface="Arial"/>
              </a:rPr>
              <a:t>Cyber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terrorism</a:t>
            </a:r>
            <a:endParaRPr sz="1800" dirty="0">
              <a:latin typeface="Arial"/>
              <a:cs typeface="Arial"/>
            </a:endParaRPr>
          </a:p>
          <a:p>
            <a:pPr marL="469900" algn="just">
              <a:lnSpc>
                <a:spcPct val="100000"/>
              </a:lnSpc>
              <a:spcBef>
                <a:spcPts val="994"/>
              </a:spcBef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1800" spc="-5" dirty="0">
                <a:latin typeface="Arial"/>
                <a:cs typeface="Arial"/>
              </a:rPr>
              <a:t>Imprisonment </a:t>
            </a:r>
            <a:r>
              <a:rPr sz="1800" b="1" spc="-5" dirty="0">
                <a:latin typeface="Arial"/>
                <a:cs typeface="Arial"/>
              </a:rPr>
              <a:t>fourteen </a:t>
            </a:r>
            <a:r>
              <a:rPr sz="1800" b="1" spc="-10" dirty="0">
                <a:latin typeface="Arial"/>
                <a:cs typeface="Arial"/>
              </a:rPr>
              <a:t>year </a:t>
            </a:r>
            <a:r>
              <a:rPr sz="1800" spc="-5" dirty="0">
                <a:latin typeface="Arial"/>
                <a:cs typeface="Arial"/>
              </a:rPr>
              <a:t>(14) and fine </a:t>
            </a:r>
            <a:r>
              <a:rPr sz="1800" b="1" spc="-5" dirty="0">
                <a:latin typeface="Arial"/>
                <a:cs typeface="Arial"/>
              </a:rPr>
              <a:t>5 </a:t>
            </a:r>
            <a:r>
              <a:rPr sz="1800" b="1" dirty="0">
                <a:latin typeface="Arial"/>
                <a:cs typeface="Arial"/>
              </a:rPr>
              <a:t>million </a:t>
            </a:r>
            <a:r>
              <a:rPr sz="1800" spc="-5" dirty="0">
                <a:latin typeface="Arial"/>
                <a:cs typeface="Arial"/>
              </a:rPr>
              <a:t>or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both.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800" spc="-5" dirty="0">
                <a:latin typeface="Arial"/>
                <a:cs typeface="Arial"/>
              </a:rPr>
              <a:t>Electronic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fraud</a:t>
            </a:r>
            <a:endParaRPr sz="1800" dirty="0">
              <a:latin typeface="Arial"/>
              <a:cs typeface="Arial"/>
            </a:endParaRPr>
          </a:p>
          <a:p>
            <a:pPr marL="413384" algn="just">
              <a:lnSpc>
                <a:spcPct val="100000"/>
              </a:lnSpc>
              <a:spcBef>
                <a:spcPts val="1010"/>
              </a:spcBef>
              <a:tabLst>
                <a:tab pos="756285" algn="l"/>
              </a:tabLst>
            </a:pPr>
            <a:r>
              <a:rPr sz="1800" spc="335" dirty="0">
                <a:solidFill>
                  <a:srgbClr val="A42F0F"/>
                </a:solidFill>
                <a:latin typeface="Arial"/>
                <a:cs typeface="Arial"/>
              </a:rPr>
              <a:t>	</a:t>
            </a:r>
            <a:r>
              <a:rPr sz="1800" spc="-5" dirty="0">
                <a:latin typeface="Arial"/>
                <a:cs typeface="Arial"/>
              </a:rPr>
              <a:t>Imprisonment </a:t>
            </a:r>
            <a:r>
              <a:rPr sz="1800" spc="-15" dirty="0">
                <a:latin typeface="Arial"/>
                <a:cs typeface="Arial"/>
              </a:rPr>
              <a:t>two </a:t>
            </a:r>
            <a:r>
              <a:rPr sz="1800" spc="-5" dirty="0">
                <a:latin typeface="Arial"/>
                <a:cs typeface="Arial"/>
              </a:rPr>
              <a:t>(02) </a:t>
            </a:r>
            <a:r>
              <a:rPr sz="1800" spc="-10" dirty="0">
                <a:latin typeface="Arial"/>
                <a:cs typeface="Arial"/>
              </a:rPr>
              <a:t>year </a:t>
            </a:r>
            <a:r>
              <a:rPr sz="1800" spc="-5" dirty="0">
                <a:latin typeface="Arial"/>
                <a:cs typeface="Arial"/>
              </a:rPr>
              <a:t>and fine </a:t>
            </a:r>
            <a:r>
              <a:rPr sz="1800" b="1" spc="-5" dirty="0">
                <a:latin typeface="Arial"/>
                <a:cs typeface="Arial"/>
              </a:rPr>
              <a:t>10 </a:t>
            </a:r>
            <a:r>
              <a:rPr sz="1800" b="1" dirty="0">
                <a:latin typeface="Arial"/>
                <a:cs typeface="Arial"/>
              </a:rPr>
              <a:t>million </a:t>
            </a:r>
            <a:r>
              <a:rPr sz="1800" spc="-5" dirty="0">
                <a:latin typeface="Arial"/>
                <a:cs typeface="Arial"/>
              </a:rPr>
              <a:t>or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both.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2423" y="501141"/>
                </a:lnTo>
                <a:lnTo>
                  <a:pt x="1354328" y="499617"/>
                </a:lnTo>
                <a:lnTo>
                  <a:pt x="1355852" y="497966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124584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100"/>
              </a:spcBef>
            </a:pPr>
            <a:r>
              <a:rPr dirty="0"/>
              <a:t>Cyber Crime Act – </a:t>
            </a:r>
            <a:r>
              <a:rPr spc="-5" dirty="0"/>
              <a:t>2015 Continue</a:t>
            </a:r>
            <a:r>
              <a:rPr spc="-320" dirty="0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824355">
              <a:lnSpc>
                <a:spcPct val="100000"/>
              </a:lnSpc>
              <a:spcBef>
                <a:spcPts val="1095"/>
              </a:spcBef>
            </a:pPr>
            <a:r>
              <a:rPr b="1" spc="-5" dirty="0"/>
              <a:t>Identity crime</a:t>
            </a:r>
          </a:p>
          <a:p>
            <a:pPr marL="2567940" marR="5080" indent="-287020" algn="just">
              <a:lnSpc>
                <a:spcPct val="100000"/>
              </a:lnSpc>
              <a:spcBef>
                <a:spcPts val="994"/>
              </a:spcBef>
            </a:pPr>
            <a:r>
              <a:rPr spc="335" dirty="0">
                <a:solidFill>
                  <a:srgbClr val="A42F0F"/>
                </a:solidFill>
              </a:rPr>
              <a:t> </a:t>
            </a:r>
            <a:r>
              <a:rPr spc="-5" dirty="0"/>
              <a:t>Whoever obtains, sells, possesses or transmits </a:t>
            </a:r>
            <a:r>
              <a:rPr spc="-10" dirty="0"/>
              <a:t>another person’s </a:t>
            </a:r>
            <a:r>
              <a:rPr spc="-5" dirty="0"/>
              <a:t>identity  information, </a:t>
            </a:r>
            <a:r>
              <a:rPr spc="-10" dirty="0"/>
              <a:t>without lawful </a:t>
            </a:r>
            <a:r>
              <a:rPr spc="-5" dirty="0"/>
              <a:t>justification shall be punished </a:t>
            </a:r>
            <a:r>
              <a:rPr spc="-15" dirty="0"/>
              <a:t>with </a:t>
            </a:r>
            <a:r>
              <a:rPr spc="-5" dirty="0"/>
              <a:t>imprisonment </a:t>
            </a:r>
            <a:r>
              <a:rPr dirty="0"/>
              <a:t>for  a </a:t>
            </a:r>
            <a:r>
              <a:rPr spc="-5" dirty="0"/>
              <a:t>term </a:t>
            </a:r>
            <a:r>
              <a:rPr spc="-10" dirty="0"/>
              <a:t>which </a:t>
            </a:r>
            <a:r>
              <a:rPr spc="-5" dirty="0"/>
              <a:t>may extend </a:t>
            </a:r>
            <a:r>
              <a:rPr dirty="0"/>
              <a:t>to </a:t>
            </a:r>
            <a:r>
              <a:rPr b="1" dirty="0">
                <a:latin typeface="Arial"/>
                <a:cs typeface="Arial"/>
              </a:rPr>
              <a:t>three months </a:t>
            </a:r>
            <a:r>
              <a:rPr spc="-5" dirty="0"/>
              <a:t>or </a:t>
            </a:r>
            <a:r>
              <a:rPr spc="-10" dirty="0"/>
              <a:t>with </a:t>
            </a:r>
            <a:r>
              <a:rPr spc="-5" dirty="0"/>
              <a:t>fine </a:t>
            </a:r>
            <a:r>
              <a:rPr spc="-10" dirty="0"/>
              <a:t>which </a:t>
            </a:r>
            <a:r>
              <a:rPr spc="-5" dirty="0"/>
              <a:t>may extend </a:t>
            </a:r>
            <a:r>
              <a:rPr dirty="0"/>
              <a:t>to  </a:t>
            </a:r>
            <a:r>
              <a:rPr b="1" spc="-5" dirty="0">
                <a:latin typeface="Arial"/>
                <a:cs typeface="Arial"/>
              </a:rPr>
              <a:t>fifty thousand rupees</a:t>
            </a:r>
            <a:r>
              <a:rPr spc="-5" dirty="0"/>
              <a:t>, or </a:t>
            </a:r>
            <a:r>
              <a:rPr spc="-15" dirty="0"/>
              <a:t>with</a:t>
            </a:r>
            <a:r>
              <a:rPr spc="50" dirty="0"/>
              <a:t> </a:t>
            </a:r>
            <a:r>
              <a:rPr spc="-5" dirty="0"/>
              <a:t>both.</a:t>
            </a:r>
          </a:p>
          <a:p>
            <a:pPr marL="1824355">
              <a:lnSpc>
                <a:spcPct val="100000"/>
              </a:lnSpc>
              <a:spcBef>
                <a:spcPts val="1010"/>
              </a:spcBef>
            </a:pPr>
            <a:r>
              <a:rPr b="1" spc="-5" dirty="0"/>
              <a:t>Unauthorized issuance </a:t>
            </a:r>
            <a:r>
              <a:rPr b="1" dirty="0"/>
              <a:t>of SIM</a:t>
            </a:r>
            <a:r>
              <a:rPr b="1" spc="40" dirty="0"/>
              <a:t> </a:t>
            </a:r>
            <a:r>
              <a:rPr b="1" spc="-5" dirty="0"/>
              <a:t>cards</a:t>
            </a:r>
          </a:p>
          <a:p>
            <a:pPr marL="2567940" marR="268605" indent="-287020" algn="just">
              <a:lnSpc>
                <a:spcPct val="100000"/>
              </a:lnSpc>
              <a:spcBef>
                <a:spcPts val="994"/>
              </a:spcBef>
            </a:pPr>
            <a:r>
              <a:rPr spc="335" dirty="0">
                <a:solidFill>
                  <a:srgbClr val="A42F0F"/>
                </a:solidFill>
              </a:rPr>
              <a:t> </a:t>
            </a:r>
            <a:r>
              <a:rPr dirty="0"/>
              <a:t>SIM to </a:t>
            </a:r>
            <a:r>
              <a:rPr spc="-5" dirty="0"/>
              <a:t>be used in cellular mobile or </a:t>
            </a:r>
            <a:r>
              <a:rPr spc="-10" dirty="0"/>
              <a:t>wireless </a:t>
            </a:r>
            <a:r>
              <a:rPr spc="-5" dirty="0"/>
              <a:t>phone </a:t>
            </a:r>
            <a:r>
              <a:rPr dirty="0"/>
              <a:t>for </a:t>
            </a:r>
            <a:r>
              <a:rPr spc="-5" dirty="0"/>
              <a:t>transmitting </a:t>
            </a:r>
            <a:r>
              <a:rPr spc="-10" dirty="0"/>
              <a:t>without  </a:t>
            </a:r>
            <a:r>
              <a:rPr spc="-5" dirty="0"/>
              <a:t>verification in </a:t>
            </a:r>
            <a:r>
              <a:rPr dirty="0"/>
              <a:t>the </a:t>
            </a:r>
            <a:r>
              <a:rPr spc="-5" dirty="0"/>
              <a:t>mode and manner approved by </a:t>
            </a:r>
            <a:r>
              <a:rPr dirty="0"/>
              <a:t>the </a:t>
            </a:r>
            <a:r>
              <a:rPr spc="-5" dirty="0"/>
              <a:t>Authority shall be  punished </a:t>
            </a:r>
            <a:r>
              <a:rPr spc="-15" dirty="0"/>
              <a:t>with </a:t>
            </a:r>
            <a:r>
              <a:rPr spc="-5" dirty="0"/>
              <a:t>imprisonment </a:t>
            </a:r>
            <a:r>
              <a:rPr dirty="0"/>
              <a:t>for </a:t>
            </a:r>
            <a:r>
              <a:rPr spc="-5" dirty="0"/>
              <a:t>a </a:t>
            </a:r>
            <a:r>
              <a:rPr dirty="0"/>
              <a:t>term </a:t>
            </a:r>
            <a:r>
              <a:rPr spc="-15" dirty="0"/>
              <a:t>which </a:t>
            </a:r>
            <a:r>
              <a:rPr dirty="0"/>
              <a:t>may </a:t>
            </a:r>
            <a:r>
              <a:rPr spc="-10" dirty="0"/>
              <a:t>extend </a:t>
            </a:r>
            <a:r>
              <a:rPr dirty="0"/>
              <a:t>to </a:t>
            </a:r>
            <a:r>
              <a:rPr b="1" spc="-5" dirty="0">
                <a:latin typeface="Arial"/>
                <a:cs typeface="Arial"/>
              </a:rPr>
              <a:t>three </a:t>
            </a:r>
            <a:r>
              <a:rPr b="1" spc="-10" dirty="0">
                <a:latin typeface="Arial"/>
                <a:cs typeface="Arial"/>
              </a:rPr>
              <a:t>years </a:t>
            </a:r>
            <a:r>
              <a:rPr spc="-5" dirty="0"/>
              <a:t>or  </a:t>
            </a:r>
            <a:r>
              <a:rPr spc="-15" dirty="0"/>
              <a:t>with </a:t>
            </a:r>
            <a:r>
              <a:rPr spc="-5" dirty="0"/>
              <a:t>fine </a:t>
            </a:r>
            <a:r>
              <a:rPr spc="-15" dirty="0"/>
              <a:t>which </a:t>
            </a:r>
            <a:r>
              <a:rPr dirty="0"/>
              <a:t>may </a:t>
            </a:r>
            <a:r>
              <a:rPr spc="-10" dirty="0"/>
              <a:t>extend </a:t>
            </a:r>
            <a:r>
              <a:rPr dirty="0"/>
              <a:t>to </a:t>
            </a:r>
            <a:r>
              <a:rPr b="1" spc="-15" dirty="0">
                <a:latin typeface="Arial"/>
                <a:cs typeface="Arial"/>
              </a:rPr>
              <a:t>five </a:t>
            </a:r>
            <a:r>
              <a:rPr b="1" spc="-5" dirty="0">
                <a:latin typeface="Arial"/>
                <a:cs typeface="Arial"/>
              </a:rPr>
              <a:t>hundred thousand rupees </a:t>
            </a:r>
            <a:r>
              <a:rPr spc="-5" dirty="0"/>
              <a:t>or</a:t>
            </a:r>
            <a:r>
              <a:rPr spc="270" dirty="0"/>
              <a:t> </a:t>
            </a:r>
            <a:r>
              <a:rPr spc="-5" dirty="0"/>
              <a:t>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1221</Words>
  <Application>Microsoft Office PowerPoint</Application>
  <PresentationFormat>Custom</PresentationFormat>
  <Paragraphs>261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Cyber Laws in Pakistan</vt:lpstr>
      <vt:lpstr>Information To Share</vt:lpstr>
      <vt:lpstr>Cyber Crime</vt:lpstr>
      <vt:lpstr>Cyber Crime</vt:lpstr>
      <vt:lpstr>Cyber Crime</vt:lpstr>
      <vt:lpstr>Cyber Crime</vt:lpstr>
      <vt:lpstr>Cyber Crime</vt:lpstr>
      <vt:lpstr>Cyber Law</vt:lpstr>
      <vt:lpstr>International Aspect of Cyber Law</vt:lpstr>
      <vt:lpstr>Int’l Aspect of Cyber Law Continue …</vt:lpstr>
      <vt:lpstr>Int’l Aspect of Cyber Law Continue …</vt:lpstr>
      <vt:lpstr>Role of Pakistan in the Cyber World</vt:lpstr>
      <vt:lpstr>Pakistan Cyber Law Conventions</vt:lpstr>
      <vt:lpstr>PAK Cyber Law Con. Continue …</vt:lpstr>
      <vt:lpstr>1.Electronic Transaction Ordinance-2002</vt:lpstr>
      <vt:lpstr>ETO – 2002 Continue …</vt:lpstr>
      <vt:lpstr>ETO – 2002 Continue …</vt:lpstr>
      <vt:lpstr>2.Cyber Crime Bill - 2007</vt:lpstr>
      <vt:lpstr>Cyber Crime Bill – 2007 Continue …</vt:lpstr>
      <vt:lpstr>Cyber Crime Bill – 2007 Continue …</vt:lpstr>
      <vt:lpstr>Slide 21</vt:lpstr>
      <vt:lpstr>3.Cyber Crime Act - 2015</vt:lpstr>
      <vt:lpstr>Cyber Crime Act – 2015 Continue …</vt:lpstr>
      <vt:lpstr>Cyber Crime Act – 2015 Continue …</vt:lpstr>
      <vt:lpstr>Cyber Crime Act – 2015 Continue 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Laws in Pakistan</dc:title>
  <dc:creator>Aamir Anwar</dc:creator>
  <cp:lastModifiedBy>muhammad.qasim</cp:lastModifiedBy>
  <cp:revision>13</cp:revision>
  <dcterms:created xsi:type="dcterms:W3CDTF">2019-11-06T05:44:15Z</dcterms:created>
  <dcterms:modified xsi:type="dcterms:W3CDTF">2021-04-07T12:26:22Z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2019-11-06T00:00:00Z</vt:filetime>
  </property>
</Properties>
</file>