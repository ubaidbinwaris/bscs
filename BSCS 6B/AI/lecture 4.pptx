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6" r:id="rId2"/>
    <p:sldId id="308" r:id="rId3"/>
    <p:sldId id="257" r:id="rId4"/>
    <p:sldId id="258" r:id="rId5"/>
    <p:sldId id="259" r:id="rId6"/>
    <p:sldId id="260" r:id="rId7"/>
    <p:sldId id="261" r:id="rId8"/>
    <p:sldId id="273" r:id="rId9"/>
    <p:sldId id="262" r:id="rId10"/>
    <p:sldId id="263" r:id="rId11"/>
    <p:sldId id="264" r:id="rId12"/>
    <p:sldId id="265" r:id="rId13"/>
    <p:sldId id="266" r:id="rId14"/>
    <p:sldId id="267" r:id="rId15"/>
    <p:sldId id="268" r:id="rId16"/>
    <p:sldId id="269" r:id="rId17"/>
    <p:sldId id="270" r:id="rId18"/>
    <p:sldId id="271" r:id="rId19"/>
    <p:sldId id="272" r:id="rId20"/>
    <p:sldId id="276" r:id="rId21"/>
    <p:sldId id="277" r:id="rId22"/>
    <p:sldId id="278" r:id="rId23"/>
    <p:sldId id="279" r:id="rId24"/>
    <p:sldId id="280" r:id="rId25"/>
    <p:sldId id="281" r:id="rId26"/>
    <p:sldId id="282" r:id="rId27"/>
    <p:sldId id="283" r:id="rId28"/>
    <p:sldId id="307" r:id="rId29"/>
    <p:sldId id="284" r:id="rId30"/>
    <p:sldId id="285" r:id="rId31"/>
    <p:sldId id="297" r:id="rId32"/>
    <p:sldId id="298" r:id="rId33"/>
    <p:sldId id="299" r:id="rId34"/>
    <p:sldId id="300" r:id="rId35"/>
    <p:sldId id="293" r:id="rId36"/>
    <p:sldId id="292" r:id="rId37"/>
    <p:sldId id="309" r:id="rId38"/>
    <p:sldId id="310" r:id="rId39"/>
    <p:sldId id="302" r:id="rId40"/>
    <p:sldId id="311" r:id="rId41"/>
    <p:sldId id="303" r:id="rId42"/>
    <p:sldId id="304" r:id="rId43"/>
    <p:sldId id="305" r:id="rId44"/>
    <p:sldId id="306" r:id="rId45"/>
    <p:sldId id="294" r:id="rId46"/>
    <p:sldId id="295" r:id="rId47"/>
    <p:sldId id="296" r:id="rId48"/>
    <p:sldId id="291" r:id="rId49"/>
    <p:sldId id="286" r:id="rId50"/>
    <p:sldId id="287" r:id="rId51"/>
    <p:sldId id="288" r:id="rId52"/>
    <p:sldId id="289" r:id="rId53"/>
    <p:sldId id="290"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32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CDF020-4CAA-4370-8FA2-3D9267887DA4}" type="datetimeFigureOut">
              <a:rPr lang="en-US" smtClean="0"/>
              <a:pPr/>
              <a:t>10-Oct-25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0BB32C-EFCF-4381-BEE5-6953F733454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1150938" y="692150"/>
            <a:ext cx="4556125" cy="3416300"/>
          </a:xfrm>
          <a:ln/>
        </p:spPr>
      </p:sp>
      <p:sp>
        <p:nvSpPr>
          <p:cNvPr id="251907"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DA22F1-E9F9-4B18-86BF-81FA2BAA0B46}" type="slidenum">
              <a:rPr lang="en-US"/>
              <a:pPr/>
              <a:t>39</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72BE70-CA3F-48DF-A0BD-1921EB0C6B5D}" type="slidenum">
              <a:rPr lang="en-US"/>
              <a:pPr/>
              <a:t>41</a:t>
            </a:fld>
            <a:endParaRPr lang="en-US"/>
          </a:p>
        </p:txBody>
      </p:sp>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2F883D-564E-4FCE-9B32-C397720F4D10}" type="slidenum">
              <a:rPr lang="en-US"/>
              <a:pPr/>
              <a:t>42</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511D0E-433D-4EFF-A733-FFDFC10009F9}" type="slidenum">
              <a:rPr lang="en-US"/>
              <a:pPr/>
              <a:t>43</a:t>
            </a:fld>
            <a:endParaRPr lang="en-US"/>
          </a:p>
        </p:txBody>
      </p:sp>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B2DCC4-F9C9-4ACE-9133-97A604BAA948}" type="slidenum">
              <a:rPr lang="en-US"/>
              <a:pPr/>
              <a:t>44</a:t>
            </a:fld>
            <a:endParaRPr lang="en-US"/>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8636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6758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41889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3436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8284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62400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04286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2439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44585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905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6184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10-Oct-25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4927077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09800"/>
            <a:ext cx="7772400" cy="1619250"/>
          </a:xfrm>
        </p:spPr>
        <p:txBody>
          <a:bodyPr/>
          <a:lstStyle/>
          <a:p>
            <a:r>
              <a:rPr lang="en-US" dirty="0"/>
              <a:t>Uninformed Search </a:t>
            </a:r>
            <a:br>
              <a:rPr lang="en-US" dirty="0"/>
            </a:br>
            <a:r>
              <a:rPr lang="en-US" dirty="0"/>
              <a:t> (Blind Search)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3312499"/>
              </p:ext>
            </p:extLst>
          </p:nvPr>
        </p:nvGraphicFramePr>
        <p:xfrm>
          <a:off x="628650" y="1825625"/>
          <a:ext cx="7886700" cy="4351338"/>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277346497"/>
                    </a:ext>
                  </a:extLst>
                </a:gridCol>
                <a:gridCol w="3943350">
                  <a:extLst>
                    <a:ext uri="{9D8B030D-6E8A-4147-A177-3AD203B41FA5}">
                      <a16:colId xmlns:a16="http://schemas.microsoft.com/office/drawing/2014/main" val="1200624359"/>
                    </a:ext>
                  </a:extLst>
                </a:gridCol>
              </a:tblGrid>
              <a:tr h="370840">
                <a:tc>
                  <a:txBody>
                    <a:bodyPr/>
                    <a:lstStyle/>
                    <a:p>
                      <a:r>
                        <a:rPr lang="en-US" dirty="0" smtClean="0"/>
                        <a:t>Uninformed</a:t>
                      </a:r>
                      <a:r>
                        <a:rPr lang="en-US" baseline="0" dirty="0" smtClean="0"/>
                        <a:t> Search </a:t>
                      </a:r>
                      <a:endParaRPr lang="en-US" dirty="0"/>
                    </a:p>
                  </a:txBody>
                  <a:tcPr marL="87630" marR="87630"/>
                </a:tc>
                <a:tc>
                  <a:txBody>
                    <a:bodyPr/>
                    <a:lstStyle/>
                    <a:p>
                      <a:r>
                        <a:rPr lang="en-US" dirty="0" smtClean="0"/>
                        <a:t>Informed Search </a:t>
                      </a:r>
                      <a:endParaRPr lang="en-US" dirty="0"/>
                    </a:p>
                  </a:txBody>
                  <a:tcPr marL="87630" marR="87630"/>
                </a:tc>
                <a:extLst>
                  <a:ext uri="{0D108BD9-81ED-4DB2-BD59-A6C34878D82A}">
                    <a16:rowId xmlns:a16="http://schemas.microsoft.com/office/drawing/2014/main" val="2480101076"/>
                  </a:ext>
                </a:extLst>
              </a:tr>
              <a:tr h="370840">
                <a:tc>
                  <a:txBody>
                    <a:bodyPr/>
                    <a:lstStyle/>
                    <a:p>
                      <a:r>
                        <a:rPr lang="en-US" dirty="0" smtClean="0"/>
                        <a:t>Search without information </a:t>
                      </a:r>
                      <a:endParaRPr lang="en-US" dirty="0"/>
                    </a:p>
                  </a:txBody>
                  <a:tcPr marL="87630" marR="87630"/>
                </a:tc>
                <a:tc>
                  <a:txBody>
                    <a:bodyPr/>
                    <a:lstStyle/>
                    <a:p>
                      <a:r>
                        <a:rPr lang="en-US" dirty="0" smtClean="0"/>
                        <a:t>Search with</a:t>
                      </a:r>
                      <a:r>
                        <a:rPr lang="en-US" baseline="0" dirty="0" smtClean="0"/>
                        <a:t> information </a:t>
                      </a:r>
                      <a:endParaRPr lang="en-US" dirty="0"/>
                    </a:p>
                  </a:txBody>
                  <a:tcPr marL="87630" marR="87630"/>
                </a:tc>
                <a:extLst>
                  <a:ext uri="{0D108BD9-81ED-4DB2-BD59-A6C34878D82A}">
                    <a16:rowId xmlns:a16="http://schemas.microsoft.com/office/drawing/2014/main" val="2332504207"/>
                  </a:ext>
                </a:extLst>
              </a:tr>
              <a:tr h="370840">
                <a:tc>
                  <a:txBody>
                    <a:bodyPr/>
                    <a:lstStyle/>
                    <a:p>
                      <a:r>
                        <a:rPr lang="en-US" dirty="0" smtClean="0"/>
                        <a:t>No knowledge</a:t>
                      </a:r>
                      <a:r>
                        <a:rPr lang="en-US" baseline="0" dirty="0" smtClean="0"/>
                        <a:t> </a:t>
                      </a:r>
                      <a:endParaRPr lang="en-US" dirty="0"/>
                    </a:p>
                  </a:txBody>
                  <a:tcPr marL="87630" marR="87630"/>
                </a:tc>
                <a:tc>
                  <a:txBody>
                    <a:bodyPr/>
                    <a:lstStyle/>
                    <a:p>
                      <a:r>
                        <a:rPr lang="en-US" dirty="0" smtClean="0"/>
                        <a:t>Use knowledge</a:t>
                      </a:r>
                      <a:r>
                        <a:rPr lang="en-US" baseline="0" dirty="0" smtClean="0"/>
                        <a:t> to steps to solution </a:t>
                      </a:r>
                      <a:endParaRPr lang="en-US" dirty="0"/>
                    </a:p>
                  </a:txBody>
                  <a:tcPr marL="87630" marR="87630"/>
                </a:tc>
                <a:extLst>
                  <a:ext uri="{0D108BD9-81ED-4DB2-BD59-A6C34878D82A}">
                    <a16:rowId xmlns:a16="http://schemas.microsoft.com/office/drawing/2014/main" val="1319731192"/>
                  </a:ext>
                </a:extLst>
              </a:tr>
              <a:tr h="370840">
                <a:tc>
                  <a:txBody>
                    <a:bodyPr/>
                    <a:lstStyle/>
                    <a:p>
                      <a:r>
                        <a:rPr lang="en-US" dirty="0" smtClean="0"/>
                        <a:t>Time consuming </a:t>
                      </a:r>
                      <a:endParaRPr lang="en-US" dirty="0"/>
                    </a:p>
                  </a:txBody>
                  <a:tcPr marL="87630" marR="87630"/>
                </a:tc>
                <a:tc>
                  <a:txBody>
                    <a:bodyPr/>
                    <a:lstStyle/>
                    <a:p>
                      <a:r>
                        <a:rPr lang="en-US" dirty="0" smtClean="0"/>
                        <a:t>Quick solution</a:t>
                      </a:r>
                      <a:r>
                        <a:rPr lang="en-US" baseline="0" dirty="0" smtClean="0"/>
                        <a:t> </a:t>
                      </a:r>
                      <a:r>
                        <a:rPr lang="en-US" dirty="0" smtClean="0"/>
                        <a:t> </a:t>
                      </a:r>
                      <a:endParaRPr lang="en-US" dirty="0"/>
                    </a:p>
                  </a:txBody>
                  <a:tcPr marL="87630" marR="87630"/>
                </a:tc>
                <a:extLst>
                  <a:ext uri="{0D108BD9-81ED-4DB2-BD59-A6C34878D82A}">
                    <a16:rowId xmlns:a16="http://schemas.microsoft.com/office/drawing/2014/main" val="813115496"/>
                  </a:ext>
                </a:extLst>
              </a:tr>
              <a:tr h="370840">
                <a:tc>
                  <a:txBody>
                    <a:bodyPr/>
                    <a:lstStyle/>
                    <a:p>
                      <a:r>
                        <a:rPr lang="en-US" dirty="0" smtClean="0"/>
                        <a:t>More complexity</a:t>
                      </a:r>
                      <a:r>
                        <a:rPr lang="en-US" baseline="0" dirty="0" smtClean="0"/>
                        <a:t> (Time, Space) </a:t>
                      </a:r>
                      <a:endParaRPr lang="en-US" dirty="0"/>
                    </a:p>
                  </a:txBody>
                  <a:tcPr marL="87630" marR="87630"/>
                </a:tc>
                <a:tc>
                  <a:txBody>
                    <a:bodyPr/>
                    <a:lstStyle/>
                    <a:p>
                      <a:r>
                        <a:rPr lang="en-US" dirty="0" smtClean="0"/>
                        <a:t>Less complexity (Time, space)</a:t>
                      </a:r>
                      <a:r>
                        <a:rPr lang="en-US" baseline="0" dirty="0" smtClean="0"/>
                        <a:t> </a:t>
                      </a:r>
                      <a:endParaRPr lang="en-US" dirty="0"/>
                    </a:p>
                  </a:txBody>
                  <a:tcPr marL="87630" marR="87630"/>
                </a:tc>
                <a:extLst>
                  <a:ext uri="{0D108BD9-81ED-4DB2-BD59-A6C34878D82A}">
                    <a16:rowId xmlns:a16="http://schemas.microsoft.com/office/drawing/2014/main" val="3775015739"/>
                  </a:ext>
                </a:extLst>
              </a:tr>
              <a:tr h="370840">
                <a:tc>
                  <a:txBody>
                    <a:bodyPr/>
                    <a:lstStyle/>
                    <a:p>
                      <a:r>
                        <a:rPr lang="en-US" dirty="0" smtClean="0"/>
                        <a:t>DFS,</a:t>
                      </a:r>
                      <a:r>
                        <a:rPr lang="en-US" baseline="0" dirty="0" smtClean="0"/>
                        <a:t> BFS </a:t>
                      </a:r>
                      <a:endParaRPr lang="en-US" dirty="0"/>
                    </a:p>
                  </a:txBody>
                  <a:tcPr marL="87630" marR="87630"/>
                </a:tc>
                <a:tc>
                  <a:txBody>
                    <a:bodyPr/>
                    <a:lstStyle/>
                    <a:p>
                      <a:r>
                        <a:rPr lang="en-US" dirty="0" smtClean="0"/>
                        <a:t>A* , Best</a:t>
                      </a:r>
                      <a:r>
                        <a:rPr lang="en-US" baseline="0" dirty="0" smtClean="0"/>
                        <a:t> first search </a:t>
                      </a:r>
                      <a:endParaRPr lang="en-US" dirty="0"/>
                    </a:p>
                  </a:txBody>
                  <a:tcPr marL="87630" marR="87630"/>
                </a:tc>
                <a:extLst>
                  <a:ext uri="{0D108BD9-81ED-4DB2-BD59-A6C34878D82A}">
                    <a16:rowId xmlns:a16="http://schemas.microsoft.com/office/drawing/2014/main" val="2612086274"/>
                  </a:ext>
                </a:extLst>
              </a:tr>
            </a:tbl>
          </a:graphicData>
        </a:graphic>
      </p:graphicFrame>
    </p:spTree>
    <p:extLst>
      <p:ext uri="{BB962C8B-B14F-4D97-AF65-F5344CB8AC3E}">
        <p14:creationId xmlns:p14="http://schemas.microsoft.com/office/powerpoint/2010/main" val="26696885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a Path</a:t>
            </a:r>
          </a:p>
        </p:txBody>
      </p:sp>
      <p:sp>
        <p:nvSpPr>
          <p:cNvPr id="3" name="Content Placeholder 2"/>
          <p:cNvSpPr>
            <a:spLocks noGrp="1"/>
          </p:cNvSpPr>
          <p:nvPr>
            <p:ph idx="1"/>
          </p:nvPr>
        </p:nvSpPr>
        <p:spPr/>
        <p:txBody>
          <a:bodyPr/>
          <a:lstStyle/>
          <a:p>
            <a:r>
              <a:rPr lang="en-US" dirty="0"/>
              <a:t>Shortest Path</a:t>
            </a:r>
          </a:p>
          <a:p>
            <a:endParaRPr lang="en-US" dirty="0"/>
          </a:p>
          <a:p>
            <a:r>
              <a:rPr lang="en-US" dirty="0"/>
              <a:t>Blind Search</a:t>
            </a:r>
          </a:p>
          <a:p>
            <a:pPr lvl="1"/>
            <a:r>
              <a:rPr lang="en-US" dirty="0"/>
              <a:t>BFS</a:t>
            </a:r>
          </a:p>
          <a:p>
            <a:pPr lvl="1"/>
            <a:r>
              <a:rPr lang="en-US" dirty="0"/>
              <a:t>DFS</a:t>
            </a:r>
          </a:p>
          <a:p>
            <a:pPr>
              <a:buNone/>
            </a:pPr>
            <a:endParaRPr lang="en-US" dirty="0"/>
          </a:p>
        </p:txBody>
      </p:sp>
      <p:pic>
        <p:nvPicPr>
          <p:cNvPr id="4" name="Picture 2"/>
          <p:cNvPicPr>
            <a:picLocks noChangeAspect="1" noChangeArrowheads="1"/>
          </p:cNvPicPr>
          <p:nvPr/>
        </p:nvPicPr>
        <p:blipFill>
          <a:blip r:embed="rId2"/>
          <a:srcRect/>
          <a:stretch>
            <a:fillRect/>
          </a:stretch>
        </p:blipFill>
        <p:spPr bwMode="auto">
          <a:xfrm>
            <a:off x="3581400" y="2057400"/>
            <a:ext cx="4600575" cy="2219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Tree</a:t>
            </a:r>
          </a:p>
        </p:txBody>
      </p:sp>
      <p:sp>
        <p:nvSpPr>
          <p:cNvPr id="3" name="Content Placeholder 2"/>
          <p:cNvSpPr>
            <a:spLocks noGrp="1"/>
          </p:cNvSpPr>
          <p:nvPr>
            <p:ph idx="1"/>
          </p:nvPr>
        </p:nvSpPr>
        <p:spPr/>
        <p:txBody>
          <a:bodyPr/>
          <a:lstStyle/>
          <a:p>
            <a:r>
              <a:rPr lang="en-US" dirty="0"/>
              <a:t>One may list all possible paths</a:t>
            </a:r>
          </a:p>
          <a:p>
            <a:r>
              <a:rPr lang="en-US" dirty="0"/>
              <a:t> Eliminating cycles from the paths</a:t>
            </a:r>
          </a:p>
          <a:p>
            <a:r>
              <a:rPr lang="en-US" dirty="0"/>
              <a:t>Get the complete search tree from a state space graph</a:t>
            </a:r>
          </a:p>
        </p:txBody>
      </p:sp>
      <p:pic>
        <p:nvPicPr>
          <p:cNvPr id="4" name="Picture 2"/>
          <p:cNvPicPr>
            <a:picLocks noChangeAspect="1" noChangeArrowheads="1"/>
          </p:cNvPicPr>
          <p:nvPr/>
        </p:nvPicPr>
        <p:blipFill>
          <a:blip r:embed="rId2"/>
          <a:srcRect/>
          <a:stretch>
            <a:fillRect/>
          </a:stretch>
        </p:blipFill>
        <p:spPr bwMode="auto">
          <a:xfrm>
            <a:off x="381001" y="4114800"/>
            <a:ext cx="4191000" cy="2021745"/>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4724400" y="3581400"/>
            <a:ext cx="41148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Search Tree-Terminology </a:t>
            </a:r>
          </a:p>
        </p:txBody>
      </p:sp>
      <p:sp>
        <p:nvSpPr>
          <p:cNvPr id="3" name="Content Placeholder 2"/>
          <p:cNvSpPr>
            <a:spLocks noGrp="1"/>
          </p:cNvSpPr>
          <p:nvPr>
            <p:ph idx="1"/>
          </p:nvPr>
        </p:nvSpPr>
        <p:spPr/>
        <p:txBody>
          <a:bodyPr>
            <a:normAutofit/>
          </a:bodyPr>
          <a:lstStyle/>
          <a:p>
            <a:r>
              <a:rPr lang="en-US" dirty="0"/>
              <a:t> Root Node: </a:t>
            </a:r>
          </a:p>
          <a:p>
            <a:pPr lvl="1"/>
            <a:r>
              <a:rPr lang="en-US" dirty="0"/>
              <a:t>The node from which the search starts.</a:t>
            </a:r>
          </a:p>
          <a:p>
            <a:r>
              <a:rPr lang="en-US" dirty="0"/>
              <a:t>Leaf Node: </a:t>
            </a:r>
          </a:p>
          <a:p>
            <a:pPr lvl="1"/>
            <a:r>
              <a:rPr lang="en-US" dirty="0"/>
              <a:t>A node in the search tree having no children.</a:t>
            </a:r>
          </a:p>
          <a:p>
            <a:r>
              <a:rPr lang="en-US" dirty="0"/>
              <a:t>Ancestor/Descendant:</a:t>
            </a:r>
          </a:p>
        </p:txBody>
      </p:sp>
      <p:pic>
        <p:nvPicPr>
          <p:cNvPr id="4" name="Picture 2"/>
          <p:cNvPicPr>
            <a:picLocks noChangeAspect="1" noChangeArrowheads="1"/>
          </p:cNvPicPr>
          <p:nvPr/>
        </p:nvPicPr>
        <p:blipFill>
          <a:blip r:embed="rId2"/>
          <a:srcRect/>
          <a:stretch>
            <a:fillRect/>
          </a:stretch>
        </p:blipFill>
        <p:spPr bwMode="auto">
          <a:xfrm>
            <a:off x="4800600" y="3810000"/>
            <a:ext cx="41148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Tree-Terminology</a:t>
            </a:r>
          </a:p>
        </p:txBody>
      </p:sp>
      <p:sp>
        <p:nvSpPr>
          <p:cNvPr id="3" name="Content Placeholder 2"/>
          <p:cNvSpPr>
            <a:spLocks noGrp="1"/>
          </p:cNvSpPr>
          <p:nvPr>
            <p:ph idx="1"/>
          </p:nvPr>
        </p:nvSpPr>
        <p:spPr/>
        <p:txBody>
          <a:bodyPr/>
          <a:lstStyle/>
          <a:p>
            <a:r>
              <a:rPr lang="en-US" dirty="0"/>
              <a:t> Branching factor: </a:t>
            </a:r>
          </a:p>
          <a:p>
            <a:pPr lvl="1" algn="just"/>
            <a:r>
              <a:rPr lang="en-US" dirty="0"/>
              <a:t>The maximum number of children of a non-leaf node in the search tree</a:t>
            </a:r>
          </a:p>
          <a:p>
            <a:r>
              <a:rPr lang="en-US" dirty="0"/>
              <a:t> Path: </a:t>
            </a:r>
          </a:p>
          <a:p>
            <a:pPr lvl="1" algn="just"/>
            <a:r>
              <a:rPr lang="en-US" dirty="0"/>
              <a:t>A path in the search tree is a complete path if it begins with the start node and ends with a goal node. Otherwise it is a partial path.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Tree</a:t>
            </a:r>
          </a:p>
        </p:txBody>
      </p:sp>
      <p:pic>
        <p:nvPicPr>
          <p:cNvPr id="1026" name="Picture 2"/>
          <p:cNvPicPr>
            <a:picLocks noGrp="1" noChangeAspect="1" noChangeArrowheads="1"/>
          </p:cNvPicPr>
          <p:nvPr>
            <p:ph idx="1"/>
          </p:nvPr>
        </p:nvPicPr>
        <p:blipFill>
          <a:blip r:embed="rId2"/>
          <a:srcRect/>
          <a:stretch>
            <a:fillRect/>
          </a:stretch>
        </p:blipFill>
        <p:spPr bwMode="auto">
          <a:xfrm>
            <a:off x="1752600" y="1676400"/>
            <a:ext cx="5638800" cy="4191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Search strategies</a:t>
            </a:r>
          </a:p>
        </p:txBody>
      </p:sp>
      <p:sp>
        <p:nvSpPr>
          <p:cNvPr id="3" name="Content Placeholder 2"/>
          <p:cNvSpPr>
            <a:spLocks noGrp="1"/>
          </p:cNvSpPr>
          <p:nvPr>
            <p:ph idx="1"/>
          </p:nvPr>
        </p:nvSpPr>
        <p:spPr/>
        <p:txBody>
          <a:bodyPr>
            <a:normAutofit/>
          </a:bodyPr>
          <a:lstStyle/>
          <a:p>
            <a:r>
              <a:rPr lang="en-US" dirty="0"/>
              <a:t>Completeness: </a:t>
            </a:r>
          </a:p>
          <a:p>
            <a:pPr lvl="1"/>
            <a:r>
              <a:rPr lang="en-US" dirty="0"/>
              <a:t>Is the strategy guaranteed to find a solution if one exists?  </a:t>
            </a:r>
          </a:p>
          <a:p>
            <a:r>
              <a:rPr lang="en-US" dirty="0"/>
              <a:t> Optimality: </a:t>
            </a:r>
          </a:p>
          <a:p>
            <a:pPr lvl="1"/>
            <a:r>
              <a:rPr lang="en-US" dirty="0"/>
              <a:t>Does the solution have low cost or the minimal cost?  </a:t>
            </a:r>
          </a:p>
          <a:p>
            <a:r>
              <a:rPr lang="en-US" dirty="0"/>
              <a:t>What is the search cost associated with the time and memory required to find a solution?</a:t>
            </a:r>
          </a:p>
          <a:p>
            <a:pPr lvl="1"/>
            <a:r>
              <a:rPr lang="en-US" dirty="0"/>
              <a:t>Time complexity: Time taken (number of nodes expanded)  (worst or average case) to find a solution. </a:t>
            </a:r>
          </a:p>
          <a:p>
            <a:pPr lvl="1"/>
            <a:r>
              <a:rPr lang="en-US" dirty="0"/>
              <a:t>Space complexity: Space used by the algorithm measured in terms of the maximum size of fringe.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 First Search</a:t>
            </a:r>
          </a:p>
        </p:txBody>
      </p:sp>
      <p:pic>
        <p:nvPicPr>
          <p:cNvPr id="3074" name="Picture 2"/>
          <p:cNvPicPr>
            <a:picLocks noGrp="1" noChangeAspect="1" noChangeArrowheads="1"/>
          </p:cNvPicPr>
          <p:nvPr>
            <p:ph idx="1"/>
          </p:nvPr>
        </p:nvPicPr>
        <p:blipFill>
          <a:blip r:embed="rId2"/>
          <a:srcRect/>
          <a:stretch>
            <a:fillRect/>
          </a:stretch>
        </p:blipFill>
        <p:spPr bwMode="auto">
          <a:xfrm>
            <a:off x="990600" y="1524000"/>
            <a:ext cx="6858000" cy="3962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 first search</a:t>
            </a:r>
          </a:p>
        </p:txBody>
      </p:sp>
      <p:sp>
        <p:nvSpPr>
          <p:cNvPr id="3" name="Content Placeholder 2"/>
          <p:cNvSpPr>
            <a:spLocks noGrp="1"/>
          </p:cNvSpPr>
          <p:nvPr>
            <p:ph idx="1"/>
          </p:nvPr>
        </p:nvSpPr>
        <p:spPr/>
        <p:txBody>
          <a:bodyPr/>
          <a:lstStyle/>
          <a:p>
            <a:r>
              <a:rPr lang="en-US" dirty="0"/>
              <a:t>Breadth first search the newly generated nodes are put at the back of fringe or the OPEN list.</a:t>
            </a:r>
          </a:p>
          <a:p>
            <a:r>
              <a:rPr lang="en-US" dirty="0"/>
              <a:t>This implies that the nodes will be expanded in a FIFO (First In First Out) order.</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BFS illustration</a:t>
            </a:r>
          </a:p>
        </p:txBody>
      </p:sp>
      <p:pic>
        <p:nvPicPr>
          <p:cNvPr id="1026" name="Picture 2"/>
          <p:cNvPicPr>
            <a:picLocks noGrp="1" noChangeAspect="1" noChangeArrowheads="1"/>
          </p:cNvPicPr>
          <p:nvPr>
            <p:ph idx="1"/>
          </p:nvPr>
        </p:nvPicPr>
        <p:blipFill>
          <a:blip r:embed="rId2"/>
          <a:srcRect/>
          <a:stretch>
            <a:fillRect/>
          </a:stretch>
        </p:blipFill>
        <p:spPr bwMode="auto">
          <a:xfrm>
            <a:off x="457200" y="1447800"/>
            <a:ext cx="8038703" cy="3139281"/>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066800" y="4495800"/>
            <a:ext cx="4648200" cy="76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066800" y="1600200"/>
            <a:ext cx="6934200" cy="2819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447800" y="4648200"/>
            <a:ext cx="3962400" cy="53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295400" y="1905001"/>
            <a:ext cx="6553200" cy="5334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2514600" y="2362200"/>
            <a:ext cx="3581400" cy="2333625"/>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1524000" y="4876800"/>
            <a:ext cx="4191000" cy="53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1219200" y="1676400"/>
            <a:ext cx="6553200" cy="28194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1600200" y="4953000"/>
            <a:ext cx="4343400" cy="571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838200" y="1828800"/>
            <a:ext cx="7162800" cy="6858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2362200" y="2514600"/>
            <a:ext cx="3733800" cy="22098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a:srcRect/>
          <a:stretch>
            <a:fillRect/>
          </a:stretch>
        </p:blipFill>
        <p:spPr bwMode="auto">
          <a:xfrm>
            <a:off x="1143000" y="4876800"/>
            <a:ext cx="4724400" cy="428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914400" y="1905000"/>
            <a:ext cx="66294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1371600" y="1981200"/>
            <a:ext cx="6172200" cy="2944019"/>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1371600" y="4953000"/>
            <a:ext cx="4114800" cy="590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838200" y="1676400"/>
            <a:ext cx="7086600" cy="114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Breadth-First Search</a:t>
            </a:r>
          </a:p>
        </p:txBody>
      </p:sp>
      <p:sp>
        <p:nvSpPr>
          <p:cNvPr id="3" name="Content Placeholder 2"/>
          <p:cNvSpPr>
            <a:spLocks noGrp="1"/>
          </p:cNvSpPr>
          <p:nvPr>
            <p:ph idx="1"/>
          </p:nvPr>
        </p:nvSpPr>
        <p:spPr/>
        <p:txBody>
          <a:bodyPr>
            <a:normAutofit/>
          </a:bodyPr>
          <a:lstStyle/>
          <a:p>
            <a:r>
              <a:rPr lang="en-US" dirty="0" smtClean="0"/>
              <a:t>Complete (always find the solution if one exists </a:t>
            </a:r>
            <a:endParaRPr lang="en-US" dirty="0"/>
          </a:p>
          <a:p>
            <a:pPr algn="just"/>
            <a:r>
              <a:rPr lang="en-US" dirty="0"/>
              <a:t>The algorithm is optimal (i.e., admissible) if all operators have the same cost. Otherwise, breadth first search finds a solution with the shortest path length.</a:t>
            </a:r>
          </a:p>
          <a:p>
            <a:pPr algn="just"/>
            <a:r>
              <a:rPr lang="en-US" dirty="0"/>
              <a:t>The algorithm has exponential time and space complexity.  Suppose the search tree can be modeled as shown in fig. Then the time and space complexity of the algorithm is O(</a:t>
            </a:r>
            <a:r>
              <a:rPr lang="en-US" dirty="0" err="1"/>
              <a:t>b</a:t>
            </a:r>
            <a:r>
              <a:rPr lang="en-US" baseline="30000" dirty="0" err="1"/>
              <a:t>d</a:t>
            </a:r>
            <a:r>
              <a:rPr lang="en-US" dirty="0"/>
              <a:t>) where d is the depth of the solution and b is the branching factor (i.e., number of children) at each node.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&amp; Disadvantages</a:t>
            </a:r>
          </a:p>
        </p:txBody>
      </p:sp>
      <p:sp>
        <p:nvSpPr>
          <p:cNvPr id="3" name="Content Placeholder 2"/>
          <p:cNvSpPr>
            <a:spLocks noGrp="1"/>
          </p:cNvSpPr>
          <p:nvPr>
            <p:ph idx="1"/>
          </p:nvPr>
        </p:nvSpPr>
        <p:spPr/>
        <p:txBody>
          <a:bodyPr/>
          <a:lstStyle/>
          <a:p>
            <a:r>
              <a:rPr lang="en-US" dirty="0"/>
              <a:t>Advantages of Breadth First Search:</a:t>
            </a:r>
          </a:p>
          <a:p>
            <a:pPr lvl="1"/>
            <a:r>
              <a:rPr lang="en-US" dirty="0"/>
              <a:t> Finds the path of minimal length to the goal</a:t>
            </a:r>
            <a:r>
              <a:rPr lang="en-US" dirty="0" smtClean="0"/>
              <a:t>.</a:t>
            </a:r>
          </a:p>
          <a:p>
            <a:pPr lvl="1"/>
            <a:r>
              <a:rPr lang="en-US" dirty="0" smtClean="0"/>
              <a:t>BFS is fast for small problems, but become slow and memory heavy for deep and large problems. </a:t>
            </a:r>
            <a:endParaRPr lang="en-US" dirty="0"/>
          </a:p>
          <a:p>
            <a:r>
              <a:rPr lang="en-US" dirty="0"/>
              <a:t>Disadvantages of Breadth First Search:</a:t>
            </a:r>
          </a:p>
          <a:p>
            <a:pPr lvl="1"/>
            <a:r>
              <a:rPr lang="en-US" dirty="0"/>
              <a:t> exponential space required for the storage of a tree</a:t>
            </a:r>
          </a:p>
          <a:p>
            <a:pPr lvl="1"/>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first Search</a:t>
            </a:r>
          </a:p>
        </p:txBody>
      </p:sp>
      <p:sp>
        <p:nvSpPr>
          <p:cNvPr id="3" name="Content Placeholder 2"/>
          <p:cNvSpPr>
            <a:spLocks noGrp="1"/>
          </p:cNvSpPr>
          <p:nvPr>
            <p:ph idx="1"/>
          </p:nvPr>
        </p:nvSpPr>
        <p:spPr/>
        <p:txBody>
          <a:bodyPr>
            <a:normAutofit/>
          </a:bodyPr>
          <a:lstStyle/>
          <a:p>
            <a:pPr>
              <a:buNone/>
            </a:pPr>
            <a:r>
              <a:rPr lang="en-US" dirty="0"/>
              <a:t>Let fringe be a list containing the initial state </a:t>
            </a:r>
          </a:p>
          <a:p>
            <a:pPr>
              <a:buNone/>
            </a:pPr>
            <a:r>
              <a:rPr lang="en-US" dirty="0"/>
              <a:t> Loop     </a:t>
            </a:r>
          </a:p>
          <a:p>
            <a:pPr>
              <a:buNone/>
            </a:pPr>
            <a:r>
              <a:rPr lang="en-US" dirty="0"/>
              <a:t>  if fringe is empty return failure       </a:t>
            </a:r>
          </a:p>
          <a:p>
            <a:pPr>
              <a:buNone/>
            </a:pPr>
            <a:r>
              <a:rPr lang="en-US" dirty="0"/>
              <a:t>    Node Å remove-first (fringe) </a:t>
            </a:r>
          </a:p>
          <a:p>
            <a:pPr>
              <a:buNone/>
            </a:pPr>
            <a:r>
              <a:rPr lang="en-US" dirty="0"/>
              <a:t>   if Node is a goal       </a:t>
            </a:r>
          </a:p>
          <a:p>
            <a:pPr>
              <a:buNone/>
            </a:pPr>
            <a:r>
              <a:rPr lang="en-US" dirty="0"/>
              <a:t>           then return the path from initial state to Node           else generate all successors of Node, and                          (merge the newly generated nodes into fringe)                 </a:t>
            </a:r>
          </a:p>
          <a:p>
            <a:pPr>
              <a:buNone/>
            </a:pPr>
            <a:r>
              <a:rPr lang="en-US" dirty="0"/>
              <a:t>add generated nodes to the front of fringe </a:t>
            </a:r>
          </a:p>
          <a:p>
            <a:pPr>
              <a:buNone/>
            </a:pPr>
            <a:r>
              <a:rPr lang="en-US" dirty="0"/>
              <a:t>End Loop </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DFS illustration</a:t>
            </a:r>
          </a:p>
        </p:txBody>
      </p:sp>
      <p:pic>
        <p:nvPicPr>
          <p:cNvPr id="10242" name="Picture 2"/>
          <p:cNvPicPr>
            <a:picLocks noGrp="1" noChangeAspect="1" noChangeArrowheads="1"/>
          </p:cNvPicPr>
          <p:nvPr>
            <p:ph idx="1"/>
          </p:nvPr>
        </p:nvPicPr>
        <p:blipFill>
          <a:blip r:embed="rId2"/>
          <a:srcRect/>
          <a:stretch>
            <a:fillRect/>
          </a:stretch>
        </p:blipFill>
        <p:spPr bwMode="auto">
          <a:xfrm>
            <a:off x="685800" y="1600200"/>
            <a:ext cx="6858000" cy="334883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srcRect/>
          <a:stretch>
            <a:fillRect/>
          </a:stretch>
        </p:blipFill>
        <p:spPr bwMode="auto">
          <a:xfrm>
            <a:off x="1447800" y="1752600"/>
            <a:ext cx="6367462" cy="33583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rcRect/>
          <a:stretch>
            <a:fillRect/>
          </a:stretch>
        </p:blipFill>
        <p:spPr bwMode="auto">
          <a:xfrm>
            <a:off x="914400" y="1828800"/>
            <a:ext cx="7010400" cy="3352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a:blip r:embed="rId2"/>
          <a:srcRect/>
          <a:stretch>
            <a:fillRect/>
          </a:stretch>
        </p:blipFill>
        <p:spPr bwMode="auto">
          <a:xfrm>
            <a:off x="990600" y="1669676"/>
            <a:ext cx="6172200" cy="388518"/>
          </a:xfrm>
          <a:prstGeom prst="rect">
            <a:avLst/>
          </a:prstGeom>
          <a:noFill/>
          <a:ln w="9525">
            <a:noFill/>
            <a:miter lim="800000"/>
            <a:headEnd/>
            <a:tailEnd/>
          </a:ln>
          <a:effectLst/>
        </p:spPr>
      </p:pic>
      <p:pic>
        <p:nvPicPr>
          <p:cNvPr id="13315" name="Picture 3"/>
          <p:cNvPicPr>
            <a:picLocks noChangeAspect="1" noChangeArrowheads="1"/>
          </p:cNvPicPr>
          <p:nvPr/>
        </p:nvPicPr>
        <p:blipFill>
          <a:blip r:embed="rId3"/>
          <a:srcRect/>
          <a:stretch>
            <a:fillRect/>
          </a:stretch>
        </p:blipFill>
        <p:spPr bwMode="auto">
          <a:xfrm>
            <a:off x="1447800" y="2133600"/>
            <a:ext cx="5791200"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338" name="Picture 2"/>
          <p:cNvPicPr>
            <a:picLocks noGrp="1" noChangeAspect="1" noChangeArrowheads="1"/>
          </p:cNvPicPr>
          <p:nvPr>
            <p:ph idx="1"/>
          </p:nvPr>
        </p:nvPicPr>
        <p:blipFill>
          <a:blip r:embed="rId2"/>
          <a:srcRect/>
          <a:stretch>
            <a:fillRect/>
          </a:stretch>
        </p:blipFill>
        <p:spPr bwMode="auto">
          <a:xfrm>
            <a:off x="1447800" y="1600200"/>
            <a:ext cx="601980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srcRect/>
          <a:stretch>
            <a:fillRect/>
          </a:stretch>
        </p:blipFill>
        <p:spPr bwMode="auto">
          <a:xfrm>
            <a:off x="762000" y="1600200"/>
            <a:ext cx="6858000" cy="600075"/>
          </a:xfrm>
          <a:prstGeom prst="rect">
            <a:avLst/>
          </a:prstGeom>
          <a:noFill/>
          <a:ln w="9525">
            <a:noFill/>
            <a:miter lim="800000"/>
            <a:headEnd/>
            <a:tailEnd/>
          </a:ln>
          <a:effectLst/>
        </p:spPr>
      </p:pic>
      <p:pic>
        <p:nvPicPr>
          <p:cNvPr id="15363" name="Picture 3"/>
          <p:cNvPicPr>
            <a:picLocks noChangeAspect="1" noChangeArrowheads="1"/>
          </p:cNvPicPr>
          <p:nvPr/>
        </p:nvPicPr>
        <p:blipFill>
          <a:blip r:embed="rId3"/>
          <a:srcRect/>
          <a:stretch>
            <a:fillRect/>
          </a:stretch>
        </p:blipFill>
        <p:spPr bwMode="auto">
          <a:xfrm>
            <a:off x="1676400" y="2224088"/>
            <a:ext cx="5410199" cy="31861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533400" y="0"/>
            <a:ext cx="8229600" cy="1143000"/>
          </a:xfrm>
        </p:spPr>
        <p:txBody>
          <a:bodyPr>
            <a:normAutofit/>
          </a:bodyPr>
          <a:lstStyle/>
          <a:p>
            <a:pPr eaLnBrk="1" fontAlgn="auto" hangingPunct="1">
              <a:spcAft>
                <a:spcPts val="0"/>
              </a:spcAft>
              <a:defRPr/>
            </a:pPr>
            <a:r>
              <a:rPr lang="en-US"/>
              <a:t>What is the Complexity of Depth-First Search?</a:t>
            </a:r>
          </a:p>
        </p:txBody>
      </p:sp>
      <p:sp>
        <p:nvSpPr>
          <p:cNvPr id="63491" name="Rectangle 3"/>
          <p:cNvSpPr>
            <a:spLocks noGrp="1" noChangeArrowheads="1"/>
          </p:cNvSpPr>
          <p:nvPr>
            <p:ph idx="1"/>
          </p:nvPr>
        </p:nvSpPr>
        <p:spPr>
          <a:xfrm>
            <a:off x="609600" y="1143000"/>
            <a:ext cx="3886200" cy="4953000"/>
          </a:xfrm>
        </p:spPr>
        <p:txBody>
          <a:bodyPr>
            <a:normAutofit/>
          </a:bodyPr>
          <a:lstStyle/>
          <a:p>
            <a:pPr marL="274320" indent="-274320" eaLnBrk="1" fontAlgn="auto" hangingPunct="1">
              <a:spcBef>
                <a:spcPts val="580"/>
              </a:spcBef>
              <a:spcAft>
                <a:spcPts val="0"/>
              </a:spcAft>
              <a:buFont typeface="Wingdings 2"/>
              <a:buChar char=""/>
              <a:defRPr/>
            </a:pPr>
            <a:r>
              <a:rPr lang="en-US" dirty="0"/>
              <a:t>Time Complexity (d is deepest path)</a:t>
            </a:r>
          </a:p>
          <a:p>
            <a:pPr marL="548640" lvl="1" eaLnBrk="1" fontAlgn="auto" hangingPunct="1">
              <a:spcBef>
                <a:spcPts val="370"/>
              </a:spcBef>
              <a:spcAft>
                <a:spcPts val="0"/>
              </a:spcAft>
              <a:buFont typeface="Wingdings 2"/>
              <a:buChar char=""/>
              <a:defRPr/>
            </a:pPr>
            <a:r>
              <a:rPr lang="en-US" dirty="0"/>
              <a:t>assume (worst case) that there is 1 goal leaf at the RHS</a:t>
            </a:r>
          </a:p>
          <a:p>
            <a:pPr marL="548640" lvl="1" eaLnBrk="1" fontAlgn="auto" hangingPunct="1">
              <a:spcBef>
                <a:spcPts val="370"/>
              </a:spcBef>
              <a:spcAft>
                <a:spcPts val="0"/>
              </a:spcAft>
              <a:buFont typeface="Wingdings 2"/>
              <a:buChar char=""/>
              <a:defRPr/>
            </a:pPr>
            <a:r>
              <a:rPr lang="en-US" dirty="0"/>
              <a:t>so DFS will expand all nodes</a:t>
            </a:r>
            <a:br>
              <a:rPr lang="en-US" dirty="0"/>
            </a:br>
            <a:r>
              <a:rPr lang="en-US" dirty="0"/>
              <a:t/>
            </a:r>
            <a:br>
              <a:rPr lang="en-US" dirty="0"/>
            </a:br>
            <a:r>
              <a:rPr lang="en-US" dirty="0"/>
              <a:t>	   =1 + b + b</a:t>
            </a:r>
            <a:r>
              <a:rPr lang="en-US" baseline="30000" dirty="0"/>
              <a:t>2</a:t>
            </a:r>
            <a:r>
              <a:rPr lang="en-US" dirty="0"/>
              <a:t>+    ......... + </a:t>
            </a:r>
            <a:r>
              <a:rPr lang="en-US" dirty="0" err="1"/>
              <a:t>b</a:t>
            </a:r>
            <a:r>
              <a:rPr lang="en-US" baseline="30000" dirty="0" err="1"/>
              <a:t>d</a:t>
            </a:r>
            <a:r>
              <a:rPr lang="en-US" dirty="0"/>
              <a:t>	  </a:t>
            </a:r>
            <a:br>
              <a:rPr lang="en-US" dirty="0"/>
            </a:br>
            <a:r>
              <a:rPr lang="en-US" dirty="0"/>
              <a:t>      = </a:t>
            </a:r>
            <a:r>
              <a:rPr lang="en-US" b="1" dirty="0"/>
              <a:t>O (</a:t>
            </a:r>
            <a:r>
              <a:rPr lang="en-US" b="1" dirty="0" err="1"/>
              <a:t>b</a:t>
            </a:r>
            <a:r>
              <a:rPr lang="en-US" b="1" baseline="30000" dirty="0" err="1"/>
              <a:t>d</a:t>
            </a:r>
            <a:r>
              <a:rPr lang="en-US" b="1" dirty="0"/>
              <a:t>) </a:t>
            </a:r>
            <a:r>
              <a:rPr lang="en-US" dirty="0"/>
              <a:t/>
            </a:r>
            <a:br>
              <a:rPr lang="en-US" dirty="0"/>
            </a:br>
            <a:endParaRPr lang="en-US" dirty="0"/>
          </a:p>
          <a:p>
            <a:pPr marL="274320" indent="-274320" eaLnBrk="1" fontAlgn="auto" hangingPunct="1">
              <a:spcBef>
                <a:spcPts val="580"/>
              </a:spcBef>
              <a:spcAft>
                <a:spcPts val="0"/>
              </a:spcAft>
              <a:buFont typeface="Wingdings 2"/>
              <a:buChar char=""/>
              <a:defRPr/>
            </a:pPr>
            <a:r>
              <a:rPr lang="en-US" dirty="0"/>
              <a:t>Space Complexity</a:t>
            </a:r>
          </a:p>
          <a:p>
            <a:pPr marL="548640" lvl="1" eaLnBrk="1" fontAlgn="auto" hangingPunct="1">
              <a:spcBef>
                <a:spcPts val="370"/>
              </a:spcBef>
              <a:spcAft>
                <a:spcPts val="0"/>
              </a:spcAft>
              <a:buFont typeface="Wingdings 2"/>
              <a:buChar char=""/>
              <a:defRPr/>
            </a:pPr>
            <a:r>
              <a:rPr lang="en-US" dirty="0"/>
              <a:t>how many nodes can be in the queue (worst-case)?</a:t>
            </a:r>
          </a:p>
          <a:p>
            <a:pPr marL="548640" lvl="1" eaLnBrk="1" fontAlgn="auto" hangingPunct="1">
              <a:spcBef>
                <a:spcPts val="370"/>
              </a:spcBef>
              <a:spcAft>
                <a:spcPts val="0"/>
              </a:spcAft>
              <a:buFont typeface="Wingdings 2"/>
              <a:buChar char=""/>
              <a:defRPr/>
            </a:pPr>
            <a:r>
              <a:rPr lang="en-US" dirty="0"/>
              <a:t>at depth l &lt; d we have b-1 nodes</a:t>
            </a:r>
          </a:p>
          <a:p>
            <a:pPr marL="548640" lvl="1" eaLnBrk="1" fontAlgn="auto" hangingPunct="1">
              <a:spcBef>
                <a:spcPts val="370"/>
              </a:spcBef>
              <a:spcAft>
                <a:spcPts val="0"/>
              </a:spcAft>
              <a:buFont typeface="Wingdings 2"/>
              <a:buChar char=""/>
              <a:defRPr/>
            </a:pPr>
            <a:r>
              <a:rPr lang="en-US" dirty="0"/>
              <a:t>at depth d we have b nodes</a:t>
            </a:r>
          </a:p>
          <a:p>
            <a:pPr marL="548640" lvl="1" eaLnBrk="1" fontAlgn="auto" hangingPunct="1">
              <a:spcBef>
                <a:spcPts val="370"/>
              </a:spcBef>
              <a:spcAft>
                <a:spcPts val="0"/>
              </a:spcAft>
              <a:buFont typeface="Wingdings 2"/>
              <a:buChar char=""/>
              <a:defRPr/>
            </a:pPr>
            <a:r>
              <a:rPr lang="en-US" dirty="0"/>
              <a:t>total = (d-1)*(b-1) + b = </a:t>
            </a:r>
            <a:r>
              <a:rPr lang="en-US" b="1" dirty="0"/>
              <a:t>O(</a:t>
            </a:r>
            <a:r>
              <a:rPr lang="en-US" b="1" dirty="0" err="1"/>
              <a:t>bd</a:t>
            </a:r>
            <a:r>
              <a:rPr lang="en-US" b="1" dirty="0"/>
              <a:t>)</a:t>
            </a:r>
          </a:p>
        </p:txBody>
      </p:sp>
      <p:sp>
        <p:nvSpPr>
          <p:cNvPr id="116740" name="Oval 4"/>
          <p:cNvSpPr>
            <a:spLocks noChangeArrowheads="1"/>
          </p:cNvSpPr>
          <p:nvPr/>
        </p:nvSpPr>
        <p:spPr bwMode="auto">
          <a:xfrm>
            <a:off x="6864350" y="3740150"/>
            <a:ext cx="139700" cy="139700"/>
          </a:xfrm>
          <a:prstGeom prst="ellipse">
            <a:avLst/>
          </a:prstGeom>
          <a:noFill/>
          <a:ln w="12700">
            <a:solidFill>
              <a:schemeClr val="tx1"/>
            </a:solidFill>
            <a:round/>
            <a:headEnd/>
            <a:tailEnd/>
          </a:ln>
        </p:spPr>
        <p:txBody>
          <a:bodyPr wrap="none" anchor="ctr"/>
          <a:lstStyle/>
          <a:p>
            <a:endParaRPr lang="en-US"/>
          </a:p>
        </p:txBody>
      </p:sp>
      <p:sp>
        <p:nvSpPr>
          <p:cNvPr id="116741" name="Oval 5"/>
          <p:cNvSpPr>
            <a:spLocks noChangeArrowheads="1"/>
          </p:cNvSpPr>
          <p:nvPr/>
        </p:nvSpPr>
        <p:spPr bwMode="auto">
          <a:xfrm>
            <a:off x="6483350" y="4349750"/>
            <a:ext cx="139700" cy="139700"/>
          </a:xfrm>
          <a:prstGeom prst="ellipse">
            <a:avLst/>
          </a:prstGeom>
          <a:noFill/>
          <a:ln w="12700">
            <a:solidFill>
              <a:schemeClr val="tx1"/>
            </a:solidFill>
            <a:round/>
            <a:headEnd/>
            <a:tailEnd/>
          </a:ln>
        </p:spPr>
        <p:txBody>
          <a:bodyPr wrap="none" anchor="ctr"/>
          <a:lstStyle/>
          <a:p>
            <a:endParaRPr lang="en-US"/>
          </a:p>
        </p:txBody>
      </p:sp>
      <p:sp>
        <p:nvSpPr>
          <p:cNvPr id="116742" name="Line 6"/>
          <p:cNvSpPr>
            <a:spLocks noChangeShapeType="1"/>
          </p:cNvSpPr>
          <p:nvPr/>
        </p:nvSpPr>
        <p:spPr bwMode="auto">
          <a:xfrm flipH="1">
            <a:off x="6553200" y="3886200"/>
            <a:ext cx="304800" cy="457200"/>
          </a:xfrm>
          <a:prstGeom prst="line">
            <a:avLst/>
          </a:prstGeom>
          <a:noFill/>
          <a:ln w="12700">
            <a:solidFill>
              <a:schemeClr val="tx1"/>
            </a:solidFill>
            <a:round/>
            <a:headEnd/>
            <a:tailEnd/>
          </a:ln>
        </p:spPr>
        <p:txBody>
          <a:bodyPr/>
          <a:lstStyle/>
          <a:p>
            <a:endParaRPr lang="en-US"/>
          </a:p>
        </p:txBody>
      </p:sp>
      <p:sp>
        <p:nvSpPr>
          <p:cNvPr id="116743" name="Line 7"/>
          <p:cNvSpPr>
            <a:spLocks noChangeShapeType="1"/>
          </p:cNvSpPr>
          <p:nvPr/>
        </p:nvSpPr>
        <p:spPr bwMode="auto">
          <a:xfrm>
            <a:off x="7010400" y="3886200"/>
            <a:ext cx="304800" cy="457200"/>
          </a:xfrm>
          <a:prstGeom prst="line">
            <a:avLst/>
          </a:prstGeom>
          <a:noFill/>
          <a:ln w="12700">
            <a:solidFill>
              <a:schemeClr val="tx1"/>
            </a:solidFill>
            <a:round/>
            <a:headEnd/>
            <a:tailEnd/>
          </a:ln>
        </p:spPr>
        <p:txBody>
          <a:bodyPr/>
          <a:lstStyle/>
          <a:p>
            <a:endParaRPr lang="en-US"/>
          </a:p>
        </p:txBody>
      </p:sp>
      <p:sp>
        <p:nvSpPr>
          <p:cNvPr id="116744" name="Oval 8"/>
          <p:cNvSpPr>
            <a:spLocks noChangeArrowheads="1"/>
          </p:cNvSpPr>
          <p:nvPr/>
        </p:nvSpPr>
        <p:spPr bwMode="auto">
          <a:xfrm>
            <a:off x="7245350" y="43497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45" name="Oval 9"/>
          <p:cNvSpPr>
            <a:spLocks noChangeArrowheads="1"/>
          </p:cNvSpPr>
          <p:nvPr/>
        </p:nvSpPr>
        <p:spPr bwMode="auto">
          <a:xfrm>
            <a:off x="6483350" y="4349750"/>
            <a:ext cx="139700" cy="139700"/>
          </a:xfrm>
          <a:prstGeom prst="ellipse">
            <a:avLst/>
          </a:prstGeom>
          <a:noFill/>
          <a:ln w="12700">
            <a:solidFill>
              <a:schemeClr val="tx1"/>
            </a:solidFill>
            <a:round/>
            <a:headEnd/>
            <a:tailEnd/>
          </a:ln>
        </p:spPr>
        <p:txBody>
          <a:bodyPr wrap="none" anchor="ctr"/>
          <a:lstStyle/>
          <a:p>
            <a:endParaRPr lang="en-US"/>
          </a:p>
        </p:txBody>
      </p:sp>
      <p:sp>
        <p:nvSpPr>
          <p:cNvPr id="116746" name="Oval 10"/>
          <p:cNvSpPr>
            <a:spLocks noChangeArrowheads="1"/>
          </p:cNvSpPr>
          <p:nvPr/>
        </p:nvSpPr>
        <p:spPr bwMode="auto">
          <a:xfrm>
            <a:off x="6864350" y="4959350"/>
            <a:ext cx="139700" cy="139700"/>
          </a:xfrm>
          <a:prstGeom prst="ellipse">
            <a:avLst/>
          </a:prstGeom>
          <a:noFill/>
          <a:ln w="12700">
            <a:solidFill>
              <a:schemeClr val="tx1"/>
            </a:solidFill>
            <a:round/>
            <a:headEnd/>
            <a:tailEnd/>
          </a:ln>
        </p:spPr>
        <p:txBody>
          <a:bodyPr wrap="none" anchor="ctr"/>
          <a:lstStyle/>
          <a:p>
            <a:endParaRPr lang="en-US"/>
          </a:p>
        </p:txBody>
      </p:sp>
      <p:sp>
        <p:nvSpPr>
          <p:cNvPr id="116747" name="Line 11"/>
          <p:cNvSpPr>
            <a:spLocks noChangeShapeType="1"/>
          </p:cNvSpPr>
          <p:nvPr/>
        </p:nvSpPr>
        <p:spPr bwMode="auto">
          <a:xfrm flipH="1">
            <a:off x="6172200" y="4495800"/>
            <a:ext cx="304800" cy="457200"/>
          </a:xfrm>
          <a:prstGeom prst="line">
            <a:avLst/>
          </a:prstGeom>
          <a:noFill/>
          <a:ln w="12700">
            <a:solidFill>
              <a:schemeClr val="tx1"/>
            </a:solidFill>
            <a:round/>
            <a:headEnd/>
            <a:tailEnd/>
          </a:ln>
        </p:spPr>
        <p:txBody>
          <a:bodyPr/>
          <a:lstStyle/>
          <a:p>
            <a:endParaRPr lang="en-US"/>
          </a:p>
        </p:txBody>
      </p:sp>
      <p:sp>
        <p:nvSpPr>
          <p:cNvPr id="116748" name="Line 12"/>
          <p:cNvSpPr>
            <a:spLocks noChangeShapeType="1"/>
          </p:cNvSpPr>
          <p:nvPr/>
        </p:nvSpPr>
        <p:spPr bwMode="auto">
          <a:xfrm>
            <a:off x="6629400" y="4495800"/>
            <a:ext cx="304800" cy="457200"/>
          </a:xfrm>
          <a:prstGeom prst="line">
            <a:avLst/>
          </a:prstGeom>
          <a:noFill/>
          <a:ln w="12700">
            <a:solidFill>
              <a:schemeClr val="tx1"/>
            </a:solidFill>
            <a:round/>
            <a:headEnd/>
            <a:tailEnd/>
          </a:ln>
        </p:spPr>
        <p:txBody>
          <a:bodyPr/>
          <a:lstStyle/>
          <a:p>
            <a:endParaRPr lang="en-US"/>
          </a:p>
        </p:txBody>
      </p:sp>
      <p:sp>
        <p:nvSpPr>
          <p:cNvPr id="116749" name="Oval 13"/>
          <p:cNvSpPr>
            <a:spLocks noChangeArrowheads="1"/>
          </p:cNvSpPr>
          <p:nvPr/>
        </p:nvSpPr>
        <p:spPr bwMode="auto">
          <a:xfrm>
            <a:off x="6864350" y="4959350"/>
            <a:ext cx="139700" cy="139700"/>
          </a:xfrm>
          <a:prstGeom prst="ellipse">
            <a:avLst/>
          </a:prstGeom>
          <a:noFill/>
          <a:ln w="12700">
            <a:solidFill>
              <a:schemeClr val="tx1"/>
            </a:solidFill>
            <a:round/>
            <a:headEnd/>
            <a:tailEnd/>
          </a:ln>
        </p:spPr>
        <p:txBody>
          <a:bodyPr wrap="none" anchor="ctr"/>
          <a:lstStyle/>
          <a:p>
            <a:endParaRPr lang="en-US"/>
          </a:p>
        </p:txBody>
      </p:sp>
      <p:sp>
        <p:nvSpPr>
          <p:cNvPr id="116750" name="Oval 14"/>
          <p:cNvSpPr>
            <a:spLocks noChangeArrowheads="1"/>
          </p:cNvSpPr>
          <p:nvPr/>
        </p:nvSpPr>
        <p:spPr bwMode="auto">
          <a:xfrm>
            <a:off x="6864350" y="49593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51" name="Oval 15"/>
          <p:cNvSpPr>
            <a:spLocks noChangeArrowheads="1"/>
          </p:cNvSpPr>
          <p:nvPr/>
        </p:nvSpPr>
        <p:spPr bwMode="auto">
          <a:xfrm>
            <a:off x="5721350" y="5568950"/>
            <a:ext cx="139700" cy="139700"/>
          </a:xfrm>
          <a:prstGeom prst="ellipse">
            <a:avLst/>
          </a:prstGeom>
          <a:noFill/>
          <a:ln w="12700">
            <a:solidFill>
              <a:schemeClr val="tx1"/>
            </a:solidFill>
            <a:round/>
            <a:headEnd/>
            <a:tailEnd/>
          </a:ln>
        </p:spPr>
        <p:txBody>
          <a:bodyPr wrap="none" anchor="ctr"/>
          <a:lstStyle/>
          <a:p>
            <a:endParaRPr lang="en-US"/>
          </a:p>
        </p:txBody>
      </p:sp>
      <p:sp>
        <p:nvSpPr>
          <p:cNvPr id="116752" name="Line 16"/>
          <p:cNvSpPr>
            <a:spLocks noChangeShapeType="1"/>
          </p:cNvSpPr>
          <p:nvPr/>
        </p:nvSpPr>
        <p:spPr bwMode="auto">
          <a:xfrm flipH="1">
            <a:off x="5791200" y="5105400"/>
            <a:ext cx="304800" cy="457200"/>
          </a:xfrm>
          <a:prstGeom prst="line">
            <a:avLst/>
          </a:prstGeom>
          <a:noFill/>
          <a:ln w="12700">
            <a:solidFill>
              <a:schemeClr val="tx1"/>
            </a:solidFill>
            <a:round/>
            <a:headEnd/>
            <a:tailEnd/>
          </a:ln>
        </p:spPr>
        <p:txBody>
          <a:bodyPr/>
          <a:lstStyle/>
          <a:p>
            <a:endParaRPr lang="en-US"/>
          </a:p>
        </p:txBody>
      </p:sp>
      <p:sp>
        <p:nvSpPr>
          <p:cNvPr id="116753" name="Oval 17"/>
          <p:cNvSpPr>
            <a:spLocks noChangeArrowheads="1"/>
          </p:cNvSpPr>
          <p:nvPr/>
        </p:nvSpPr>
        <p:spPr bwMode="auto">
          <a:xfrm>
            <a:off x="5721350" y="5568950"/>
            <a:ext cx="139700" cy="139700"/>
          </a:xfrm>
          <a:prstGeom prst="ellipse">
            <a:avLst/>
          </a:prstGeom>
          <a:noFill/>
          <a:ln w="12700">
            <a:solidFill>
              <a:schemeClr val="tx1"/>
            </a:solidFill>
            <a:round/>
            <a:headEnd/>
            <a:tailEnd/>
          </a:ln>
        </p:spPr>
        <p:txBody>
          <a:bodyPr wrap="none" anchor="ctr"/>
          <a:lstStyle/>
          <a:p>
            <a:endParaRPr lang="en-US"/>
          </a:p>
        </p:txBody>
      </p:sp>
      <p:sp>
        <p:nvSpPr>
          <p:cNvPr id="116754" name="Oval 18"/>
          <p:cNvSpPr>
            <a:spLocks noChangeArrowheads="1"/>
          </p:cNvSpPr>
          <p:nvPr/>
        </p:nvSpPr>
        <p:spPr bwMode="auto">
          <a:xfrm>
            <a:off x="5340350" y="61785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55" name="Line 19"/>
          <p:cNvSpPr>
            <a:spLocks noChangeShapeType="1"/>
          </p:cNvSpPr>
          <p:nvPr/>
        </p:nvSpPr>
        <p:spPr bwMode="auto">
          <a:xfrm flipH="1">
            <a:off x="5410200" y="5715000"/>
            <a:ext cx="304800" cy="457200"/>
          </a:xfrm>
          <a:prstGeom prst="line">
            <a:avLst/>
          </a:prstGeom>
          <a:noFill/>
          <a:ln w="12700">
            <a:solidFill>
              <a:schemeClr val="tx1"/>
            </a:solidFill>
            <a:round/>
            <a:headEnd/>
            <a:tailEnd/>
          </a:ln>
        </p:spPr>
        <p:txBody>
          <a:bodyPr/>
          <a:lstStyle/>
          <a:p>
            <a:endParaRPr lang="en-US"/>
          </a:p>
        </p:txBody>
      </p:sp>
      <p:sp>
        <p:nvSpPr>
          <p:cNvPr id="116756" name="Line 20"/>
          <p:cNvSpPr>
            <a:spLocks noChangeShapeType="1"/>
          </p:cNvSpPr>
          <p:nvPr/>
        </p:nvSpPr>
        <p:spPr bwMode="auto">
          <a:xfrm>
            <a:off x="5867400" y="5715000"/>
            <a:ext cx="304800" cy="457200"/>
          </a:xfrm>
          <a:prstGeom prst="line">
            <a:avLst/>
          </a:prstGeom>
          <a:noFill/>
          <a:ln w="12700">
            <a:solidFill>
              <a:schemeClr val="tx1"/>
            </a:solidFill>
            <a:round/>
            <a:headEnd/>
            <a:tailEnd/>
          </a:ln>
        </p:spPr>
        <p:txBody>
          <a:bodyPr/>
          <a:lstStyle/>
          <a:p>
            <a:endParaRPr lang="en-US"/>
          </a:p>
        </p:txBody>
      </p:sp>
      <p:sp>
        <p:nvSpPr>
          <p:cNvPr id="116757" name="Oval 21"/>
          <p:cNvSpPr>
            <a:spLocks noChangeArrowheads="1"/>
          </p:cNvSpPr>
          <p:nvPr/>
        </p:nvSpPr>
        <p:spPr bwMode="auto">
          <a:xfrm>
            <a:off x="6102350" y="61785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58" name="Oval 22"/>
          <p:cNvSpPr>
            <a:spLocks noChangeArrowheads="1"/>
          </p:cNvSpPr>
          <p:nvPr/>
        </p:nvSpPr>
        <p:spPr bwMode="auto">
          <a:xfrm>
            <a:off x="6102350" y="4959350"/>
            <a:ext cx="139700" cy="139700"/>
          </a:xfrm>
          <a:prstGeom prst="ellipse">
            <a:avLst/>
          </a:prstGeom>
          <a:noFill/>
          <a:ln w="12700">
            <a:solidFill>
              <a:schemeClr val="tx1"/>
            </a:solidFill>
            <a:round/>
            <a:headEnd/>
            <a:tailEnd/>
          </a:ln>
        </p:spPr>
        <p:txBody>
          <a:bodyPr wrap="none" anchor="ctr"/>
          <a:lstStyle/>
          <a:p>
            <a:endParaRPr lang="en-US"/>
          </a:p>
        </p:txBody>
      </p:sp>
      <p:sp>
        <p:nvSpPr>
          <p:cNvPr id="116759" name="Oval 23"/>
          <p:cNvSpPr>
            <a:spLocks noChangeArrowheads="1"/>
          </p:cNvSpPr>
          <p:nvPr/>
        </p:nvSpPr>
        <p:spPr bwMode="auto">
          <a:xfrm>
            <a:off x="6788150" y="15303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60" name="Oval 24"/>
          <p:cNvSpPr>
            <a:spLocks noChangeArrowheads="1"/>
          </p:cNvSpPr>
          <p:nvPr/>
        </p:nvSpPr>
        <p:spPr bwMode="auto">
          <a:xfrm>
            <a:off x="6407150" y="2139950"/>
            <a:ext cx="139700" cy="139700"/>
          </a:xfrm>
          <a:prstGeom prst="ellipse">
            <a:avLst/>
          </a:prstGeom>
          <a:noFill/>
          <a:ln w="12700">
            <a:solidFill>
              <a:schemeClr val="tx1"/>
            </a:solidFill>
            <a:round/>
            <a:headEnd/>
            <a:tailEnd/>
          </a:ln>
        </p:spPr>
        <p:txBody>
          <a:bodyPr wrap="none" anchor="ctr"/>
          <a:lstStyle/>
          <a:p>
            <a:endParaRPr lang="en-US"/>
          </a:p>
        </p:txBody>
      </p:sp>
      <p:sp>
        <p:nvSpPr>
          <p:cNvPr id="116761" name="Line 25"/>
          <p:cNvSpPr>
            <a:spLocks noChangeShapeType="1"/>
          </p:cNvSpPr>
          <p:nvPr/>
        </p:nvSpPr>
        <p:spPr bwMode="auto">
          <a:xfrm flipH="1">
            <a:off x="6477000" y="1676400"/>
            <a:ext cx="304800" cy="457200"/>
          </a:xfrm>
          <a:prstGeom prst="line">
            <a:avLst/>
          </a:prstGeom>
          <a:noFill/>
          <a:ln w="12700">
            <a:solidFill>
              <a:schemeClr val="tx1"/>
            </a:solidFill>
            <a:round/>
            <a:headEnd/>
            <a:tailEnd/>
          </a:ln>
        </p:spPr>
        <p:txBody>
          <a:bodyPr/>
          <a:lstStyle/>
          <a:p>
            <a:endParaRPr lang="en-US"/>
          </a:p>
        </p:txBody>
      </p:sp>
      <p:sp>
        <p:nvSpPr>
          <p:cNvPr id="116762" name="Line 26"/>
          <p:cNvSpPr>
            <a:spLocks noChangeShapeType="1"/>
          </p:cNvSpPr>
          <p:nvPr/>
        </p:nvSpPr>
        <p:spPr bwMode="auto">
          <a:xfrm>
            <a:off x="6934200" y="1676400"/>
            <a:ext cx="304800" cy="457200"/>
          </a:xfrm>
          <a:prstGeom prst="line">
            <a:avLst/>
          </a:prstGeom>
          <a:noFill/>
          <a:ln w="12700">
            <a:solidFill>
              <a:schemeClr val="tx1"/>
            </a:solidFill>
            <a:round/>
            <a:headEnd/>
            <a:tailEnd/>
          </a:ln>
        </p:spPr>
        <p:txBody>
          <a:bodyPr/>
          <a:lstStyle/>
          <a:p>
            <a:endParaRPr lang="en-US"/>
          </a:p>
        </p:txBody>
      </p:sp>
      <p:sp>
        <p:nvSpPr>
          <p:cNvPr id="116763" name="Oval 27"/>
          <p:cNvSpPr>
            <a:spLocks noChangeArrowheads="1"/>
          </p:cNvSpPr>
          <p:nvPr/>
        </p:nvSpPr>
        <p:spPr bwMode="auto">
          <a:xfrm>
            <a:off x="7169150" y="21399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64" name="Oval 28"/>
          <p:cNvSpPr>
            <a:spLocks noChangeArrowheads="1"/>
          </p:cNvSpPr>
          <p:nvPr/>
        </p:nvSpPr>
        <p:spPr bwMode="auto">
          <a:xfrm>
            <a:off x="6407150" y="21399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65" name="Line 29"/>
          <p:cNvSpPr>
            <a:spLocks noChangeShapeType="1"/>
          </p:cNvSpPr>
          <p:nvPr/>
        </p:nvSpPr>
        <p:spPr bwMode="auto">
          <a:xfrm flipH="1">
            <a:off x="6096000" y="2286000"/>
            <a:ext cx="304800" cy="457200"/>
          </a:xfrm>
          <a:prstGeom prst="line">
            <a:avLst/>
          </a:prstGeom>
          <a:noFill/>
          <a:ln w="12700">
            <a:solidFill>
              <a:schemeClr val="tx1"/>
            </a:solidFill>
            <a:round/>
            <a:headEnd/>
            <a:tailEnd/>
          </a:ln>
        </p:spPr>
        <p:txBody>
          <a:bodyPr/>
          <a:lstStyle/>
          <a:p>
            <a:endParaRPr lang="en-US"/>
          </a:p>
        </p:txBody>
      </p:sp>
      <p:sp>
        <p:nvSpPr>
          <p:cNvPr id="116766" name="Line 30"/>
          <p:cNvSpPr>
            <a:spLocks noChangeShapeType="1"/>
          </p:cNvSpPr>
          <p:nvPr/>
        </p:nvSpPr>
        <p:spPr bwMode="auto">
          <a:xfrm>
            <a:off x="6477000" y="2286000"/>
            <a:ext cx="76200" cy="457200"/>
          </a:xfrm>
          <a:prstGeom prst="line">
            <a:avLst/>
          </a:prstGeom>
          <a:noFill/>
          <a:ln w="12700">
            <a:solidFill>
              <a:schemeClr val="tx1"/>
            </a:solidFill>
            <a:round/>
            <a:headEnd/>
            <a:tailEnd/>
          </a:ln>
        </p:spPr>
        <p:txBody>
          <a:bodyPr/>
          <a:lstStyle/>
          <a:p>
            <a:endParaRPr lang="en-US"/>
          </a:p>
        </p:txBody>
      </p:sp>
      <p:sp>
        <p:nvSpPr>
          <p:cNvPr id="116767" name="Oval 31"/>
          <p:cNvSpPr>
            <a:spLocks noChangeArrowheads="1"/>
          </p:cNvSpPr>
          <p:nvPr/>
        </p:nvSpPr>
        <p:spPr bwMode="auto">
          <a:xfrm>
            <a:off x="6940550" y="27495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68" name="Oval 32"/>
          <p:cNvSpPr>
            <a:spLocks noChangeArrowheads="1"/>
          </p:cNvSpPr>
          <p:nvPr/>
        </p:nvSpPr>
        <p:spPr bwMode="auto">
          <a:xfrm>
            <a:off x="6483350" y="27495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69" name="Line 33"/>
          <p:cNvSpPr>
            <a:spLocks noChangeShapeType="1"/>
          </p:cNvSpPr>
          <p:nvPr/>
        </p:nvSpPr>
        <p:spPr bwMode="auto">
          <a:xfrm flipH="1">
            <a:off x="7010400" y="2286000"/>
            <a:ext cx="228600" cy="457200"/>
          </a:xfrm>
          <a:prstGeom prst="line">
            <a:avLst/>
          </a:prstGeom>
          <a:noFill/>
          <a:ln w="12700">
            <a:solidFill>
              <a:schemeClr val="tx1"/>
            </a:solidFill>
            <a:round/>
            <a:headEnd/>
            <a:tailEnd/>
          </a:ln>
        </p:spPr>
        <p:txBody>
          <a:bodyPr/>
          <a:lstStyle/>
          <a:p>
            <a:endParaRPr lang="en-US"/>
          </a:p>
        </p:txBody>
      </p:sp>
      <p:sp>
        <p:nvSpPr>
          <p:cNvPr id="116770" name="Line 34"/>
          <p:cNvSpPr>
            <a:spLocks noChangeShapeType="1"/>
          </p:cNvSpPr>
          <p:nvPr/>
        </p:nvSpPr>
        <p:spPr bwMode="auto">
          <a:xfrm>
            <a:off x="7315200" y="2286000"/>
            <a:ext cx="304800" cy="457200"/>
          </a:xfrm>
          <a:prstGeom prst="line">
            <a:avLst/>
          </a:prstGeom>
          <a:noFill/>
          <a:ln w="12700">
            <a:solidFill>
              <a:schemeClr val="tx1"/>
            </a:solidFill>
            <a:round/>
            <a:headEnd/>
            <a:tailEnd/>
          </a:ln>
        </p:spPr>
        <p:txBody>
          <a:bodyPr/>
          <a:lstStyle/>
          <a:p>
            <a:endParaRPr lang="en-US"/>
          </a:p>
        </p:txBody>
      </p:sp>
      <p:sp>
        <p:nvSpPr>
          <p:cNvPr id="116771" name="Oval 35"/>
          <p:cNvSpPr>
            <a:spLocks noChangeArrowheads="1"/>
          </p:cNvSpPr>
          <p:nvPr/>
        </p:nvSpPr>
        <p:spPr bwMode="auto">
          <a:xfrm>
            <a:off x="7550150" y="27495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72" name="Oval 36"/>
          <p:cNvSpPr>
            <a:spLocks noChangeArrowheads="1"/>
          </p:cNvSpPr>
          <p:nvPr/>
        </p:nvSpPr>
        <p:spPr bwMode="auto">
          <a:xfrm>
            <a:off x="6026150" y="27495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73" name="Rectangle 37"/>
          <p:cNvSpPr>
            <a:spLocks noChangeArrowheads="1"/>
          </p:cNvSpPr>
          <p:nvPr/>
        </p:nvSpPr>
        <p:spPr bwMode="auto">
          <a:xfrm>
            <a:off x="7910513" y="1349375"/>
            <a:ext cx="538162" cy="363538"/>
          </a:xfrm>
          <a:prstGeom prst="rect">
            <a:avLst/>
          </a:prstGeom>
          <a:noFill/>
          <a:ln w="12700">
            <a:noFill/>
            <a:miter lim="800000"/>
            <a:headEnd/>
            <a:tailEnd/>
          </a:ln>
        </p:spPr>
        <p:txBody>
          <a:bodyPr wrap="none" lIns="90488" tIns="44450" rIns="90488" bIns="44450">
            <a:spAutoFit/>
          </a:bodyPr>
          <a:lstStyle/>
          <a:p>
            <a:r>
              <a:rPr lang="en-US"/>
              <a:t>d=0</a:t>
            </a:r>
          </a:p>
        </p:txBody>
      </p:sp>
      <p:sp>
        <p:nvSpPr>
          <p:cNvPr id="116774" name="Rectangle 38"/>
          <p:cNvSpPr>
            <a:spLocks noChangeArrowheads="1"/>
          </p:cNvSpPr>
          <p:nvPr/>
        </p:nvSpPr>
        <p:spPr bwMode="auto">
          <a:xfrm>
            <a:off x="7986713" y="2035175"/>
            <a:ext cx="538162" cy="363538"/>
          </a:xfrm>
          <a:prstGeom prst="rect">
            <a:avLst/>
          </a:prstGeom>
          <a:noFill/>
          <a:ln w="12700">
            <a:noFill/>
            <a:miter lim="800000"/>
            <a:headEnd/>
            <a:tailEnd/>
          </a:ln>
        </p:spPr>
        <p:txBody>
          <a:bodyPr wrap="none" lIns="90488" tIns="44450" rIns="90488" bIns="44450">
            <a:spAutoFit/>
          </a:bodyPr>
          <a:lstStyle/>
          <a:p>
            <a:r>
              <a:rPr lang="en-US"/>
              <a:t>d=1</a:t>
            </a:r>
          </a:p>
        </p:txBody>
      </p:sp>
      <p:sp>
        <p:nvSpPr>
          <p:cNvPr id="116775" name="Rectangle 39"/>
          <p:cNvSpPr>
            <a:spLocks noChangeArrowheads="1"/>
          </p:cNvSpPr>
          <p:nvPr/>
        </p:nvSpPr>
        <p:spPr bwMode="auto">
          <a:xfrm>
            <a:off x="7986713" y="2568575"/>
            <a:ext cx="538162" cy="363538"/>
          </a:xfrm>
          <a:prstGeom prst="rect">
            <a:avLst/>
          </a:prstGeom>
          <a:noFill/>
          <a:ln w="12700">
            <a:noFill/>
            <a:miter lim="800000"/>
            <a:headEnd/>
            <a:tailEnd/>
          </a:ln>
        </p:spPr>
        <p:txBody>
          <a:bodyPr wrap="none" lIns="90488" tIns="44450" rIns="90488" bIns="44450">
            <a:spAutoFit/>
          </a:bodyPr>
          <a:lstStyle/>
          <a:p>
            <a:r>
              <a:rPr lang="en-US"/>
              <a:t>d=2</a:t>
            </a:r>
          </a:p>
        </p:txBody>
      </p:sp>
      <p:sp>
        <p:nvSpPr>
          <p:cNvPr id="116776" name="Rectangle 40"/>
          <p:cNvSpPr>
            <a:spLocks noChangeArrowheads="1"/>
          </p:cNvSpPr>
          <p:nvPr/>
        </p:nvSpPr>
        <p:spPr bwMode="auto">
          <a:xfrm>
            <a:off x="7605713" y="2873375"/>
            <a:ext cx="346075" cy="363538"/>
          </a:xfrm>
          <a:prstGeom prst="rect">
            <a:avLst/>
          </a:prstGeom>
          <a:noFill/>
          <a:ln w="12700">
            <a:noFill/>
            <a:miter lim="800000"/>
            <a:headEnd/>
            <a:tailEnd/>
          </a:ln>
        </p:spPr>
        <p:txBody>
          <a:bodyPr wrap="none" lIns="90488" tIns="44450" rIns="90488" bIns="44450">
            <a:spAutoFit/>
          </a:bodyPr>
          <a:lstStyle/>
          <a:p>
            <a:r>
              <a:rPr lang="en-US"/>
              <a:t>G</a:t>
            </a:r>
          </a:p>
        </p:txBody>
      </p:sp>
      <p:sp>
        <p:nvSpPr>
          <p:cNvPr id="116777" name="Rectangle 41"/>
          <p:cNvSpPr>
            <a:spLocks noChangeArrowheads="1"/>
          </p:cNvSpPr>
          <p:nvPr/>
        </p:nvSpPr>
        <p:spPr bwMode="auto">
          <a:xfrm>
            <a:off x="6310313" y="6073775"/>
            <a:ext cx="238125" cy="363538"/>
          </a:xfrm>
          <a:prstGeom prst="rect">
            <a:avLst/>
          </a:prstGeom>
          <a:noFill/>
          <a:ln w="12700">
            <a:noFill/>
            <a:miter lim="800000"/>
            <a:headEnd/>
            <a:tailEnd/>
          </a:ln>
        </p:spPr>
        <p:txBody>
          <a:bodyPr wrap="none" lIns="90488" tIns="44450" rIns="90488" bIns="44450">
            <a:spAutoFit/>
          </a:bodyPr>
          <a:lstStyle/>
          <a:p>
            <a:r>
              <a:rPr lang="en-US"/>
              <a:t> </a:t>
            </a:r>
          </a:p>
        </p:txBody>
      </p:sp>
      <p:sp>
        <p:nvSpPr>
          <p:cNvPr id="116778" name="Line 42"/>
          <p:cNvSpPr>
            <a:spLocks noChangeShapeType="1"/>
          </p:cNvSpPr>
          <p:nvPr/>
        </p:nvSpPr>
        <p:spPr bwMode="auto">
          <a:xfrm>
            <a:off x="6248400" y="5105400"/>
            <a:ext cx="304800" cy="457200"/>
          </a:xfrm>
          <a:prstGeom prst="line">
            <a:avLst/>
          </a:prstGeom>
          <a:noFill/>
          <a:ln w="12700">
            <a:solidFill>
              <a:schemeClr val="tx1"/>
            </a:solidFill>
            <a:round/>
            <a:headEnd/>
            <a:tailEnd/>
          </a:ln>
        </p:spPr>
        <p:txBody>
          <a:bodyPr/>
          <a:lstStyle/>
          <a:p>
            <a:endParaRPr lang="en-US"/>
          </a:p>
        </p:txBody>
      </p:sp>
      <p:sp>
        <p:nvSpPr>
          <p:cNvPr id="116779" name="Oval 43"/>
          <p:cNvSpPr>
            <a:spLocks noChangeArrowheads="1"/>
          </p:cNvSpPr>
          <p:nvPr/>
        </p:nvSpPr>
        <p:spPr bwMode="auto">
          <a:xfrm>
            <a:off x="6483350" y="5568950"/>
            <a:ext cx="139700" cy="139700"/>
          </a:xfrm>
          <a:prstGeom prst="ellipse">
            <a:avLst/>
          </a:prstGeom>
          <a:solidFill>
            <a:schemeClr val="accent1"/>
          </a:solidFill>
          <a:ln w="12700">
            <a:solidFill>
              <a:schemeClr val="tx1"/>
            </a:solidFill>
            <a:round/>
            <a:headEnd/>
            <a:tailEnd/>
          </a:ln>
        </p:spPr>
        <p:txBody>
          <a:bodyPr wrap="none" anchor="ctr"/>
          <a:lstStyle/>
          <a:p>
            <a:endParaRPr lang="en-US"/>
          </a:p>
        </p:txBody>
      </p:sp>
      <p:sp>
        <p:nvSpPr>
          <p:cNvPr id="116780" name="Rectangle 44"/>
          <p:cNvSpPr>
            <a:spLocks noChangeArrowheads="1"/>
          </p:cNvSpPr>
          <p:nvPr/>
        </p:nvSpPr>
        <p:spPr bwMode="auto">
          <a:xfrm>
            <a:off x="7681913" y="3635375"/>
            <a:ext cx="776287" cy="396875"/>
          </a:xfrm>
          <a:prstGeom prst="rect">
            <a:avLst/>
          </a:prstGeom>
          <a:noFill/>
          <a:ln w="12700">
            <a:noFill/>
            <a:miter lim="800000"/>
            <a:headEnd/>
            <a:tailEnd/>
          </a:ln>
        </p:spPr>
        <p:txBody>
          <a:bodyPr lIns="90488" tIns="44450" rIns="90488" bIns="44450">
            <a:spAutoFit/>
          </a:bodyPr>
          <a:lstStyle/>
          <a:p>
            <a:r>
              <a:rPr lang="en-US"/>
              <a:t>d=0</a:t>
            </a:r>
          </a:p>
        </p:txBody>
      </p:sp>
      <p:sp>
        <p:nvSpPr>
          <p:cNvPr id="116781" name="Rectangle 45"/>
          <p:cNvSpPr>
            <a:spLocks noChangeArrowheads="1"/>
          </p:cNvSpPr>
          <p:nvPr/>
        </p:nvSpPr>
        <p:spPr bwMode="auto">
          <a:xfrm>
            <a:off x="7681913" y="4244975"/>
            <a:ext cx="852487" cy="396875"/>
          </a:xfrm>
          <a:prstGeom prst="rect">
            <a:avLst/>
          </a:prstGeom>
          <a:noFill/>
          <a:ln w="12700">
            <a:noFill/>
            <a:miter lim="800000"/>
            <a:headEnd/>
            <a:tailEnd/>
          </a:ln>
        </p:spPr>
        <p:txBody>
          <a:bodyPr lIns="90488" tIns="44450" rIns="90488" bIns="44450">
            <a:spAutoFit/>
          </a:bodyPr>
          <a:lstStyle/>
          <a:p>
            <a:r>
              <a:rPr lang="en-US"/>
              <a:t>d=1</a:t>
            </a:r>
          </a:p>
        </p:txBody>
      </p:sp>
      <p:sp>
        <p:nvSpPr>
          <p:cNvPr id="116782" name="Rectangle 46"/>
          <p:cNvSpPr>
            <a:spLocks noChangeArrowheads="1"/>
          </p:cNvSpPr>
          <p:nvPr/>
        </p:nvSpPr>
        <p:spPr bwMode="auto">
          <a:xfrm>
            <a:off x="7681913" y="4854575"/>
            <a:ext cx="1157287" cy="1628775"/>
          </a:xfrm>
          <a:prstGeom prst="rect">
            <a:avLst/>
          </a:prstGeom>
          <a:noFill/>
          <a:ln w="12700">
            <a:noFill/>
            <a:miter lim="800000"/>
            <a:headEnd/>
            <a:tailEnd/>
          </a:ln>
        </p:spPr>
        <p:txBody>
          <a:bodyPr lIns="90488" tIns="44450" rIns="90488" bIns="44450">
            <a:spAutoFit/>
          </a:bodyPr>
          <a:lstStyle/>
          <a:p>
            <a:r>
              <a:rPr lang="en-US"/>
              <a:t>d=2</a:t>
            </a:r>
          </a:p>
          <a:p>
            <a:endParaRPr lang="en-US"/>
          </a:p>
          <a:p>
            <a:r>
              <a:rPr lang="en-US"/>
              <a:t>d=3</a:t>
            </a:r>
          </a:p>
          <a:p>
            <a:endParaRPr lang="en-US"/>
          </a:p>
          <a:p>
            <a:r>
              <a:rPr lang="en-US"/>
              <a:t>d=4</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Properties of Depth First Search </a:t>
            </a:r>
          </a:p>
        </p:txBody>
      </p:sp>
      <p:sp>
        <p:nvSpPr>
          <p:cNvPr id="3" name="Content Placeholder 2"/>
          <p:cNvSpPr>
            <a:spLocks noGrp="1"/>
          </p:cNvSpPr>
          <p:nvPr>
            <p:ph idx="1"/>
          </p:nvPr>
        </p:nvSpPr>
        <p:spPr/>
        <p:txBody>
          <a:bodyPr/>
          <a:lstStyle/>
          <a:p>
            <a:r>
              <a:rPr lang="en-US" dirty="0"/>
              <a:t>The algorithm takes exponential time. </a:t>
            </a:r>
          </a:p>
          <a:p>
            <a:pPr lvl="1"/>
            <a:r>
              <a:rPr lang="en-US" dirty="0"/>
              <a:t>If N is the maximum depth of a node in the search space, in the worst case the algorithm will take time O(</a:t>
            </a:r>
            <a:r>
              <a:rPr lang="en-US" dirty="0" err="1"/>
              <a:t>b</a:t>
            </a:r>
            <a:r>
              <a:rPr lang="en-US" baseline="30000" dirty="0" err="1"/>
              <a:t>d</a:t>
            </a:r>
            <a:r>
              <a:rPr lang="en-US" dirty="0"/>
              <a:t>). </a:t>
            </a:r>
            <a:r>
              <a:rPr lang="en-US" dirty="0" smtClean="0"/>
              <a:t> b=branching factor, d=depth of tree</a:t>
            </a:r>
            <a:endParaRPr lang="en-US" dirty="0"/>
          </a:p>
          <a:p>
            <a:r>
              <a:rPr lang="en-US" dirty="0"/>
              <a:t>However the space taken is linear in the depth of the search tree, O(</a:t>
            </a:r>
            <a:r>
              <a:rPr lang="en-US" dirty="0" err="1"/>
              <a:t>bN</a:t>
            </a:r>
            <a:r>
              <a:rPr lang="en-US" dirty="0"/>
              <a:t>). </a:t>
            </a:r>
          </a:p>
          <a:p>
            <a:pPr>
              <a:buNone/>
            </a:pP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Depth First Search</a:t>
            </a:r>
          </a:p>
        </p:txBody>
      </p:sp>
      <p:sp>
        <p:nvSpPr>
          <p:cNvPr id="3" name="Content Placeholder 2"/>
          <p:cNvSpPr>
            <a:spLocks noGrp="1"/>
          </p:cNvSpPr>
          <p:nvPr>
            <p:ph idx="1"/>
          </p:nvPr>
        </p:nvSpPr>
        <p:spPr/>
        <p:txBody>
          <a:bodyPr/>
          <a:lstStyle/>
          <a:p>
            <a:r>
              <a:rPr lang="en-US" dirty="0"/>
              <a:t>Depth First Search is not complete</a:t>
            </a:r>
          </a:p>
          <a:p>
            <a:pPr lvl="1" algn="just"/>
            <a:r>
              <a:rPr lang="en-US" dirty="0"/>
              <a:t>If the search tree has infinite depth, the algorithm may not terminate. This can happen if the search space is </a:t>
            </a:r>
            <a:r>
              <a:rPr lang="en-US" dirty="0" smtClean="0"/>
              <a:t>infinite</a:t>
            </a:r>
          </a:p>
          <a:p>
            <a:pPr lvl="1" algn="just"/>
            <a:r>
              <a:rPr lang="en-US" dirty="0" smtClean="0"/>
              <a:t>DFS is not optimal </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Limited Search</a:t>
            </a:r>
          </a:p>
        </p:txBody>
      </p:sp>
      <p:sp>
        <p:nvSpPr>
          <p:cNvPr id="3" name="Content Placeholder 2"/>
          <p:cNvSpPr>
            <a:spLocks noGrp="1"/>
          </p:cNvSpPr>
          <p:nvPr>
            <p:ph idx="1"/>
          </p:nvPr>
        </p:nvSpPr>
        <p:spPr/>
        <p:txBody>
          <a:bodyPr/>
          <a:lstStyle/>
          <a:p>
            <a:r>
              <a:rPr lang="en-US" dirty="0"/>
              <a:t>A variation of Depth First Search circumvents the above problem by keeping a depth bound.</a:t>
            </a:r>
          </a:p>
          <a:p>
            <a:r>
              <a:rPr lang="en-US" dirty="0"/>
              <a:t>Nodes are only expanded if they have depth less than the bound. </a:t>
            </a:r>
          </a:p>
          <a:p>
            <a:r>
              <a:rPr lang="en-US" dirty="0"/>
              <a:t>This algorithm is known as depth-limited search.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Limited Search</a:t>
            </a:r>
          </a:p>
        </p:txBody>
      </p:sp>
      <p:pic>
        <p:nvPicPr>
          <p:cNvPr id="1026" name="Picture 2"/>
          <p:cNvPicPr>
            <a:picLocks noGrp="1" noChangeAspect="1" noChangeArrowheads="1"/>
          </p:cNvPicPr>
          <p:nvPr>
            <p:ph idx="1"/>
          </p:nvPr>
        </p:nvPicPr>
        <p:blipFill>
          <a:blip r:embed="rId2"/>
          <a:srcRect/>
          <a:stretch>
            <a:fillRect/>
          </a:stretch>
        </p:blipFill>
        <p:spPr bwMode="auto">
          <a:xfrm>
            <a:off x="990600" y="1600200"/>
            <a:ext cx="708660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Depth-First Iterative Deepening (DFID) </a:t>
            </a:r>
          </a:p>
        </p:txBody>
      </p:sp>
      <p:sp>
        <p:nvSpPr>
          <p:cNvPr id="3" name="Content Placeholder 2"/>
          <p:cNvSpPr>
            <a:spLocks noGrp="1"/>
          </p:cNvSpPr>
          <p:nvPr>
            <p:ph idx="1"/>
          </p:nvPr>
        </p:nvSpPr>
        <p:spPr/>
        <p:txBody>
          <a:bodyPr/>
          <a:lstStyle/>
          <a:p>
            <a:r>
              <a:rPr lang="en-US" dirty="0"/>
              <a:t>First do DFS to depth 0 (i.e., treat start node as having no successors), then, if no solution found, do DFS to depth 1, etc.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Depth-First Iterative Deepening (DFID) </a:t>
            </a:r>
          </a:p>
        </p:txBody>
      </p:sp>
      <p:pic>
        <p:nvPicPr>
          <p:cNvPr id="2050" name="Picture 2"/>
          <p:cNvPicPr>
            <a:picLocks noGrp="1" noChangeAspect="1" noChangeArrowheads="1"/>
          </p:cNvPicPr>
          <p:nvPr>
            <p:ph idx="1"/>
          </p:nvPr>
        </p:nvPicPr>
        <p:blipFill>
          <a:blip r:embed="rId2"/>
          <a:srcRect/>
          <a:stretch>
            <a:fillRect/>
          </a:stretch>
        </p:blipFill>
        <p:spPr bwMode="auto">
          <a:xfrm>
            <a:off x="1219200" y="2286000"/>
            <a:ext cx="6629400" cy="243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a:t>
            </a:r>
          </a:p>
        </p:txBody>
      </p:sp>
      <p:sp>
        <p:nvSpPr>
          <p:cNvPr id="3" name="Content Placeholder 2"/>
          <p:cNvSpPr>
            <a:spLocks noGrp="1"/>
          </p:cNvSpPr>
          <p:nvPr>
            <p:ph idx="1"/>
          </p:nvPr>
        </p:nvSpPr>
        <p:spPr/>
        <p:txBody>
          <a:bodyPr/>
          <a:lstStyle/>
          <a:p>
            <a:r>
              <a:rPr lang="en-US" dirty="0"/>
              <a:t>Successive depth-first searches are conducted</a:t>
            </a:r>
          </a:p>
          <a:p>
            <a:r>
              <a:rPr lang="en-US" dirty="0"/>
              <a:t>Each with depth bounds increasing by 1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a:t>
            </a:r>
          </a:p>
        </p:txBody>
      </p:sp>
      <p:pic>
        <p:nvPicPr>
          <p:cNvPr id="19458" name="Picture 2"/>
          <p:cNvPicPr>
            <a:picLocks noGrp="1" noChangeAspect="1" noChangeArrowheads="1"/>
          </p:cNvPicPr>
          <p:nvPr>
            <p:ph idx="1"/>
          </p:nvPr>
        </p:nvPicPr>
        <p:blipFill>
          <a:blip r:embed="rId2"/>
          <a:srcRect/>
          <a:stretch>
            <a:fillRect/>
          </a:stretch>
        </p:blipFill>
        <p:spPr bwMode="auto">
          <a:xfrm>
            <a:off x="914400" y="1828800"/>
            <a:ext cx="70104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3033" y="118600"/>
            <a:ext cx="9250066" cy="6620799"/>
          </a:xfrm>
          <a:prstGeom prst="rect">
            <a:avLst/>
          </a:prstGeom>
        </p:spPr>
      </p:pic>
    </p:spTree>
    <p:extLst>
      <p:ext uri="{BB962C8B-B14F-4D97-AF65-F5344CB8AC3E}">
        <p14:creationId xmlns:p14="http://schemas.microsoft.com/office/powerpoint/2010/main" val="19640243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 of DLS </a:t>
            </a:r>
            <a:endParaRPr lang="en-US" dirty="0"/>
          </a:p>
        </p:txBody>
      </p:sp>
      <p:sp>
        <p:nvSpPr>
          <p:cNvPr id="3" name="Content Placeholder 2"/>
          <p:cNvSpPr>
            <a:spLocks noGrp="1"/>
          </p:cNvSpPr>
          <p:nvPr>
            <p:ph idx="1"/>
          </p:nvPr>
        </p:nvSpPr>
        <p:spPr/>
        <p:txBody>
          <a:bodyPr>
            <a:normAutofit/>
          </a:bodyPr>
          <a:lstStyle/>
          <a:p>
            <a:r>
              <a:rPr lang="en-US" dirty="0" smtClean="0"/>
              <a:t>Depth Limitation: The primary characteristic of DLS is the depth limit. </a:t>
            </a:r>
          </a:p>
          <a:p>
            <a:r>
              <a:rPr lang="en-US" dirty="0" smtClean="0"/>
              <a:t>Completeness: DLS is incomplete. If solution exists beyond the depth limit. It only guarantees finding a solution if it exists within the specified limit. </a:t>
            </a:r>
          </a:p>
          <a:p>
            <a:r>
              <a:rPr lang="en-US" dirty="0" smtClean="0"/>
              <a:t>Time complexity: O(</a:t>
            </a:r>
            <a:r>
              <a:rPr lang="en-US" dirty="0" err="1" smtClean="0"/>
              <a:t>bL</a:t>
            </a:r>
            <a:r>
              <a:rPr lang="en-US" dirty="0" smtClean="0"/>
              <a:t>). B is branching factor and L is limit) </a:t>
            </a:r>
          </a:p>
          <a:p>
            <a:r>
              <a:rPr lang="en-US" dirty="0" smtClean="0"/>
              <a:t>Space complexity: O(L). </a:t>
            </a:r>
          </a:p>
          <a:p>
            <a:r>
              <a:rPr lang="en-US" dirty="0" smtClean="0"/>
              <a:t>Optimality: Not optimal </a:t>
            </a:r>
          </a:p>
          <a:p>
            <a:r>
              <a:rPr lang="en-US" dirty="0" smtClean="0"/>
              <a:t>Application: DLS is used in a case where the </a:t>
            </a:r>
            <a:r>
              <a:rPr lang="en-US" smtClean="0"/>
              <a:t>search space is too large or deep search space. </a:t>
            </a:r>
            <a:endParaRPr lang="en-US" dirty="0"/>
          </a:p>
        </p:txBody>
      </p:sp>
    </p:spTree>
    <p:extLst>
      <p:ext uri="{BB962C8B-B14F-4D97-AF65-F5344CB8AC3E}">
        <p14:creationId xmlns:p14="http://schemas.microsoft.com/office/powerpoint/2010/main" val="9694610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381000"/>
            <a:ext cx="8229600" cy="1143000"/>
          </a:xfrm>
        </p:spPr>
        <p:txBody>
          <a:bodyPr/>
          <a:lstStyle/>
          <a:p>
            <a:pPr algn="ctr"/>
            <a:r>
              <a:rPr lang="en-US" dirty="0"/>
              <a:t>Iterative deepening search</a:t>
            </a:r>
          </a:p>
        </p:txBody>
      </p:sp>
      <p:sp>
        <p:nvSpPr>
          <p:cNvPr id="4" name="Slide Number Placeholder 5"/>
          <p:cNvSpPr>
            <a:spLocks noGrp="1"/>
          </p:cNvSpPr>
          <p:nvPr>
            <p:ph type="sldNum" sz="quarter" idx="12"/>
          </p:nvPr>
        </p:nvSpPr>
        <p:spPr/>
        <p:txBody>
          <a:bodyPr/>
          <a:lstStyle/>
          <a:p>
            <a:fld id="{A8EB194C-E3E1-43BE-917E-D0C2538CEA79}" type="slidenum">
              <a:rPr lang="en-US"/>
              <a:pPr/>
              <a:t>39</a:t>
            </a:fld>
            <a:endParaRPr lang="en-US"/>
          </a:p>
        </p:txBody>
      </p:sp>
      <p:sp>
        <p:nvSpPr>
          <p:cNvPr id="47110" name="Text Box 6"/>
          <p:cNvSpPr txBox="1">
            <a:spLocks noChangeArrowheads="1"/>
          </p:cNvSpPr>
          <p:nvPr/>
        </p:nvSpPr>
        <p:spPr bwMode="auto">
          <a:xfrm>
            <a:off x="304800" y="1981200"/>
            <a:ext cx="8382000" cy="3046988"/>
          </a:xfrm>
          <a:prstGeom prst="rect">
            <a:avLst/>
          </a:prstGeom>
          <a:noFill/>
          <a:ln w="9525">
            <a:noFill/>
            <a:miter lim="800000"/>
            <a:headEnd/>
            <a:tailEnd/>
          </a:ln>
          <a:effectLst/>
        </p:spPr>
        <p:txBody>
          <a:bodyPr wrap="square">
            <a:spAutoFit/>
          </a:bodyPr>
          <a:lstStyle/>
          <a:p>
            <a:pPr>
              <a:buFontTx/>
              <a:buChar char="•"/>
            </a:pPr>
            <a:r>
              <a:rPr lang="en-US" sz="2000" dirty="0"/>
              <a:t> </a:t>
            </a:r>
            <a:r>
              <a:rPr lang="en-US" sz="2400" dirty="0"/>
              <a:t>To avoid the infinite depth problem of DFS, we can </a:t>
            </a:r>
          </a:p>
          <a:p>
            <a:r>
              <a:rPr lang="en-US" sz="2400" dirty="0"/>
              <a:t> decide to only search until depth L, i.e. we don’t expand beyond depth L.</a:t>
            </a:r>
          </a:p>
          <a:p>
            <a:r>
              <a:rPr lang="en-US" sz="2400" dirty="0">
                <a:sym typeface="Wingdings" pitchFamily="2" charset="2"/>
              </a:rPr>
              <a:t>  </a:t>
            </a:r>
            <a:r>
              <a:rPr lang="en-US" sz="2400" dirty="0">
                <a:solidFill>
                  <a:srgbClr val="FF0000"/>
                </a:solidFill>
                <a:sym typeface="Wingdings" pitchFamily="2" charset="2"/>
              </a:rPr>
              <a:t>Depth-Limited Search</a:t>
            </a:r>
          </a:p>
          <a:p>
            <a:endParaRPr lang="en-US" sz="2400" dirty="0">
              <a:solidFill>
                <a:srgbClr val="FF0000"/>
              </a:solidFill>
              <a:sym typeface="Wingdings" pitchFamily="2" charset="2"/>
            </a:endParaRPr>
          </a:p>
          <a:p>
            <a:pPr>
              <a:buFontTx/>
              <a:buChar char="•"/>
            </a:pPr>
            <a:r>
              <a:rPr lang="en-US" sz="2400" dirty="0"/>
              <a:t> What of solution is deeper than L? </a:t>
            </a:r>
            <a:r>
              <a:rPr lang="en-US" sz="2400" dirty="0">
                <a:sym typeface="Wingdings" pitchFamily="2" charset="2"/>
              </a:rPr>
              <a:t> Increase L iteratively.</a:t>
            </a:r>
          </a:p>
          <a:p>
            <a:r>
              <a:rPr lang="en-US" sz="2400" dirty="0">
                <a:sym typeface="Wingdings" pitchFamily="2" charset="2"/>
              </a:rPr>
              <a:t>   </a:t>
            </a:r>
            <a:r>
              <a:rPr lang="en-US" sz="2400" dirty="0">
                <a:solidFill>
                  <a:srgbClr val="FF0000"/>
                </a:solidFill>
                <a:sym typeface="Wingdings" pitchFamily="2" charset="2"/>
              </a:rPr>
              <a:t>Iterative Deepening Search</a:t>
            </a:r>
          </a:p>
          <a:p>
            <a:endParaRPr lang="en-US" sz="2400" dirty="0">
              <a:solidFill>
                <a:srgbClr val="FF000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Iterative deepening search</a:t>
            </a:r>
          </a:p>
        </p:txBody>
      </p:sp>
      <p:sp>
        <p:nvSpPr>
          <p:cNvPr id="3" name="Content Placeholder 2"/>
          <p:cNvSpPr>
            <a:spLocks noGrp="1"/>
          </p:cNvSpPr>
          <p:nvPr>
            <p:ph idx="1"/>
          </p:nvPr>
        </p:nvSpPr>
        <p:spPr/>
        <p:txBody>
          <a:bodyPr/>
          <a:lstStyle/>
          <a:p>
            <a:r>
              <a:rPr lang="en-US" dirty="0" smtClean="0"/>
              <a:t>Combined the benefits of DFS and BFS. </a:t>
            </a:r>
          </a:p>
          <a:p>
            <a:r>
              <a:rPr lang="en-US" dirty="0" smtClean="0"/>
              <a:t>Searches to limited depth, increasing the limit with each iteration. </a:t>
            </a:r>
          </a:p>
          <a:p>
            <a:r>
              <a:rPr lang="en-US" dirty="0" smtClean="0"/>
              <a:t>Ensure both completeness and optimality. </a:t>
            </a:r>
          </a:p>
          <a:p>
            <a:r>
              <a:rPr lang="en-US" dirty="0" smtClean="0"/>
              <a:t>Ensure exploration of all nodes at each depth before going deeper. </a:t>
            </a:r>
            <a:endParaRPr lang="en-US" dirty="0"/>
          </a:p>
        </p:txBody>
      </p:sp>
    </p:spTree>
    <p:extLst>
      <p:ext uri="{BB962C8B-B14F-4D97-AF65-F5344CB8AC3E}">
        <p14:creationId xmlns:p14="http://schemas.microsoft.com/office/powerpoint/2010/main" val="38008385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381000"/>
            <a:ext cx="8229600" cy="1143000"/>
          </a:xfrm>
        </p:spPr>
        <p:txBody>
          <a:bodyPr/>
          <a:lstStyle/>
          <a:p>
            <a:r>
              <a:rPr lang="en-US" sz="4000" dirty="0"/>
              <a:t>Iterative deepening search </a:t>
            </a:r>
            <a:r>
              <a:rPr lang="en-US" sz="4000" i="1" dirty="0"/>
              <a:t>L</a:t>
            </a:r>
            <a:r>
              <a:rPr lang="en-US" sz="4000" dirty="0"/>
              <a:t>=0</a:t>
            </a:r>
          </a:p>
        </p:txBody>
      </p:sp>
      <p:sp>
        <p:nvSpPr>
          <p:cNvPr id="4" name="Slide Number Placeholder 5"/>
          <p:cNvSpPr>
            <a:spLocks noGrp="1"/>
          </p:cNvSpPr>
          <p:nvPr>
            <p:ph type="sldNum" sz="quarter" idx="12"/>
          </p:nvPr>
        </p:nvSpPr>
        <p:spPr/>
        <p:txBody>
          <a:bodyPr/>
          <a:lstStyle/>
          <a:p>
            <a:fld id="{4940C97C-B665-4AC5-B2D4-44FC5D3B9035}" type="slidenum">
              <a:rPr lang="en-US"/>
              <a:pPr/>
              <a:t>41</a:t>
            </a:fld>
            <a:endParaRPr lang="en-US"/>
          </a:p>
        </p:txBody>
      </p:sp>
      <p:pic>
        <p:nvPicPr>
          <p:cNvPr id="48132" name="Picture 4" descr="ids-progress1c"/>
          <p:cNvPicPr>
            <a:picLocks noChangeAspect="1" noChangeArrowheads="1"/>
          </p:cNvPicPr>
          <p:nvPr/>
        </p:nvPicPr>
        <p:blipFill>
          <a:blip r:embed="rId3"/>
          <a:srcRect/>
          <a:stretch>
            <a:fillRect/>
          </a:stretch>
        </p:blipFill>
        <p:spPr bwMode="auto">
          <a:xfrm>
            <a:off x="838200" y="2209800"/>
            <a:ext cx="7620000" cy="415290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457200"/>
            <a:ext cx="8229600" cy="1143000"/>
          </a:xfrm>
        </p:spPr>
        <p:txBody>
          <a:bodyPr/>
          <a:lstStyle/>
          <a:p>
            <a:pPr algn="ctr"/>
            <a:r>
              <a:rPr lang="en-US" sz="4000" dirty="0"/>
              <a:t>Iterative deepening search </a:t>
            </a:r>
            <a:r>
              <a:rPr lang="en-US" sz="4000" i="1" dirty="0"/>
              <a:t>L</a:t>
            </a:r>
            <a:r>
              <a:rPr lang="en-US" sz="4000" dirty="0"/>
              <a:t>=1</a:t>
            </a:r>
          </a:p>
        </p:txBody>
      </p:sp>
      <p:sp>
        <p:nvSpPr>
          <p:cNvPr id="4" name="Slide Number Placeholder 5"/>
          <p:cNvSpPr>
            <a:spLocks noGrp="1"/>
          </p:cNvSpPr>
          <p:nvPr>
            <p:ph type="sldNum" sz="quarter" idx="12"/>
          </p:nvPr>
        </p:nvSpPr>
        <p:spPr/>
        <p:txBody>
          <a:bodyPr/>
          <a:lstStyle/>
          <a:p>
            <a:fld id="{DE02850F-A032-4DB3-9108-4DD45ABADD27}" type="slidenum">
              <a:rPr lang="en-US"/>
              <a:pPr/>
              <a:t>42</a:t>
            </a:fld>
            <a:endParaRPr lang="en-US"/>
          </a:p>
        </p:txBody>
      </p:sp>
      <p:pic>
        <p:nvPicPr>
          <p:cNvPr id="49156" name="Picture 4" descr="ids-progress2c"/>
          <p:cNvPicPr>
            <a:picLocks noChangeAspect="1" noChangeArrowheads="1"/>
          </p:cNvPicPr>
          <p:nvPr/>
        </p:nvPicPr>
        <p:blipFill>
          <a:blip r:embed="rId3"/>
          <a:srcRect/>
          <a:stretch>
            <a:fillRect/>
          </a:stretch>
        </p:blipFill>
        <p:spPr bwMode="auto">
          <a:xfrm>
            <a:off x="762000" y="1981200"/>
            <a:ext cx="7620000" cy="46482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457200"/>
            <a:ext cx="8229600" cy="1143000"/>
          </a:xfrm>
        </p:spPr>
        <p:txBody>
          <a:bodyPr/>
          <a:lstStyle/>
          <a:p>
            <a:pPr algn="ctr"/>
            <a:r>
              <a:rPr lang="en-US" sz="4000" dirty="0"/>
              <a:t>Iterative deepening search </a:t>
            </a:r>
            <a:r>
              <a:rPr lang="en-US" sz="4000" i="1" dirty="0" err="1"/>
              <a:t>lL</a:t>
            </a:r>
            <a:r>
              <a:rPr lang="en-US" sz="4000" dirty="0"/>
              <a:t>=2</a:t>
            </a:r>
          </a:p>
        </p:txBody>
      </p:sp>
      <p:sp>
        <p:nvSpPr>
          <p:cNvPr id="4" name="Slide Number Placeholder 5"/>
          <p:cNvSpPr>
            <a:spLocks noGrp="1"/>
          </p:cNvSpPr>
          <p:nvPr>
            <p:ph type="sldNum" sz="quarter" idx="12"/>
          </p:nvPr>
        </p:nvSpPr>
        <p:spPr/>
        <p:txBody>
          <a:bodyPr/>
          <a:lstStyle/>
          <a:p>
            <a:fld id="{E9AC5529-D28E-42AE-83EF-C7DB0FB0C154}" type="slidenum">
              <a:rPr lang="en-US"/>
              <a:pPr/>
              <a:t>43</a:t>
            </a:fld>
            <a:endParaRPr lang="en-US"/>
          </a:p>
        </p:txBody>
      </p:sp>
      <p:pic>
        <p:nvPicPr>
          <p:cNvPr id="50180" name="Picture 4" descr="ids-progress3c"/>
          <p:cNvPicPr>
            <a:picLocks noChangeAspect="1" noChangeArrowheads="1"/>
          </p:cNvPicPr>
          <p:nvPr/>
        </p:nvPicPr>
        <p:blipFill>
          <a:blip r:embed="rId3"/>
          <a:srcRect/>
          <a:stretch>
            <a:fillRect/>
          </a:stretch>
        </p:blipFill>
        <p:spPr bwMode="auto">
          <a:xfrm>
            <a:off x="762000" y="1905000"/>
            <a:ext cx="7620000" cy="4543425"/>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0"/>
            <a:ext cx="8229600" cy="1143000"/>
          </a:xfrm>
        </p:spPr>
        <p:txBody>
          <a:bodyPr/>
          <a:lstStyle/>
          <a:p>
            <a:pPr algn="ctr"/>
            <a:r>
              <a:rPr lang="en-US" sz="4000" dirty="0"/>
              <a:t>Iterative deepening search </a:t>
            </a:r>
            <a:r>
              <a:rPr lang="en-US" sz="4000" i="1" dirty="0"/>
              <a:t>L</a:t>
            </a:r>
            <a:r>
              <a:rPr lang="en-US" sz="4000" dirty="0"/>
              <a:t>=3</a:t>
            </a:r>
          </a:p>
        </p:txBody>
      </p:sp>
      <p:sp>
        <p:nvSpPr>
          <p:cNvPr id="4" name="Slide Number Placeholder 5"/>
          <p:cNvSpPr>
            <a:spLocks noGrp="1"/>
          </p:cNvSpPr>
          <p:nvPr>
            <p:ph type="sldNum" sz="quarter" idx="12"/>
          </p:nvPr>
        </p:nvSpPr>
        <p:spPr/>
        <p:txBody>
          <a:bodyPr/>
          <a:lstStyle/>
          <a:p>
            <a:fld id="{45E3BF7D-1C9B-45C1-8E03-59871F70DB15}" type="slidenum">
              <a:rPr lang="en-US"/>
              <a:pPr/>
              <a:t>44</a:t>
            </a:fld>
            <a:endParaRPr lang="en-US"/>
          </a:p>
        </p:txBody>
      </p:sp>
      <p:pic>
        <p:nvPicPr>
          <p:cNvPr id="51204" name="Picture 4" descr="ids-progress4c"/>
          <p:cNvPicPr>
            <a:picLocks noChangeAspect="1" noChangeArrowheads="1"/>
          </p:cNvPicPr>
          <p:nvPr/>
        </p:nvPicPr>
        <p:blipFill>
          <a:blip r:embed="rId3"/>
          <a:srcRect/>
          <a:stretch>
            <a:fillRect/>
          </a:stretch>
        </p:blipFill>
        <p:spPr bwMode="auto">
          <a:xfrm>
            <a:off x="762000" y="1752600"/>
            <a:ext cx="7620000" cy="4572000"/>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Properties</a:t>
            </a:r>
          </a:p>
        </p:txBody>
      </p:sp>
      <p:sp>
        <p:nvSpPr>
          <p:cNvPr id="3" name="Content Placeholder 2"/>
          <p:cNvSpPr>
            <a:spLocks noGrp="1"/>
          </p:cNvSpPr>
          <p:nvPr>
            <p:ph idx="1"/>
          </p:nvPr>
        </p:nvSpPr>
        <p:spPr/>
        <p:txBody>
          <a:bodyPr>
            <a:normAutofit/>
          </a:bodyPr>
          <a:lstStyle/>
          <a:p>
            <a:r>
              <a:rPr lang="en-US" dirty="0"/>
              <a:t>Complete</a:t>
            </a:r>
          </a:p>
          <a:p>
            <a:r>
              <a:rPr lang="en-US" dirty="0"/>
              <a:t>Optimal/Admissible if all operators have the same cost. Otherwise, not optimal but guarantees finding solution of shortest length (like BFS). </a:t>
            </a:r>
          </a:p>
          <a:p>
            <a:r>
              <a:rPr lang="en-US" dirty="0"/>
              <a:t>Time complexity is a little worse than BFS or DFS because nodes near the top of the search tree are generated multiple times, but because almost all of the nodes are near the bottom of a tree, the worst case time complexity is still exponential, O(</a:t>
            </a:r>
            <a:r>
              <a:rPr lang="en-US" dirty="0" err="1"/>
              <a:t>b</a:t>
            </a:r>
            <a:r>
              <a:rPr lang="en-US" baseline="30000" dirty="0" err="1"/>
              <a:t>d</a:t>
            </a:r>
            <a:r>
              <a:rPr lang="en-US" dirty="0"/>
              <a:t>)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a:t>
            </a:r>
          </a:p>
        </p:txBody>
      </p:sp>
      <p:sp>
        <p:nvSpPr>
          <p:cNvPr id="3" name="Content Placeholder 2"/>
          <p:cNvSpPr>
            <a:spLocks noGrp="1"/>
          </p:cNvSpPr>
          <p:nvPr>
            <p:ph idx="1"/>
          </p:nvPr>
        </p:nvSpPr>
        <p:spPr/>
        <p:txBody>
          <a:bodyPr/>
          <a:lstStyle/>
          <a:p>
            <a:r>
              <a:rPr lang="en-US" dirty="0"/>
              <a:t>If branching factor is b and solution is at depth d, then nodes at depth d are generated once, nodes at depth d-1 are generated twice, etc. </a:t>
            </a:r>
          </a:p>
          <a:p>
            <a:r>
              <a:rPr lang="en-US" dirty="0"/>
              <a:t>Linear space complexity, O(</a:t>
            </a:r>
            <a:r>
              <a:rPr lang="en-US" dirty="0" err="1"/>
              <a:t>bd</a:t>
            </a:r>
            <a:r>
              <a:rPr lang="en-US" dirty="0"/>
              <a:t>), like DFS </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&amp; Disadvantages</a:t>
            </a:r>
          </a:p>
        </p:txBody>
      </p:sp>
      <p:sp>
        <p:nvSpPr>
          <p:cNvPr id="3" name="Content Placeholder 2"/>
          <p:cNvSpPr>
            <a:spLocks noGrp="1"/>
          </p:cNvSpPr>
          <p:nvPr>
            <p:ph idx="1"/>
          </p:nvPr>
        </p:nvSpPr>
        <p:spPr/>
        <p:txBody>
          <a:bodyPr/>
          <a:lstStyle/>
          <a:p>
            <a:pPr algn="just"/>
            <a:r>
              <a:rPr lang="en-US" dirty="0"/>
              <a:t>Depth First Iterative Deepening combines the advantage of BFS (i.e., completeness) with the advantages of DFS (i.e., limited space and finds longer paths more quickly)  </a:t>
            </a:r>
          </a:p>
          <a:p>
            <a:pPr algn="just"/>
            <a:r>
              <a:rPr lang="en-US" dirty="0"/>
              <a:t>This algorithm is generally preferred for large state spaces where the solution depth is unknown.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&amp; Disadvantages</a:t>
            </a:r>
          </a:p>
        </p:txBody>
      </p:sp>
      <p:sp>
        <p:nvSpPr>
          <p:cNvPr id="3" name="Content Placeholder 2"/>
          <p:cNvSpPr>
            <a:spLocks noGrp="1"/>
          </p:cNvSpPr>
          <p:nvPr>
            <p:ph idx="1"/>
          </p:nvPr>
        </p:nvSpPr>
        <p:spPr/>
        <p:txBody>
          <a:bodyPr/>
          <a:lstStyle/>
          <a:p>
            <a:r>
              <a:rPr lang="en-US" dirty="0"/>
              <a:t>Advantage s:</a:t>
            </a:r>
          </a:p>
          <a:p>
            <a:pPr lvl="1"/>
            <a:r>
              <a:rPr lang="en-US" dirty="0"/>
              <a:t>Linear memory requirements of depth-first search</a:t>
            </a:r>
          </a:p>
          <a:p>
            <a:pPr lvl="1"/>
            <a:r>
              <a:rPr lang="en-US" dirty="0"/>
              <a:t>Guarantee for goal node of minimal depth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Bi-directional search</a:t>
            </a:r>
          </a:p>
        </p:txBody>
      </p:sp>
      <p:pic>
        <p:nvPicPr>
          <p:cNvPr id="16386" name="Picture 2"/>
          <p:cNvPicPr>
            <a:picLocks noGrp="1" noChangeAspect="1" noChangeArrowheads="1"/>
          </p:cNvPicPr>
          <p:nvPr>
            <p:ph idx="1"/>
          </p:nvPr>
        </p:nvPicPr>
        <p:blipFill>
          <a:blip r:embed="rId2"/>
          <a:srcRect/>
          <a:stretch>
            <a:fillRect/>
          </a:stretch>
        </p:blipFill>
        <p:spPr bwMode="auto">
          <a:xfrm>
            <a:off x="990600" y="1447801"/>
            <a:ext cx="6858000" cy="34488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Bi-directional search</a:t>
            </a:r>
          </a:p>
        </p:txBody>
      </p:sp>
      <p:sp>
        <p:nvSpPr>
          <p:cNvPr id="3" name="Content Placeholder 2"/>
          <p:cNvSpPr>
            <a:spLocks noGrp="1"/>
          </p:cNvSpPr>
          <p:nvPr>
            <p:ph idx="1"/>
          </p:nvPr>
        </p:nvSpPr>
        <p:spPr/>
        <p:txBody>
          <a:bodyPr/>
          <a:lstStyle/>
          <a:p>
            <a:r>
              <a:rPr lang="en-US" dirty="0"/>
              <a:t>Algorithm: </a:t>
            </a:r>
          </a:p>
          <a:p>
            <a:pPr lvl="1" algn="just"/>
            <a:r>
              <a:rPr lang="en-US" dirty="0"/>
              <a:t>Bidirectional search involves alternate searching from the start state toward the goal and from the goal state toward the start. </a:t>
            </a:r>
          </a:p>
          <a:p>
            <a:pPr lvl="1" algn="just"/>
            <a:r>
              <a:rPr lang="en-US" dirty="0"/>
              <a:t>The algorithm stops when the frontiers intersect.</a:t>
            </a:r>
          </a:p>
          <a:p>
            <a:pPr lvl="1" algn="just"/>
            <a:r>
              <a:rPr lang="en-US" dirty="0"/>
              <a:t>Works well only when there are unique start and goal states. </a:t>
            </a:r>
          </a:p>
          <a:p>
            <a:pPr lvl="1" algn="just">
              <a:buNone/>
            </a:pP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Bi-directional search</a:t>
            </a:r>
          </a:p>
        </p:txBody>
      </p:sp>
      <p:pic>
        <p:nvPicPr>
          <p:cNvPr id="17411" name="Picture 3"/>
          <p:cNvPicPr>
            <a:picLocks noGrp="1" noChangeAspect="1" noChangeArrowheads="1"/>
          </p:cNvPicPr>
          <p:nvPr>
            <p:ph idx="1"/>
          </p:nvPr>
        </p:nvPicPr>
        <p:blipFill>
          <a:blip r:embed="rId2"/>
          <a:srcRect/>
          <a:stretch>
            <a:fillRect/>
          </a:stretch>
        </p:blipFill>
        <p:spPr bwMode="auto">
          <a:xfrm>
            <a:off x="1371600" y="1295400"/>
            <a:ext cx="6477000" cy="40536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and Space Complexities</a:t>
            </a:r>
          </a:p>
        </p:txBody>
      </p:sp>
      <p:sp>
        <p:nvSpPr>
          <p:cNvPr id="3" name="Content Placeholder 2"/>
          <p:cNvSpPr>
            <a:spLocks noGrp="1"/>
          </p:cNvSpPr>
          <p:nvPr>
            <p:ph idx="1"/>
          </p:nvPr>
        </p:nvSpPr>
        <p:spPr/>
        <p:txBody>
          <a:bodyPr>
            <a:normAutofit/>
          </a:bodyPr>
          <a:lstStyle/>
          <a:p>
            <a:pPr algn="just"/>
            <a:r>
              <a:rPr lang="en-US" dirty="0"/>
              <a:t>Consider a search space with branching factor b. Suppose that the goal is d steps away from the start state. Breadth first search will expand O(</a:t>
            </a:r>
            <a:r>
              <a:rPr lang="en-US" dirty="0" err="1"/>
              <a:t>bd</a:t>
            </a:r>
            <a:r>
              <a:rPr lang="en-US" dirty="0"/>
              <a:t>) nodes.  </a:t>
            </a:r>
          </a:p>
          <a:p>
            <a:pPr algn="just"/>
            <a:r>
              <a:rPr lang="en-US" dirty="0"/>
              <a:t>If we carry out bidirectional search, the frontiers may meet when both the forward and the backward search trees have depth = d/2. </a:t>
            </a:r>
          </a:p>
          <a:p>
            <a:pPr algn="just"/>
            <a:r>
              <a:rPr lang="en-US" dirty="0"/>
              <a:t>Suppose we have a good hash function to check for nodes in the fringe. IN this case the time for bidirectional search will be O((</a:t>
            </a:r>
            <a:r>
              <a:rPr lang="en-US" dirty="0" smtClean="0"/>
              <a:t>b power(d/2</a:t>
            </a:r>
            <a:r>
              <a:rPr lang="en-US" dirty="0"/>
              <a:t>). </a:t>
            </a:r>
          </a:p>
          <a:p>
            <a:pPr algn="just"/>
            <a:r>
              <a:rPr lang="en-US" dirty="0"/>
              <a:t>Also note that for at least one of the searches the frontier has to be stored. So the space complexity is also O((</a:t>
            </a:r>
            <a:r>
              <a:rPr lang="en-US" dirty="0" err="1"/>
              <a:t>bd</a:t>
            </a:r>
            <a:r>
              <a:rPr lang="en-US" dirty="0"/>
              <a:t>/2). </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Search Strategies </a:t>
            </a:r>
          </a:p>
        </p:txBody>
      </p:sp>
      <p:pic>
        <p:nvPicPr>
          <p:cNvPr id="18434" name="Picture 2"/>
          <p:cNvPicPr>
            <a:picLocks noGrp="1" noChangeAspect="1" noChangeArrowheads="1"/>
          </p:cNvPicPr>
          <p:nvPr>
            <p:ph idx="1"/>
          </p:nvPr>
        </p:nvPicPr>
        <p:blipFill>
          <a:blip r:embed="rId2"/>
          <a:srcRect/>
          <a:stretch>
            <a:fillRect/>
          </a:stretch>
        </p:blipFill>
        <p:spPr bwMode="auto">
          <a:xfrm>
            <a:off x="990600" y="1600200"/>
            <a:ext cx="67818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1210</TotalTime>
  <Words>1409</Words>
  <Application>Microsoft Office PowerPoint</Application>
  <PresentationFormat>On-screen Show (4:3)</PresentationFormat>
  <Paragraphs>169</Paragraphs>
  <Slides>53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Wingdings</vt:lpstr>
      <vt:lpstr>Wingdings 2</vt:lpstr>
      <vt:lpstr>Office Theme</vt:lpstr>
      <vt:lpstr>Uninformed Search   (Blind Search) </vt:lpstr>
      <vt:lpstr>PowerPoint Presentation</vt:lpstr>
      <vt:lpstr>Find a Path</vt:lpstr>
      <vt:lpstr>Search Tree</vt:lpstr>
      <vt:lpstr> Search Tree-Terminology </vt:lpstr>
      <vt:lpstr>Search Tree-Terminology</vt:lpstr>
      <vt:lpstr>Search Tree</vt:lpstr>
      <vt:lpstr>Evaluating Search strategies</vt:lpstr>
      <vt:lpstr>Breadth First Search</vt:lpstr>
      <vt:lpstr>Breadth first search</vt:lpstr>
      <vt:lpstr>BFS illustration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Properties of Breadth-First Search</vt:lpstr>
      <vt:lpstr>Advantages &amp; Disadvantages</vt:lpstr>
      <vt:lpstr>Depth first Search</vt:lpstr>
      <vt:lpstr>DFS illustration</vt:lpstr>
      <vt:lpstr>PowerPoint Presentation</vt:lpstr>
      <vt:lpstr>PowerPoint Presentation</vt:lpstr>
      <vt:lpstr>PowerPoint Presentation</vt:lpstr>
      <vt:lpstr>PowerPoint Presentation</vt:lpstr>
      <vt:lpstr>PowerPoint Presentation</vt:lpstr>
      <vt:lpstr>What is the Complexity of Depth-First Search?</vt:lpstr>
      <vt:lpstr> Properties of Depth First Search </vt:lpstr>
      <vt:lpstr>Properties of Depth First Search</vt:lpstr>
      <vt:lpstr>Depth Limited Search</vt:lpstr>
      <vt:lpstr>Depth Limited Search</vt:lpstr>
      <vt:lpstr>Depth-First Iterative Deepening (DFID) </vt:lpstr>
      <vt:lpstr>Depth-First Iterative Deepening (DFID) </vt:lpstr>
      <vt:lpstr>Procedure</vt:lpstr>
      <vt:lpstr>Procedure</vt:lpstr>
      <vt:lpstr>PowerPoint Presentation</vt:lpstr>
      <vt:lpstr>Key points of DLS </vt:lpstr>
      <vt:lpstr>Iterative deepening search</vt:lpstr>
      <vt:lpstr>Iterative deepening search</vt:lpstr>
      <vt:lpstr>Iterative deepening search L=0</vt:lpstr>
      <vt:lpstr>Iterative deepening search L=1</vt:lpstr>
      <vt:lpstr>Iterative deepening search lL=2</vt:lpstr>
      <vt:lpstr>Iterative deepening search L=3</vt:lpstr>
      <vt:lpstr>Properties</vt:lpstr>
      <vt:lpstr>Properties</vt:lpstr>
      <vt:lpstr>Advantages &amp; Disadvantages</vt:lpstr>
      <vt:lpstr>Advantages &amp; Disadvantages</vt:lpstr>
      <vt:lpstr>Bi-directional search</vt:lpstr>
      <vt:lpstr>Bi-directional search</vt:lpstr>
      <vt:lpstr>Bi-directional search</vt:lpstr>
      <vt:lpstr>Time and Space Complexities</vt:lpstr>
      <vt:lpstr>Comparing Search Strategies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Uninformed Search </dc:title>
  <dc:creator>My PC</dc:creator>
  <cp:lastModifiedBy>Dr. Sajid</cp:lastModifiedBy>
  <cp:revision>67</cp:revision>
  <dcterms:created xsi:type="dcterms:W3CDTF">2006-08-16T00:00:00Z</dcterms:created>
  <dcterms:modified xsi:type="dcterms:W3CDTF">2025-10-10T13:32:15Z</dcterms:modified>
</cp:coreProperties>
</file>