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86" r:id="rId3"/>
    <p:sldId id="290" r:id="rId4"/>
    <p:sldId id="276" r:id="rId5"/>
    <p:sldId id="284" r:id="rId6"/>
    <p:sldId id="302" r:id="rId7"/>
    <p:sldId id="275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91" r:id="rId16"/>
    <p:sldId id="292" r:id="rId17"/>
    <p:sldId id="293" r:id="rId18"/>
    <p:sldId id="297" r:id="rId19"/>
    <p:sldId id="303" r:id="rId20"/>
    <p:sldId id="298" r:id="rId21"/>
    <p:sldId id="300" r:id="rId22"/>
    <p:sldId id="301" r:id="rId23"/>
    <p:sldId id="299" r:id="rId24"/>
    <p:sldId id="304" r:id="rId25"/>
    <p:sldId id="305" r:id="rId26"/>
    <p:sldId id="306" r:id="rId27"/>
    <p:sldId id="307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0" autoAdjust="0"/>
    <p:restoredTop sz="94660"/>
  </p:normalViewPr>
  <p:slideViewPr>
    <p:cSldViewPr>
      <p:cViewPr varScale="1">
        <p:scale>
          <a:sx n="65" d="100"/>
          <a:sy n="65" d="100"/>
        </p:scale>
        <p:origin x="13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FCE8B-050A-4476-AB66-A801EF62085B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30E9D-3CE3-41A5-8420-7FD712BF5BA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981200"/>
            <a:ext cx="7851648" cy="1600200"/>
          </a:xfrm>
        </p:spPr>
        <p:txBody>
          <a:bodyPr>
            <a:normAutofit fontScale="90000"/>
          </a:bodyPr>
          <a:lstStyle/>
          <a:p>
            <a:pPr algn="l"/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5300" dirty="0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Lecture</a:t>
            </a:r>
            <a:r>
              <a:rPr lang="en-GB" sz="6000" dirty="0" smtClean="0">
                <a:solidFill>
                  <a:schemeClr val="tx1"/>
                </a:solidFill>
              </a:rPr>
              <a:t> 6:</a:t>
            </a:r>
            <a:br>
              <a:rPr lang="en-GB" sz="6000" dirty="0" smtClean="0">
                <a:solidFill>
                  <a:schemeClr val="tx1"/>
                </a:solidFill>
              </a:rPr>
            </a:b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28536"/>
            <a:ext cx="7010400" cy="1752600"/>
          </a:xfrm>
        </p:spPr>
        <p:txBody>
          <a:bodyPr>
            <a:noAutofit/>
          </a:bodyPr>
          <a:lstStyle/>
          <a:p>
            <a:r>
              <a:rPr lang="en-US" sz="4400" b="1" dirty="0" smtClean="0"/>
              <a:t>Informed Search(cont’d)</a:t>
            </a:r>
            <a:endParaRPr lang="en-US" sz="4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編號版面配置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4E75A93-8D63-444C-9B9C-BAF9B0D3BDE0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zh-TW" b="1" dirty="0" smtClean="0"/>
              <a:t>Feasible Solution vs. Optimal Solution</a:t>
            </a:r>
            <a:endParaRPr lang="en-US" altLang="zh-TW" dirty="0" smtClean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DFS, BFS, hill climbing and best-first search can be used to solve some searching problem </a:t>
            </a:r>
            <a:r>
              <a:rPr lang="en-US" altLang="zh-TW" dirty="0" smtClean="0">
                <a:solidFill>
                  <a:srgbClr val="FF0000"/>
                </a:solidFill>
              </a:rPr>
              <a:t>for searching a feasible solution</a:t>
            </a:r>
            <a:r>
              <a:rPr lang="en-US" altLang="zh-TW" dirty="0" smtClean="0"/>
              <a:t>.</a:t>
            </a:r>
          </a:p>
          <a:p>
            <a:pPr eaLnBrk="1" hangingPunct="1"/>
            <a:r>
              <a:rPr lang="en-US" altLang="zh-TW" dirty="0" smtClean="0"/>
              <a:t>However, they cannot be used to solve the optimization problems </a:t>
            </a:r>
            <a:r>
              <a:rPr lang="en-US" altLang="zh-TW" dirty="0" smtClean="0">
                <a:solidFill>
                  <a:srgbClr val="FF0000"/>
                </a:solidFill>
              </a:rPr>
              <a:t>for searching an (the) optimal solution</a:t>
            </a:r>
            <a:r>
              <a:rPr lang="en-US" altLang="zh-TW" dirty="0" smtClean="0"/>
              <a:t>.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altLang="zh-TW" sz="28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8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8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8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8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800" dirty="0" smtClean="0"/>
          </a:p>
          <a:p>
            <a:pPr eaLnBrk="1" hangingPunct="1"/>
            <a:endParaRPr lang="en-US" altLang="zh-TW" sz="2800" dirty="0" smtClean="0"/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2085975" y="2462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EB0BB-39FC-4DE9-A300-F91D04F6D549}" type="slidenum">
              <a:rPr lang="en-US"/>
              <a:pPr/>
              <a:t>3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A* search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A* search uses an admissible heuristic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heuristic is admissible if it </a:t>
            </a:r>
            <a:r>
              <a:rPr lang="en-US" i="1" dirty="0"/>
              <a:t>never overestimates</a:t>
            </a:r>
            <a:r>
              <a:rPr lang="en-US" dirty="0"/>
              <a:t> the cost to reach the </a:t>
            </a:r>
            <a:r>
              <a:rPr lang="en-US" dirty="0" smtClean="0"/>
              <a:t>goal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A* search </a:t>
            </a:r>
            <a:r>
              <a:rPr lang="en-US" dirty="0" err="1" smtClean="0"/>
              <a:t>algo</a:t>
            </a:r>
            <a:r>
              <a:rPr lang="en-US" dirty="0" smtClean="0"/>
              <a:t> evaluate nodes by using the function: </a:t>
            </a:r>
          </a:p>
          <a:p>
            <a:pPr marL="393192" lvl="1" indent="0">
              <a:lnSpc>
                <a:spcPct val="9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       F(n) = G(n) + H(n) </a:t>
            </a:r>
          </a:p>
          <a:p>
            <a:pPr marL="393192" lvl="1" indent="0">
              <a:lnSpc>
                <a:spcPct val="9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G(n) = Cost of two immediate node   H(n) = Heuristic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Are optimistic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2000" dirty="0"/>
              <a:t>Formally: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2000" dirty="0"/>
              <a:t>	1. </a:t>
            </a:r>
            <a:r>
              <a:rPr lang="en-US" sz="2000" i="1" dirty="0"/>
              <a:t>h(n) &lt;= h*(n)</a:t>
            </a:r>
            <a:r>
              <a:rPr lang="en-US" sz="2000" dirty="0"/>
              <a:t> where </a:t>
            </a:r>
            <a:r>
              <a:rPr lang="en-US" sz="2000" i="1" dirty="0"/>
              <a:t>h*(n)</a:t>
            </a:r>
            <a:r>
              <a:rPr lang="en-US" sz="2000" dirty="0"/>
              <a:t> is the true cost from </a:t>
            </a:r>
            <a:r>
              <a:rPr lang="en-US" sz="2000" i="1" dirty="0"/>
              <a:t>n</a:t>
            </a:r>
            <a:endParaRPr lang="en-US" sz="2000" dirty="0"/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2000" dirty="0"/>
              <a:t>	2. </a:t>
            </a:r>
            <a:r>
              <a:rPr lang="en-US" sz="2000" i="1" dirty="0"/>
              <a:t>h(n) &gt;= 0</a:t>
            </a:r>
            <a:r>
              <a:rPr lang="en-US" sz="2000" dirty="0"/>
              <a:t> so </a:t>
            </a:r>
            <a:r>
              <a:rPr lang="en-US" sz="2000" i="1" dirty="0"/>
              <a:t>h(G)&gt;= 0</a:t>
            </a:r>
            <a:r>
              <a:rPr lang="en-US" sz="2000" dirty="0"/>
              <a:t> for any goal </a:t>
            </a:r>
            <a:r>
              <a:rPr lang="en-US" sz="2000" i="1" dirty="0"/>
              <a:t>G</a:t>
            </a:r>
            <a:r>
              <a:rPr lang="en-US" sz="2000" dirty="0"/>
              <a:t>.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sz="2000" dirty="0"/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2000" dirty="0"/>
              <a:t>e.g. </a:t>
            </a:r>
            <a:r>
              <a:rPr lang="en-US" sz="2000" i="1" dirty="0" err="1"/>
              <a:t>h</a:t>
            </a:r>
            <a:r>
              <a:rPr lang="en-US" sz="2000" i="1" baseline="-25000" dirty="0" err="1"/>
              <a:t>SLD</a:t>
            </a:r>
            <a:r>
              <a:rPr lang="en-US" sz="2000" i="1" dirty="0"/>
              <a:t>(n)</a:t>
            </a:r>
            <a:r>
              <a:rPr lang="en-US" sz="2000" dirty="0"/>
              <a:t> never overestimates the actual road distance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A*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Improved version of branch and bound</a:t>
            </a:r>
          </a:p>
          <a:p>
            <a:r>
              <a:rPr lang="en-US" dirty="0" smtClean="0"/>
              <a:t>Take underestimate distance</a:t>
            </a:r>
          </a:p>
          <a:p>
            <a:r>
              <a:rPr lang="en-US" dirty="0" smtClean="0"/>
              <a:t>If not find result within underestimate then we have to increase the estimate just like progressive </a:t>
            </a:r>
            <a:r>
              <a:rPr lang="en-US" dirty="0" err="1" smtClean="0"/>
              <a:t>deepining</a:t>
            </a:r>
            <a:endParaRPr lang="en-US" dirty="0" smtClean="0"/>
          </a:p>
          <a:p>
            <a:r>
              <a:rPr lang="en-US" dirty="0" smtClean="0"/>
              <a:t>On every node shows underestimated distance</a:t>
            </a:r>
          </a:p>
          <a:p>
            <a:r>
              <a:rPr lang="en-US" dirty="0" smtClean="0"/>
              <a:t>Total distance from initial to goal is nine</a:t>
            </a:r>
          </a:p>
          <a:p>
            <a:r>
              <a:rPr lang="en-US" dirty="0" smtClean="0"/>
              <a:t>In example take underestimated distance is not more than 8</a:t>
            </a:r>
          </a:p>
          <a:p>
            <a:r>
              <a:rPr lang="en-US" dirty="0" smtClean="0"/>
              <a:t>Prune more than eight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A*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 underestimate basis we did search step by step</a:t>
            </a:r>
          </a:p>
          <a:p>
            <a:r>
              <a:rPr lang="en-US" dirty="0" smtClean="0"/>
              <a:t>We increases the estimate if goal is not at underestimate</a:t>
            </a:r>
          </a:p>
          <a:p>
            <a:r>
              <a:rPr lang="en-US" dirty="0" smtClean="0"/>
              <a:t>We increases it progressively just like Iterative Deeping search</a:t>
            </a:r>
          </a:p>
          <a:p>
            <a:r>
              <a:rPr lang="en-US" dirty="0" smtClean="0"/>
              <a:t>Not guarantee to succeed every time</a:t>
            </a:r>
          </a:p>
          <a:p>
            <a:pPr algn="ctr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3" y="784123"/>
            <a:ext cx="8991600" cy="554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858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dirty="0" smtClean="0"/>
              <a:t>A*</a:t>
            </a:r>
            <a:endParaRPr lang="en-US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95425" y="2482056"/>
            <a:ext cx="615315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A* ( first under estimate = 8)</a:t>
            </a:r>
            <a:endParaRPr lang="en-US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4950" y="2215356"/>
            <a:ext cx="613410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685800"/>
            <a:ext cx="3352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A*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95387" y="2058194"/>
            <a:ext cx="6753225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A*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85862" y="2072481"/>
            <a:ext cx="67722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A*</a:t>
            </a:r>
            <a:endParaRPr lang="en-US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76350" y="2129631"/>
            <a:ext cx="65913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A*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90650" y="2172494"/>
            <a:ext cx="6362700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A*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57312" y="2077244"/>
            <a:ext cx="642937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A*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43012" y="1967706"/>
            <a:ext cx="6657975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3AAB3-3826-4DCC-A9EC-92BB586DB785}" type="slidenum">
              <a:rPr lang="en-US"/>
              <a:pPr/>
              <a:t>15</a:t>
            </a:fld>
            <a:endParaRPr 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A* search, evaluation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Completeness: YES</a:t>
            </a:r>
          </a:p>
          <a:p>
            <a:r>
              <a:rPr lang="en-US"/>
              <a:t>Time complexity:</a:t>
            </a:r>
          </a:p>
          <a:p>
            <a:pPr lvl="1"/>
            <a:r>
              <a:rPr lang="en-US"/>
              <a:t>Number of nodes expanded is still exponential in the length of the solution.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9BBA5-66E7-402C-97FC-B06F2531BB2E}" type="slidenum">
              <a:rPr lang="en-US"/>
              <a:pPr/>
              <a:t>16</a:t>
            </a:fld>
            <a:endParaRPr 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A* search, evaluation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Completeness: YES</a:t>
            </a:r>
          </a:p>
          <a:p>
            <a:r>
              <a:rPr lang="en-US"/>
              <a:t>Time complexity: (exponential with path length)</a:t>
            </a:r>
          </a:p>
          <a:p>
            <a:r>
              <a:rPr lang="en-US"/>
              <a:t>Space complexity:</a:t>
            </a:r>
          </a:p>
          <a:p>
            <a:pPr lvl="1"/>
            <a:r>
              <a:rPr lang="en-US"/>
              <a:t>It keeps all generated nodes in memory</a:t>
            </a:r>
          </a:p>
          <a:p>
            <a:pPr lvl="1"/>
            <a:r>
              <a:rPr lang="en-US"/>
              <a:t>Hence space is the major problem not time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D9409-F398-44E8-9F08-57506E99DDD7}" type="slidenum">
              <a:rPr lang="en-US"/>
              <a:pPr/>
              <a:t>17</a:t>
            </a:fld>
            <a:endParaRPr 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A* search, evaluation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Completeness: YES</a:t>
            </a:r>
          </a:p>
          <a:p>
            <a:pPr>
              <a:lnSpc>
                <a:spcPct val="90000"/>
              </a:lnSpc>
            </a:pPr>
            <a:r>
              <a:rPr lang="en-US" sz="2800"/>
              <a:t>Time complexity: (exponential with path length)</a:t>
            </a:r>
          </a:p>
          <a:p>
            <a:pPr>
              <a:lnSpc>
                <a:spcPct val="90000"/>
              </a:lnSpc>
            </a:pPr>
            <a:r>
              <a:rPr lang="en-US" sz="2800"/>
              <a:t>Space complexity:(all nodes are stored)</a:t>
            </a:r>
          </a:p>
          <a:p>
            <a:pPr>
              <a:lnSpc>
                <a:spcPct val="90000"/>
              </a:lnSpc>
            </a:pPr>
            <a:r>
              <a:rPr lang="en-US" sz="2800"/>
              <a:t>Optimality: YES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Cannot expand </a:t>
            </a:r>
            <a:r>
              <a:rPr lang="en-US" sz="2400" i="1"/>
              <a:t>f</a:t>
            </a:r>
            <a:r>
              <a:rPr lang="en-US" sz="2400" i="1" baseline="-25000"/>
              <a:t>i+1</a:t>
            </a:r>
            <a:r>
              <a:rPr lang="en-US" sz="2400"/>
              <a:t> until </a:t>
            </a:r>
            <a:r>
              <a:rPr lang="en-US" sz="2400" i="1"/>
              <a:t>f</a:t>
            </a:r>
            <a:r>
              <a:rPr lang="en-US" sz="2400" i="1" baseline="-25000"/>
              <a:t>i</a:t>
            </a:r>
            <a:r>
              <a:rPr lang="en-US" sz="2400"/>
              <a:t> is finished.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A* expands all nodes with </a:t>
            </a:r>
            <a:r>
              <a:rPr lang="en-US" sz="2400" i="1"/>
              <a:t>f(n)&lt; C*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400"/>
              <a:t>A* expands some nodes with </a:t>
            </a:r>
            <a:r>
              <a:rPr lang="en-US" sz="2400" i="1"/>
              <a:t>f(n)=C*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400"/>
              <a:t>A* expands no nodes with </a:t>
            </a:r>
            <a:r>
              <a:rPr lang="en-US" sz="2400" i="1"/>
              <a:t>f(n)&gt;C*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Also </a:t>
            </a:r>
            <a:r>
              <a:rPr lang="en-US" sz="2800" i="1"/>
              <a:t>optimally efficient </a:t>
            </a:r>
            <a:r>
              <a:rPr lang="en-US" sz="2800"/>
              <a:t>(not including ties)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en-US" dirty="0"/>
              <a:t>A*-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85000" lnSpcReduction="20000"/>
          </a:bodyPr>
          <a:lstStyle/>
          <a:p>
            <a:r>
              <a:rPr lang="en-US" dirty="0"/>
              <a:t>Goal: </a:t>
            </a:r>
            <a:r>
              <a:rPr lang="en-US" b="0" dirty="0"/>
              <a:t>find a minimum sum-cost path</a:t>
            </a:r>
          </a:p>
          <a:p>
            <a:r>
              <a:rPr lang="en-US" dirty="0"/>
              <a:t>Notation:</a:t>
            </a:r>
            <a:endParaRPr lang="en-US" b="0" dirty="0"/>
          </a:p>
          <a:p>
            <a:pPr lvl="1"/>
            <a:r>
              <a:rPr lang="en-US" dirty="0" smtClean="0"/>
              <a:t>g</a:t>
            </a:r>
            <a:r>
              <a:rPr lang="en-US" dirty="0"/>
              <a:t>^(n) = cost of current path from start to  node n in the search tree.</a:t>
            </a:r>
          </a:p>
          <a:p>
            <a:pPr lvl="1"/>
            <a:r>
              <a:rPr lang="en-US" dirty="0"/>
              <a:t>h^(n)  = estimate of the cheapest cost of a path from n to  a goal. </a:t>
            </a:r>
          </a:p>
          <a:p>
            <a:pPr lvl="1"/>
            <a:r>
              <a:rPr lang="en-US" dirty="0"/>
              <a:t>Special evaluation function:   f = </a:t>
            </a:r>
            <a:r>
              <a:rPr lang="en-US" dirty="0" err="1"/>
              <a:t>g+h</a:t>
            </a:r>
            <a:endParaRPr lang="en-US" dirty="0"/>
          </a:p>
          <a:p>
            <a:r>
              <a:rPr lang="en-US" dirty="0"/>
              <a:t>f(n) estimates </a:t>
            </a:r>
            <a:r>
              <a:rPr lang="en-US" b="0" dirty="0"/>
              <a:t>the cheapest cost solution path that goes through 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h(n) is the true cheapest cost from  n to a goal.</a:t>
            </a:r>
          </a:p>
          <a:p>
            <a:pPr lvl="1"/>
            <a:r>
              <a:rPr lang="en-US" dirty="0"/>
              <a:t>g(n) is the true shortest path from the start s, to  n. </a:t>
            </a:r>
          </a:p>
          <a:p>
            <a:pPr lvl="1"/>
            <a:endParaRPr lang="en-US" dirty="0"/>
          </a:p>
          <a:p>
            <a:r>
              <a:rPr lang="en-US" dirty="0"/>
              <a:t>If the heuristic function, h^, always underestimate the  true cost (</a:t>
            </a:r>
            <a:r>
              <a:rPr lang="en-US" b="0" dirty="0"/>
              <a:t>h^(n) is smaller than h(n)</a:t>
            </a:r>
            <a:r>
              <a:rPr lang="en-US" dirty="0"/>
              <a:t>), then A* is guaranteed to find an optimal solution.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22" y="704088"/>
            <a:ext cx="8576794" cy="423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15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C:\Program Files\Traction Software\Screen Grab Pro\screen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762000"/>
            <a:ext cx="8077200" cy="6096000"/>
          </a:xfrm>
          <a:prstGeom prst="rect">
            <a:avLst/>
          </a:prstGeom>
          <a:noFill/>
        </p:spPr>
      </p:pic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A* on 8-puzzle with h(n) = w(n)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844550" y="3587750"/>
            <a:ext cx="6997700" cy="2743200"/>
            <a:chOff x="532" y="2260"/>
            <a:chExt cx="4408" cy="1728"/>
          </a:xfrm>
        </p:grpSpPr>
        <p:sp>
          <p:nvSpPr>
            <p:cNvPr id="26626" name="Oval 2"/>
            <p:cNvSpPr>
              <a:spLocks noChangeArrowheads="1"/>
            </p:cNvSpPr>
            <p:nvPr/>
          </p:nvSpPr>
          <p:spPr bwMode="auto">
            <a:xfrm>
              <a:off x="532" y="2888"/>
              <a:ext cx="410" cy="30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7" name="Rectangle 3"/>
            <p:cNvSpPr>
              <a:spLocks noChangeArrowheads="1"/>
            </p:cNvSpPr>
            <p:nvPr/>
          </p:nvSpPr>
          <p:spPr bwMode="auto">
            <a:xfrm>
              <a:off x="640" y="2919"/>
              <a:ext cx="221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S</a:t>
              </a:r>
            </a:p>
          </p:txBody>
        </p:sp>
        <p:sp>
          <p:nvSpPr>
            <p:cNvPr id="26628" name="Oval 4"/>
            <p:cNvSpPr>
              <a:spLocks noChangeArrowheads="1"/>
            </p:cNvSpPr>
            <p:nvPr/>
          </p:nvSpPr>
          <p:spPr bwMode="auto">
            <a:xfrm>
              <a:off x="1322" y="3674"/>
              <a:ext cx="411" cy="30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9" name="Oval 5"/>
            <p:cNvSpPr>
              <a:spLocks noChangeArrowheads="1"/>
            </p:cNvSpPr>
            <p:nvPr/>
          </p:nvSpPr>
          <p:spPr bwMode="auto">
            <a:xfrm>
              <a:off x="2624" y="3674"/>
              <a:ext cx="410" cy="30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0" name="Oval 6"/>
            <p:cNvSpPr>
              <a:spLocks noChangeArrowheads="1"/>
            </p:cNvSpPr>
            <p:nvPr/>
          </p:nvSpPr>
          <p:spPr bwMode="auto">
            <a:xfrm>
              <a:off x="4065" y="3674"/>
              <a:ext cx="410" cy="30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1" name="Oval 7"/>
            <p:cNvSpPr>
              <a:spLocks noChangeArrowheads="1"/>
            </p:cNvSpPr>
            <p:nvPr/>
          </p:nvSpPr>
          <p:spPr bwMode="auto">
            <a:xfrm>
              <a:off x="4530" y="2810"/>
              <a:ext cx="410" cy="30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2" name="Oval 8"/>
            <p:cNvSpPr>
              <a:spLocks noChangeArrowheads="1"/>
            </p:cNvSpPr>
            <p:nvPr/>
          </p:nvSpPr>
          <p:spPr bwMode="auto">
            <a:xfrm>
              <a:off x="1369" y="2260"/>
              <a:ext cx="410" cy="30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3" name="Oval 9"/>
            <p:cNvSpPr>
              <a:spLocks noChangeArrowheads="1"/>
            </p:cNvSpPr>
            <p:nvPr/>
          </p:nvSpPr>
          <p:spPr bwMode="auto">
            <a:xfrm>
              <a:off x="2577" y="2260"/>
              <a:ext cx="411" cy="30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4" name="Oval 10"/>
            <p:cNvSpPr>
              <a:spLocks noChangeArrowheads="1"/>
            </p:cNvSpPr>
            <p:nvPr/>
          </p:nvSpPr>
          <p:spPr bwMode="auto">
            <a:xfrm>
              <a:off x="3786" y="2260"/>
              <a:ext cx="410" cy="30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5" name="Rectangle 11"/>
            <p:cNvSpPr>
              <a:spLocks noChangeArrowheads="1"/>
            </p:cNvSpPr>
            <p:nvPr/>
          </p:nvSpPr>
          <p:spPr bwMode="auto">
            <a:xfrm>
              <a:off x="4582" y="2855"/>
              <a:ext cx="253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26636" name="Rectangle 12"/>
            <p:cNvSpPr>
              <a:spLocks noChangeArrowheads="1"/>
            </p:cNvSpPr>
            <p:nvPr/>
          </p:nvSpPr>
          <p:spPr bwMode="auto">
            <a:xfrm>
              <a:off x="1448" y="2292"/>
              <a:ext cx="253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6637" name="Rectangle 13"/>
            <p:cNvSpPr>
              <a:spLocks noChangeArrowheads="1"/>
            </p:cNvSpPr>
            <p:nvPr/>
          </p:nvSpPr>
          <p:spPr bwMode="auto">
            <a:xfrm>
              <a:off x="2666" y="2283"/>
              <a:ext cx="242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6638" name="Rectangle 14"/>
            <p:cNvSpPr>
              <a:spLocks noChangeArrowheads="1"/>
            </p:cNvSpPr>
            <p:nvPr/>
          </p:nvSpPr>
          <p:spPr bwMode="auto">
            <a:xfrm>
              <a:off x="1421" y="3697"/>
              <a:ext cx="253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26639" name="Rectangle 15"/>
            <p:cNvSpPr>
              <a:spLocks noChangeArrowheads="1"/>
            </p:cNvSpPr>
            <p:nvPr/>
          </p:nvSpPr>
          <p:spPr bwMode="auto">
            <a:xfrm>
              <a:off x="2715" y="3702"/>
              <a:ext cx="231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26640" name="Rectangle 16"/>
            <p:cNvSpPr>
              <a:spLocks noChangeArrowheads="1"/>
            </p:cNvSpPr>
            <p:nvPr/>
          </p:nvSpPr>
          <p:spPr bwMode="auto">
            <a:xfrm>
              <a:off x="3864" y="2289"/>
              <a:ext cx="242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26641" name="Rectangle 17"/>
            <p:cNvSpPr>
              <a:spLocks noChangeArrowheads="1"/>
            </p:cNvSpPr>
            <p:nvPr/>
          </p:nvSpPr>
          <p:spPr bwMode="auto">
            <a:xfrm>
              <a:off x="4152" y="3697"/>
              <a:ext cx="221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6642" name="Line 18"/>
            <p:cNvSpPr>
              <a:spLocks noChangeShapeType="1"/>
            </p:cNvSpPr>
            <p:nvPr/>
          </p:nvSpPr>
          <p:spPr bwMode="auto">
            <a:xfrm>
              <a:off x="4154" y="2531"/>
              <a:ext cx="418" cy="3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Line 19"/>
            <p:cNvSpPr>
              <a:spLocks noChangeShapeType="1"/>
            </p:cNvSpPr>
            <p:nvPr/>
          </p:nvSpPr>
          <p:spPr bwMode="auto">
            <a:xfrm>
              <a:off x="2945" y="2531"/>
              <a:ext cx="1581" cy="3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Line 20"/>
            <p:cNvSpPr>
              <a:spLocks noChangeShapeType="1"/>
            </p:cNvSpPr>
            <p:nvPr/>
          </p:nvSpPr>
          <p:spPr bwMode="auto">
            <a:xfrm>
              <a:off x="1690" y="2531"/>
              <a:ext cx="283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Line 21"/>
            <p:cNvSpPr>
              <a:spLocks noChangeShapeType="1"/>
            </p:cNvSpPr>
            <p:nvPr/>
          </p:nvSpPr>
          <p:spPr bwMode="auto">
            <a:xfrm flipV="1">
              <a:off x="946" y="3002"/>
              <a:ext cx="358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Line 22"/>
            <p:cNvSpPr>
              <a:spLocks noChangeShapeType="1"/>
            </p:cNvSpPr>
            <p:nvPr/>
          </p:nvSpPr>
          <p:spPr bwMode="auto">
            <a:xfrm flipV="1">
              <a:off x="1644" y="3041"/>
              <a:ext cx="2928" cy="6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Line 23"/>
            <p:cNvSpPr>
              <a:spLocks noChangeShapeType="1"/>
            </p:cNvSpPr>
            <p:nvPr/>
          </p:nvSpPr>
          <p:spPr bwMode="auto">
            <a:xfrm flipV="1">
              <a:off x="2992" y="3081"/>
              <a:ext cx="1580" cy="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Line 24"/>
            <p:cNvSpPr>
              <a:spLocks noChangeShapeType="1"/>
            </p:cNvSpPr>
            <p:nvPr/>
          </p:nvSpPr>
          <p:spPr bwMode="auto">
            <a:xfrm flipV="1">
              <a:off x="4340" y="3120"/>
              <a:ext cx="325" cy="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Rectangle 25"/>
            <p:cNvSpPr>
              <a:spLocks noChangeArrowheads="1"/>
            </p:cNvSpPr>
            <p:nvPr/>
          </p:nvSpPr>
          <p:spPr bwMode="auto">
            <a:xfrm>
              <a:off x="4236" y="2401"/>
              <a:ext cx="354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4.0</a:t>
              </a:r>
            </a:p>
          </p:txBody>
        </p:sp>
        <p:sp>
          <p:nvSpPr>
            <p:cNvPr id="26650" name="Rectangle 26"/>
            <p:cNvSpPr>
              <a:spLocks noChangeArrowheads="1"/>
            </p:cNvSpPr>
            <p:nvPr/>
          </p:nvSpPr>
          <p:spPr bwMode="auto">
            <a:xfrm>
              <a:off x="3074" y="2401"/>
              <a:ext cx="354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6.7</a:t>
              </a:r>
            </a:p>
          </p:txBody>
        </p:sp>
        <p:sp>
          <p:nvSpPr>
            <p:cNvPr id="26651" name="Rectangle 27"/>
            <p:cNvSpPr>
              <a:spLocks noChangeArrowheads="1"/>
            </p:cNvSpPr>
            <p:nvPr/>
          </p:nvSpPr>
          <p:spPr bwMode="auto">
            <a:xfrm>
              <a:off x="1912" y="2361"/>
              <a:ext cx="450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10.4</a:t>
              </a:r>
            </a:p>
          </p:txBody>
        </p:sp>
        <p:sp>
          <p:nvSpPr>
            <p:cNvPr id="26652" name="Rectangle 28"/>
            <p:cNvSpPr>
              <a:spLocks noChangeArrowheads="1"/>
            </p:cNvSpPr>
            <p:nvPr/>
          </p:nvSpPr>
          <p:spPr bwMode="auto">
            <a:xfrm>
              <a:off x="1168" y="2793"/>
              <a:ext cx="450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11.0</a:t>
              </a:r>
            </a:p>
          </p:txBody>
        </p:sp>
        <p:sp>
          <p:nvSpPr>
            <p:cNvPr id="26653" name="Rectangle 29"/>
            <p:cNvSpPr>
              <a:spLocks noChangeArrowheads="1"/>
            </p:cNvSpPr>
            <p:nvPr/>
          </p:nvSpPr>
          <p:spPr bwMode="auto">
            <a:xfrm>
              <a:off x="1912" y="3422"/>
              <a:ext cx="354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8.9</a:t>
              </a:r>
            </a:p>
          </p:txBody>
        </p:sp>
        <p:sp>
          <p:nvSpPr>
            <p:cNvPr id="26654" name="Rectangle 30"/>
            <p:cNvSpPr>
              <a:spLocks noChangeArrowheads="1"/>
            </p:cNvSpPr>
            <p:nvPr/>
          </p:nvSpPr>
          <p:spPr bwMode="auto">
            <a:xfrm>
              <a:off x="3167" y="3579"/>
              <a:ext cx="354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6.9</a:t>
              </a:r>
            </a:p>
          </p:txBody>
        </p:sp>
        <p:sp>
          <p:nvSpPr>
            <p:cNvPr id="26655" name="Rectangle 31"/>
            <p:cNvSpPr>
              <a:spLocks noChangeArrowheads="1"/>
            </p:cNvSpPr>
            <p:nvPr/>
          </p:nvSpPr>
          <p:spPr bwMode="auto">
            <a:xfrm>
              <a:off x="4422" y="3422"/>
              <a:ext cx="354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400" b="0">
                  <a:latin typeface="Times New Roman" pitchFamily="18" charset="0"/>
                </a:rPr>
                <a:t>3.0</a:t>
              </a:r>
            </a:p>
          </p:txBody>
        </p:sp>
      </p:grpSp>
      <p:sp>
        <p:nvSpPr>
          <p:cNvPr id="26657" name="Oval 33"/>
          <p:cNvSpPr>
            <a:spLocks noChangeArrowheads="1"/>
          </p:cNvSpPr>
          <p:nvPr/>
        </p:nvSpPr>
        <p:spPr bwMode="auto">
          <a:xfrm>
            <a:off x="692150" y="1371600"/>
            <a:ext cx="687388" cy="44291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58" name="Rectangle 34"/>
          <p:cNvSpPr>
            <a:spLocks noChangeArrowheads="1"/>
          </p:cNvSpPr>
          <p:nvPr/>
        </p:nvSpPr>
        <p:spPr bwMode="auto">
          <a:xfrm>
            <a:off x="877888" y="1411288"/>
            <a:ext cx="35083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S</a:t>
            </a:r>
          </a:p>
        </p:txBody>
      </p:sp>
      <p:sp>
        <p:nvSpPr>
          <p:cNvPr id="26659" name="Oval 35"/>
          <p:cNvSpPr>
            <a:spLocks noChangeArrowheads="1"/>
          </p:cNvSpPr>
          <p:nvPr/>
        </p:nvSpPr>
        <p:spPr bwMode="auto">
          <a:xfrm>
            <a:off x="2014538" y="2511425"/>
            <a:ext cx="687387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60" name="Oval 36"/>
          <p:cNvSpPr>
            <a:spLocks noChangeArrowheads="1"/>
          </p:cNvSpPr>
          <p:nvPr/>
        </p:nvSpPr>
        <p:spPr bwMode="auto">
          <a:xfrm>
            <a:off x="4192588" y="2511425"/>
            <a:ext cx="688975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61" name="Oval 37"/>
          <p:cNvSpPr>
            <a:spLocks noChangeArrowheads="1"/>
          </p:cNvSpPr>
          <p:nvPr/>
        </p:nvSpPr>
        <p:spPr bwMode="auto">
          <a:xfrm>
            <a:off x="6605588" y="2511425"/>
            <a:ext cx="687387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62" name="Oval 38"/>
          <p:cNvSpPr>
            <a:spLocks noChangeArrowheads="1"/>
          </p:cNvSpPr>
          <p:nvPr/>
        </p:nvSpPr>
        <p:spPr bwMode="auto">
          <a:xfrm>
            <a:off x="7383463" y="1257300"/>
            <a:ext cx="687387" cy="44291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63" name="Oval 39"/>
          <p:cNvSpPr>
            <a:spLocks noChangeArrowheads="1"/>
          </p:cNvSpPr>
          <p:nvPr/>
        </p:nvSpPr>
        <p:spPr bwMode="auto">
          <a:xfrm>
            <a:off x="2092325" y="458788"/>
            <a:ext cx="687388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64" name="Oval 40"/>
          <p:cNvSpPr>
            <a:spLocks noChangeArrowheads="1"/>
          </p:cNvSpPr>
          <p:nvPr/>
        </p:nvSpPr>
        <p:spPr bwMode="auto">
          <a:xfrm>
            <a:off x="4114800" y="458788"/>
            <a:ext cx="688975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65" name="Oval 41"/>
          <p:cNvSpPr>
            <a:spLocks noChangeArrowheads="1"/>
          </p:cNvSpPr>
          <p:nvPr/>
        </p:nvSpPr>
        <p:spPr bwMode="auto">
          <a:xfrm>
            <a:off x="6138863" y="458788"/>
            <a:ext cx="687387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66" name="Rectangle 42"/>
          <p:cNvSpPr>
            <a:spLocks noChangeArrowheads="1"/>
          </p:cNvSpPr>
          <p:nvPr/>
        </p:nvSpPr>
        <p:spPr bwMode="auto">
          <a:xfrm>
            <a:off x="7475538" y="1317625"/>
            <a:ext cx="40163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G</a:t>
            </a:r>
          </a:p>
        </p:txBody>
      </p:sp>
      <p:sp>
        <p:nvSpPr>
          <p:cNvPr id="26667" name="Rectangle 43"/>
          <p:cNvSpPr>
            <a:spLocks noChangeArrowheads="1"/>
          </p:cNvSpPr>
          <p:nvPr/>
        </p:nvSpPr>
        <p:spPr bwMode="auto">
          <a:xfrm>
            <a:off x="2230438" y="500063"/>
            <a:ext cx="40163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A</a:t>
            </a:r>
          </a:p>
        </p:txBody>
      </p:sp>
      <p:sp>
        <p:nvSpPr>
          <p:cNvPr id="26668" name="Rectangle 44"/>
          <p:cNvSpPr>
            <a:spLocks noChangeArrowheads="1"/>
          </p:cNvSpPr>
          <p:nvPr/>
        </p:nvSpPr>
        <p:spPr bwMode="auto">
          <a:xfrm>
            <a:off x="4270375" y="487363"/>
            <a:ext cx="3841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B</a:t>
            </a:r>
          </a:p>
        </p:txBody>
      </p:sp>
      <p:sp>
        <p:nvSpPr>
          <p:cNvPr id="26669" name="Rectangle 45"/>
          <p:cNvSpPr>
            <a:spLocks noChangeArrowheads="1"/>
          </p:cNvSpPr>
          <p:nvPr/>
        </p:nvSpPr>
        <p:spPr bwMode="auto">
          <a:xfrm>
            <a:off x="2185988" y="2540000"/>
            <a:ext cx="40163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D</a:t>
            </a:r>
          </a:p>
        </p:txBody>
      </p:sp>
      <p:sp>
        <p:nvSpPr>
          <p:cNvPr id="26670" name="Rectangle 46"/>
          <p:cNvSpPr>
            <a:spLocks noChangeArrowheads="1"/>
          </p:cNvSpPr>
          <p:nvPr/>
        </p:nvSpPr>
        <p:spPr bwMode="auto">
          <a:xfrm>
            <a:off x="4351338" y="2549525"/>
            <a:ext cx="3667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E</a:t>
            </a:r>
          </a:p>
        </p:txBody>
      </p:sp>
      <p:sp>
        <p:nvSpPr>
          <p:cNvPr id="26671" name="Rectangle 47"/>
          <p:cNvSpPr>
            <a:spLocks noChangeArrowheads="1"/>
          </p:cNvSpPr>
          <p:nvPr/>
        </p:nvSpPr>
        <p:spPr bwMode="auto">
          <a:xfrm>
            <a:off x="6275388" y="496888"/>
            <a:ext cx="3841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C</a:t>
            </a:r>
          </a:p>
        </p:txBody>
      </p:sp>
      <p:sp>
        <p:nvSpPr>
          <p:cNvPr id="26672" name="Rectangle 48"/>
          <p:cNvSpPr>
            <a:spLocks noChangeArrowheads="1"/>
          </p:cNvSpPr>
          <p:nvPr/>
        </p:nvSpPr>
        <p:spPr bwMode="auto">
          <a:xfrm>
            <a:off x="6756400" y="2540000"/>
            <a:ext cx="3508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F</a:t>
            </a:r>
          </a:p>
        </p:txBody>
      </p:sp>
      <p:sp>
        <p:nvSpPr>
          <p:cNvPr id="26673" name="Line 49"/>
          <p:cNvSpPr>
            <a:spLocks noChangeShapeType="1"/>
          </p:cNvSpPr>
          <p:nvPr/>
        </p:nvSpPr>
        <p:spPr bwMode="auto">
          <a:xfrm>
            <a:off x="1308100" y="1763713"/>
            <a:ext cx="777875" cy="798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74" name="Line 50"/>
          <p:cNvSpPr>
            <a:spLocks noChangeShapeType="1"/>
          </p:cNvSpPr>
          <p:nvPr/>
        </p:nvSpPr>
        <p:spPr bwMode="auto">
          <a:xfrm flipV="1">
            <a:off x="1230313" y="736600"/>
            <a:ext cx="855662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75" name="Line 51"/>
          <p:cNvSpPr>
            <a:spLocks noChangeShapeType="1"/>
          </p:cNvSpPr>
          <p:nvPr/>
        </p:nvSpPr>
        <p:spPr bwMode="auto">
          <a:xfrm>
            <a:off x="2397125" y="909638"/>
            <a:ext cx="0" cy="1595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76" name="Line 52"/>
          <p:cNvSpPr>
            <a:spLocks noChangeShapeType="1"/>
          </p:cNvSpPr>
          <p:nvPr/>
        </p:nvSpPr>
        <p:spPr bwMode="auto">
          <a:xfrm>
            <a:off x="2786063" y="679450"/>
            <a:ext cx="1322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77" name="Line 53"/>
          <p:cNvSpPr>
            <a:spLocks noChangeShapeType="1"/>
          </p:cNvSpPr>
          <p:nvPr/>
        </p:nvSpPr>
        <p:spPr bwMode="auto">
          <a:xfrm>
            <a:off x="2708275" y="2733675"/>
            <a:ext cx="14779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78" name="Line 54"/>
          <p:cNvSpPr>
            <a:spLocks noChangeShapeType="1"/>
          </p:cNvSpPr>
          <p:nvPr/>
        </p:nvSpPr>
        <p:spPr bwMode="auto">
          <a:xfrm>
            <a:off x="4810125" y="736600"/>
            <a:ext cx="132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79" name="Line 55"/>
          <p:cNvSpPr>
            <a:spLocks noChangeShapeType="1"/>
          </p:cNvSpPr>
          <p:nvPr/>
        </p:nvSpPr>
        <p:spPr bwMode="auto">
          <a:xfrm>
            <a:off x="4887913" y="2676525"/>
            <a:ext cx="1711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80" name="Line 56"/>
          <p:cNvSpPr>
            <a:spLocks noChangeShapeType="1"/>
          </p:cNvSpPr>
          <p:nvPr/>
        </p:nvSpPr>
        <p:spPr bwMode="auto">
          <a:xfrm flipV="1">
            <a:off x="7065963" y="1706563"/>
            <a:ext cx="544512" cy="798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81" name="Line 57"/>
          <p:cNvSpPr>
            <a:spLocks noChangeShapeType="1"/>
          </p:cNvSpPr>
          <p:nvPr/>
        </p:nvSpPr>
        <p:spPr bwMode="auto">
          <a:xfrm>
            <a:off x="4498975" y="909638"/>
            <a:ext cx="0" cy="1595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82" name="Rectangle 58"/>
          <p:cNvSpPr>
            <a:spLocks noChangeArrowheads="1"/>
          </p:cNvSpPr>
          <p:nvPr/>
        </p:nvSpPr>
        <p:spPr bwMode="auto">
          <a:xfrm>
            <a:off x="1373188" y="715963"/>
            <a:ext cx="3333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2</a:t>
            </a:r>
          </a:p>
        </p:txBody>
      </p:sp>
      <p:sp>
        <p:nvSpPr>
          <p:cNvPr id="26683" name="Rectangle 59"/>
          <p:cNvSpPr>
            <a:spLocks noChangeArrowheads="1"/>
          </p:cNvSpPr>
          <p:nvPr/>
        </p:nvSpPr>
        <p:spPr bwMode="auto">
          <a:xfrm>
            <a:off x="3162300" y="260350"/>
            <a:ext cx="3333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1</a:t>
            </a:r>
          </a:p>
        </p:txBody>
      </p:sp>
      <p:sp>
        <p:nvSpPr>
          <p:cNvPr id="26684" name="Rectangle 60"/>
          <p:cNvSpPr>
            <a:spLocks noChangeArrowheads="1"/>
          </p:cNvSpPr>
          <p:nvPr/>
        </p:nvSpPr>
        <p:spPr bwMode="auto">
          <a:xfrm>
            <a:off x="2462213" y="1343025"/>
            <a:ext cx="3333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2</a:t>
            </a:r>
          </a:p>
        </p:txBody>
      </p:sp>
      <p:sp>
        <p:nvSpPr>
          <p:cNvPr id="26685" name="Rectangle 61"/>
          <p:cNvSpPr>
            <a:spLocks noChangeArrowheads="1"/>
          </p:cNvSpPr>
          <p:nvPr/>
        </p:nvSpPr>
        <p:spPr bwMode="auto">
          <a:xfrm>
            <a:off x="1217613" y="2084388"/>
            <a:ext cx="3333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5</a:t>
            </a:r>
          </a:p>
        </p:txBody>
      </p:sp>
      <p:sp>
        <p:nvSpPr>
          <p:cNvPr id="26686" name="Rectangle 62"/>
          <p:cNvSpPr>
            <a:spLocks noChangeArrowheads="1"/>
          </p:cNvSpPr>
          <p:nvPr/>
        </p:nvSpPr>
        <p:spPr bwMode="auto">
          <a:xfrm>
            <a:off x="5264150" y="203200"/>
            <a:ext cx="3333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4</a:t>
            </a:r>
          </a:p>
        </p:txBody>
      </p:sp>
      <p:sp>
        <p:nvSpPr>
          <p:cNvPr id="26687" name="Rectangle 63"/>
          <p:cNvSpPr>
            <a:spLocks noChangeArrowheads="1"/>
          </p:cNvSpPr>
          <p:nvPr/>
        </p:nvSpPr>
        <p:spPr bwMode="auto">
          <a:xfrm>
            <a:off x="3162300" y="2312988"/>
            <a:ext cx="3333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2</a:t>
            </a:r>
          </a:p>
        </p:txBody>
      </p:sp>
      <p:sp>
        <p:nvSpPr>
          <p:cNvPr id="26688" name="Rectangle 64"/>
          <p:cNvSpPr>
            <a:spLocks noChangeArrowheads="1"/>
          </p:cNvSpPr>
          <p:nvPr/>
        </p:nvSpPr>
        <p:spPr bwMode="auto">
          <a:xfrm>
            <a:off x="5497513" y="2198688"/>
            <a:ext cx="3333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4</a:t>
            </a:r>
          </a:p>
        </p:txBody>
      </p:sp>
      <p:sp>
        <p:nvSpPr>
          <p:cNvPr id="26689" name="Rectangle 65"/>
          <p:cNvSpPr>
            <a:spLocks noChangeArrowheads="1"/>
          </p:cNvSpPr>
          <p:nvPr/>
        </p:nvSpPr>
        <p:spPr bwMode="auto">
          <a:xfrm>
            <a:off x="7597775" y="1970088"/>
            <a:ext cx="3333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3</a:t>
            </a:r>
          </a:p>
        </p:txBody>
      </p:sp>
      <p:sp>
        <p:nvSpPr>
          <p:cNvPr id="26690" name="Rectangle 66"/>
          <p:cNvSpPr>
            <a:spLocks noChangeArrowheads="1"/>
          </p:cNvSpPr>
          <p:nvPr/>
        </p:nvSpPr>
        <p:spPr bwMode="auto">
          <a:xfrm>
            <a:off x="4641850" y="1285875"/>
            <a:ext cx="3333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dirty="0"/>
              <a:t>Example of A* Algorithm in action</a:t>
            </a:r>
          </a:p>
        </p:txBody>
      </p:sp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4829175" y="1222375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4929188" y="1233488"/>
            <a:ext cx="35083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S</a:t>
            </a:r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 flipH="1">
            <a:off x="3754438" y="1544638"/>
            <a:ext cx="1079500" cy="234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>
            <a:off x="5345113" y="1500188"/>
            <a:ext cx="1227137" cy="220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3390900" y="1770063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6435725" y="1704975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3502025" y="1781175"/>
            <a:ext cx="4016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A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6510338" y="1722438"/>
            <a:ext cx="40163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D</a:t>
            </a:r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 flipH="1">
            <a:off x="2316163" y="2017713"/>
            <a:ext cx="1079500" cy="234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84" name="Oval 12"/>
          <p:cNvSpPr>
            <a:spLocks noChangeArrowheads="1"/>
          </p:cNvSpPr>
          <p:nvPr/>
        </p:nvSpPr>
        <p:spPr bwMode="auto">
          <a:xfrm>
            <a:off x="1952625" y="2243138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2063750" y="2254250"/>
            <a:ext cx="3841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B</a:t>
            </a:r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>
            <a:off x="3921125" y="2017713"/>
            <a:ext cx="1227138" cy="220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87" name="Oval 15"/>
          <p:cNvSpPr>
            <a:spLocks noChangeArrowheads="1"/>
          </p:cNvSpPr>
          <p:nvPr/>
        </p:nvSpPr>
        <p:spPr bwMode="auto">
          <a:xfrm>
            <a:off x="5011738" y="2222500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5086350" y="2239963"/>
            <a:ext cx="4016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D</a:t>
            </a:r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 flipH="1">
            <a:off x="1273175" y="2565400"/>
            <a:ext cx="712788" cy="644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90" name="Oval 18"/>
          <p:cNvSpPr>
            <a:spLocks noChangeArrowheads="1"/>
          </p:cNvSpPr>
          <p:nvPr/>
        </p:nvSpPr>
        <p:spPr bwMode="auto">
          <a:xfrm>
            <a:off x="1039813" y="3227388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1150938" y="3238500"/>
            <a:ext cx="3841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C</a:t>
            </a:r>
          </a:p>
        </p:txBody>
      </p:sp>
      <p:sp>
        <p:nvSpPr>
          <p:cNvPr id="28692" name="Oval 20"/>
          <p:cNvSpPr>
            <a:spLocks noChangeArrowheads="1"/>
          </p:cNvSpPr>
          <p:nvPr/>
        </p:nvSpPr>
        <p:spPr bwMode="auto">
          <a:xfrm>
            <a:off x="2417763" y="3219450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2528888" y="3230563"/>
            <a:ext cx="3667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E</a:t>
            </a:r>
          </a:p>
        </p:txBody>
      </p:sp>
      <p:sp>
        <p:nvSpPr>
          <p:cNvPr id="28694" name="Line 22"/>
          <p:cNvSpPr>
            <a:spLocks noChangeShapeType="1"/>
          </p:cNvSpPr>
          <p:nvPr/>
        </p:nvSpPr>
        <p:spPr bwMode="auto">
          <a:xfrm>
            <a:off x="2352675" y="2668588"/>
            <a:ext cx="249238" cy="541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95" name="Line 23"/>
          <p:cNvSpPr>
            <a:spLocks noChangeShapeType="1"/>
          </p:cNvSpPr>
          <p:nvPr/>
        </p:nvSpPr>
        <p:spPr bwMode="auto">
          <a:xfrm>
            <a:off x="1273175" y="3662363"/>
            <a:ext cx="0" cy="641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96" name="Line 24"/>
          <p:cNvSpPr>
            <a:spLocks noChangeShapeType="1"/>
          </p:cNvSpPr>
          <p:nvPr/>
        </p:nvSpPr>
        <p:spPr bwMode="auto">
          <a:xfrm>
            <a:off x="5403850" y="2654300"/>
            <a:ext cx="407988" cy="701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97" name="Oval 25"/>
          <p:cNvSpPr>
            <a:spLocks noChangeArrowheads="1"/>
          </p:cNvSpPr>
          <p:nvPr/>
        </p:nvSpPr>
        <p:spPr bwMode="auto">
          <a:xfrm>
            <a:off x="5562600" y="3343275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5673725" y="3354388"/>
            <a:ext cx="3667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E</a:t>
            </a:r>
          </a:p>
        </p:txBody>
      </p:sp>
      <p:sp>
        <p:nvSpPr>
          <p:cNvPr id="28699" name="Oval 27"/>
          <p:cNvSpPr>
            <a:spLocks noChangeArrowheads="1"/>
          </p:cNvSpPr>
          <p:nvPr/>
        </p:nvSpPr>
        <p:spPr bwMode="auto">
          <a:xfrm>
            <a:off x="4525963" y="4392613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700" name="Rectangle 28"/>
          <p:cNvSpPr>
            <a:spLocks noChangeArrowheads="1"/>
          </p:cNvSpPr>
          <p:nvPr/>
        </p:nvSpPr>
        <p:spPr bwMode="auto">
          <a:xfrm>
            <a:off x="4637088" y="4403725"/>
            <a:ext cx="3841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B</a:t>
            </a:r>
          </a:p>
        </p:txBody>
      </p:sp>
      <p:sp>
        <p:nvSpPr>
          <p:cNvPr id="28701" name="Oval 29"/>
          <p:cNvSpPr>
            <a:spLocks noChangeArrowheads="1"/>
          </p:cNvSpPr>
          <p:nvPr/>
        </p:nvSpPr>
        <p:spPr bwMode="auto">
          <a:xfrm>
            <a:off x="6283325" y="4413250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702" name="Rectangle 30"/>
          <p:cNvSpPr>
            <a:spLocks noChangeArrowheads="1"/>
          </p:cNvSpPr>
          <p:nvPr/>
        </p:nvSpPr>
        <p:spPr bwMode="auto">
          <a:xfrm>
            <a:off x="6380163" y="4394200"/>
            <a:ext cx="35083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F</a:t>
            </a:r>
          </a:p>
        </p:txBody>
      </p:sp>
      <p:sp>
        <p:nvSpPr>
          <p:cNvPr id="28703" name="Oval 31"/>
          <p:cNvSpPr>
            <a:spLocks noChangeArrowheads="1"/>
          </p:cNvSpPr>
          <p:nvPr/>
        </p:nvSpPr>
        <p:spPr bwMode="auto">
          <a:xfrm>
            <a:off x="6859588" y="5568950"/>
            <a:ext cx="520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704" name="Rectangle 32"/>
          <p:cNvSpPr>
            <a:spLocks noChangeArrowheads="1"/>
          </p:cNvSpPr>
          <p:nvPr/>
        </p:nvSpPr>
        <p:spPr bwMode="auto">
          <a:xfrm>
            <a:off x="6911975" y="5580063"/>
            <a:ext cx="4016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0">
                <a:latin typeface="Times New Roman" pitchFamily="18" charset="0"/>
              </a:rPr>
              <a:t>G</a:t>
            </a:r>
          </a:p>
        </p:txBody>
      </p:sp>
      <p:sp>
        <p:nvSpPr>
          <p:cNvPr id="28705" name="Line 33"/>
          <p:cNvSpPr>
            <a:spLocks noChangeShapeType="1"/>
          </p:cNvSpPr>
          <p:nvPr/>
        </p:nvSpPr>
        <p:spPr bwMode="auto">
          <a:xfrm>
            <a:off x="5994400" y="3754438"/>
            <a:ext cx="407988" cy="701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706" name="Line 34"/>
          <p:cNvSpPr>
            <a:spLocks noChangeShapeType="1"/>
          </p:cNvSpPr>
          <p:nvPr/>
        </p:nvSpPr>
        <p:spPr bwMode="auto">
          <a:xfrm flipV="1">
            <a:off x="4987925" y="3749675"/>
            <a:ext cx="663575" cy="736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707" name="Line 35"/>
          <p:cNvSpPr>
            <a:spLocks noChangeShapeType="1"/>
          </p:cNvSpPr>
          <p:nvPr/>
        </p:nvSpPr>
        <p:spPr bwMode="auto">
          <a:xfrm>
            <a:off x="6643688" y="4854575"/>
            <a:ext cx="407987" cy="701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708" name="Rectangle 36"/>
          <p:cNvSpPr>
            <a:spLocks noChangeArrowheads="1"/>
          </p:cNvSpPr>
          <p:nvPr/>
        </p:nvSpPr>
        <p:spPr bwMode="auto">
          <a:xfrm>
            <a:off x="1793875" y="1468438"/>
            <a:ext cx="1465146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 dirty="0"/>
              <a:t>2 +10.4 = </a:t>
            </a:r>
            <a:r>
              <a:rPr lang="en-US" b="0" dirty="0" smtClean="0"/>
              <a:t>12.4</a:t>
            </a:r>
            <a:endParaRPr lang="en-US" b="0" dirty="0"/>
          </a:p>
        </p:txBody>
      </p:sp>
      <p:sp>
        <p:nvSpPr>
          <p:cNvPr id="28709" name="Rectangle 37"/>
          <p:cNvSpPr>
            <a:spLocks noChangeArrowheads="1"/>
          </p:cNvSpPr>
          <p:nvPr/>
        </p:nvSpPr>
        <p:spPr bwMode="auto">
          <a:xfrm>
            <a:off x="6175375" y="1309688"/>
            <a:ext cx="15906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5 + 8.9 = 13.9</a:t>
            </a:r>
          </a:p>
        </p:txBody>
      </p:sp>
      <p:sp>
        <p:nvSpPr>
          <p:cNvPr id="28710" name="Rectangle 38"/>
          <p:cNvSpPr>
            <a:spLocks noChangeArrowheads="1"/>
          </p:cNvSpPr>
          <p:nvPr/>
        </p:nvSpPr>
        <p:spPr bwMode="auto">
          <a:xfrm>
            <a:off x="700088" y="2024063"/>
            <a:ext cx="14636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3 + 6.7 = 9.7</a:t>
            </a:r>
          </a:p>
        </p:txBody>
      </p:sp>
      <p:sp>
        <p:nvSpPr>
          <p:cNvPr id="28711" name="Rectangle 39"/>
          <p:cNvSpPr>
            <a:spLocks noChangeArrowheads="1"/>
          </p:cNvSpPr>
          <p:nvPr/>
        </p:nvSpPr>
        <p:spPr bwMode="auto">
          <a:xfrm>
            <a:off x="58738" y="2884488"/>
            <a:ext cx="12096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7 + 4 = 11</a:t>
            </a:r>
          </a:p>
        </p:txBody>
      </p:sp>
      <p:sp>
        <p:nvSpPr>
          <p:cNvPr id="28712" name="Rectangle 40"/>
          <p:cNvSpPr>
            <a:spLocks noChangeArrowheads="1"/>
          </p:cNvSpPr>
          <p:nvPr/>
        </p:nvSpPr>
        <p:spPr bwMode="auto">
          <a:xfrm>
            <a:off x="2716213" y="2943225"/>
            <a:ext cx="15906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8 + 6.9 = 14.9</a:t>
            </a:r>
          </a:p>
        </p:txBody>
      </p:sp>
      <p:sp>
        <p:nvSpPr>
          <p:cNvPr id="28713" name="Rectangle 41"/>
          <p:cNvSpPr>
            <a:spLocks noChangeArrowheads="1"/>
          </p:cNvSpPr>
          <p:nvPr/>
        </p:nvSpPr>
        <p:spPr bwMode="auto">
          <a:xfrm>
            <a:off x="5532438" y="2257425"/>
            <a:ext cx="15906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4 + 8.9 = 12.9</a:t>
            </a:r>
          </a:p>
        </p:txBody>
      </p:sp>
      <p:sp>
        <p:nvSpPr>
          <p:cNvPr id="28714" name="Rectangle 42"/>
          <p:cNvSpPr>
            <a:spLocks noChangeArrowheads="1"/>
          </p:cNvSpPr>
          <p:nvPr/>
        </p:nvSpPr>
        <p:spPr bwMode="auto">
          <a:xfrm>
            <a:off x="6219825" y="3221038"/>
            <a:ext cx="15906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6 + 6.9 = 12.9</a:t>
            </a:r>
          </a:p>
        </p:txBody>
      </p:sp>
      <p:sp>
        <p:nvSpPr>
          <p:cNvPr id="28715" name="Rectangle 43"/>
          <p:cNvSpPr>
            <a:spLocks noChangeArrowheads="1"/>
          </p:cNvSpPr>
          <p:nvPr/>
        </p:nvSpPr>
        <p:spPr bwMode="auto">
          <a:xfrm>
            <a:off x="3590925" y="4856163"/>
            <a:ext cx="17176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11 + 6.7 = 17.7</a:t>
            </a:r>
          </a:p>
        </p:txBody>
      </p:sp>
      <p:sp>
        <p:nvSpPr>
          <p:cNvPr id="28716" name="Rectangle 44"/>
          <p:cNvSpPr>
            <a:spLocks noChangeArrowheads="1"/>
          </p:cNvSpPr>
          <p:nvPr/>
        </p:nvSpPr>
        <p:spPr bwMode="auto">
          <a:xfrm>
            <a:off x="6875463" y="4433888"/>
            <a:ext cx="15271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10 + 3.0 = 13</a:t>
            </a:r>
          </a:p>
        </p:txBody>
      </p:sp>
      <p:sp>
        <p:nvSpPr>
          <p:cNvPr id="28717" name="Rectangle 45"/>
          <p:cNvSpPr>
            <a:spLocks noChangeArrowheads="1"/>
          </p:cNvSpPr>
          <p:nvPr/>
        </p:nvSpPr>
        <p:spPr bwMode="auto">
          <a:xfrm>
            <a:off x="6672263" y="5995988"/>
            <a:ext cx="13366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13 + 0 = 13</a:t>
            </a:r>
          </a:p>
        </p:txBody>
      </p:sp>
      <p:sp>
        <p:nvSpPr>
          <p:cNvPr id="28718" name="Rectangle 46"/>
          <p:cNvSpPr>
            <a:spLocks noChangeArrowheads="1"/>
          </p:cNvSpPr>
          <p:nvPr/>
        </p:nvSpPr>
        <p:spPr bwMode="auto">
          <a:xfrm>
            <a:off x="890588" y="4316413"/>
            <a:ext cx="1196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0"/>
              <a:t>Dead End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39239" t="30208" r="37335" b="10417"/>
          <a:stretch>
            <a:fillRect/>
          </a:stretch>
        </p:blipFill>
        <p:spPr bwMode="auto">
          <a:xfrm>
            <a:off x="2438400" y="685800"/>
            <a:ext cx="47244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305800" cy="1143000"/>
          </a:xfrm>
        </p:spPr>
        <p:txBody>
          <a:bodyPr/>
          <a:lstStyle/>
          <a:p>
            <a:r>
              <a:rPr lang="en-US" dirty="0" smtClean="0"/>
              <a:t>A* Admissible 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04800" y="1371600"/>
            <a:ext cx="8229600" cy="4389120"/>
          </a:xfrm>
          <a:prstGeom prst="rect">
            <a:avLst/>
          </a:prstGeom>
          <a:noFill/>
          <a:ln/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A* </a:t>
            </a:r>
            <a:r>
              <a:rPr lang="en-US" dirty="0" err="1" smtClean="0"/>
              <a:t>algo</a:t>
            </a:r>
            <a:r>
              <a:rPr lang="en-US" dirty="0" smtClean="0"/>
              <a:t> find optimal solution if heuristic function is carefully designed and underestimated </a:t>
            </a:r>
          </a:p>
          <a:p>
            <a:r>
              <a:rPr lang="en-US" dirty="0" smtClean="0"/>
              <a:t>Underestimation: Heuristic value is less than less than actual value from Node “n” to goal node </a:t>
            </a:r>
          </a:p>
          <a:p>
            <a:r>
              <a:rPr lang="en-US" dirty="0"/>
              <a:t> </a:t>
            </a:r>
            <a:r>
              <a:rPr lang="en-US" dirty="0" smtClean="0"/>
              <a:t>h(n) &lt;=  h*(n) </a:t>
            </a:r>
          </a:p>
          <a:p>
            <a:r>
              <a:rPr lang="en-US" dirty="0"/>
              <a:t> </a:t>
            </a:r>
            <a:r>
              <a:rPr lang="en-US" dirty="0" smtClean="0"/>
              <a:t>h(n) &gt;= h*(n) </a:t>
            </a:r>
          </a:p>
          <a:p>
            <a:r>
              <a:rPr lang="en-US" dirty="0"/>
              <a:t> </a:t>
            </a:r>
            <a:r>
              <a:rPr lang="en-US" dirty="0" smtClean="0"/>
              <a:t>  Where h(n) is heuristic values (estimated value) </a:t>
            </a:r>
          </a:p>
          <a:p>
            <a:r>
              <a:rPr lang="en-US" dirty="0"/>
              <a:t> </a:t>
            </a:r>
            <a:r>
              <a:rPr lang="en-US" dirty="0" smtClean="0"/>
              <a:t>   h*(n) is actual value (or optimal value) 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18383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305800" cy="1143000"/>
          </a:xfrm>
        </p:spPr>
        <p:txBody>
          <a:bodyPr/>
          <a:lstStyle/>
          <a:p>
            <a:r>
              <a:rPr lang="en-US" dirty="0" smtClean="0"/>
              <a:t>A* Admissible 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04800" y="1371600"/>
            <a:ext cx="8229600" cy="4389120"/>
          </a:xfrm>
          <a:prstGeom prst="rect">
            <a:avLst/>
          </a:prstGeom>
          <a:noFill/>
          <a:ln/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Suppose you want to purchase mobile, actual price of mobile is 30K </a:t>
            </a:r>
          </a:p>
          <a:p>
            <a:r>
              <a:rPr lang="en-US" dirty="0" smtClean="0"/>
              <a:t>You check in market, go to shop 1 : Your estimation is 40K but actual price is 30K. This is overestimation. What you will do in this situation. Will you purchase or go to next shop. No. </a:t>
            </a:r>
          </a:p>
          <a:p>
            <a:endParaRPr lang="en-US" dirty="0" smtClean="0"/>
          </a:p>
          <a:p>
            <a:r>
              <a:rPr lang="en-US" dirty="0" smtClean="0"/>
              <a:t>You estimate 20k but actual is 30K. This is Underestimate. Will you go to next shop?  Yes. 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08160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04800"/>
            <a:ext cx="6400800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65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8600"/>
            <a:ext cx="7391400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316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14055</TotalTime>
  <Words>829</Words>
  <Application>Microsoft Office PowerPoint</Application>
  <PresentationFormat>On-screen Show (4:3)</PresentationFormat>
  <Paragraphs>149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微軟正黑體</vt:lpstr>
      <vt:lpstr>Arial</vt:lpstr>
      <vt:lpstr>Calibri</vt:lpstr>
      <vt:lpstr>Constantia</vt:lpstr>
      <vt:lpstr>新細明體</vt:lpstr>
      <vt:lpstr>Times New Roman</vt:lpstr>
      <vt:lpstr>Wingdings</vt:lpstr>
      <vt:lpstr>Wingdings 2</vt:lpstr>
      <vt:lpstr>Flow</vt:lpstr>
      <vt:lpstr>           Lecture 6: </vt:lpstr>
      <vt:lpstr>Feasible Solution vs. Optimal Solution</vt:lpstr>
      <vt:lpstr>A* search</vt:lpstr>
      <vt:lpstr>A*</vt:lpstr>
      <vt:lpstr>A*</vt:lpstr>
      <vt:lpstr>PowerPoint Presentation</vt:lpstr>
      <vt:lpstr>A*</vt:lpstr>
      <vt:lpstr>A* ( first under estimate = 8)</vt:lpstr>
      <vt:lpstr>A*</vt:lpstr>
      <vt:lpstr>A*</vt:lpstr>
      <vt:lpstr>A*</vt:lpstr>
      <vt:lpstr>A*</vt:lpstr>
      <vt:lpstr>A*</vt:lpstr>
      <vt:lpstr>A*</vt:lpstr>
      <vt:lpstr>A* search, evaluation</vt:lpstr>
      <vt:lpstr>A* search, evaluation</vt:lpstr>
      <vt:lpstr>A* search, evaluation</vt:lpstr>
      <vt:lpstr>A*- Example</vt:lpstr>
      <vt:lpstr>PowerPoint Presentation</vt:lpstr>
      <vt:lpstr>A* on 8-puzzle with h(n) = w(n)</vt:lpstr>
      <vt:lpstr>PowerPoint Presentation</vt:lpstr>
      <vt:lpstr>Example of A* Algorithm in action</vt:lpstr>
      <vt:lpstr>PowerPoint Presentation</vt:lpstr>
      <vt:lpstr>A* Admissible </vt:lpstr>
      <vt:lpstr>A* Admissible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Bahria</dc:creator>
  <cp:lastModifiedBy>Dr. Sajid</cp:lastModifiedBy>
  <cp:revision>146</cp:revision>
  <dcterms:created xsi:type="dcterms:W3CDTF">2014-10-16T13:06:26Z</dcterms:created>
  <dcterms:modified xsi:type="dcterms:W3CDTF">2025-10-23T08:41:51Z</dcterms:modified>
</cp:coreProperties>
</file>