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82" r:id="rId11"/>
    <p:sldId id="264" r:id="rId12"/>
    <p:sldId id="265" r:id="rId13"/>
    <p:sldId id="266" r:id="rId14"/>
    <p:sldId id="267" r:id="rId15"/>
    <p:sldId id="268" r:id="rId16"/>
    <p:sldId id="269" r:id="rId17"/>
    <p:sldId id="284" r:id="rId18"/>
    <p:sldId id="270" r:id="rId19"/>
    <p:sldId id="271" r:id="rId20"/>
    <p:sldId id="272" r:id="rId21"/>
    <p:sldId id="273" r:id="rId22"/>
    <p:sldId id="276" r:id="rId23"/>
    <p:sldId id="286" r:id="rId24"/>
    <p:sldId id="274" r:id="rId25"/>
    <p:sldId id="277" r:id="rId26"/>
    <p:sldId id="275" r:id="rId27"/>
    <p:sldId id="278" r:id="rId28"/>
    <p:sldId id="279" r:id="rId29"/>
    <p:sldId id="280" r:id="rId30"/>
    <p:sldId id="287" r:id="rId31"/>
    <p:sldId id="283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7FD194-0CC4-4176-BE63-D1745EF2006A}" type="datetimeFigureOut">
              <a:rPr lang="en-US" smtClean="0"/>
              <a:pPr/>
              <a:t>13-Oct-25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8A7FF-7DE5-4DA8-BF85-0E412659C5D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48A7FF-7DE5-4DA8-BF85-0E412659C5D0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13-Oct-25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13-Oct-25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13-Oct-25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13-Oct-25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Informed Search Strategies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Heuristic means “rule of thumb”.</a:t>
            </a:r>
          </a:p>
          <a:p>
            <a:r>
              <a:rPr lang="en-US" dirty="0"/>
              <a:t>Judea Pearl</a:t>
            </a:r>
          </a:p>
          <a:p>
            <a:pPr lvl="1" algn="just"/>
            <a:r>
              <a:rPr lang="en-US" dirty="0"/>
              <a:t>“Heuristics are criteria, methods or principles for deciding which among several alternative courses of action promises to be the most effective in order to achieve some goal”. </a:t>
            </a:r>
          </a:p>
          <a:p>
            <a:r>
              <a:rPr lang="en-US" dirty="0"/>
              <a:t> Heuristics are used to identify the most promising search path.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Heuristic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heuristic function at a node n is an estimate of the optimum cost from the current node to a goal. </a:t>
            </a:r>
          </a:p>
          <a:p>
            <a:r>
              <a:rPr lang="en-US" dirty="0"/>
              <a:t>It is denoted by h(n).</a:t>
            </a:r>
          </a:p>
          <a:p>
            <a:r>
              <a:rPr lang="en-US" dirty="0"/>
              <a:t> h(n) = estimated cost of the cheapest path from node n to a goal node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Heuristic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1: </a:t>
            </a:r>
          </a:p>
          <a:p>
            <a:pPr lvl="1" algn="just"/>
            <a:r>
              <a:rPr lang="en-US" dirty="0"/>
              <a:t>We want a path from Islamabad to Lahore</a:t>
            </a:r>
          </a:p>
          <a:p>
            <a:pPr lvl="1" algn="just"/>
            <a:r>
              <a:rPr lang="en-US" dirty="0"/>
              <a:t>Heuristic for Lahore may be straight-line distance between Islamabad and Lahore</a:t>
            </a:r>
          </a:p>
          <a:p>
            <a:pPr lvl="1" algn="just"/>
            <a:r>
              <a:rPr lang="en-US" dirty="0"/>
              <a:t>h(Islamabad) = </a:t>
            </a:r>
            <a:r>
              <a:rPr lang="en-US" dirty="0" err="1"/>
              <a:t>euclideanDistance</a:t>
            </a:r>
            <a:r>
              <a:rPr lang="en-US" dirty="0"/>
              <a:t>(Islamabad, Lahore)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2: </a:t>
            </a:r>
          </a:p>
          <a:p>
            <a:pPr lvl="1"/>
            <a:r>
              <a:rPr lang="en-US" dirty="0"/>
              <a:t>8-puzzle</a:t>
            </a:r>
          </a:p>
          <a:p>
            <a:pPr lvl="1"/>
            <a:r>
              <a:rPr lang="en-US" dirty="0"/>
              <a:t>Misplaced Tiles Heuristics is the number of tiles out of place.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ctr" rtl="0">
              <a:spcBef>
                <a:spcPct val="0"/>
              </a:spcBef>
            </a:pPr>
            <a:r>
              <a:rPr lang="en-US" sz="4400" dirty="0"/>
              <a:t>8-puzzle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71600" y="2209800"/>
            <a:ext cx="6705600" cy="2291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Euclidean Distance Heuristic for 8-puzzle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first picture shows the current state n, and the second picture the goal state. </a:t>
            </a:r>
          </a:p>
          <a:p>
            <a:pPr algn="just"/>
            <a:r>
              <a:rPr lang="en-US" dirty="0"/>
              <a:t>h(n) = 5 because the tiles 2, 8, 1, 6 and 7 are out of place.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Manhattan Distance Heuristic for 8-puzzle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Manhattan Distance Heuristic:</a:t>
            </a:r>
          </a:p>
          <a:p>
            <a:pPr lvl="1" algn="just"/>
            <a:r>
              <a:rPr lang="en-US" dirty="0"/>
              <a:t> Another heuristic for 8-puzzle is the Manhattan distance heuristic. </a:t>
            </a:r>
          </a:p>
          <a:p>
            <a:pPr lvl="1" algn="just"/>
            <a:r>
              <a:rPr lang="en-US" dirty="0"/>
              <a:t>This heuristic sums the distance that the tiles are out of place.</a:t>
            </a:r>
          </a:p>
          <a:p>
            <a:pPr lvl="1" algn="just"/>
            <a:r>
              <a:rPr lang="en-US" dirty="0"/>
              <a:t> The distance of a tile is measured by the sum of the differences in the x-positions and the y-positions. </a:t>
            </a:r>
          </a:p>
          <a:p>
            <a:pPr lvl="1" algn="just"/>
            <a:r>
              <a:rPr lang="en-US" dirty="0"/>
              <a:t>Using the Manhattan distance heuristic,  h(n) = 1 + 1 + 0 + 0 + 0 + 1 + 1 + 2 = 6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State space generated in Manhattan Distance heuristic search of the 8-puzzle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1371600"/>
            <a:ext cx="7219950" cy="436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1905000"/>
            <a:ext cx="207645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State space generated in heuristic search of the 8-puzzle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16794" y="2585244"/>
            <a:ext cx="7110412" cy="4272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5105400"/>
            <a:ext cx="207645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1295400"/>
            <a:ext cx="3505200" cy="12003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algorithm maintains a priority queue of nodes to be explored. </a:t>
            </a:r>
          </a:p>
          <a:p>
            <a:r>
              <a:rPr lang="en-US" dirty="0"/>
              <a:t>A cost function f(n) is applied to each node.</a:t>
            </a:r>
          </a:p>
          <a:p>
            <a:r>
              <a:rPr lang="en-US" dirty="0"/>
              <a:t>The nodes are put in OPEN in the order of their f values. </a:t>
            </a:r>
          </a:p>
          <a:p>
            <a:r>
              <a:rPr lang="en-US" dirty="0"/>
              <a:t>Nodes with smaller f(n) values are expanded earlier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First Search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447800"/>
            <a:ext cx="6705600" cy="4114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Idea:</a:t>
            </a:r>
          </a:p>
          <a:p>
            <a:pPr lvl="1"/>
            <a:r>
              <a:rPr lang="en-US" dirty="0"/>
              <a:t>Expand the node with the smallest estimated cost to reach the goal. </a:t>
            </a:r>
          </a:p>
          <a:p>
            <a:pPr lvl="1"/>
            <a:r>
              <a:rPr lang="en-US" dirty="0"/>
              <a:t> Use a heuristic function  f(n) = h(n) </a:t>
            </a:r>
          </a:p>
          <a:p>
            <a:pPr lvl="1"/>
            <a:r>
              <a:rPr lang="en-US" dirty="0"/>
              <a:t>h(n) estimates the distance remaining to a goal. </a:t>
            </a:r>
          </a:p>
          <a:p>
            <a:pPr lvl="1"/>
            <a:r>
              <a:rPr lang="en-US" dirty="0"/>
              <a:t> Not optimal. </a:t>
            </a:r>
          </a:p>
          <a:p>
            <a:pPr lvl="1"/>
            <a:r>
              <a:rPr lang="en-US" dirty="0"/>
              <a:t>Incomplete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Map of Romania with road distances in km</a:t>
            </a:r>
          </a:p>
        </p:txBody>
      </p:sp>
      <p:pic>
        <p:nvPicPr>
          <p:cNvPr id="30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1371600"/>
            <a:ext cx="7620000" cy="5029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straight-line distances to Bucharest.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05001" y="1600200"/>
            <a:ext cx="40386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Stages in a greedy search for Bucharest, using the straight-line distance to Bucharest</a:t>
            </a: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-2458" y="2133600"/>
            <a:ext cx="82296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0400" y="914400"/>
            <a:ext cx="2057400" cy="2523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10696" y="1239172"/>
            <a:ext cx="3357418" cy="2215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First Search (All options open)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600200"/>
            <a:ext cx="7315200" cy="48684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Properties of Greedy Best 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Greedy search resembles depth-first search in the way it prefers to follow a single path all the way to the goal, but will back up when it hits a dead end. </a:t>
            </a:r>
          </a:p>
          <a:p>
            <a:r>
              <a:rPr lang="en-US" dirty="0"/>
              <a:t>It suffers from the same defects as depth-first search </a:t>
            </a:r>
          </a:p>
          <a:p>
            <a:r>
              <a:rPr lang="en-US" dirty="0"/>
              <a:t>It is not optimal.</a:t>
            </a:r>
          </a:p>
          <a:p>
            <a:pPr algn="just"/>
            <a:r>
              <a:rPr lang="en-US" dirty="0"/>
              <a:t>It is incomplete because it can start down an infinite path and never return to try other possibilities.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Properties of Greedy Best 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Time &amp; Space complexity:</a:t>
            </a:r>
          </a:p>
          <a:p>
            <a:pPr lvl="1" algn="just"/>
            <a:r>
              <a:rPr lang="en-US" dirty="0"/>
              <a:t>The worst-case time complexity for greedy search is </a:t>
            </a:r>
            <a:r>
              <a:rPr lang="en-US" dirty="0" smtClean="0"/>
              <a:t>O(b power (m</a:t>
            </a:r>
            <a:r>
              <a:rPr lang="en-US" dirty="0"/>
              <a:t>), where m is the maximum depth of the search space.</a:t>
            </a:r>
          </a:p>
          <a:p>
            <a:pPr lvl="1" algn="just"/>
            <a:r>
              <a:rPr lang="en-US" dirty="0"/>
              <a:t> Because greedy search retains all nodes in memory, its space complexity is the same as its time complexity. </a:t>
            </a:r>
          </a:p>
          <a:p>
            <a:pPr lvl="1" algn="just"/>
            <a:r>
              <a:rPr lang="en-US" dirty="0"/>
              <a:t>With a good heuristic function, the space and time complexity can be reduced substantially. The amount of the reduction depends on the particular problem and quality of the h function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Hill climbing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 Maximize “value” of current state, by replacing it by successor state that has highest value, as long as possible.</a:t>
            </a:r>
          </a:p>
          <a:p>
            <a:r>
              <a:rPr lang="en-US" dirty="0"/>
              <a:t>Use heuristic to move only to states that are better than the current state.</a:t>
            </a:r>
          </a:p>
          <a:p>
            <a:r>
              <a:rPr lang="en-US" dirty="0"/>
              <a:t>The process ends when all operators have been applied and none of the resulting states are better than the current state.</a:t>
            </a:r>
          </a:p>
          <a:p>
            <a:r>
              <a:rPr lang="en-US" dirty="0"/>
              <a:t>No search tree is maintained, only the current state.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Hill climbing: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Greedy approach, No backtracking, only store current best </a:t>
            </a:r>
          </a:p>
          <a:p>
            <a:r>
              <a:rPr lang="en-US" dirty="0" smtClean="0"/>
              <a:t>Only store the best node in memory </a:t>
            </a:r>
            <a:endParaRPr lang="en-US" dirty="0" smtClean="0"/>
          </a:p>
          <a:p>
            <a:r>
              <a:rPr lang="en-US" dirty="0" smtClean="0"/>
              <a:t>Algorithm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1. determine successors of current state  </a:t>
            </a:r>
          </a:p>
          <a:p>
            <a:pPr lvl="1"/>
            <a:r>
              <a:rPr lang="en-US" dirty="0"/>
              <a:t>2. choose successor of maximum goodness   </a:t>
            </a:r>
          </a:p>
          <a:p>
            <a:pPr lvl="1"/>
            <a:r>
              <a:rPr lang="en-US" dirty="0"/>
              <a:t>3. if goodness of best successor is less than current state's goodness, stop </a:t>
            </a:r>
          </a:p>
          <a:p>
            <a:pPr lvl="1"/>
            <a:r>
              <a:rPr lang="en-US" dirty="0"/>
              <a:t> 4. otherwise make best successor the current state and go to step 1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Hill climbing: Example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600200"/>
            <a:ext cx="7908022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sz="5000" b="1" dirty="0">
                <a:solidFill>
                  <a:srgbClr val="FF0000"/>
                </a:solidFill>
                <a:latin typeface="Arial Black" pitchFamily="34" charset="0"/>
              </a:rPr>
              <a:t>Hill Climbing</a:t>
            </a:r>
          </a:p>
        </p:txBody>
      </p:sp>
      <p:sp>
        <p:nvSpPr>
          <p:cNvPr id="262190" name="Line 46"/>
          <p:cNvSpPr>
            <a:spLocks noChangeShapeType="1"/>
          </p:cNvSpPr>
          <p:nvPr/>
        </p:nvSpPr>
        <p:spPr bwMode="auto">
          <a:xfrm>
            <a:off x="7162800" y="2286000"/>
            <a:ext cx="762000" cy="457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2191" name="Line 47"/>
          <p:cNvSpPr>
            <a:spLocks noChangeShapeType="1"/>
          </p:cNvSpPr>
          <p:nvPr/>
        </p:nvSpPr>
        <p:spPr bwMode="auto">
          <a:xfrm flipH="1">
            <a:off x="7086600" y="2286000"/>
            <a:ext cx="0" cy="4572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2192" name="Line 48"/>
          <p:cNvSpPr>
            <a:spLocks noChangeShapeType="1"/>
          </p:cNvSpPr>
          <p:nvPr/>
        </p:nvSpPr>
        <p:spPr bwMode="auto">
          <a:xfrm>
            <a:off x="5029200" y="2286000"/>
            <a:ext cx="762000" cy="4572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2193" name="Oval 49"/>
          <p:cNvSpPr>
            <a:spLocks noChangeArrowheads="1"/>
          </p:cNvSpPr>
          <p:nvPr/>
        </p:nvSpPr>
        <p:spPr bwMode="auto">
          <a:xfrm>
            <a:off x="5791200" y="1371600"/>
            <a:ext cx="3810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262194" name="Oval 50"/>
          <p:cNvSpPr>
            <a:spLocks noChangeArrowheads="1"/>
          </p:cNvSpPr>
          <p:nvPr/>
        </p:nvSpPr>
        <p:spPr bwMode="auto">
          <a:xfrm>
            <a:off x="6934200" y="1981200"/>
            <a:ext cx="3810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262195" name="Oval 51"/>
          <p:cNvSpPr>
            <a:spLocks noChangeArrowheads="1"/>
          </p:cNvSpPr>
          <p:nvPr/>
        </p:nvSpPr>
        <p:spPr bwMode="auto">
          <a:xfrm>
            <a:off x="4800600" y="1981200"/>
            <a:ext cx="3810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62196" name="Oval 52"/>
          <p:cNvSpPr>
            <a:spLocks noChangeArrowheads="1"/>
          </p:cNvSpPr>
          <p:nvPr/>
        </p:nvSpPr>
        <p:spPr bwMode="auto">
          <a:xfrm>
            <a:off x="6934200" y="2743200"/>
            <a:ext cx="3810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262197" name="Oval 53"/>
          <p:cNvSpPr>
            <a:spLocks noChangeArrowheads="1"/>
          </p:cNvSpPr>
          <p:nvPr/>
        </p:nvSpPr>
        <p:spPr bwMode="auto">
          <a:xfrm>
            <a:off x="7848600" y="2743200"/>
            <a:ext cx="3810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62198" name="Oval 54"/>
          <p:cNvSpPr>
            <a:spLocks noChangeArrowheads="1"/>
          </p:cNvSpPr>
          <p:nvPr/>
        </p:nvSpPr>
        <p:spPr bwMode="auto">
          <a:xfrm>
            <a:off x="5638800" y="2743200"/>
            <a:ext cx="3810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62199" name="Oval 55"/>
          <p:cNvSpPr>
            <a:spLocks noChangeArrowheads="1"/>
          </p:cNvSpPr>
          <p:nvPr/>
        </p:nvSpPr>
        <p:spPr bwMode="auto">
          <a:xfrm>
            <a:off x="4267200" y="2743200"/>
            <a:ext cx="3810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62200" name="Oval 56"/>
          <p:cNvSpPr>
            <a:spLocks noChangeArrowheads="1"/>
          </p:cNvSpPr>
          <p:nvPr/>
        </p:nvSpPr>
        <p:spPr bwMode="auto">
          <a:xfrm>
            <a:off x="3733800" y="3505200"/>
            <a:ext cx="3810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262201" name="Oval 57"/>
          <p:cNvSpPr>
            <a:spLocks noChangeArrowheads="1"/>
          </p:cNvSpPr>
          <p:nvPr/>
        </p:nvSpPr>
        <p:spPr bwMode="auto">
          <a:xfrm>
            <a:off x="5029200" y="3505200"/>
            <a:ext cx="3810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262202" name="Line 58"/>
          <p:cNvSpPr>
            <a:spLocks noChangeShapeType="1"/>
          </p:cNvSpPr>
          <p:nvPr/>
        </p:nvSpPr>
        <p:spPr bwMode="auto">
          <a:xfrm flipH="1">
            <a:off x="4953000" y="1676400"/>
            <a:ext cx="990600" cy="3048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2206" name="Line 62"/>
          <p:cNvSpPr>
            <a:spLocks noChangeShapeType="1"/>
          </p:cNvSpPr>
          <p:nvPr/>
        </p:nvSpPr>
        <p:spPr bwMode="auto">
          <a:xfrm>
            <a:off x="4572000" y="3048000"/>
            <a:ext cx="609600" cy="4572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2207" name="Line 63"/>
          <p:cNvSpPr>
            <a:spLocks noChangeShapeType="1"/>
          </p:cNvSpPr>
          <p:nvPr/>
        </p:nvSpPr>
        <p:spPr bwMode="auto">
          <a:xfrm flipH="1">
            <a:off x="4495800" y="2286000"/>
            <a:ext cx="457200" cy="4572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2208" name="Line 64"/>
          <p:cNvSpPr>
            <a:spLocks noChangeShapeType="1"/>
          </p:cNvSpPr>
          <p:nvPr/>
        </p:nvSpPr>
        <p:spPr bwMode="auto">
          <a:xfrm flipH="1">
            <a:off x="3962400" y="3048000"/>
            <a:ext cx="381000" cy="4572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2209" name="Oval 65"/>
          <p:cNvSpPr>
            <a:spLocks noChangeArrowheads="1"/>
          </p:cNvSpPr>
          <p:nvPr/>
        </p:nvSpPr>
        <p:spPr bwMode="auto">
          <a:xfrm>
            <a:off x="6400800" y="3505200"/>
            <a:ext cx="3810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262210" name="Oval 66"/>
          <p:cNvSpPr>
            <a:spLocks noChangeArrowheads="1"/>
          </p:cNvSpPr>
          <p:nvPr/>
        </p:nvSpPr>
        <p:spPr bwMode="auto">
          <a:xfrm>
            <a:off x="7696200" y="3505200"/>
            <a:ext cx="3810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262211" name="Line 67"/>
          <p:cNvSpPr>
            <a:spLocks noChangeShapeType="1"/>
          </p:cNvSpPr>
          <p:nvPr/>
        </p:nvSpPr>
        <p:spPr bwMode="auto">
          <a:xfrm>
            <a:off x="7239000" y="3048000"/>
            <a:ext cx="609600" cy="4572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2212" name="Line 68"/>
          <p:cNvSpPr>
            <a:spLocks noChangeShapeType="1"/>
          </p:cNvSpPr>
          <p:nvPr/>
        </p:nvSpPr>
        <p:spPr bwMode="auto">
          <a:xfrm flipH="1">
            <a:off x="6629400" y="3048000"/>
            <a:ext cx="381000" cy="4572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2213" name="Oval 69"/>
          <p:cNvSpPr>
            <a:spLocks noChangeArrowheads="1"/>
          </p:cNvSpPr>
          <p:nvPr/>
        </p:nvSpPr>
        <p:spPr bwMode="auto">
          <a:xfrm>
            <a:off x="4495800" y="4267200"/>
            <a:ext cx="3810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K</a:t>
            </a:r>
          </a:p>
        </p:txBody>
      </p:sp>
      <p:sp>
        <p:nvSpPr>
          <p:cNvPr id="262214" name="Oval 70"/>
          <p:cNvSpPr>
            <a:spLocks noChangeArrowheads="1"/>
          </p:cNvSpPr>
          <p:nvPr/>
        </p:nvSpPr>
        <p:spPr bwMode="auto">
          <a:xfrm>
            <a:off x="5791200" y="4267200"/>
            <a:ext cx="3810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262215" name="Line 71"/>
          <p:cNvSpPr>
            <a:spLocks noChangeShapeType="1"/>
          </p:cNvSpPr>
          <p:nvPr/>
        </p:nvSpPr>
        <p:spPr bwMode="auto">
          <a:xfrm>
            <a:off x="5334000" y="3810000"/>
            <a:ext cx="609600" cy="4572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2216" name="Line 72"/>
          <p:cNvSpPr>
            <a:spLocks noChangeShapeType="1"/>
          </p:cNvSpPr>
          <p:nvPr/>
        </p:nvSpPr>
        <p:spPr bwMode="auto">
          <a:xfrm flipH="1">
            <a:off x="4724400" y="3810000"/>
            <a:ext cx="381000" cy="4572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2217" name="Oval 73"/>
          <p:cNvSpPr>
            <a:spLocks noChangeArrowheads="1"/>
          </p:cNvSpPr>
          <p:nvPr/>
        </p:nvSpPr>
        <p:spPr bwMode="auto">
          <a:xfrm>
            <a:off x="7162800" y="4267200"/>
            <a:ext cx="3810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62218" name="Oval 74"/>
          <p:cNvSpPr>
            <a:spLocks noChangeArrowheads="1"/>
          </p:cNvSpPr>
          <p:nvPr/>
        </p:nvSpPr>
        <p:spPr bwMode="auto">
          <a:xfrm>
            <a:off x="8458200" y="4267200"/>
            <a:ext cx="3810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262219" name="Line 75"/>
          <p:cNvSpPr>
            <a:spLocks noChangeShapeType="1"/>
          </p:cNvSpPr>
          <p:nvPr/>
        </p:nvSpPr>
        <p:spPr bwMode="auto">
          <a:xfrm>
            <a:off x="8001000" y="3810000"/>
            <a:ext cx="609600" cy="4572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2220" name="Line 76"/>
          <p:cNvSpPr>
            <a:spLocks noChangeShapeType="1"/>
          </p:cNvSpPr>
          <p:nvPr/>
        </p:nvSpPr>
        <p:spPr bwMode="auto">
          <a:xfrm flipH="1">
            <a:off x="7391400" y="3810000"/>
            <a:ext cx="381000" cy="4572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2230" name="Line 86"/>
          <p:cNvSpPr>
            <a:spLocks noChangeShapeType="1"/>
          </p:cNvSpPr>
          <p:nvPr/>
        </p:nvSpPr>
        <p:spPr bwMode="auto">
          <a:xfrm>
            <a:off x="5943600" y="1676400"/>
            <a:ext cx="1143000" cy="3048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2242" name="Rectangle 98"/>
          <p:cNvSpPr>
            <a:spLocks noChangeArrowheads="1"/>
          </p:cNvSpPr>
          <p:nvPr/>
        </p:nvSpPr>
        <p:spPr bwMode="auto">
          <a:xfrm>
            <a:off x="4716463" y="1752600"/>
            <a:ext cx="127000" cy="2746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262243" name="Rectangle 99"/>
          <p:cNvSpPr>
            <a:spLocks noChangeArrowheads="1"/>
          </p:cNvSpPr>
          <p:nvPr/>
        </p:nvSpPr>
        <p:spPr bwMode="auto">
          <a:xfrm>
            <a:off x="7239000" y="1676400"/>
            <a:ext cx="254000" cy="2746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62244" name="Rectangle 100"/>
          <p:cNvSpPr>
            <a:spLocks noChangeArrowheads="1"/>
          </p:cNvSpPr>
          <p:nvPr/>
        </p:nvSpPr>
        <p:spPr bwMode="auto">
          <a:xfrm>
            <a:off x="6807200" y="2392363"/>
            <a:ext cx="127000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262245" name="Rectangle 101"/>
          <p:cNvSpPr>
            <a:spLocks noChangeArrowheads="1"/>
          </p:cNvSpPr>
          <p:nvPr/>
        </p:nvSpPr>
        <p:spPr bwMode="auto">
          <a:xfrm>
            <a:off x="8153400" y="2392363"/>
            <a:ext cx="127000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262246" name="Rectangle 102"/>
          <p:cNvSpPr>
            <a:spLocks noChangeArrowheads="1"/>
          </p:cNvSpPr>
          <p:nvPr/>
        </p:nvSpPr>
        <p:spPr bwMode="auto">
          <a:xfrm>
            <a:off x="6350000" y="3154363"/>
            <a:ext cx="127000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262247" name="Rectangle 103"/>
          <p:cNvSpPr>
            <a:spLocks noChangeArrowheads="1"/>
          </p:cNvSpPr>
          <p:nvPr/>
        </p:nvSpPr>
        <p:spPr bwMode="auto">
          <a:xfrm>
            <a:off x="8229600" y="3382963"/>
            <a:ext cx="127000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62248" name="Rectangle 104"/>
          <p:cNvSpPr>
            <a:spLocks noChangeArrowheads="1"/>
          </p:cNvSpPr>
          <p:nvPr/>
        </p:nvSpPr>
        <p:spPr bwMode="auto">
          <a:xfrm>
            <a:off x="7035800" y="3992563"/>
            <a:ext cx="127000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62249" name="Rectangle 105"/>
          <p:cNvSpPr>
            <a:spLocks noChangeArrowheads="1"/>
          </p:cNvSpPr>
          <p:nvPr/>
        </p:nvSpPr>
        <p:spPr bwMode="auto">
          <a:xfrm>
            <a:off x="8636000" y="3916363"/>
            <a:ext cx="127000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62250" name="Rectangle 106"/>
          <p:cNvSpPr>
            <a:spLocks noChangeArrowheads="1"/>
          </p:cNvSpPr>
          <p:nvPr/>
        </p:nvSpPr>
        <p:spPr bwMode="auto">
          <a:xfrm>
            <a:off x="5892800" y="2438400"/>
            <a:ext cx="317500" cy="2746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8.5</a:t>
            </a:r>
          </a:p>
        </p:txBody>
      </p:sp>
      <p:sp>
        <p:nvSpPr>
          <p:cNvPr id="262251" name="Rectangle 107"/>
          <p:cNvSpPr>
            <a:spLocks noChangeArrowheads="1"/>
          </p:cNvSpPr>
          <p:nvPr/>
        </p:nvSpPr>
        <p:spPr bwMode="auto">
          <a:xfrm>
            <a:off x="4114800" y="2438400"/>
            <a:ext cx="317500" cy="2746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7.3</a:t>
            </a:r>
          </a:p>
        </p:txBody>
      </p:sp>
      <p:sp>
        <p:nvSpPr>
          <p:cNvPr id="262252" name="Rectangle 108"/>
          <p:cNvSpPr>
            <a:spLocks noChangeArrowheads="1"/>
          </p:cNvSpPr>
          <p:nvPr/>
        </p:nvSpPr>
        <p:spPr bwMode="auto">
          <a:xfrm>
            <a:off x="3759200" y="3810000"/>
            <a:ext cx="127000" cy="2746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62253" name="Rectangle 109"/>
          <p:cNvSpPr>
            <a:spLocks noChangeArrowheads="1"/>
          </p:cNvSpPr>
          <p:nvPr/>
        </p:nvSpPr>
        <p:spPr bwMode="auto">
          <a:xfrm>
            <a:off x="5511800" y="3429000"/>
            <a:ext cx="127000" cy="2746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62254" name="Rectangle 110"/>
          <p:cNvSpPr>
            <a:spLocks noChangeArrowheads="1"/>
          </p:cNvSpPr>
          <p:nvPr/>
        </p:nvSpPr>
        <p:spPr bwMode="auto">
          <a:xfrm>
            <a:off x="6350000" y="4221163"/>
            <a:ext cx="127000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262255" name="Rectangle 111"/>
          <p:cNvSpPr>
            <a:spLocks noChangeArrowheads="1"/>
          </p:cNvSpPr>
          <p:nvPr/>
        </p:nvSpPr>
        <p:spPr bwMode="auto">
          <a:xfrm>
            <a:off x="4953000" y="4144963"/>
            <a:ext cx="127000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63950" y="1373393"/>
            <a:ext cx="5372100" cy="385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5" name="Line 93"/>
          <p:cNvSpPr>
            <a:spLocks noChangeShapeType="1"/>
          </p:cNvSpPr>
          <p:nvPr/>
        </p:nvSpPr>
        <p:spPr bwMode="auto">
          <a:xfrm flipH="1">
            <a:off x="5105400" y="1828800"/>
            <a:ext cx="990600" cy="304800"/>
          </a:xfrm>
          <a:prstGeom prst="line">
            <a:avLst/>
          </a:prstGeom>
          <a:noFill/>
          <a:ln w="38100">
            <a:solidFill>
              <a:srgbClr val="99FF33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6" name="Line 94"/>
          <p:cNvSpPr>
            <a:spLocks noChangeShapeType="1"/>
          </p:cNvSpPr>
          <p:nvPr/>
        </p:nvSpPr>
        <p:spPr bwMode="auto">
          <a:xfrm flipH="1">
            <a:off x="4648200" y="2438400"/>
            <a:ext cx="457200" cy="457200"/>
          </a:xfrm>
          <a:prstGeom prst="line">
            <a:avLst/>
          </a:prstGeom>
          <a:noFill/>
          <a:ln w="38100">
            <a:solidFill>
              <a:srgbClr val="99FF33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7" name="Line 96"/>
          <p:cNvSpPr>
            <a:spLocks noChangeShapeType="1"/>
          </p:cNvSpPr>
          <p:nvPr/>
        </p:nvSpPr>
        <p:spPr bwMode="auto">
          <a:xfrm>
            <a:off x="4724400" y="3200400"/>
            <a:ext cx="609600" cy="457200"/>
          </a:xfrm>
          <a:prstGeom prst="line">
            <a:avLst/>
          </a:prstGeom>
          <a:noFill/>
          <a:ln w="38100">
            <a:solidFill>
              <a:srgbClr val="99FF33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8" name="Line 97"/>
          <p:cNvSpPr>
            <a:spLocks noChangeShapeType="1"/>
          </p:cNvSpPr>
          <p:nvPr/>
        </p:nvSpPr>
        <p:spPr bwMode="auto">
          <a:xfrm>
            <a:off x="5486400" y="3962400"/>
            <a:ext cx="609600" cy="457200"/>
          </a:xfrm>
          <a:prstGeom prst="line">
            <a:avLst/>
          </a:prstGeom>
          <a:noFill/>
          <a:ln w="38100">
            <a:solidFill>
              <a:srgbClr val="99FF33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57" grpId="0" animBg="1"/>
      <p:bldP spid="5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Hill climbing: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Local maxima:</a:t>
            </a:r>
          </a:p>
          <a:p>
            <a:pPr lvl="1" algn="just"/>
            <a:r>
              <a:rPr lang="en-US" dirty="0"/>
              <a:t>  Once the top of a hill is reached the algorithm will halt since every possible step leads down.   </a:t>
            </a:r>
          </a:p>
          <a:p>
            <a:r>
              <a:rPr lang="en-US" dirty="0"/>
              <a:t>Plateaux :</a:t>
            </a:r>
          </a:p>
          <a:p>
            <a:pPr lvl="1" algn="just"/>
            <a:r>
              <a:rPr lang="en-US" dirty="0"/>
              <a:t> If the landscape is flat, meaning many states have the same goodness, algorithm degenerates to a random walk.   </a:t>
            </a:r>
          </a:p>
          <a:p>
            <a:r>
              <a:rPr lang="en-US" dirty="0"/>
              <a:t>Ridges :</a:t>
            </a:r>
          </a:p>
          <a:p>
            <a:pPr lvl="1" algn="just"/>
            <a:r>
              <a:rPr lang="en-US" dirty="0"/>
              <a:t> If the landscape contains ridges, local improvements may follow a zigzag path up the ridge, slowing down the search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70F78D-E5C3-47AC-AB5C-5638F4FA0B45}" type="slidenum">
              <a:rPr lang="en-US"/>
              <a:pPr/>
              <a:t>25</a:t>
            </a:fld>
            <a:endParaRPr lang="en-US" dirty="0"/>
          </a:p>
        </p:txBody>
      </p:sp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Problems with </a:t>
            </a:r>
            <a:br>
              <a:rPr lang="en-US" dirty="0"/>
            </a:br>
            <a:r>
              <a:rPr lang="en-US" dirty="0"/>
              <a:t>Hill climbing</a:t>
            </a:r>
          </a:p>
        </p:txBody>
      </p:sp>
      <p:grpSp>
        <p:nvGrpSpPr>
          <p:cNvPr id="2" name="Group 52"/>
          <p:cNvGrpSpPr>
            <a:grpSpLocks/>
          </p:cNvGrpSpPr>
          <p:nvPr/>
        </p:nvGrpSpPr>
        <p:grpSpPr bwMode="auto">
          <a:xfrm>
            <a:off x="304800" y="1368425"/>
            <a:ext cx="4038600" cy="2365375"/>
            <a:chOff x="192" y="862"/>
            <a:chExt cx="2544" cy="1490"/>
          </a:xfrm>
        </p:grpSpPr>
        <p:grpSp>
          <p:nvGrpSpPr>
            <p:cNvPr id="3" name="Group 46"/>
            <p:cNvGrpSpPr>
              <a:grpSpLocks/>
            </p:cNvGrpSpPr>
            <p:nvPr/>
          </p:nvGrpSpPr>
          <p:grpSpPr bwMode="auto">
            <a:xfrm>
              <a:off x="192" y="862"/>
              <a:ext cx="2544" cy="1470"/>
              <a:chOff x="192" y="720"/>
              <a:chExt cx="2544" cy="1470"/>
            </a:xfrm>
          </p:grpSpPr>
          <p:sp>
            <p:nvSpPr>
              <p:cNvPr id="125961" name="Rectangle 9"/>
              <p:cNvSpPr>
                <a:spLocks noChangeArrowheads="1"/>
              </p:cNvSpPr>
              <p:nvPr/>
            </p:nvSpPr>
            <p:spPr bwMode="auto">
              <a:xfrm>
                <a:off x="192" y="750"/>
                <a:ext cx="2544" cy="14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5956" name="Freeform 4"/>
              <p:cNvSpPr>
                <a:spLocks/>
              </p:cNvSpPr>
              <p:nvPr/>
            </p:nvSpPr>
            <p:spPr bwMode="auto">
              <a:xfrm>
                <a:off x="560" y="1816"/>
                <a:ext cx="424" cy="206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144" y="0"/>
                  </a:cxn>
                  <a:cxn ang="0">
                    <a:pos x="336" y="192"/>
                  </a:cxn>
                </a:cxnLst>
                <a:rect l="0" t="0" r="r" b="b"/>
                <a:pathLst>
                  <a:path w="336" h="192">
                    <a:moveTo>
                      <a:pt x="0" y="192"/>
                    </a:moveTo>
                    <a:cubicBezTo>
                      <a:pt x="44" y="96"/>
                      <a:pt x="88" y="0"/>
                      <a:pt x="144" y="0"/>
                    </a:cubicBezTo>
                    <a:cubicBezTo>
                      <a:pt x="200" y="0"/>
                      <a:pt x="304" y="160"/>
                      <a:pt x="336" y="192"/>
                    </a:cubicBez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5957" name="Freeform 5"/>
              <p:cNvSpPr>
                <a:spLocks/>
              </p:cNvSpPr>
              <p:nvPr/>
            </p:nvSpPr>
            <p:spPr bwMode="auto">
              <a:xfrm>
                <a:off x="923" y="1559"/>
                <a:ext cx="485" cy="480"/>
              </a:xfrm>
              <a:custGeom>
                <a:avLst/>
                <a:gdLst/>
                <a:ahLst/>
                <a:cxnLst>
                  <a:cxn ang="0">
                    <a:pos x="0" y="352"/>
                  </a:cxn>
                  <a:cxn ang="0">
                    <a:pos x="240" y="16"/>
                  </a:cxn>
                  <a:cxn ang="0">
                    <a:pos x="384" y="448"/>
                  </a:cxn>
                </a:cxnLst>
                <a:rect l="0" t="0" r="r" b="b"/>
                <a:pathLst>
                  <a:path w="384" h="448">
                    <a:moveTo>
                      <a:pt x="0" y="352"/>
                    </a:moveTo>
                    <a:cubicBezTo>
                      <a:pt x="88" y="176"/>
                      <a:pt x="176" y="0"/>
                      <a:pt x="240" y="16"/>
                    </a:cubicBezTo>
                    <a:cubicBezTo>
                      <a:pt x="304" y="32"/>
                      <a:pt x="360" y="376"/>
                      <a:pt x="384" y="448"/>
                    </a:cubicBez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5958" name="Freeform 6"/>
              <p:cNvSpPr>
                <a:spLocks/>
              </p:cNvSpPr>
              <p:nvPr/>
            </p:nvSpPr>
            <p:spPr bwMode="auto">
              <a:xfrm>
                <a:off x="1392" y="1182"/>
                <a:ext cx="848" cy="840"/>
              </a:xfrm>
              <a:custGeom>
                <a:avLst/>
                <a:gdLst/>
                <a:ahLst/>
                <a:cxnLst>
                  <a:cxn ang="0">
                    <a:pos x="0" y="688"/>
                  </a:cxn>
                  <a:cxn ang="0">
                    <a:pos x="192" y="16"/>
                  </a:cxn>
                  <a:cxn ang="0">
                    <a:pos x="672" y="784"/>
                  </a:cxn>
                </a:cxnLst>
                <a:rect l="0" t="0" r="r" b="b"/>
                <a:pathLst>
                  <a:path w="672" h="784">
                    <a:moveTo>
                      <a:pt x="0" y="688"/>
                    </a:moveTo>
                    <a:cubicBezTo>
                      <a:pt x="40" y="344"/>
                      <a:pt x="80" y="0"/>
                      <a:pt x="192" y="16"/>
                    </a:cubicBezTo>
                    <a:cubicBezTo>
                      <a:pt x="304" y="32"/>
                      <a:pt x="592" y="656"/>
                      <a:pt x="672" y="784"/>
                    </a:cubicBez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5962" name="Text Box 10"/>
              <p:cNvSpPr txBox="1">
                <a:spLocks noChangeArrowheads="1"/>
              </p:cNvSpPr>
              <p:nvPr/>
            </p:nvSpPr>
            <p:spPr bwMode="auto">
              <a:xfrm>
                <a:off x="544" y="720"/>
                <a:ext cx="878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u="sng" dirty="0">
                    <a:solidFill>
                      <a:srgbClr val="6600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Foothills:</a:t>
                </a:r>
                <a:endParaRPr lang="en-US" dirty="0">
                  <a:solidFill>
                    <a:srgbClr val="66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125963" name="Text Box 11"/>
              <p:cNvSpPr txBox="1">
                <a:spLocks noChangeArrowheads="1"/>
              </p:cNvSpPr>
              <p:nvPr/>
            </p:nvSpPr>
            <p:spPr bwMode="auto">
              <a:xfrm>
                <a:off x="463" y="1086"/>
                <a:ext cx="862" cy="4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Local</a:t>
                </a:r>
              </a:p>
              <a:p>
                <a:r>
                  <a:rPr lang="en-US" dirty="0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maximum</a:t>
                </a:r>
                <a:endParaRPr lang="en-US" dirty="0">
                  <a:solidFill>
                    <a:srgbClr val="66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125964" name="AutoShape 12"/>
              <p:cNvSpPr>
                <a:spLocks noChangeArrowheads="1"/>
              </p:cNvSpPr>
              <p:nvPr/>
            </p:nvSpPr>
            <p:spPr bwMode="auto">
              <a:xfrm rot="-7440606">
                <a:off x="197" y="1620"/>
                <a:ext cx="418" cy="352"/>
              </a:xfrm>
              <a:prstGeom prst="curvedDownArrow">
                <a:avLst>
                  <a:gd name="adj1" fmla="val 23750"/>
                  <a:gd name="adj2" fmla="val 47500"/>
                  <a:gd name="adj3" fmla="val 33333"/>
                </a:avLst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5965" name="AutoShape 13"/>
              <p:cNvSpPr>
                <a:spLocks noChangeArrowheads="1"/>
              </p:cNvSpPr>
              <p:nvPr/>
            </p:nvSpPr>
            <p:spPr bwMode="auto">
              <a:xfrm>
                <a:off x="624" y="1614"/>
                <a:ext cx="240" cy="288"/>
              </a:xfrm>
              <a:prstGeom prst="star4">
                <a:avLst>
                  <a:gd name="adj" fmla="val 12500"/>
                </a:avLst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126001" name="Rectangle 49"/>
            <p:cNvSpPr>
              <a:spLocks noChangeArrowheads="1"/>
            </p:cNvSpPr>
            <p:nvPr/>
          </p:nvSpPr>
          <p:spPr bwMode="auto">
            <a:xfrm>
              <a:off x="192" y="912"/>
              <a:ext cx="2544" cy="1440"/>
            </a:xfrm>
            <a:prstGeom prst="rect">
              <a:avLst/>
            </a:prstGeom>
            <a:noFill/>
            <a:ln w="28575">
              <a:solidFill>
                <a:srgbClr val="FFCC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4" name="Group 53"/>
          <p:cNvGrpSpPr>
            <a:grpSpLocks/>
          </p:cNvGrpSpPr>
          <p:nvPr/>
        </p:nvGrpSpPr>
        <p:grpSpPr bwMode="auto">
          <a:xfrm>
            <a:off x="4876800" y="1368425"/>
            <a:ext cx="3886200" cy="2365375"/>
            <a:chOff x="3072" y="862"/>
            <a:chExt cx="2448" cy="1490"/>
          </a:xfrm>
        </p:grpSpPr>
        <p:grpSp>
          <p:nvGrpSpPr>
            <p:cNvPr id="5" name="Group 47"/>
            <p:cNvGrpSpPr>
              <a:grpSpLocks/>
            </p:cNvGrpSpPr>
            <p:nvPr/>
          </p:nvGrpSpPr>
          <p:grpSpPr bwMode="auto">
            <a:xfrm>
              <a:off x="3072" y="862"/>
              <a:ext cx="2448" cy="1466"/>
              <a:chOff x="3072" y="720"/>
              <a:chExt cx="2448" cy="1466"/>
            </a:xfrm>
          </p:grpSpPr>
          <p:sp>
            <p:nvSpPr>
              <p:cNvPr id="125976" name="Rectangle 24"/>
              <p:cNvSpPr>
                <a:spLocks noChangeArrowheads="1"/>
              </p:cNvSpPr>
              <p:nvPr/>
            </p:nvSpPr>
            <p:spPr bwMode="auto">
              <a:xfrm>
                <a:off x="3072" y="746"/>
                <a:ext cx="2448" cy="14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grpSp>
            <p:nvGrpSpPr>
              <p:cNvPr id="6" name="Group 22"/>
              <p:cNvGrpSpPr>
                <a:grpSpLocks/>
              </p:cNvGrpSpPr>
              <p:nvPr/>
            </p:nvGrpSpPr>
            <p:grpSpPr bwMode="auto">
              <a:xfrm>
                <a:off x="3888" y="1082"/>
                <a:ext cx="1296" cy="1008"/>
                <a:chOff x="4176" y="1440"/>
                <a:chExt cx="1296" cy="1008"/>
              </a:xfrm>
            </p:grpSpPr>
            <p:sp>
              <p:nvSpPr>
                <p:cNvPr id="125967" name="AutoShape 15"/>
                <p:cNvSpPr>
                  <a:spLocks noChangeArrowheads="1"/>
                </p:cNvSpPr>
                <p:nvPr/>
              </p:nvSpPr>
              <p:spPr bwMode="auto">
                <a:xfrm>
                  <a:off x="4320" y="2062"/>
                  <a:ext cx="240" cy="343"/>
                </a:xfrm>
                <a:prstGeom prst="flowChartMagneticDisk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5968" name="AutoShape 16"/>
                <p:cNvSpPr>
                  <a:spLocks noChangeArrowheads="1"/>
                </p:cNvSpPr>
                <p:nvPr/>
              </p:nvSpPr>
              <p:spPr bwMode="auto">
                <a:xfrm>
                  <a:off x="4896" y="1548"/>
                  <a:ext cx="384" cy="557"/>
                </a:xfrm>
                <a:prstGeom prst="flowChartMagneticDisk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5969" name="AutoShape 17"/>
                <p:cNvSpPr>
                  <a:spLocks noChangeArrowheads="1"/>
                </p:cNvSpPr>
                <p:nvPr/>
              </p:nvSpPr>
              <p:spPr bwMode="auto">
                <a:xfrm>
                  <a:off x="4560" y="1805"/>
                  <a:ext cx="240" cy="257"/>
                </a:xfrm>
                <a:prstGeom prst="flowChartMagneticDisk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5970" name="Line 18"/>
                <p:cNvSpPr>
                  <a:spLocks noChangeShapeType="1"/>
                </p:cNvSpPr>
                <p:nvPr/>
              </p:nvSpPr>
              <p:spPr bwMode="auto">
                <a:xfrm>
                  <a:off x="4176" y="2448"/>
                  <a:ext cx="12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5971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4176" y="1440"/>
                  <a:ext cx="0" cy="100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5972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4176" y="1677"/>
                  <a:ext cx="576" cy="77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sysDot"/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25975" name="Text Box 23"/>
              <p:cNvSpPr txBox="1">
                <a:spLocks noChangeArrowheads="1"/>
              </p:cNvSpPr>
              <p:nvPr/>
            </p:nvSpPr>
            <p:spPr bwMode="auto">
              <a:xfrm>
                <a:off x="3638" y="720"/>
                <a:ext cx="793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u="sng" dirty="0">
                    <a:solidFill>
                      <a:srgbClr val="6600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Plateaus</a:t>
                </a:r>
                <a:endParaRPr lang="en-US" dirty="0">
                  <a:solidFill>
                    <a:srgbClr val="66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</p:grpSp>
        <p:sp>
          <p:nvSpPr>
            <p:cNvPr id="126002" name="Rectangle 50"/>
            <p:cNvSpPr>
              <a:spLocks noChangeArrowheads="1"/>
            </p:cNvSpPr>
            <p:nvPr/>
          </p:nvSpPr>
          <p:spPr bwMode="auto">
            <a:xfrm>
              <a:off x="3072" y="912"/>
              <a:ext cx="2448" cy="1440"/>
            </a:xfrm>
            <a:prstGeom prst="rect">
              <a:avLst/>
            </a:prstGeom>
            <a:noFill/>
            <a:ln w="28575">
              <a:solidFill>
                <a:srgbClr val="FFCC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7" name="Group 54"/>
          <p:cNvGrpSpPr>
            <a:grpSpLocks/>
          </p:cNvGrpSpPr>
          <p:nvPr/>
        </p:nvGrpSpPr>
        <p:grpSpPr bwMode="auto">
          <a:xfrm>
            <a:off x="2362200" y="3959225"/>
            <a:ext cx="4876800" cy="2517775"/>
            <a:chOff x="1488" y="2494"/>
            <a:chExt cx="3072" cy="1586"/>
          </a:xfrm>
        </p:grpSpPr>
        <p:grpSp>
          <p:nvGrpSpPr>
            <p:cNvPr id="8" name="Group 48"/>
            <p:cNvGrpSpPr>
              <a:grpSpLocks/>
            </p:cNvGrpSpPr>
            <p:nvPr/>
          </p:nvGrpSpPr>
          <p:grpSpPr bwMode="auto">
            <a:xfrm>
              <a:off x="1488" y="2494"/>
              <a:ext cx="3072" cy="1586"/>
              <a:chOff x="1488" y="2352"/>
              <a:chExt cx="3072" cy="1586"/>
            </a:xfrm>
          </p:grpSpPr>
          <p:sp>
            <p:nvSpPr>
              <p:cNvPr id="125993" name="Rectangle 41"/>
              <p:cNvSpPr>
                <a:spLocks noChangeArrowheads="1"/>
              </p:cNvSpPr>
              <p:nvPr/>
            </p:nvSpPr>
            <p:spPr bwMode="auto">
              <a:xfrm>
                <a:off x="1488" y="2352"/>
                <a:ext cx="3072" cy="158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GB" dirty="0">
                  <a:solidFill>
                    <a:srgbClr val="66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grpSp>
            <p:nvGrpSpPr>
              <p:cNvPr id="9" name="Group 34"/>
              <p:cNvGrpSpPr>
                <a:grpSpLocks/>
              </p:cNvGrpSpPr>
              <p:nvPr/>
            </p:nvGrpSpPr>
            <p:grpSpPr bwMode="auto">
              <a:xfrm rot="940605">
                <a:off x="2320" y="2710"/>
                <a:ext cx="1728" cy="1228"/>
                <a:chOff x="1392" y="2832"/>
                <a:chExt cx="1728" cy="1104"/>
              </a:xfrm>
            </p:grpSpPr>
            <p:sp>
              <p:nvSpPr>
                <p:cNvPr id="125978" name="Line 26"/>
                <p:cNvSpPr>
                  <a:spLocks noChangeShapeType="1"/>
                </p:cNvSpPr>
                <p:nvPr/>
              </p:nvSpPr>
              <p:spPr bwMode="auto">
                <a:xfrm flipH="1">
                  <a:off x="2016" y="2832"/>
                  <a:ext cx="192" cy="48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5979" name="Line 27"/>
                <p:cNvSpPr>
                  <a:spLocks noChangeShapeType="1"/>
                </p:cNvSpPr>
                <p:nvPr/>
              </p:nvSpPr>
              <p:spPr bwMode="auto">
                <a:xfrm flipV="1">
                  <a:off x="2016" y="2880"/>
                  <a:ext cx="912" cy="4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5981" name="Line 29"/>
                <p:cNvSpPr>
                  <a:spLocks noChangeShapeType="1"/>
                </p:cNvSpPr>
                <p:nvPr/>
              </p:nvSpPr>
              <p:spPr bwMode="auto">
                <a:xfrm flipV="1">
                  <a:off x="1728" y="3024"/>
                  <a:ext cx="1248" cy="57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5982" name="Line 30"/>
                <p:cNvSpPr>
                  <a:spLocks noChangeShapeType="1"/>
                </p:cNvSpPr>
                <p:nvPr/>
              </p:nvSpPr>
              <p:spPr bwMode="auto">
                <a:xfrm flipH="1">
                  <a:off x="1728" y="2832"/>
                  <a:ext cx="288" cy="76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5984" name="Line 32"/>
                <p:cNvSpPr>
                  <a:spLocks noChangeShapeType="1"/>
                </p:cNvSpPr>
                <p:nvPr/>
              </p:nvSpPr>
              <p:spPr bwMode="auto">
                <a:xfrm flipH="1">
                  <a:off x="1392" y="2832"/>
                  <a:ext cx="432" cy="110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5985" name="Line 33"/>
                <p:cNvSpPr>
                  <a:spLocks noChangeShapeType="1"/>
                </p:cNvSpPr>
                <p:nvPr/>
              </p:nvSpPr>
              <p:spPr bwMode="auto">
                <a:xfrm flipH="1">
                  <a:off x="1392" y="3168"/>
                  <a:ext cx="1728" cy="76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25987" name="Line 35"/>
              <p:cNvSpPr>
                <a:spLocks noChangeShapeType="1"/>
              </p:cNvSpPr>
              <p:nvPr/>
            </p:nvSpPr>
            <p:spPr bwMode="auto">
              <a:xfrm flipV="1">
                <a:off x="2112" y="2784"/>
                <a:ext cx="1" cy="100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5988" name="Line 36"/>
              <p:cNvSpPr>
                <a:spLocks noChangeShapeType="1"/>
              </p:cNvSpPr>
              <p:nvPr/>
            </p:nvSpPr>
            <p:spPr bwMode="auto">
              <a:xfrm>
                <a:off x="2112" y="3792"/>
                <a:ext cx="206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5995" name="Text Box 43"/>
              <p:cNvSpPr txBox="1">
                <a:spLocks noChangeArrowheads="1"/>
              </p:cNvSpPr>
              <p:nvPr/>
            </p:nvSpPr>
            <p:spPr bwMode="auto">
              <a:xfrm>
                <a:off x="1746" y="2419"/>
                <a:ext cx="654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u="sng" dirty="0">
                    <a:solidFill>
                      <a:srgbClr val="6600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Ridges</a:t>
                </a:r>
              </a:p>
            </p:txBody>
          </p:sp>
          <p:sp>
            <p:nvSpPr>
              <p:cNvPr id="125996" name="Line 44"/>
              <p:cNvSpPr>
                <a:spLocks noChangeShapeType="1"/>
              </p:cNvSpPr>
              <p:nvPr/>
            </p:nvSpPr>
            <p:spPr bwMode="auto">
              <a:xfrm>
                <a:off x="2304" y="3408"/>
                <a:ext cx="720" cy="0"/>
              </a:xfrm>
              <a:prstGeom prst="line">
                <a:avLst/>
              </a:prstGeom>
              <a:noFill/>
              <a:ln w="38100">
                <a:solidFill>
                  <a:srgbClr val="000099"/>
                </a:solidFill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5997" name="Line 45"/>
              <p:cNvSpPr>
                <a:spLocks noChangeShapeType="1"/>
              </p:cNvSpPr>
              <p:nvPr/>
            </p:nvSpPr>
            <p:spPr bwMode="auto">
              <a:xfrm rot="-5400000">
                <a:off x="2328" y="3384"/>
                <a:ext cx="624" cy="0"/>
              </a:xfrm>
              <a:prstGeom prst="line">
                <a:avLst/>
              </a:prstGeom>
              <a:noFill/>
              <a:ln w="38100">
                <a:solidFill>
                  <a:srgbClr val="000099"/>
                </a:solidFill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126003" name="Rectangle 51"/>
            <p:cNvSpPr>
              <a:spLocks noChangeArrowheads="1"/>
            </p:cNvSpPr>
            <p:nvPr/>
          </p:nvSpPr>
          <p:spPr bwMode="auto">
            <a:xfrm>
              <a:off x="1488" y="2494"/>
              <a:ext cx="3072" cy="1584"/>
            </a:xfrm>
            <a:prstGeom prst="rect">
              <a:avLst/>
            </a:prstGeom>
            <a:noFill/>
            <a:ln w="28575">
              <a:solidFill>
                <a:srgbClr val="FFCC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Random-restart hill-climbing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Random-restart hill-climbing is a variant in which reaching a local maximum causes the current state to be saved and the search restarted from a random point. </a:t>
            </a:r>
          </a:p>
          <a:p>
            <a:r>
              <a:rPr lang="en-US" dirty="0"/>
              <a:t>After several restarts, return the best state found. With enough restarts, this method will find the optimal solution.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981200"/>
            <a:ext cx="8229600" cy="1143000"/>
          </a:xfrm>
        </p:spPr>
        <p:txBody>
          <a:bodyPr/>
          <a:lstStyle/>
          <a:p>
            <a:r>
              <a:rPr lang="en-US" dirty="0"/>
              <a:t>Beam search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429000"/>
            <a:ext cx="7924800" cy="1752600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r>
              <a:rPr lang="en-US" dirty="0"/>
              <a:t>Narrowing the width of the breadth-first search	</a:t>
            </a:r>
          </a:p>
          <a:p>
            <a:r>
              <a:rPr lang="en-US" dirty="0"/>
              <a:t>	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BBDC2-A40B-46AC-97E3-BD68FA2FB32E}" type="slidenum">
              <a:rPr lang="en-US"/>
              <a:pPr/>
              <a:t>28</a:t>
            </a:fld>
            <a:endParaRPr lang="en-US" dirty="0"/>
          </a:p>
        </p:txBody>
      </p:sp>
      <p:sp>
        <p:nvSpPr>
          <p:cNvPr id="128002" name="Rectangle 2"/>
          <p:cNvSpPr>
            <a:spLocks noChangeArrowheads="1"/>
          </p:cNvSpPr>
          <p:nvPr/>
        </p:nvSpPr>
        <p:spPr bwMode="auto">
          <a:xfrm>
            <a:off x="5638800" y="1371600"/>
            <a:ext cx="3276600" cy="48006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title"/>
          </p:nvPr>
        </p:nvSpPr>
        <p:spPr>
          <a:xfrm>
            <a:off x="2057400" y="152400"/>
            <a:ext cx="5638800" cy="914400"/>
          </a:xfrm>
        </p:spPr>
        <p:txBody>
          <a:bodyPr/>
          <a:lstStyle/>
          <a:p>
            <a:r>
              <a:rPr lang="en-US" dirty="0"/>
              <a:t>Beam search (1):</a:t>
            </a:r>
          </a:p>
        </p:txBody>
      </p:sp>
      <p:sp>
        <p:nvSpPr>
          <p:cNvPr id="1280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715000" y="1447800"/>
            <a:ext cx="3200400" cy="2514600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Assume a pre-fixed WIDTH (example : 2 )</a:t>
            </a:r>
          </a:p>
          <a:p>
            <a:endParaRPr lang="en-US" dirty="0"/>
          </a:p>
          <a:p>
            <a:r>
              <a:rPr lang="en-US" dirty="0"/>
              <a:t>Perform breadth-first,  </a:t>
            </a:r>
            <a:r>
              <a:rPr lang="en-US" u="sng" dirty="0"/>
              <a:t>BUT</a:t>
            </a:r>
            <a:r>
              <a:rPr lang="en-US" dirty="0"/>
              <a:t>:</a:t>
            </a:r>
          </a:p>
          <a:p>
            <a:r>
              <a:rPr lang="en-US" dirty="0"/>
              <a:t>Only keep the WIDTH best new nodes</a:t>
            </a:r>
          </a:p>
          <a:p>
            <a:pPr lvl="1">
              <a:buFont typeface="Wingdings" pitchFamily="2" charset="2"/>
              <a:buChar char=" "/>
            </a:pPr>
            <a:r>
              <a:rPr lang="en-US" dirty="0"/>
              <a:t>depending on         	heuristic </a:t>
            </a:r>
          </a:p>
          <a:p>
            <a:pPr>
              <a:buFont typeface="Wingdings 2" pitchFamily="18" charset="2"/>
              <a:buChar char=" "/>
            </a:pPr>
            <a:r>
              <a:rPr lang="en-US" dirty="0"/>
              <a:t>at each new level.</a:t>
            </a:r>
          </a:p>
        </p:txBody>
      </p:sp>
      <p:grpSp>
        <p:nvGrpSpPr>
          <p:cNvPr id="2" name="Group 164"/>
          <p:cNvGrpSpPr>
            <a:grpSpLocks/>
          </p:cNvGrpSpPr>
          <p:nvPr/>
        </p:nvGrpSpPr>
        <p:grpSpPr bwMode="auto">
          <a:xfrm>
            <a:off x="685800" y="3429000"/>
            <a:ext cx="4724400" cy="2819400"/>
            <a:chOff x="432" y="2160"/>
            <a:chExt cx="2976" cy="1776"/>
          </a:xfrm>
        </p:grpSpPr>
        <p:sp>
          <p:nvSpPr>
            <p:cNvPr id="128143" name="Rectangle 143"/>
            <p:cNvSpPr>
              <a:spLocks noChangeArrowheads="1"/>
            </p:cNvSpPr>
            <p:nvPr/>
          </p:nvSpPr>
          <p:spPr bwMode="auto">
            <a:xfrm>
              <a:off x="432" y="2160"/>
              <a:ext cx="2976" cy="177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GB" dirty="0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pSp>
          <p:nvGrpSpPr>
            <p:cNvPr id="3" name="Group 163"/>
            <p:cNvGrpSpPr>
              <a:grpSpLocks/>
            </p:cNvGrpSpPr>
            <p:nvPr/>
          </p:nvGrpSpPr>
          <p:grpSpPr bwMode="auto">
            <a:xfrm>
              <a:off x="470" y="2189"/>
              <a:ext cx="2654" cy="1358"/>
              <a:chOff x="470" y="2189"/>
              <a:chExt cx="2654" cy="1358"/>
            </a:xfrm>
          </p:grpSpPr>
          <p:grpSp>
            <p:nvGrpSpPr>
              <p:cNvPr id="4" name="Group 142"/>
              <p:cNvGrpSpPr>
                <a:grpSpLocks/>
              </p:cNvGrpSpPr>
              <p:nvPr/>
            </p:nvGrpSpPr>
            <p:grpSpPr bwMode="auto">
              <a:xfrm>
                <a:off x="752" y="2299"/>
                <a:ext cx="2080" cy="1248"/>
                <a:chOff x="2672" y="715"/>
                <a:chExt cx="2080" cy="1134"/>
              </a:xfrm>
            </p:grpSpPr>
            <p:sp>
              <p:nvSpPr>
                <p:cNvPr id="128114" name="Text Box 114"/>
                <p:cNvSpPr txBox="1">
                  <a:spLocks noChangeArrowheads="1"/>
                </p:cNvSpPr>
                <p:nvPr/>
              </p:nvSpPr>
              <p:spPr bwMode="auto">
                <a:xfrm>
                  <a:off x="3645" y="720"/>
                  <a:ext cx="204" cy="2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sz="2000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 Narrow" pitchFamily="34" charset="0"/>
                    </a:rPr>
                    <a:t>S</a:t>
                  </a:r>
                  <a:endParaRPr lang="en-US" sz="24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 Narrow" pitchFamily="34" charset="0"/>
                  </a:endParaRPr>
                </a:p>
              </p:txBody>
            </p:sp>
            <p:sp>
              <p:nvSpPr>
                <p:cNvPr id="128106" name="Oval 106"/>
                <p:cNvSpPr>
                  <a:spLocks noChangeArrowheads="1"/>
                </p:cNvSpPr>
                <p:nvPr/>
              </p:nvSpPr>
              <p:spPr bwMode="auto">
                <a:xfrm>
                  <a:off x="2672" y="1675"/>
                  <a:ext cx="218" cy="141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8107" name="Text Box 107"/>
                <p:cNvSpPr txBox="1">
                  <a:spLocks noChangeArrowheads="1"/>
                </p:cNvSpPr>
                <p:nvPr/>
              </p:nvSpPr>
              <p:spPr bwMode="auto">
                <a:xfrm>
                  <a:off x="2677" y="1622"/>
                  <a:ext cx="211" cy="2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sz="2000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 Narrow" pitchFamily="34" charset="0"/>
                    </a:rPr>
                    <a:t>B</a:t>
                  </a:r>
                  <a:endParaRPr lang="en-US" sz="24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 Narrow" pitchFamily="34" charset="0"/>
                  </a:endParaRPr>
                </a:p>
              </p:txBody>
            </p:sp>
            <p:sp>
              <p:nvSpPr>
                <p:cNvPr id="128108" name="Oval 108"/>
                <p:cNvSpPr>
                  <a:spLocks noChangeArrowheads="1"/>
                </p:cNvSpPr>
                <p:nvPr/>
              </p:nvSpPr>
              <p:spPr bwMode="auto">
                <a:xfrm>
                  <a:off x="3349" y="1675"/>
                  <a:ext cx="218" cy="14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sz="2000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 Narrow" pitchFamily="34" charset="0"/>
                    </a:rPr>
                    <a:t>D</a:t>
                  </a:r>
                  <a:endParaRPr lang="en-US" sz="24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 Narrow" pitchFamily="34" charset="0"/>
                  </a:endParaRPr>
                </a:p>
              </p:txBody>
            </p:sp>
            <p:sp>
              <p:nvSpPr>
                <p:cNvPr id="128109" name="Oval 109"/>
                <p:cNvSpPr>
                  <a:spLocks noChangeArrowheads="1"/>
                </p:cNvSpPr>
                <p:nvPr/>
              </p:nvSpPr>
              <p:spPr bwMode="auto">
                <a:xfrm>
                  <a:off x="3775" y="1675"/>
                  <a:ext cx="219" cy="14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8110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3781" y="1621"/>
                  <a:ext cx="211" cy="2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sz="2000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 Narrow" pitchFamily="34" charset="0"/>
                    </a:rPr>
                    <a:t>A</a:t>
                  </a:r>
                  <a:endParaRPr lang="en-US" sz="24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 Narrow" pitchFamily="34" charset="0"/>
                  </a:endParaRPr>
                </a:p>
              </p:txBody>
            </p:sp>
            <p:sp>
              <p:nvSpPr>
                <p:cNvPr id="128111" name="Oval 111"/>
                <p:cNvSpPr>
                  <a:spLocks noChangeArrowheads="1"/>
                </p:cNvSpPr>
                <p:nvPr/>
              </p:nvSpPr>
              <p:spPr bwMode="auto">
                <a:xfrm>
                  <a:off x="4533" y="1675"/>
                  <a:ext cx="219" cy="14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sz="2000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 Narrow" pitchFamily="34" charset="0"/>
                    </a:rPr>
                    <a:t>E</a:t>
                  </a:r>
                  <a:endParaRPr lang="en-US" sz="24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 Narrow" pitchFamily="34" charset="0"/>
                  </a:endParaRPr>
                </a:p>
              </p:txBody>
            </p:sp>
            <p:sp>
              <p:nvSpPr>
                <p:cNvPr id="128113" name="Oval 113"/>
                <p:cNvSpPr>
                  <a:spLocks noChangeArrowheads="1"/>
                </p:cNvSpPr>
                <p:nvPr/>
              </p:nvSpPr>
              <p:spPr bwMode="auto">
                <a:xfrm>
                  <a:off x="3637" y="776"/>
                  <a:ext cx="218" cy="142"/>
                </a:xfrm>
                <a:prstGeom prst="ellipse">
                  <a:avLst/>
                </a:prstGeom>
                <a:solidFill>
                  <a:srgbClr val="FFCC00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/>
                  <a:endParaRPr lang="en-GB" sz="2800" dirty="0">
                    <a:solidFill>
                      <a:srgbClr val="6600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endParaRPr>
                </a:p>
              </p:txBody>
            </p:sp>
            <p:sp>
              <p:nvSpPr>
                <p:cNvPr id="128115" name="Oval 115"/>
                <p:cNvSpPr>
                  <a:spLocks noChangeArrowheads="1"/>
                </p:cNvSpPr>
                <p:nvPr/>
              </p:nvSpPr>
              <p:spPr bwMode="auto">
                <a:xfrm>
                  <a:off x="3055" y="1158"/>
                  <a:ext cx="219" cy="14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8116" name="Text Box 116"/>
                <p:cNvSpPr txBox="1">
                  <a:spLocks noChangeArrowheads="1"/>
                </p:cNvSpPr>
                <p:nvPr/>
              </p:nvSpPr>
              <p:spPr bwMode="auto">
                <a:xfrm>
                  <a:off x="3061" y="1104"/>
                  <a:ext cx="211" cy="2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sz="2000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 Narrow" pitchFamily="34" charset="0"/>
                    </a:rPr>
                    <a:t>A</a:t>
                  </a:r>
                  <a:endParaRPr lang="en-US" sz="24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 Narrow" pitchFamily="34" charset="0"/>
                  </a:endParaRPr>
                </a:p>
              </p:txBody>
            </p:sp>
            <p:sp>
              <p:nvSpPr>
                <p:cNvPr id="128117" name="Oval 117"/>
                <p:cNvSpPr>
                  <a:spLocks noChangeArrowheads="1"/>
                </p:cNvSpPr>
                <p:nvPr/>
              </p:nvSpPr>
              <p:spPr bwMode="auto">
                <a:xfrm>
                  <a:off x="4261" y="1158"/>
                  <a:ext cx="218" cy="141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sz="2000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 Narrow" pitchFamily="34" charset="0"/>
                    </a:rPr>
                    <a:t>D</a:t>
                  </a:r>
                  <a:endParaRPr lang="en-US" sz="24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 Narrow" pitchFamily="34" charset="0"/>
                  </a:endParaRPr>
                </a:p>
              </p:txBody>
            </p:sp>
            <p:cxnSp>
              <p:nvCxnSpPr>
                <p:cNvPr id="128118" name="AutoShape 118"/>
                <p:cNvCxnSpPr>
                  <a:cxnSpLocks noChangeShapeType="1"/>
                  <a:stCxn id="128114" idx="1"/>
                  <a:endCxn id="128116" idx="0"/>
                </p:cNvCxnSpPr>
                <p:nvPr/>
              </p:nvCxnSpPr>
              <p:spPr bwMode="auto">
                <a:xfrm flipH="1">
                  <a:off x="3167" y="845"/>
                  <a:ext cx="478" cy="259"/>
                </a:xfrm>
                <a:prstGeom prst="straightConnector1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  <p:cxnSp>
              <p:nvCxnSpPr>
                <p:cNvPr id="128119" name="AutoShape 119"/>
                <p:cNvCxnSpPr>
                  <a:cxnSpLocks noChangeShapeType="1"/>
                  <a:stCxn id="128114" idx="3"/>
                  <a:endCxn id="128117" idx="1"/>
                </p:cNvCxnSpPr>
                <p:nvPr/>
              </p:nvCxnSpPr>
              <p:spPr bwMode="auto">
                <a:xfrm>
                  <a:off x="3849" y="845"/>
                  <a:ext cx="444" cy="325"/>
                </a:xfrm>
                <a:prstGeom prst="straightConnector1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  <p:cxnSp>
              <p:nvCxnSpPr>
                <p:cNvPr id="128120" name="AutoShape 120"/>
                <p:cNvCxnSpPr>
                  <a:cxnSpLocks noChangeShapeType="1"/>
                  <a:stCxn id="128116" idx="1"/>
                  <a:endCxn id="128107" idx="0"/>
                </p:cNvCxnSpPr>
                <p:nvPr/>
              </p:nvCxnSpPr>
              <p:spPr bwMode="auto">
                <a:xfrm flipH="1">
                  <a:off x="2783" y="1229"/>
                  <a:ext cx="278" cy="393"/>
                </a:xfrm>
                <a:prstGeom prst="straightConnector1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  <p:cxnSp>
              <p:nvCxnSpPr>
                <p:cNvPr id="128121" name="AutoShape 121"/>
                <p:cNvCxnSpPr>
                  <a:cxnSpLocks noChangeShapeType="1"/>
                  <a:stCxn id="128116" idx="3"/>
                  <a:endCxn id="128108" idx="0"/>
                </p:cNvCxnSpPr>
                <p:nvPr/>
              </p:nvCxnSpPr>
              <p:spPr bwMode="auto">
                <a:xfrm>
                  <a:off x="3272" y="1229"/>
                  <a:ext cx="186" cy="437"/>
                </a:xfrm>
                <a:prstGeom prst="straightConnector1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  <p:cxnSp>
              <p:nvCxnSpPr>
                <p:cNvPr id="128122" name="AutoShape 122"/>
                <p:cNvCxnSpPr>
                  <a:cxnSpLocks noChangeShapeType="1"/>
                  <a:stCxn id="128117" idx="2"/>
                  <a:endCxn id="128110" idx="0"/>
                </p:cNvCxnSpPr>
                <p:nvPr/>
              </p:nvCxnSpPr>
              <p:spPr bwMode="auto">
                <a:xfrm flipH="1">
                  <a:off x="3887" y="1229"/>
                  <a:ext cx="365" cy="392"/>
                </a:xfrm>
                <a:prstGeom prst="straightConnector1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  <p:cxnSp>
              <p:nvCxnSpPr>
                <p:cNvPr id="128123" name="AutoShape 123"/>
                <p:cNvCxnSpPr>
                  <a:cxnSpLocks noChangeShapeType="1"/>
                  <a:stCxn id="128117" idx="6"/>
                  <a:endCxn id="128111" idx="0"/>
                </p:cNvCxnSpPr>
                <p:nvPr/>
              </p:nvCxnSpPr>
              <p:spPr bwMode="auto">
                <a:xfrm>
                  <a:off x="4488" y="1229"/>
                  <a:ext cx="155" cy="437"/>
                </a:xfrm>
                <a:prstGeom prst="straightConnector1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  <p:sp>
              <p:nvSpPr>
                <p:cNvPr id="128141" name="Text Box 141"/>
                <p:cNvSpPr txBox="1">
                  <a:spLocks noChangeArrowheads="1"/>
                </p:cNvSpPr>
                <p:nvPr/>
              </p:nvSpPr>
              <p:spPr bwMode="auto">
                <a:xfrm>
                  <a:off x="3637" y="715"/>
                  <a:ext cx="212" cy="24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 Narrow" pitchFamily="34" charset="0"/>
                    </a:rPr>
                    <a:t>S</a:t>
                  </a:r>
                </a:p>
              </p:txBody>
            </p:sp>
          </p:grpSp>
          <p:sp>
            <p:nvSpPr>
              <p:cNvPr id="128145" name="Text Box 145"/>
              <p:cNvSpPr txBox="1">
                <a:spLocks noChangeArrowheads="1"/>
              </p:cNvSpPr>
              <p:nvPr/>
            </p:nvSpPr>
            <p:spPr bwMode="auto">
              <a:xfrm>
                <a:off x="480" y="3187"/>
                <a:ext cx="374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6600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6.7</a:t>
                </a:r>
              </a:p>
            </p:txBody>
          </p:sp>
          <p:sp>
            <p:nvSpPr>
              <p:cNvPr id="128146" name="Text Box 146"/>
              <p:cNvSpPr txBox="1">
                <a:spLocks noChangeArrowheads="1"/>
              </p:cNvSpPr>
              <p:nvPr/>
            </p:nvSpPr>
            <p:spPr bwMode="auto">
              <a:xfrm>
                <a:off x="1152" y="3187"/>
                <a:ext cx="374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6600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8.9</a:t>
                </a:r>
              </a:p>
            </p:txBody>
          </p:sp>
          <p:sp>
            <p:nvSpPr>
              <p:cNvPr id="128148" name="Text Box 148"/>
              <p:cNvSpPr txBox="1">
                <a:spLocks noChangeArrowheads="1"/>
              </p:cNvSpPr>
              <p:nvPr/>
            </p:nvSpPr>
            <p:spPr bwMode="auto">
              <a:xfrm>
                <a:off x="1995" y="3187"/>
                <a:ext cx="453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6600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10.4</a:t>
                </a:r>
              </a:p>
            </p:txBody>
          </p:sp>
          <p:sp>
            <p:nvSpPr>
              <p:cNvPr id="128149" name="Text Box 149"/>
              <p:cNvSpPr txBox="1">
                <a:spLocks noChangeArrowheads="1"/>
              </p:cNvSpPr>
              <p:nvPr/>
            </p:nvSpPr>
            <p:spPr bwMode="auto">
              <a:xfrm>
                <a:off x="2750" y="3183"/>
                <a:ext cx="374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6600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6.9</a:t>
                </a:r>
              </a:p>
            </p:txBody>
          </p:sp>
          <p:sp>
            <p:nvSpPr>
              <p:cNvPr id="128152" name="Text Box 152"/>
              <p:cNvSpPr txBox="1">
                <a:spLocks noChangeArrowheads="1"/>
              </p:cNvSpPr>
              <p:nvPr/>
            </p:nvSpPr>
            <p:spPr bwMode="auto">
              <a:xfrm>
                <a:off x="470" y="2189"/>
                <a:ext cx="9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400" u="sng" dirty="0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Depth 2)</a:t>
                </a:r>
                <a:endParaRPr lang="en-US" dirty="0">
                  <a:solidFill>
                    <a:srgbClr val="66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cxnSp>
            <p:nvCxnSpPr>
              <p:cNvPr id="128156" name="AutoShape 156"/>
              <p:cNvCxnSpPr>
                <a:cxnSpLocks noChangeShapeType="1"/>
                <a:stCxn id="128141" idx="2"/>
                <a:endCxn id="128116" idx="3"/>
              </p:cNvCxnSpPr>
              <p:nvPr/>
            </p:nvCxnSpPr>
            <p:spPr bwMode="auto">
              <a:xfrm rot="5400000">
                <a:off x="1446" y="2474"/>
                <a:ext cx="284" cy="471"/>
              </a:xfrm>
              <a:prstGeom prst="curvedConnector2">
                <a:avLst/>
              </a:prstGeom>
              <a:noFill/>
              <a:ln w="28575">
                <a:solidFill>
                  <a:srgbClr val="CC0000"/>
                </a:solidFill>
                <a:prstDash val="sysDot"/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128157" name="AutoShape 157"/>
              <p:cNvCxnSpPr>
                <a:cxnSpLocks noChangeShapeType="1"/>
                <a:stCxn id="128141" idx="2"/>
                <a:endCxn id="128117" idx="2"/>
              </p:cNvCxnSpPr>
              <p:nvPr/>
            </p:nvCxnSpPr>
            <p:spPr bwMode="auto">
              <a:xfrm rot="16200000" flipH="1">
                <a:off x="1929" y="2462"/>
                <a:ext cx="297" cy="509"/>
              </a:xfrm>
              <a:prstGeom prst="curvedConnector2">
                <a:avLst/>
              </a:prstGeom>
              <a:noFill/>
              <a:ln w="28575">
                <a:solidFill>
                  <a:srgbClr val="CC0000"/>
                </a:solidFill>
                <a:prstDash val="sysDot"/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128158" name="AutoShape 158"/>
              <p:cNvCxnSpPr>
                <a:cxnSpLocks noChangeShapeType="1"/>
                <a:stCxn id="128116" idx="2"/>
                <a:endCxn id="128107" idx="3"/>
              </p:cNvCxnSpPr>
              <p:nvPr/>
            </p:nvCxnSpPr>
            <p:spPr bwMode="auto">
              <a:xfrm rot="5400000">
                <a:off x="885" y="3060"/>
                <a:ext cx="445" cy="279"/>
              </a:xfrm>
              <a:prstGeom prst="curvedConnector2">
                <a:avLst/>
              </a:prstGeom>
              <a:noFill/>
              <a:ln w="28575">
                <a:solidFill>
                  <a:srgbClr val="CC0000"/>
                </a:solidFill>
                <a:prstDash val="sysDot"/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128159" name="AutoShape 159"/>
              <p:cNvCxnSpPr>
                <a:cxnSpLocks noChangeShapeType="1"/>
                <a:stCxn id="128117" idx="4"/>
                <a:endCxn id="128111" idx="2"/>
              </p:cNvCxnSpPr>
              <p:nvPr/>
            </p:nvCxnSpPr>
            <p:spPr bwMode="auto">
              <a:xfrm rot="16200000" flipH="1">
                <a:off x="2285" y="3116"/>
                <a:ext cx="483" cy="154"/>
              </a:xfrm>
              <a:prstGeom prst="curvedConnector2">
                <a:avLst/>
              </a:prstGeom>
              <a:noFill/>
              <a:ln w="28575">
                <a:solidFill>
                  <a:srgbClr val="CC0000"/>
                </a:solidFill>
                <a:prstDash val="sysDot"/>
                <a:round/>
                <a:headEnd/>
                <a:tailEnd type="triangle" w="med" len="med"/>
              </a:ln>
              <a:effectLst/>
            </p:spPr>
          </p:cxnSp>
        </p:grpSp>
      </p:grpSp>
      <p:grpSp>
        <p:nvGrpSpPr>
          <p:cNvPr id="5" name="Group 165"/>
          <p:cNvGrpSpPr>
            <a:grpSpLocks/>
          </p:cNvGrpSpPr>
          <p:nvPr/>
        </p:nvGrpSpPr>
        <p:grpSpPr bwMode="auto">
          <a:xfrm>
            <a:off x="685800" y="1371600"/>
            <a:ext cx="3962400" cy="1676400"/>
            <a:chOff x="432" y="864"/>
            <a:chExt cx="2496" cy="1056"/>
          </a:xfrm>
        </p:grpSpPr>
        <p:sp>
          <p:nvSpPr>
            <p:cNvPr id="128126" name="Rectangle 126"/>
            <p:cNvSpPr>
              <a:spLocks noChangeArrowheads="1"/>
            </p:cNvSpPr>
            <p:nvPr/>
          </p:nvSpPr>
          <p:spPr bwMode="auto">
            <a:xfrm>
              <a:off x="432" y="864"/>
              <a:ext cx="2496" cy="105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GB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28097" name="Oval 97"/>
            <p:cNvSpPr>
              <a:spLocks noChangeArrowheads="1"/>
            </p:cNvSpPr>
            <p:nvPr/>
          </p:nvSpPr>
          <p:spPr bwMode="auto">
            <a:xfrm>
              <a:off x="1732" y="940"/>
              <a:ext cx="188" cy="193"/>
            </a:xfrm>
            <a:prstGeom prst="ellipse">
              <a:avLst/>
            </a:prstGeom>
            <a:solidFill>
              <a:srgbClr val="FFCC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GB" sz="2800" dirty="0">
                <a:solidFill>
                  <a:srgbClr val="66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28098" name="Text Box 98"/>
            <p:cNvSpPr txBox="1">
              <a:spLocks noChangeArrowheads="1"/>
            </p:cNvSpPr>
            <p:nvPr/>
          </p:nvSpPr>
          <p:spPr bwMode="auto">
            <a:xfrm>
              <a:off x="1739" y="902"/>
              <a:ext cx="20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 Narrow" pitchFamily="34" charset="0"/>
                </a:rPr>
                <a:t>S</a:t>
              </a:r>
              <a:endParaRPr lang="en-US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endParaRPr>
            </a:p>
          </p:txBody>
        </p:sp>
        <p:sp>
          <p:nvSpPr>
            <p:cNvPr id="128099" name="Oval 99"/>
            <p:cNvSpPr>
              <a:spLocks noChangeArrowheads="1"/>
            </p:cNvSpPr>
            <p:nvPr/>
          </p:nvSpPr>
          <p:spPr bwMode="auto">
            <a:xfrm>
              <a:off x="1320" y="1580"/>
              <a:ext cx="189" cy="19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8100" name="Text Box 100"/>
            <p:cNvSpPr txBox="1">
              <a:spLocks noChangeArrowheads="1"/>
            </p:cNvSpPr>
            <p:nvPr/>
          </p:nvSpPr>
          <p:spPr bwMode="auto">
            <a:xfrm>
              <a:off x="1325" y="1526"/>
              <a:ext cx="2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 Narrow" pitchFamily="34" charset="0"/>
                </a:rPr>
                <a:t>A</a:t>
              </a:r>
              <a:endParaRPr lang="en-US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endParaRPr>
            </a:p>
          </p:txBody>
        </p:sp>
        <p:sp>
          <p:nvSpPr>
            <p:cNvPr id="128101" name="Oval 101"/>
            <p:cNvSpPr>
              <a:spLocks noChangeArrowheads="1"/>
            </p:cNvSpPr>
            <p:nvPr/>
          </p:nvSpPr>
          <p:spPr bwMode="auto">
            <a:xfrm>
              <a:off x="2160" y="1552"/>
              <a:ext cx="188" cy="19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 Narrow" pitchFamily="34" charset="0"/>
                </a:rPr>
                <a:t>D</a:t>
              </a:r>
              <a:endParaRPr lang="en-US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endParaRPr>
            </a:p>
          </p:txBody>
        </p:sp>
        <p:cxnSp>
          <p:nvCxnSpPr>
            <p:cNvPr id="128102" name="AutoShape 102"/>
            <p:cNvCxnSpPr>
              <a:cxnSpLocks noChangeShapeType="1"/>
              <a:stCxn id="128098" idx="1"/>
              <a:endCxn id="128100" idx="0"/>
            </p:cNvCxnSpPr>
            <p:nvPr/>
          </p:nvCxnSpPr>
          <p:spPr bwMode="auto">
            <a:xfrm flipH="1">
              <a:off x="1431" y="1027"/>
              <a:ext cx="308" cy="499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8103" name="AutoShape 103"/>
            <p:cNvCxnSpPr>
              <a:cxnSpLocks noChangeShapeType="1"/>
              <a:stCxn id="128098" idx="3"/>
              <a:endCxn id="128101" idx="1"/>
            </p:cNvCxnSpPr>
            <p:nvPr/>
          </p:nvCxnSpPr>
          <p:spPr bwMode="auto">
            <a:xfrm>
              <a:off x="1943" y="1027"/>
              <a:ext cx="245" cy="54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128128" name="Text Box 128"/>
            <p:cNvSpPr txBox="1">
              <a:spLocks noChangeArrowheads="1"/>
            </p:cNvSpPr>
            <p:nvPr/>
          </p:nvSpPr>
          <p:spPr bwMode="auto">
            <a:xfrm>
              <a:off x="1004" y="1219"/>
              <a:ext cx="116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endParaRPr lang="en-GB" dirty="0">
                <a:solidFill>
                  <a:srgbClr val="66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28129" name="Text Box 129"/>
            <p:cNvSpPr txBox="1">
              <a:spLocks noChangeArrowheads="1"/>
            </p:cNvSpPr>
            <p:nvPr/>
          </p:nvSpPr>
          <p:spPr bwMode="auto">
            <a:xfrm>
              <a:off x="1008" y="1340"/>
              <a:ext cx="453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66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10.4</a:t>
              </a:r>
            </a:p>
          </p:txBody>
        </p:sp>
        <p:sp>
          <p:nvSpPr>
            <p:cNvPr id="128138" name="Text Box 138"/>
            <p:cNvSpPr txBox="1">
              <a:spLocks noChangeArrowheads="1"/>
            </p:cNvSpPr>
            <p:nvPr/>
          </p:nvSpPr>
          <p:spPr bwMode="auto">
            <a:xfrm>
              <a:off x="2122" y="1315"/>
              <a:ext cx="374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66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8.9</a:t>
              </a:r>
            </a:p>
          </p:txBody>
        </p:sp>
        <p:sp>
          <p:nvSpPr>
            <p:cNvPr id="128139" name="Text Box 139"/>
            <p:cNvSpPr txBox="1">
              <a:spLocks noChangeArrowheads="1"/>
            </p:cNvSpPr>
            <p:nvPr/>
          </p:nvSpPr>
          <p:spPr bwMode="auto">
            <a:xfrm>
              <a:off x="480" y="864"/>
              <a:ext cx="87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u="sng" dirty="0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Depth 1)</a:t>
              </a:r>
              <a:endParaRPr lang="en-US" sz="2400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cxnSp>
          <p:nvCxnSpPr>
            <p:cNvPr id="128160" name="AutoShape 160"/>
            <p:cNvCxnSpPr>
              <a:cxnSpLocks noChangeShapeType="1"/>
              <a:stCxn id="128098" idx="2"/>
              <a:endCxn id="128100" idx="3"/>
            </p:cNvCxnSpPr>
            <p:nvPr/>
          </p:nvCxnSpPr>
          <p:spPr bwMode="auto">
            <a:xfrm rot="5400000">
              <a:off x="1439" y="1249"/>
              <a:ext cx="499" cy="305"/>
            </a:xfrm>
            <a:prstGeom prst="curvedConnector2">
              <a:avLst/>
            </a:prstGeom>
            <a:noFill/>
            <a:ln w="28575">
              <a:solidFill>
                <a:srgbClr val="CC0000"/>
              </a:solidFill>
              <a:prstDash val="sysDot"/>
              <a:round/>
              <a:headEnd/>
              <a:tailEnd type="triangle" w="med" len="med"/>
            </a:ln>
            <a:effectLst/>
          </p:spPr>
        </p:cxnSp>
        <p:cxnSp>
          <p:nvCxnSpPr>
            <p:cNvPr id="128161" name="AutoShape 161"/>
            <p:cNvCxnSpPr>
              <a:cxnSpLocks noChangeShapeType="1"/>
              <a:stCxn id="128098" idx="2"/>
              <a:endCxn id="128101" idx="2"/>
            </p:cNvCxnSpPr>
            <p:nvPr/>
          </p:nvCxnSpPr>
          <p:spPr bwMode="auto">
            <a:xfrm rot="16200000" flipH="1">
              <a:off x="1748" y="1245"/>
              <a:ext cx="496" cy="310"/>
            </a:xfrm>
            <a:prstGeom prst="curvedConnector2">
              <a:avLst/>
            </a:prstGeom>
            <a:noFill/>
            <a:ln w="28575">
              <a:solidFill>
                <a:srgbClr val="CC0000"/>
              </a:solidFill>
              <a:prstDash val="sysDot"/>
              <a:round/>
              <a:headEnd/>
              <a:tailEnd type="triangle" w="med" len="med"/>
            </a:ln>
            <a:effectLst/>
          </p:spPr>
        </p:cxnSp>
      </p:grpSp>
      <p:grpSp>
        <p:nvGrpSpPr>
          <p:cNvPr id="6" name="Group 162"/>
          <p:cNvGrpSpPr>
            <a:grpSpLocks/>
          </p:cNvGrpSpPr>
          <p:nvPr/>
        </p:nvGrpSpPr>
        <p:grpSpPr bwMode="auto">
          <a:xfrm>
            <a:off x="1905000" y="5562600"/>
            <a:ext cx="1981200" cy="762000"/>
            <a:chOff x="1200" y="3504"/>
            <a:chExt cx="1248" cy="480"/>
          </a:xfrm>
        </p:grpSpPr>
        <p:sp>
          <p:nvSpPr>
            <p:cNvPr id="128150" name="Text Box 150"/>
            <p:cNvSpPr txBox="1">
              <a:spLocks noChangeArrowheads="1"/>
            </p:cNvSpPr>
            <p:nvPr/>
          </p:nvSpPr>
          <p:spPr bwMode="auto">
            <a:xfrm>
              <a:off x="1200" y="3504"/>
              <a:ext cx="624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X</a:t>
              </a:r>
            </a:p>
            <a:p>
              <a:pPr algn="ctr"/>
              <a:r>
                <a:rPr lang="en-US" dirty="0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ignore</a:t>
              </a:r>
              <a:endParaRPr lang="en-US" dirty="0">
                <a:solidFill>
                  <a:srgbClr val="66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28151" name="Text Box 151"/>
            <p:cNvSpPr txBox="1">
              <a:spLocks noChangeArrowheads="1"/>
            </p:cNvSpPr>
            <p:nvPr/>
          </p:nvSpPr>
          <p:spPr bwMode="auto">
            <a:xfrm>
              <a:off x="1824" y="3504"/>
              <a:ext cx="624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X</a:t>
              </a:r>
            </a:p>
            <a:p>
              <a:r>
                <a:rPr lang="en-US" dirty="0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ignore</a:t>
              </a:r>
              <a:endParaRPr lang="en-US" dirty="0">
                <a:solidFill>
                  <a:srgbClr val="66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CC4462-D7BA-459C-A26B-6FCECE4D3537}" type="slidenum">
              <a:rPr lang="en-US"/>
              <a:pPr/>
              <a:t>29</a:t>
            </a:fld>
            <a:endParaRPr lang="en-US" dirty="0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Beam search (2):</a:t>
            </a:r>
          </a:p>
        </p:txBody>
      </p:sp>
      <p:grpSp>
        <p:nvGrpSpPr>
          <p:cNvPr id="2" name="Group 257"/>
          <p:cNvGrpSpPr>
            <a:grpSpLocks/>
          </p:cNvGrpSpPr>
          <p:nvPr/>
        </p:nvGrpSpPr>
        <p:grpSpPr bwMode="auto">
          <a:xfrm>
            <a:off x="76200" y="685800"/>
            <a:ext cx="7162800" cy="2895600"/>
            <a:chOff x="48" y="432"/>
            <a:chExt cx="4512" cy="1824"/>
          </a:xfrm>
        </p:grpSpPr>
        <p:sp>
          <p:nvSpPr>
            <p:cNvPr id="129255" name="Rectangle 231"/>
            <p:cNvSpPr>
              <a:spLocks noChangeArrowheads="1"/>
            </p:cNvSpPr>
            <p:nvPr/>
          </p:nvSpPr>
          <p:spPr bwMode="auto">
            <a:xfrm>
              <a:off x="96" y="432"/>
              <a:ext cx="4416" cy="182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GB" dirty="0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pSp>
          <p:nvGrpSpPr>
            <p:cNvPr id="3" name="Group 182"/>
            <p:cNvGrpSpPr>
              <a:grpSpLocks/>
            </p:cNvGrpSpPr>
            <p:nvPr/>
          </p:nvGrpSpPr>
          <p:grpSpPr bwMode="auto">
            <a:xfrm>
              <a:off x="346" y="480"/>
              <a:ext cx="3896" cy="1306"/>
              <a:chOff x="864" y="614"/>
              <a:chExt cx="3896" cy="1306"/>
            </a:xfrm>
          </p:grpSpPr>
          <p:sp>
            <p:nvSpPr>
              <p:cNvPr id="129028" name="Oval 4"/>
              <p:cNvSpPr>
                <a:spLocks noChangeArrowheads="1"/>
              </p:cNvSpPr>
              <p:nvPr/>
            </p:nvSpPr>
            <p:spPr bwMode="auto">
              <a:xfrm>
                <a:off x="864" y="1736"/>
                <a:ext cx="219" cy="14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9029" name="Text Box 5"/>
              <p:cNvSpPr txBox="1">
                <a:spLocks noChangeArrowheads="1"/>
              </p:cNvSpPr>
              <p:nvPr/>
            </p:nvSpPr>
            <p:spPr bwMode="auto">
              <a:xfrm>
                <a:off x="870" y="1670"/>
                <a:ext cx="211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 Narrow" pitchFamily="34" charset="0"/>
                  </a:rPr>
                  <a:t>C</a:t>
                </a:r>
                <a:endParaRPr lang="en-US" sz="24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 Narrow" pitchFamily="34" charset="0"/>
                </a:endParaRPr>
              </a:p>
            </p:txBody>
          </p:sp>
          <p:sp>
            <p:nvSpPr>
              <p:cNvPr id="129030" name="Oval 6"/>
              <p:cNvSpPr>
                <a:spLocks noChangeArrowheads="1"/>
              </p:cNvSpPr>
              <p:nvPr/>
            </p:nvSpPr>
            <p:spPr bwMode="auto">
              <a:xfrm>
                <a:off x="1392" y="1732"/>
                <a:ext cx="219" cy="14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0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 Narrow" pitchFamily="34" charset="0"/>
                  </a:rPr>
                  <a:t>E</a:t>
                </a:r>
                <a:endParaRPr lang="en-US" sz="24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 Narrow" pitchFamily="34" charset="0"/>
                </a:endParaRPr>
              </a:p>
            </p:txBody>
          </p:sp>
          <p:sp>
            <p:nvSpPr>
              <p:cNvPr id="129034" name="Oval 10"/>
              <p:cNvSpPr>
                <a:spLocks noChangeArrowheads="1"/>
              </p:cNvSpPr>
              <p:nvPr/>
            </p:nvSpPr>
            <p:spPr bwMode="auto">
              <a:xfrm>
                <a:off x="3917" y="1737"/>
                <a:ext cx="218" cy="14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9035" name="Text Box 11"/>
              <p:cNvSpPr txBox="1">
                <a:spLocks noChangeArrowheads="1"/>
              </p:cNvSpPr>
              <p:nvPr/>
            </p:nvSpPr>
            <p:spPr bwMode="auto">
              <a:xfrm>
                <a:off x="3922" y="1670"/>
                <a:ext cx="211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 Narrow" pitchFamily="34" charset="0"/>
                  </a:rPr>
                  <a:t>B</a:t>
                </a:r>
                <a:endParaRPr lang="en-US" sz="24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 Narrow" pitchFamily="34" charset="0"/>
                </a:endParaRPr>
              </a:p>
            </p:txBody>
          </p:sp>
          <p:sp>
            <p:nvSpPr>
              <p:cNvPr id="129036" name="Oval 12"/>
              <p:cNvSpPr>
                <a:spLocks noChangeArrowheads="1"/>
              </p:cNvSpPr>
              <p:nvPr/>
            </p:nvSpPr>
            <p:spPr bwMode="auto">
              <a:xfrm>
                <a:off x="4541" y="1729"/>
                <a:ext cx="219" cy="14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9037" name="Text Box 13"/>
              <p:cNvSpPr txBox="1">
                <a:spLocks noChangeArrowheads="1"/>
              </p:cNvSpPr>
              <p:nvPr/>
            </p:nvSpPr>
            <p:spPr bwMode="auto">
              <a:xfrm>
                <a:off x="4550" y="1670"/>
                <a:ext cx="19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 Narrow" pitchFamily="34" charset="0"/>
                  </a:rPr>
                  <a:t>F</a:t>
                </a:r>
                <a:endParaRPr lang="en-US" sz="24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 Narrow" pitchFamily="34" charset="0"/>
                </a:endParaRPr>
              </a:p>
            </p:txBody>
          </p:sp>
          <p:cxnSp>
            <p:nvCxnSpPr>
              <p:cNvPr id="129038" name="AutoShape 14"/>
              <p:cNvCxnSpPr>
                <a:cxnSpLocks noChangeShapeType="1"/>
                <a:stCxn id="129042" idx="1"/>
                <a:endCxn id="129029" idx="0"/>
              </p:cNvCxnSpPr>
              <p:nvPr/>
            </p:nvCxnSpPr>
            <p:spPr bwMode="auto">
              <a:xfrm flipH="1">
                <a:off x="976" y="1603"/>
                <a:ext cx="181" cy="67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29039" name="AutoShape 15"/>
              <p:cNvCxnSpPr>
                <a:cxnSpLocks noChangeShapeType="1"/>
                <a:stCxn id="129042" idx="3"/>
                <a:endCxn id="129030" idx="0"/>
              </p:cNvCxnSpPr>
              <p:nvPr/>
            </p:nvCxnSpPr>
            <p:spPr bwMode="auto">
              <a:xfrm>
                <a:off x="1368" y="1603"/>
                <a:ext cx="134" cy="120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grpSp>
            <p:nvGrpSpPr>
              <p:cNvPr id="4" name="Group 16"/>
              <p:cNvGrpSpPr>
                <a:grpSpLocks/>
              </p:cNvGrpSpPr>
              <p:nvPr/>
            </p:nvGrpSpPr>
            <p:grpSpPr bwMode="auto">
              <a:xfrm>
                <a:off x="1152" y="614"/>
                <a:ext cx="3368" cy="1114"/>
                <a:chOff x="432" y="864"/>
                <a:chExt cx="3368" cy="1114"/>
              </a:xfrm>
            </p:grpSpPr>
            <p:sp>
              <p:nvSpPr>
                <p:cNvPr id="129041" name="Oval 17"/>
                <p:cNvSpPr>
                  <a:spLocks noChangeArrowheads="1"/>
                </p:cNvSpPr>
                <p:nvPr/>
              </p:nvSpPr>
              <p:spPr bwMode="auto">
                <a:xfrm>
                  <a:off x="432" y="1802"/>
                  <a:ext cx="218" cy="141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9042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437" y="1728"/>
                  <a:ext cx="211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sz="2000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 Narrow" pitchFamily="34" charset="0"/>
                    </a:rPr>
                    <a:t>B</a:t>
                  </a:r>
                  <a:endParaRPr lang="en-US" sz="24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 Narrow" pitchFamily="34" charset="0"/>
                  </a:endParaRPr>
                </a:p>
              </p:txBody>
            </p:sp>
            <p:sp>
              <p:nvSpPr>
                <p:cNvPr id="129043" name="Oval 19"/>
                <p:cNvSpPr>
                  <a:spLocks noChangeArrowheads="1"/>
                </p:cNvSpPr>
                <p:nvPr/>
              </p:nvSpPr>
              <p:spPr bwMode="auto">
                <a:xfrm>
                  <a:off x="1416" y="1796"/>
                  <a:ext cx="218" cy="14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sz="2000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 Narrow" pitchFamily="34" charset="0"/>
                    </a:rPr>
                    <a:t>D</a:t>
                  </a:r>
                  <a:endParaRPr lang="en-US" sz="24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 Narrow" pitchFamily="34" charset="0"/>
                  </a:endParaRPr>
                </a:p>
              </p:txBody>
            </p:sp>
            <p:sp>
              <p:nvSpPr>
                <p:cNvPr id="129044" name="Oval 20"/>
                <p:cNvSpPr>
                  <a:spLocks noChangeArrowheads="1"/>
                </p:cNvSpPr>
                <p:nvPr/>
              </p:nvSpPr>
              <p:spPr bwMode="auto">
                <a:xfrm>
                  <a:off x="2381" y="1801"/>
                  <a:ext cx="219" cy="14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9045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2387" y="1728"/>
                  <a:ext cx="211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sz="2000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 Narrow" pitchFamily="34" charset="0"/>
                    </a:rPr>
                    <a:t>A</a:t>
                  </a:r>
                  <a:endParaRPr lang="en-US" sz="24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 Narrow" pitchFamily="34" charset="0"/>
                  </a:endParaRPr>
                </a:p>
              </p:txBody>
            </p:sp>
            <p:sp>
              <p:nvSpPr>
                <p:cNvPr id="129046" name="Oval 22"/>
                <p:cNvSpPr>
                  <a:spLocks noChangeArrowheads="1"/>
                </p:cNvSpPr>
                <p:nvPr/>
              </p:nvSpPr>
              <p:spPr bwMode="auto">
                <a:xfrm>
                  <a:off x="3581" y="1796"/>
                  <a:ext cx="219" cy="14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sz="2000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 Narrow" pitchFamily="34" charset="0"/>
                    </a:rPr>
                    <a:t>E</a:t>
                  </a:r>
                  <a:endParaRPr lang="en-US" sz="24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 Narrow" pitchFamily="34" charset="0"/>
                  </a:endParaRPr>
                </a:p>
              </p:txBody>
            </p:sp>
            <p:grpSp>
              <p:nvGrpSpPr>
                <p:cNvPr id="5" name="Group 23"/>
                <p:cNvGrpSpPr>
                  <a:grpSpLocks/>
                </p:cNvGrpSpPr>
                <p:nvPr/>
              </p:nvGrpSpPr>
              <p:grpSpPr bwMode="auto">
                <a:xfrm>
                  <a:off x="960" y="864"/>
                  <a:ext cx="2285" cy="720"/>
                  <a:chOff x="960" y="864"/>
                  <a:chExt cx="2285" cy="720"/>
                </a:xfrm>
              </p:grpSpPr>
              <p:sp>
                <p:nvSpPr>
                  <p:cNvPr id="129048" name="Oval 24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920"/>
                    <a:ext cx="218" cy="142"/>
                  </a:xfrm>
                  <a:prstGeom prst="ellipse">
                    <a:avLst/>
                  </a:prstGeom>
                  <a:solidFill>
                    <a:srgbClr val="FFCC00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algn="ctr"/>
                    <a:endParaRPr lang="en-GB" sz="2800" dirty="0">
                      <a:solidFill>
                        <a:srgbClr val="660066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endParaRPr>
                  </a:p>
                </p:txBody>
              </p:sp>
              <p:sp>
                <p:nvSpPr>
                  <p:cNvPr id="129049" name="Text Box 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76" y="864"/>
                    <a:ext cx="204" cy="25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000" b="1" dirty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 Narrow" pitchFamily="34" charset="0"/>
                      </a:rPr>
                      <a:t>S</a:t>
                    </a:r>
                    <a:endParaRPr lang="en-US" sz="2400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 Narrow" pitchFamily="34" charset="0"/>
                    </a:endParaRPr>
                  </a:p>
                </p:txBody>
              </p:sp>
              <p:sp>
                <p:nvSpPr>
                  <p:cNvPr id="129050" name="Oval 26"/>
                  <p:cNvSpPr>
                    <a:spLocks noChangeArrowheads="1"/>
                  </p:cNvSpPr>
                  <p:nvPr/>
                </p:nvSpPr>
                <p:spPr bwMode="auto">
                  <a:xfrm>
                    <a:off x="960" y="1374"/>
                    <a:ext cx="219" cy="14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29051" name="Text Box 2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66" y="1334"/>
                    <a:ext cx="211" cy="25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000" b="1" dirty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 Narrow" pitchFamily="34" charset="0"/>
                      </a:rPr>
                      <a:t>A</a:t>
                    </a:r>
                    <a:endParaRPr lang="en-US" sz="2400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 Narrow" pitchFamily="34" charset="0"/>
                    </a:endParaRPr>
                  </a:p>
                </p:txBody>
              </p:sp>
              <p:sp>
                <p:nvSpPr>
                  <p:cNvPr id="129052" name="Oval 28"/>
                  <p:cNvSpPr>
                    <a:spLocks noChangeArrowheads="1"/>
                  </p:cNvSpPr>
                  <p:nvPr/>
                </p:nvSpPr>
                <p:spPr bwMode="auto">
                  <a:xfrm>
                    <a:off x="3027" y="1371"/>
                    <a:ext cx="218" cy="141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algn="ctr"/>
                    <a:r>
                      <a:rPr lang="en-US" sz="2000" b="1" dirty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 Narrow" pitchFamily="34" charset="0"/>
                      </a:rPr>
                      <a:t>D</a:t>
                    </a:r>
                    <a:endParaRPr lang="en-US" sz="2400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 Narrow" pitchFamily="34" charset="0"/>
                    </a:endParaRPr>
                  </a:p>
                </p:txBody>
              </p:sp>
              <p:cxnSp>
                <p:nvCxnSpPr>
                  <p:cNvPr id="129053" name="AutoShape 29"/>
                  <p:cNvCxnSpPr>
                    <a:cxnSpLocks noChangeShapeType="1"/>
                    <a:stCxn id="129049" idx="1"/>
                    <a:endCxn id="129051" idx="0"/>
                  </p:cNvCxnSpPr>
                  <p:nvPr/>
                </p:nvCxnSpPr>
                <p:spPr bwMode="auto">
                  <a:xfrm flipH="1">
                    <a:off x="1072" y="989"/>
                    <a:ext cx="904" cy="345"/>
                  </a:xfrm>
                  <a:prstGeom prst="straightConnector1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</p:cxnSp>
              <p:cxnSp>
                <p:nvCxnSpPr>
                  <p:cNvPr id="129054" name="AutoShape 30"/>
                  <p:cNvCxnSpPr>
                    <a:cxnSpLocks noChangeShapeType="1"/>
                    <a:stCxn id="129049" idx="3"/>
                    <a:endCxn id="129052" idx="1"/>
                  </p:cNvCxnSpPr>
                  <p:nvPr/>
                </p:nvCxnSpPr>
                <p:spPr bwMode="auto">
                  <a:xfrm>
                    <a:off x="2180" y="989"/>
                    <a:ext cx="879" cy="394"/>
                  </a:xfrm>
                  <a:prstGeom prst="straightConnector1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</p:cxnSp>
            </p:grpSp>
            <p:cxnSp>
              <p:nvCxnSpPr>
                <p:cNvPr id="129055" name="AutoShape 31"/>
                <p:cNvCxnSpPr>
                  <a:cxnSpLocks noChangeShapeType="1"/>
                  <a:stCxn id="129051" idx="1"/>
                  <a:endCxn id="129042" idx="0"/>
                </p:cNvCxnSpPr>
                <p:nvPr/>
              </p:nvCxnSpPr>
              <p:spPr bwMode="auto">
                <a:xfrm flipH="1">
                  <a:off x="543" y="1459"/>
                  <a:ext cx="423" cy="269"/>
                </a:xfrm>
                <a:prstGeom prst="straightConnector1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  <p:cxnSp>
              <p:nvCxnSpPr>
                <p:cNvPr id="129056" name="AutoShape 32"/>
                <p:cNvCxnSpPr>
                  <a:cxnSpLocks noChangeShapeType="1"/>
                  <a:stCxn id="129051" idx="3"/>
                  <a:endCxn id="129043" idx="0"/>
                </p:cNvCxnSpPr>
                <p:nvPr/>
              </p:nvCxnSpPr>
              <p:spPr bwMode="auto">
                <a:xfrm>
                  <a:off x="1177" y="1459"/>
                  <a:ext cx="348" cy="328"/>
                </a:xfrm>
                <a:prstGeom prst="straightConnector1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  <p:cxnSp>
              <p:nvCxnSpPr>
                <p:cNvPr id="129057" name="AutoShape 33"/>
                <p:cNvCxnSpPr>
                  <a:cxnSpLocks noChangeShapeType="1"/>
                  <a:stCxn id="129052" idx="2"/>
                  <a:endCxn id="129045" idx="0"/>
                </p:cNvCxnSpPr>
                <p:nvPr/>
              </p:nvCxnSpPr>
              <p:spPr bwMode="auto">
                <a:xfrm flipH="1">
                  <a:off x="2493" y="1442"/>
                  <a:ext cx="525" cy="286"/>
                </a:xfrm>
                <a:prstGeom prst="straightConnector1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  <p:cxnSp>
              <p:nvCxnSpPr>
                <p:cNvPr id="129058" name="AutoShape 34"/>
                <p:cNvCxnSpPr>
                  <a:cxnSpLocks noChangeShapeType="1"/>
                  <a:stCxn id="129052" idx="6"/>
                  <a:endCxn id="129046" idx="0"/>
                </p:cNvCxnSpPr>
                <p:nvPr/>
              </p:nvCxnSpPr>
              <p:spPr bwMode="auto">
                <a:xfrm>
                  <a:off x="3254" y="1442"/>
                  <a:ext cx="437" cy="345"/>
                </a:xfrm>
                <a:prstGeom prst="straightConnector1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</p:grpSp>
          <p:cxnSp>
            <p:nvCxnSpPr>
              <p:cNvPr id="129061" name="AutoShape 37"/>
              <p:cNvCxnSpPr>
                <a:cxnSpLocks noChangeShapeType="1"/>
                <a:stCxn id="129046" idx="2"/>
                <a:endCxn id="129035" idx="0"/>
              </p:cNvCxnSpPr>
              <p:nvPr/>
            </p:nvCxnSpPr>
            <p:spPr bwMode="auto">
              <a:xfrm flipH="1">
                <a:off x="4028" y="1617"/>
                <a:ext cx="264" cy="53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29062" name="AutoShape 38"/>
              <p:cNvCxnSpPr>
                <a:cxnSpLocks noChangeShapeType="1"/>
                <a:stCxn id="129046" idx="6"/>
                <a:endCxn id="129037" idx="0"/>
              </p:cNvCxnSpPr>
              <p:nvPr/>
            </p:nvCxnSpPr>
            <p:spPr bwMode="auto">
              <a:xfrm>
                <a:off x="4529" y="1617"/>
                <a:ext cx="119" cy="53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</p:grpSp>
        <p:sp>
          <p:nvSpPr>
            <p:cNvPr id="129247" name="Text Box 223"/>
            <p:cNvSpPr txBox="1">
              <a:spLocks noChangeArrowheads="1"/>
            </p:cNvSpPr>
            <p:nvPr/>
          </p:nvSpPr>
          <p:spPr bwMode="auto">
            <a:xfrm>
              <a:off x="1594" y="1507"/>
              <a:ext cx="243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X</a:t>
              </a:r>
              <a:endParaRPr lang="en-US" dirty="0">
                <a:solidFill>
                  <a:srgbClr val="66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29248" name="Text Box 224"/>
            <p:cNvSpPr txBox="1">
              <a:spLocks noChangeArrowheads="1"/>
            </p:cNvSpPr>
            <p:nvPr/>
          </p:nvSpPr>
          <p:spPr bwMode="auto">
            <a:xfrm>
              <a:off x="2554" y="1507"/>
              <a:ext cx="243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X</a:t>
              </a:r>
              <a:endParaRPr lang="en-US" dirty="0">
                <a:solidFill>
                  <a:srgbClr val="66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29249" name="Text Box 225"/>
            <p:cNvSpPr txBox="1">
              <a:spLocks noChangeArrowheads="1"/>
            </p:cNvSpPr>
            <p:nvPr/>
          </p:nvSpPr>
          <p:spPr bwMode="auto">
            <a:xfrm>
              <a:off x="48" y="1411"/>
              <a:ext cx="374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66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4.0</a:t>
              </a:r>
            </a:p>
          </p:txBody>
        </p:sp>
        <p:sp>
          <p:nvSpPr>
            <p:cNvPr id="129250" name="Text Box 226"/>
            <p:cNvSpPr txBox="1">
              <a:spLocks noChangeArrowheads="1"/>
            </p:cNvSpPr>
            <p:nvPr/>
          </p:nvSpPr>
          <p:spPr bwMode="auto">
            <a:xfrm>
              <a:off x="1008" y="1436"/>
              <a:ext cx="374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66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6.9</a:t>
              </a:r>
            </a:p>
          </p:txBody>
        </p:sp>
        <p:sp>
          <p:nvSpPr>
            <p:cNvPr id="129251" name="Text Box 227"/>
            <p:cNvSpPr txBox="1">
              <a:spLocks noChangeArrowheads="1"/>
            </p:cNvSpPr>
            <p:nvPr/>
          </p:nvSpPr>
          <p:spPr bwMode="auto">
            <a:xfrm>
              <a:off x="3130" y="1440"/>
              <a:ext cx="374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66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6.7</a:t>
              </a:r>
            </a:p>
          </p:txBody>
        </p:sp>
        <p:sp>
          <p:nvSpPr>
            <p:cNvPr id="129252" name="Text Box 228"/>
            <p:cNvSpPr txBox="1">
              <a:spLocks noChangeArrowheads="1"/>
            </p:cNvSpPr>
            <p:nvPr/>
          </p:nvSpPr>
          <p:spPr bwMode="auto">
            <a:xfrm>
              <a:off x="4186" y="1440"/>
              <a:ext cx="374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66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3.0</a:t>
              </a:r>
            </a:p>
          </p:txBody>
        </p:sp>
        <p:sp>
          <p:nvSpPr>
            <p:cNvPr id="129265" name="Text Box 241"/>
            <p:cNvSpPr txBox="1">
              <a:spLocks noChangeArrowheads="1"/>
            </p:cNvSpPr>
            <p:nvPr/>
          </p:nvSpPr>
          <p:spPr bwMode="auto">
            <a:xfrm>
              <a:off x="96" y="461"/>
              <a:ext cx="9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u="sng" dirty="0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Depth 3)</a:t>
              </a:r>
              <a:endParaRPr lang="en-US" sz="2400" u="sng" dirty="0">
                <a:solidFill>
                  <a:srgbClr val="66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cxnSp>
          <p:nvCxnSpPr>
            <p:cNvPr id="129268" name="AutoShape 244"/>
            <p:cNvCxnSpPr>
              <a:cxnSpLocks noChangeShapeType="1"/>
              <a:stCxn id="129046" idx="4"/>
              <a:endCxn id="129035" idx="3"/>
            </p:cNvCxnSpPr>
            <p:nvPr/>
          </p:nvCxnSpPr>
          <p:spPr bwMode="auto">
            <a:xfrm rot="5400000">
              <a:off x="3705" y="1473"/>
              <a:ext cx="98" cy="278"/>
            </a:xfrm>
            <a:prstGeom prst="curvedConnector2">
              <a:avLst/>
            </a:prstGeom>
            <a:noFill/>
            <a:ln w="28575">
              <a:solidFill>
                <a:srgbClr val="CC0000"/>
              </a:solidFill>
              <a:prstDash val="sysDot"/>
              <a:round/>
              <a:headEnd/>
              <a:tailEnd type="triangle" w="med" len="med"/>
            </a:ln>
            <a:effectLst/>
          </p:spPr>
        </p:cxnSp>
        <p:cxnSp>
          <p:nvCxnSpPr>
            <p:cNvPr id="129269" name="AutoShape 245"/>
            <p:cNvCxnSpPr>
              <a:cxnSpLocks noChangeShapeType="1"/>
              <a:stCxn id="129046" idx="4"/>
              <a:endCxn id="129037" idx="1"/>
            </p:cNvCxnSpPr>
            <p:nvPr/>
          </p:nvCxnSpPr>
          <p:spPr bwMode="auto">
            <a:xfrm rot="16200000" flipH="1">
              <a:off x="3914" y="1542"/>
              <a:ext cx="98" cy="139"/>
            </a:xfrm>
            <a:prstGeom prst="curvedConnector2">
              <a:avLst/>
            </a:prstGeom>
            <a:noFill/>
            <a:ln w="28575">
              <a:solidFill>
                <a:srgbClr val="CC0000"/>
              </a:solidFill>
              <a:prstDash val="sysDot"/>
              <a:round/>
              <a:headEnd/>
              <a:tailEnd type="triangle" w="med" len="med"/>
            </a:ln>
            <a:effectLst/>
          </p:spPr>
        </p:cxnSp>
        <p:cxnSp>
          <p:nvCxnSpPr>
            <p:cNvPr id="129270" name="AutoShape 246"/>
            <p:cNvCxnSpPr>
              <a:cxnSpLocks noChangeShapeType="1"/>
              <a:stCxn id="129052" idx="4"/>
              <a:endCxn id="129046" idx="2"/>
            </p:cNvCxnSpPr>
            <p:nvPr/>
          </p:nvCxnSpPr>
          <p:spPr bwMode="auto">
            <a:xfrm rot="16200000" flipH="1">
              <a:off x="3383" y="1092"/>
              <a:ext cx="346" cy="436"/>
            </a:xfrm>
            <a:prstGeom prst="curvedConnector2">
              <a:avLst/>
            </a:prstGeom>
            <a:noFill/>
            <a:ln w="28575">
              <a:solidFill>
                <a:srgbClr val="CC0000"/>
              </a:solidFill>
              <a:prstDash val="sysDot"/>
              <a:round/>
              <a:headEnd/>
              <a:tailEnd type="triangle" w="med" len="med"/>
            </a:ln>
            <a:effectLst/>
          </p:spPr>
        </p:cxnSp>
      </p:grpSp>
      <p:grpSp>
        <p:nvGrpSpPr>
          <p:cNvPr id="6" name="Group 258"/>
          <p:cNvGrpSpPr>
            <a:grpSpLocks/>
          </p:cNvGrpSpPr>
          <p:nvPr/>
        </p:nvGrpSpPr>
        <p:grpSpPr bwMode="auto">
          <a:xfrm>
            <a:off x="152400" y="3733800"/>
            <a:ext cx="7054850" cy="2895600"/>
            <a:chOff x="96" y="2352"/>
            <a:chExt cx="4444" cy="1824"/>
          </a:xfrm>
        </p:grpSpPr>
        <p:sp>
          <p:nvSpPr>
            <p:cNvPr id="129263" name="Rectangle 239"/>
            <p:cNvSpPr>
              <a:spLocks noChangeArrowheads="1"/>
            </p:cNvSpPr>
            <p:nvPr/>
          </p:nvSpPr>
          <p:spPr bwMode="auto">
            <a:xfrm>
              <a:off x="96" y="2352"/>
              <a:ext cx="4416" cy="182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GB" dirty="0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pSp>
          <p:nvGrpSpPr>
            <p:cNvPr id="7" name="Group 183"/>
            <p:cNvGrpSpPr>
              <a:grpSpLocks/>
            </p:cNvGrpSpPr>
            <p:nvPr/>
          </p:nvGrpSpPr>
          <p:grpSpPr bwMode="auto">
            <a:xfrm>
              <a:off x="316" y="2361"/>
              <a:ext cx="3896" cy="1306"/>
              <a:chOff x="864" y="614"/>
              <a:chExt cx="3896" cy="1306"/>
            </a:xfrm>
          </p:grpSpPr>
          <p:sp>
            <p:nvSpPr>
              <p:cNvPr id="129208" name="Oval 184"/>
              <p:cNvSpPr>
                <a:spLocks noChangeArrowheads="1"/>
              </p:cNvSpPr>
              <p:nvPr/>
            </p:nvSpPr>
            <p:spPr bwMode="auto">
              <a:xfrm>
                <a:off x="864" y="1736"/>
                <a:ext cx="219" cy="14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9209" name="Text Box 185"/>
              <p:cNvSpPr txBox="1">
                <a:spLocks noChangeArrowheads="1"/>
              </p:cNvSpPr>
              <p:nvPr/>
            </p:nvSpPr>
            <p:spPr bwMode="auto">
              <a:xfrm>
                <a:off x="870" y="1670"/>
                <a:ext cx="211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 Narrow" pitchFamily="34" charset="0"/>
                  </a:rPr>
                  <a:t>C</a:t>
                </a:r>
                <a:endParaRPr lang="en-US" sz="24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 Narrow" pitchFamily="34" charset="0"/>
                </a:endParaRPr>
              </a:p>
            </p:txBody>
          </p:sp>
          <p:sp>
            <p:nvSpPr>
              <p:cNvPr id="129210" name="Oval 186"/>
              <p:cNvSpPr>
                <a:spLocks noChangeArrowheads="1"/>
              </p:cNvSpPr>
              <p:nvPr/>
            </p:nvSpPr>
            <p:spPr bwMode="auto">
              <a:xfrm>
                <a:off x="1392" y="1732"/>
                <a:ext cx="219" cy="14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0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 Narrow" pitchFamily="34" charset="0"/>
                  </a:rPr>
                  <a:t>E</a:t>
                </a:r>
                <a:endParaRPr lang="en-US" sz="24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 Narrow" pitchFamily="34" charset="0"/>
                </a:endParaRPr>
              </a:p>
            </p:txBody>
          </p:sp>
          <p:sp>
            <p:nvSpPr>
              <p:cNvPr id="129211" name="Oval 187"/>
              <p:cNvSpPr>
                <a:spLocks noChangeArrowheads="1"/>
              </p:cNvSpPr>
              <p:nvPr/>
            </p:nvSpPr>
            <p:spPr bwMode="auto">
              <a:xfrm>
                <a:off x="3917" y="1737"/>
                <a:ext cx="218" cy="14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9212" name="Text Box 188"/>
              <p:cNvSpPr txBox="1">
                <a:spLocks noChangeArrowheads="1"/>
              </p:cNvSpPr>
              <p:nvPr/>
            </p:nvSpPr>
            <p:spPr bwMode="auto">
              <a:xfrm>
                <a:off x="3922" y="1670"/>
                <a:ext cx="211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 Narrow" pitchFamily="34" charset="0"/>
                  </a:rPr>
                  <a:t>B</a:t>
                </a:r>
                <a:endParaRPr lang="en-US" sz="24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 Narrow" pitchFamily="34" charset="0"/>
                </a:endParaRPr>
              </a:p>
            </p:txBody>
          </p:sp>
          <p:sp>
            <p:nvSpPr>
              <p:cNvPr id="129213" name="Oval 189"/>
              <p:cNvSpPr>
                <a:spLocks noChangeArrowheads="1"/>
              </p:cNvSpPr>
              <p:nvPr/>
            </p:nvSpPr>
            <p:spPr bwMode="auto">
              <a:xfrm>
                <a:off x="4541" y="1729"/>
                <a:ext cx="219" cy="14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9214" name="Text Box 190"/>
              <p:cNvSpPr txBox="1">
                <a:spLocks noChangeArrowheads="1"/>
              </p:cNvSpPr>
              <p:nvPr/>
            </p:nvSpPr>
            <p:spPr bwMode="auto">
              <a:xfrm>
                <a:off x="4550" y="1670"/>
                <a:ext cx="19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 Narrow" pitchFamily="34" charset="0"/>
                  </a:rPr>
                  <a:t>F</a:t>
                </a:r>
                <a:endParaRPr lang="en-US" sz="24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 Narrow" pitchFamily="34" charset="0"/>
                </a:endParaRPr>
              </a:p>
            </p:txBody>
          </p:sp>
          <p:cxnSp>
            <p:nvCxnSpPr>
              <p:cNvPr id="129215" name="AutoShape 191"/>
              <p:cNvCxnSpPr>
                <a:cxnSpLocks noChangeShapeType="1"/>
                <a:stCxn id="129219" idx="1"/>
                <a:endCxn id="129209" idx="0"/>
              </p:cNvCxnSpPr>
              <p:nvPr/>
            </p:nvCxnSpPr>
            <p:spPr bwMode="auto">
              <a:xfrm flipH="1">
                <a:off x="976" y="1603"/>
                <a:ext cx="181" cy="67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29216" name="AutoShape 192"/>
              <p:cNvCxnSpPr>
                <a:cxnSpLocks noChangeShapeType="1"/>
                <a:stCxn id="129219" idx="3"/>
                <a:endCxn id="129210" idx="0"/>
              </p:cNvCxnSpPr>
              <p:nvPr/>
            </p:nvCxnSpPr>
            <p:spPr bwMode="auto">
              <a:xfrm>
                <a:off x="1368" y="1603"/>
                <a:ext cx="134" cy="120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grpSp>
            <p:nvGrpSpPr>
              <p:cNvPr id="8" name="Group 193"/>
              <p:cNvGrpSpPr>
                <a:grpSpLocks/>
              </p:cNvGrpSpPr>
              <p:nvPr/>
            </p:nvGrpSpPr>
            <p:grpSpPr bwMode="auto">
              <a:xfrm>
                <a:off x="1152" y="614"/>
                <a:ext cx="3368" cy="1114"/>
                <a:chOff x="432" y="864"/>
                <a:chExt cx="3368" cy="1114"/>
              </a:xfrm>
            </p:grpSpPr>
            <p:sp>
              <p:nvSpPr>
                <p:cNvPr id="129218" name="Oval 194"/>
                <p:cNvSpPr>
                  <a:spLocks noChangeArrowheads="1"/>
                </p:cNvSpPr>
                <p:nvPr/>
              </p:nvSpPr>
              <p:spPr bwMode="auto">
                <a:xfrm>
                  <a:off x="432" y="1802"/>
                  <a:ext cx="218" cy="141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9219" name="Text Box 195"/>
                <p:cNvSpPr txBox="1">
                  <a:spLocks noChangeArrowheads="1"/>
                </p:cNvSpPr>
                <p:nvPr/>
              </p:nvSpPr>
              <p:spPr bwMode="auto">
                <a:xfrm>
                  <a:off x="437" y="1728"/>
                  <a:ext cx="211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sz="2000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 Narrow" pitchFamily="34" charset="0"/>
                    </a:rPr>
                    <a:t>B</a:t>
                  </a:r>
                  <a:endParaRPr lang="en-US" sz="24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 Narrow" pitchFamily="34" charset="0"/>
                  </a:endParaRPr>
                </a:p>
              </p:txBody>
            </p:sp>
            <p:sp>
              <p:nvSpPr>
                <p:cNvPr id="129220" name="Oval 196"/>
                <p:cNvSpPr>
                  <a:spLocks noChangeArrowheads="1"/>
                </p:cNvSpPr>
                <p:nvPr/>
              </p:nvSpPr>
              <p:spPr bwMode="auto">
                <a:xfrm>
                  <a:off x="1416" y="1796"/>
                  <a:ext cx="218" cy="14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sz="2000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 Narrow" pitchFamily="34" charset="0"/>
                    </a:rPr>
                    <a:t>D</a:t>
                  </a:r>
                  <a:endParaRPr lang="en-US" sz="24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 Narrow" pitchFamily="34" charset="0"/>
                  </a:endParaRPr>
                </a:p>
              </p:txBody>
            </p:sp>
            <p:sp>
              <p:nvSpPr>
                <p:cNvPr id="129221" name="Oval 197"/>
                <p:cNvSpPr>
                  <a:spLocks noChangeArrowheads="1"/>
                </p:cNvSpPr>
                <p:nvPr/>
              </p:nvSpPr>
              <p:spPr bwMode="auto">
                <a:xfrm>
                  <a:off x="2381" y="1801"/>
                  <a:ext cx="219" cy="14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9222" name="Text Box 198"/>
                <p:cNvSpPr txBox="1">
                  <a:spLocks noChangeArrowheads="1"/>
                </p:cNvSpPr>
                <p:nvPr/>
              </p:nvSpPr>
              <p:spPr bwMode="auto">
                <a:xfrm>
                  <a:off x="2387" y="1728"/>
                  <a:ext cx="211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sz="2000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 Narrow" pitchFamily="34" charset="0"/>
                    </a:rPr>
                    <a:t>A</a:t>
                  </a:r>
                  <a:endParaRPr lang="en-US" sz="24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 Narrow" pitchFamily="34" charset="0"/>
                  </a:endParaRPr>
                </a:p>
              </p:txBody>
            </p:sp>
            <p:sp>
              <p:nvSpPr>
                <p:cNvPr id="129223" name="Oval 199"/>
                <p:cNvSpPr>
                  <a:spLocks noChangeArrowheads="1"/>
                </p:cNvSpPr>
                <p:nvPr/>
              </p:nvSpPr>
              <p:spPr bwMode="auto">
                <a:xfrm>
                  <a:off x="3581" y="1796"/>
                  <a:ext cx="219" cy="14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sz="2000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 Narrow" pitchFamily="34" charset="0"/>
                    </a:rPr>
                    <a:t>E</a:t>
                  </a:r>
                  <a:endParaRPr lang="en-US" sz="24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 Narrow" pitchFamily="34" charset="0"/>
                  </a:endParaRPr>
                </a:p>
              </p:txBody>
            </p:sp>
            <p:grpSp>
              <p:nvGrpSpPr>
                <p:cNvPr id="9" name="Group 200"/>
                <p:cNvGrpSpPr>
                  <a:grpSpLocks/>
                </p:cNvGrpSpPr>
                <p:nvPr/>
              </p:nvGrpSpPr>
              <p:grpSpPr bwMode="auto">
                <a:xfrm>
                  <a:off x="960" y="864"/>
                  <a:ext cx="2285" cy="720"/>
                  <a:chOff x="960" y="864"/>
                  <a:chExt cx="2285" cy="720"/>
                </a:xfrm>
              </p:grpSpPr>
              <p:sp>
                <p:nvSpPr>
                  <p:cNvPr id="129225" name="Oval 201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920"/>
                    <a:ext cx="218" cy="142"/>
                  </a:xfrm>
                  <a:prstGeom prst="ellipse">
                    <a:avLst/>
                  </a:prstGeom>
                  <a:solidFill>
                    <a:srgbClr val="FFCC00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algn="ctr"/>
                    <a:endParaRPr lang="en-GB" sz="2800" dirty="0">
                      <a:solidFill>
                        <a:srgbClr val="660066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endParaRPr>
                  </a:p>
                </p:txBody>
              </p:sp>
              <p:sp>
                <p:nvSpPr>
                  <p:cNvPr id="129226" name="Text Box 20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76" y="864"/>
                    <a:ext cx="204" cy="25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000" b="1" dirty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 Narrow" pitchFamily="34" charset="0"/>
                      </a:rPr>
                      <a:t>S</a:t>
                    </a:r>
                    <a:endParaRPr lang="en-US" sz="2400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 Narrow" pitchFamily="34" charset="0"/>
                    </a:endParaRPr>
                  </a:p>
                </p:txBody>
              </p:sp>
              <p:sp>
                <p:nvSpPr>
                  <p:cNvPr id="129227" name="Oval 203"/>
                  <p:cNvSpPr>
                    <a:spLocks noChangeArrowheads="1"/>
                  </p:cNvSpPr>
                  <p:nvPr/>
                </p:nvSpPr>
                <p:spPr bwMode="auto">
                  <a:xfrm>
                    <a:off x="960" y="1374"/>
                    <a:ext cx="219" cy="14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29228" name="Text Box 20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66" y="1334"/>
                    <a:ext cx="211" cy="25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000" b="1" dirty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 Narrow" pitchFamily="34" charset="0"/>
                      </a:rPr>
                      <a:t>A</a:t>
                    </a:r>
                    <a:endParaRPr lang="en-US" sz="2400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 Narrow" pitchFamily="34" charset="0"/>
                    </a:endParaRPr>
                  </a:p>
                </p:txBody>
              </p:sp>
              <p:sp>
                <p:nvSpPr>
                  <p:cNvPr id="129229" name="Oval 205"/>
                  <p:cNvSpPr>
                    <a:spLocks noChangeArrowheads="1"/>
                  </p:cNvSpPr>
                  <p:nvPr/>
                </p:nvSpPr>
                <p:spPr bwMode="auto">
                  <a:xfrm>
                    <a:off x="3027" y="1371"/>
                    <a:ext cx="218" cy="141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algn="ctr"/>
                    <a:r>
                      <a:rPr lang="en-US" sz="2000" b="1" dirty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 Narrow" pitchFamily="34" charset="0"/>
                      </a:rPr>
                      <a:t>D</a:t>
                    </a:r>
                    <a:endParaRPr lang="en-US" sz="2400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 Narrow" pitchFamily="34" charset="0"/>
                    </a:endParaRPr>
                  </a:p>
                </p:txBody>
              </p:sp>
              <p:cxnSp>
                <p:nvCxnSpPr>
                  <p:cNvPr id="129230" name="AutoShape 206"/>
                  <p:cNvCxnSpPr>
                    <a:cxnSpLocks noChangeShapeType="1"/>
                    <a:stCxn id="129226" idx="1"/>
                    <a:endCxn id="129228" idx="0"/>
                  </p:cNvCxnSpPr>
                  <p:nvPr/>
                </p:nvCxnSpPr>
                <p:spPr bwMode="auto">
                  <a:xfrm flipH="1">
                    <a:off x="1072" y="989"/>
                    <a:ext cx="904" cy="345"/>
                  </a:xfrm>
                  <a:prstGeom prst="straightConnector1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</p:cxnSp>
              <p:cxnSp>
                <p:nvCxnSpPr>
                  <p:cNvPr id="129231" name="AutoShape 207"/>
                  <p:cNvCxnSpPr>
                    <a:cxnSpLocks noChangeShapeType="1"/>
                    <a:stCxn id="129226" idx="3"/>
                    <a:endCxn id="129229" idx="1"/>
                  </p:cNvCxnSpPr>
                  <p:nvPr/>
                </p:nvCxnSpPr>
                <p:spPr bwMode="auto">
                  <a:xfrm>
                    <a:off x="2180" y="989"/>
                    <a:ext cx="879" cy="394"/>
                  </a:xfrm>
                  <a:prstGeom prst="straightConnector1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</p:cxnSp>
            </p:grpSp>
            <p:cxnSp>
              <p:nvCxnSpPr>
                <p:cNvPr id="129232" name="AutoShape 208"/>
                <p:cNvCxnSpPr>
                  <a:cxnSpLocks noChangeShapeType="1"/>
                  <a:stCxn id="129228" idx="1"/>
                  <a:endCxn id="129219" idx="0"/>
                </p:cNvCxnSpPr>
                <p:nvPr/>
              </p:nvCxnSpPr>
              <p:spPr bwMode="auto">
                <a:xfrm flipH="1">
                  <a:off x="543" y="1459"/>
                  <a:ext cx="423" cy="269"/>
                </a:xfrm>
                <a:prstGeom prst="straightConnector1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  <p:cxnSp>
              <p:nvCxnSpPr>
                <p:cNvPr id="129233" name="AutoShape 209"/>
                <p:cNvCxnSpPr>
                  <a:cxnSpLocks noChangeShapeType="1"/>
                  <a:stCxn id="129228" idx="3"/>
                  <a:endCxn id="129220" idx="0"/>
                </p:cNvCxnSpPr>
                <p:nvPr/>
              </p:nvCxnSpPr>
              <p:spPr bwMode="auto">
                <a:xfrm>
                  <a:off x="1177" y="1459"/>
                  <a:ext cx="348" cy="328"/>
                </a:xfrm>
                <a:prstGeom prst="straightConnector1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  <p:cxnSp>
              <p:nvCxnSpPr>
                <p:cNvPr id="129234" name="AutoShape 210"/>
                <p:cNvCxnSpPr>
                  <a:cxnSpLocks noChangeShapeType="1"/>
                  <a:stCxn id="129229" idx="2"/>
                  <a:endCxn id="129222" idx="0"/>
                </p:cNvCxnSpPr>
                <p:nvPr/>
              </p:nvCxnSpPr>
              <p:spPr bwMode="auto">
                <a:xfrm flipH="1">
                  <a:off x="2493" y="1442"/>
                  <a:ext cx="525" cy="286"/>
                </a:xfrm>
                <a:prstGeom prst="straightConnector1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  <p:cxnSp>
              <p:nvCxnSpPr>
                <p:cNvPr id="129235" name="AutoShape 211"/>
                <p:cNvCxnSpPr>
                  <a:cxnSpLocks noChangeShapeType="1"/>
                  <a:stCxn id="129229" idx="6"/>
                  <a:endCxn id="129223" idx="0"/>
                </p:cNvCxnSpPr>
                <p:nvPr/>
              </p:nvCxnSpPr>
              <p:spPr bwMode="auto">
                <a:xfrm>
                  <a:off x="3254" y="1442"/>
                  <a:ext cx="437" cy="345"/>
                </a:xfrm>
                <a:prstGeom prst="straightConnector1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</p:grpSp>
          <p:cxnSp>
            <p:nvCxnSpPr>
              <p:cNvPr id="129236" name="AutoShape 212"/>
              <p:cNvCxnSpPr>
                <a:cxnSpLocks noChangeShapeType="1"/>
                <a:stCxn id="129223" idx="2"/>
                <a:endCxn id="129212" idx="0"/>
              </p:cNvCxnSpPr>
              <p:nvPr/>
            </p:nvCxnSpPr>
            <p:spPr bwMode="auto">
              <a:xfrm flipH="1">
                <a:off x="4028" y="1617"/>
                <a:ext cx="264" cy="53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29237" name="AutoShape 213"/>
              <p:cNvCxnSpPr>
                <a:cxnSpLocks noChangeShapeType="1"/>
                <a:stCxn id="129223" idx="6"/>
                <a:endCxn id="129214" idx="0"/>
              </p:cNvCxnSpPr>
              <p:nvPr/>
            </p:nvCxnSpPr>
            <p:spPr bwMode="auto">
              <a:xfrm>
                <a:off x="4529" y="1617"/>
                <a:ext cx="119" cy="53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</p:grpSp>
        <p:grpSp>
          <p:nvGrpSpPr>
            <p:cNvPr id="10" name="Group 214"/>
            <p:cNvGrpSpPr>
              <a:grpSpLocks/>
            </p:cNvGrpSpPr>
            <p:nvPr/>
          </p:nvGrpSpPr>
          <p:grpSpPr bwMode="auto">
            <a:xfrm>
              <a:off x="3196" y="3571"/>
              <a:ext cx="1028" cy="557"/>
              <a:chOff x="3781" y="1805"/>
              <a:chExt cx="1028" cy="557"/>
            </a:xfrm>
          </p:grpSpPr>
          <p:sp>
            <p:nvSpPr>
              <p:cNvPr id="129239" name="Oval 215"/>
              <p:cNvSpPr>
                <a:spLocks noChangeArrowheads="1"/>
              </p:cNvSpPr>
              <p:nvPr/>
            </p:nvSpPr>
            <p:spPr bwMode="auto">
              <a:xfrm>
                <a:off x="3781" y="2149"/>
                <a:ext cx="219" cy="14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9240" name="Text Box 216"/>
              <p:cNvSpPr txBox="1">
                <a:spLocks noChangeArrowheads="1"/>
              </p:cNvSpPr>
              <p:nvPr/>
            </p:nvSpPr>
            <p:spPr bwMode="auto">
              <a:xfrm>
                <a:off x="3787" y="2102"/>
                <a:ext cx="211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 Narrow" pitchFamily="34" charset="0"/>
                  </a:rPr>
                  <a:t>A</a:t>
                </a:r>
                <a:endParaRPr lang="en-US" sz="24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 Narrow" pitchFamily="34" charset="0"/>
                </a:endParaRPr>
              </a:p>
            </p:txBody>
          </p:sp>
          <p:sp>
            <p:nvSpPr>
              <p:cNvPr id="129241" name="Oval 217"/>
              <p:cNvSpPr>
                <a:spLocks noChangeArrowheads="1"/>
              </p:cNvSpPr>
              <p:nvPr/>
            </p:nvSpPr>
            <p:spPr bwMode="auto">
              <a:xfrm>
                <a:off x="4161" y="2149"/>
                <a:ext cx="219" cy="14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9242" name="Text Box 218"/>
              <p:cNvSpPr txBox="1">
                <a:spLocks noChangeArrowheads="1"/>
              </p:cNvSpPr>
              <p:nvPr/>
            </p:nvSpPr>
            <p:spPr bwMode="auto">
              <a:xfrm>
                <a:off x="4167" y="2112"/>
                <a:ext cx="211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 Narrow" pitchFamily="34" charset="0"/>
                  </a:rPr>
                  <a:t>C</a:t>
                </a:r>
                <a:endParaRPr lang="en-US" sz="24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 Narrow" pitchFamily="34" charset="0"/>
                </a:endParaRPr>
              </a:p>
            </p:txBody>
          </p:sp>
          <p:sp>
            <p:nvSpPr>
              <p:cNvPr id="129243" name="Oval 219"/>
              <p:cNvSpPr>
                <a:spLocks noChangeArrowheads="1"/>
              </p:cNvSpPr>
              <p:nvPr/>
            </p:nvSpPr>
            <p:spPr bwMode="auto">
              <a:xfrm>
                <a:off x="4590" y="2145"/>
                <a:ext cx="219" cy="142"/>
              </a:xfrm>
              <a:prstGeom prst="ellipse">
                <a:avLst/>
              </a:prstGeom>
              <a:solidFill>
                <a:srgbClr val="FFCC00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0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 Narrow" pitchFamily="34" charset="0"/>
                  </a:rPr>
                  <a:t>G</a:t>
                </a:r>
                <a:endParaRPr lang="en-US" sz="24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 Narrow" pitchFamily="34" charset="0"/>
                </a:endParaRPr>
              </a:p>
            </p:txBody>
          </p:sp>
          <p:cxnSp>
            <p:nvCxnSpPr>
              <p:cNvPr id="129244" name="AutoShape 220"/>
              <p:cNvCxnSpPr>
                <a:cxnSpLocks noChangeShapeType="1"/>
                <a:endCxn id="129240" idx="0"/>
              </p:cNvCxnSpPr>
              <p:nvPr/>
            </p:nvCxnSpPr>
            <p:spPr bwMode="auto">
              <a:xfrm flipH="1">
                <a:off x="3893" y="1805"/>
                <a:ext cx="77" cy="297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29245" name="AutoShape 221"/>
              <p:cNvCxnSpPr>
                <a:cxnSpLocks noChangeShapeType="1"/>
                <a:endCxn id="129242" idx="0"/>
              </p:cNvCxnSpPr>
              <p:nvPr/>
            </p:nvCxnSpPr>
            <p:spPr bwMode="auto">
              <a:xfrm>
                <a:off x="4181" y="1805"/>
                <a:ext cx="92" cy="307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29246" name="AutoShape 222"/>
              <p:cNvCxnSpPr>
                <a:cxnSpLocks noChangeShapeType="1"/>
                <a:endCxn id="129243" idx="0"/>
              </p:cNvCxnSpPr>
              <p:nvPr/>
            </p:nvCxnSpPr>
            <p:spPr bwMode="auto">
              <a:xfrm>
                <a:off x="4696" y="1930"/>
                <a:ext cx="4" cy="206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</p:grpSp>
        <p:sp>
          <p:nvSpPr>
            <p:cNvPr id="129256" name="Text Box 232"/>
            <p:cNvSpPr txBox="1">
              <a:spLocks noChangeArrowheads="1"/>
            </p:cNvSpPr>
            <p:nvPr/>
          </p:nvSpPr>
          <p:spPr bwMode="auto">
            <a:xfrm>
              <a:off x="1584" y="3408"/>
              <a:ext cx="243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X</a:t>
              </a:r>
              <a:endParaRPr lang="en-US" dirty="0">
                <a:solidFill>
                  <a:srgbClr val="66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29257" name="Text Box 233"/>
            <p:cNvSpPr txBox="1">
              <a:spLocks noChangeArrowheads="1"/>
            </p:cNvSpPr>
            <p:nvPr/>
          </p:nvSpPr>
          <p:spPr bwMode="auto">
            <a:xfrm>
              <a:off x="2544" y="3408"/>
              <a:ext cx="243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X</a:t>
              </a:r>
              <a:endParaRPr lang="en-US" dirty="0">
                <a:solidFill>
                  <a:srgbClr val="66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29258" name="Text Box 234"/>
            <p:cNvSpPr txBox="1">
              <a:spLocks noChangeArrowheads="1"/>
            </p:cNvSpPr>
            <p:nvPr/>
          </p:nvSpPr>
          <p:spPr bwMode="auto">
            <a:xfrm>
              <a:off x="816" y="3600"/>
              <a:ext cx="243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X</a:t>
              </a:r>
              <a:endParaRPr lang="en-US" dirty="0">
                <a:solidFill>
                  <a:srgbClr val="66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29259" name="Text Box 235"/>
            <p:cNvSpPr txBox="1">
              <a:spLocks noChangeArrowheads="1"/>
            </p:cNvSpPr>
            <p:nvPr/>
          </p:nvSpPr>
          <p:spPr bwMode="auto">
            <a:xfrm>
              <a:off x="288" y="3456"/>
              <a:ext cx="226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_</a:t>
              </a:r>
              <a:endParaRPr lang="en-US" dirty="0">
                <a:solidFill>
                  <a:srgbClr val="66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29260" name="Text Box 236"/>
            <p:cNvSpPr txBox="1">
              <a:spLocks noChangeArrowheads="1"/>
            </p:cNvSpPr>
            <p:nvPr/>
          </p:nvSpPr>
          <p:spPr bwMode="auto">
            <a:xfrm>
              <a:off x="3552" y="3907"/>
              <a:ext cx="226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_</a:t>
              </a:r>
              <a:endParaRPr lang="en-US" dirty="0">
                <a:solidFill>
                  <a:srgbClr val="66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29261" name="Text Box 237"/>
            <p:cNvSpPr txBox="1">
              <a:spLocks noChangeArrowheads="1"/>
            </p:cNvSpPr>
            <p:nvPr/>
          </p:nvSpPr>
          <p:spPr bwMode="auto">
            <a:xfrm>
              <a:off x="2774" y="3788"/>
              <a:ext cx="453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66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10.4</a:t>
              </a:r>
            </a:p>
          </p:txBody>
        </p:sp>
        <p:sp>
          <p:nvSpPr>
            <p:cNvPr id="129262" name="Text Box 238"/>
            <p:cNvSpPr txBox="1">
              <a:spLocks noChangeArrowheads="1"/>
            </p:cNvSpPr>
            <p:nvPr/>
          </p:nvSpPr>
          <p:spPr bwMode="auto">
            <a:xfrm>
              <a:off x="4166" y="3740"/>
              <a:ext cx="374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66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0.0</a:t>
              </a:r>
            </a:p>
          </p:txBody>
        </p:sp>
        <p:sp>
          <p:nvSpPr>
            <p:cNvPr id="129267" name="Text Box 243"/>
            <p:cNvSpPr txBox="1">
              <a:spLocks noChangeArrowheads="1"/>
            </p:cNvSpPr>
            <p:nvPr/>
          </p:nvSpPr>
          <p:spPr bwMode="auto">
            <a:xfrm>
              <a:off x="96" y="2381"/>
              <a:ext cx="9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u="sng" dirty="0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Depth 4)</a:t>
              </a:r>
            </a:p>
          </p:txBody>
        </p:sp>
        <p:cxnSp>
          <p:nvCxnSpPr>
            <p:cNvPr id="129271" name="AutoShape 247"/>
            <p:cNvCxnSpPr>
              <a:cxnSpLocks noChangeShapeType="1"/>
              <a:stCxn id="129212" idx="2"/>
              <a:endCxn id="129240" idx="3"/>
            </p:cNvCxnSpPr>
            <p:nvPr/>
          </p:nvCxnSpPr>
          <p:spPr bwMode="auto">
            <a:xfrm rot="5400000">
              <a:off x="3284" y="3796"/>
              <a:ext cx="326" cy="67"/>
            </a:xfrm>
            <a:prstGeom prst="curvedConnector2">
              <a:avLst/>
            </a:prstGeom>
            <a:noFill/>
            <a:ln w="28575">
              <a:solidFill>
                <a:srgbClr val="CC0000"/>
              </a:solidFill>
              <a:prstDash val="sysDot"/>
              <a:round/>
              <a:headEnd/>
              <a:tailEnd type="triangle" w="med" len="med"/>
            </a:ln>
            <a:effectLst/>
          </p:spPr>
        </p:cxnSp>
        <p:cxnSp>
          <p:nvCxnSpPr>
            <p:cNvPr id="129272" name="AutoShape 248"/>
            <p:cNvCxnSpPr>
              <a:cxnSpLocks noChangeShapeType="1"/>
              <a:stCxn id="129223" idx="4"/>
              <a:endCxn id="129212" idx="3"/>
            </p:cNvCxnSpPr>
            <p:nvPr/>
          </p:nvCxnSpPr>
          <p:spPr bwMode="auto">
            <a:xfrm rot="5400000">
              <a:off x="3675" y="3354"/>
              <a:ext cx="98" cy="278"/>
            </a:xfrm>
            <a:prstGeom prst="curvedConnector2">
              <a:avLst/>
            </a:prstGeom>
            <a:noFill/>
            <a:ln w="28575">
              <a:solidFill>
                <a:srgbClr val="CC0000"/>
              </a:solidFill>
              <a:prstDash val="sysDot"/>
              <a:round/>
              <a:headEnd/>
              <a:tailEnd type="triangle" w="med" len="med"/>
            </a:ln>
            <a:effectLst/>
          </p:spPr>
        </p:cxnSp>
        <p:cxnSp>
          <p:nvCxnSpPr>
            <p:cNvPr id="129273" name="AutoShape 249"/>
            <p:cNvCxnSpPr>
              <a:cxnSpLocks noChangeShapeType="1"/>
              <a:stCxn id="129223" idx="4"/>
              <a:endCxn id="129214" idx="1"/>
            </p:cNvCxnSpPr>
            <p:nvPr/>
          </p:nvCxnSpPr>
          <p:spPr bwMode="auto">
            <a:xfrm rot="16200000" flipH="1">
              <a:off x="3884" y="3423"/>
              <a:ext cx="98" cy="139"/>
            </a:xfrm>
            <a:prstGeom prst="curvedConnector2">
              <a:avLst/>
            </a:prstGeom>
            <a:noFill/>
            <a:ln w="28575">
              <a:solidFill>
                <a:srgbClr val="CC0000"/>
              </a:solidFill>
              <a:prstDash val="sysDot"/>
              <a:round/>
              <a:headEnd/>
              <a:tailEnd type="triangle" w="med" len="med"/>
            </a:ln>
            <a:effectLst/>
          </p:spPr>
        </p:cxnSp>
        <p:cxnSp>
          <p:nvCxnSpPr>
            <p:cNvPr id="129275" name="AutoShape 251"/>
            <p:cNvCxnSpPr>
              <a:cxnSpLocks noChangeShapeType="1"/>
              <a:stCxn id="129229" idx="4"/>
              <a:endCxn id="129223" idx="2"/>
            </p:cNvCxnSpPr>
            <p:nvPr/>
          </p:nvCxnSpPr>
          <p:spPr bwMode="auto">
            <a:xfrm rot="16200000" flipH="1">
              <a:off x="3353" y="2973"/>
              <a:ext cx="346" cy="436"/>
            </a:xfrm>
            <a:prstGeom prst="curvedConnector2">
              <a:avLst/>
            </a:prstGeom>
            <a:noFill/>
            <a:ln w="28575">
              <a:solidFill>
                <a:srgbClr val="CC0000"/>
              </a:solidFill>
              <a:prstDash val="sysDot"/>
              <a:round/>
              <a:headEnd/>
              <a:tailEnd type="triangle" w="med" len="med"/>
            </a:ln>
            <a:effectLst/>
          </p:spPr>
        </p:cxnSp>
      </p:grpSp>
      <p:sp>
        <p:nvSpPr>
          <p:cNvPr id="129278" name="Rectangle 254"/>
          <p:cNvSpPr>
            <a:spLocks noChangeArrowheads="1"/>
          </p:cNvSpPr>
          <p:nvPr/>
        </p:nvSpPr>
        <p:spPr bwMode="auto">
          <a:xfrm>
            <a:off x="7239000" y="1371600"/>
            <a:ext cx="1866900" cy="3505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9279" name="Rectangle 255"/>
          <p:cNvSpPr>
            <a:spLocks noGrp="1" noChangeArrowheads="1"/>
          </p:cNvSpPr>
          <p:nvPr>
            <p:ph type="body" idx="1"/>
          </p:nvPr>
        </p:nvSpPr>
        <p:spPr>
          <a:xfrm>
            <a:off x="7162800" y="1524000"/>
            <a:ext cx="1752600" cy="3200400"/>
          </a:xfrm>
          <a:noFill/>
          <a:ln/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Optimi-zation</a:t>
            </a:r>
            <a:r>
              <a:rPr lang="en-US" dirty="0"/>
              <a:t>: ignore leafs that are not goal nodes </a:t>
            </a:r>
            <a:endParaRPr lang="en-US" dirty="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grpSp>
        <p:nvGrpSpPr>
          <p:cNvPr id="11" name="Group 256"/>
          <p:cNvGrpSpPr>
            <a:grpSpLocks/>
          </p:cNvGrpSpPr>
          <p:nvPr/>
        </p:nvGrpSpPr>
        <p:grpSpPr bwMode="auto">
          <a:xfrm>
            <a:off x="365125" y="2514600"/>
            <a:ext cx="1616075" cy="914400"/>
            <a:chOff x="240" y="1584"/>
            <a:chExt cx="1018" cy="576"/>
          </a:xfrm>
        </p:grpSpPr>
        <p:sp>
          <p:nvSpPr>
            <p:cNvPr id="129253" name="Text Box 229"/>
            <p:cNvSpPr txBox="1">
              <a:spLocks noChangeArrowheads="1"/>
            </p:cNvSpPr>
            <p:nvPr/>
          </p:nvSpPr>
          <p:spPr bwMode="auto">
            <a:xfrm>
              <a:off x="634" y="1680"/>
              <a:ext cx="624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X</a:t>
              </a:r>
            </a:p>
            <a:p>
              <a:pPr algn="ctr"/>
              <a:r>
                <a:rPr lang="en-US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ignore</a:t>
              </a:r>
              <a:endParaRPr lang="en-US">
                <a:solidFill>
                  <a:srgbClr val="66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29254" name="Text Box 230"/>
            <p:cNvSpPr txBox="1">
              <a:spLocks noChangeArrowheads="1"/>
            </p:cNvSpPr>
            <p:nvPr/>
          </p:nvSpPr>
          <p:spPr bwMode="auto">
            <a:xfrm>
              <a:off x="240" y="1584"/>
              <a:ext cx="407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_</a:t>
              </a:r>
            </a:p>
            <a:p>
              <a:pPr algn="ctr"/>
              <a:r>
                <a:rPr lang="en-US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end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9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9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278" grpId="0" animBg="1"/>
      <p:bldP spid="129279" grpId="0" build="p" autoUpdateAnimBg="0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766" name="Line 430"/>
          <p:cNvSpPr>
            <a:spLocks noChangeShapeType="1"/>
          </p:cNvSpPr>
          <p:nvPr/>
        </p:nvSpPr>
        <p:spPr bwMode="auto">
          <a:xfrm flipH="1">
            <a:off x="6781800" y="3155950"/>
            <a:ext cx="0" cy="4572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0765" name="Line 429"/>
          <p:cNvSpPr>
            <a:spLocks noChangeShapeType="1"/>
          </p:cNvSpPr>
          <p:nvPr/>
        </p:nvSpPr>
        <p:spPr bwMode="auto">
          <a:xfrm flipH="1">
            <a:off x="4114800" y="3155950"/>
            <a:ext cx="457200" cy="4572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sz="5000" b="1" dirty="0">
                <a:solidFill>
                  <a:srgbClr val="FF0000"/>
                </a:solidFill>
                <a:latin typeface="Arial Black" pitchFamily="34" charset="0"/>
              </a:rPr>
              <a:t>Beam Search</a:t>
            </a:r>
          </a:p>
        </p:txBody>
      </p:sp>
      <p:sp>
        <p:nvSpPr>
          <p:cNvPr id="270711" name="Line 375"/>
          <p:cNvSpPr>
            <a:spLocks noChangeShapeType="1"/>
          </p:cNvSpPr>
          <p:nvPr/>
        </p:nvSpPr>
        <p:spPr bwMode="auto">
          <a:xfrm>
            <a:off x="6858000" y="3155950"/>
            <a:ext cx="762000" cy="457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0713" name="Line 377"/>
          <p:cNvSpPr>
            <a:spLocks noChangeShapeType="1"/>
          </p:cNvSpPr>
          <p:nvPr/>
        </p:nvSpPr>
        <p:spPr bwMode="auto">
          <a:xfrm>
            <a:off x="4724400" y="3155950"/>
            <a:ext cx="762000" cy="4572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0714" name="Oval 378"/>
          <p:cNvSpPr>
            <a:spLocks noChangeArrowheads="1"/>
          </p:cNvSpPr>
          <p:nvPr/>
        </p:nvSpPr>
        <p:spPr bwMode="auto">
          <a:xfrm>
            <a:off x="5486400" y="2241550"/>
            <a:ext cx="3810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270715" name="Oval 379"/>
          <p:cNvSpPr>
            <a:spLocks noChangeArrowheads="1"/>
          </p:cNvSpPr>
          <p:nvPr/>
        </p:nvSpPr>
        <p:spPr bwMode="auto">
          <a:xfrm>
            <a:off x="6629400" y="2851150"/>
            <a:ext cx="3810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270716" name="Oval 380"/>
          <p:cNvSpPr>
            <a:spLocks noChangeArrowheads="1"/>
          </p:cNvSpPr>
          <p:nvPr/>
        </p:nvSpPr>
        <p:spPr bwMode="auto">
          <a:xfrm>
            <a:off x="4495800" y="2851150"/>
            <a:ext cx="3810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70717" name="Oval 381"/>
          <p:cNvSpPr>
            <a:spLocks noChangeArrowheads="1"/>
          </p:cNvSpPr>
          <p:nvPr/>
        </p:nvSpPr>
        <p:spPr bwMode="auto">
          <a:xfrm>
            <a:off x="6629400" y="3613150"/>
            <a:ext cx="3810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270718" name="Oval 382"/>
          <p:cNvSpPr>
            <a:spLocks noChangeArrowheads="1"/>
          </p:cNvSpPr>
          <p:nvPr/>
        </p:nvSpPr>
        <p:spPr bwMode="auto">
          <a:xfrm>
            <a:off x="7543800" y="3613150"/>
            <a:ext cx="3810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70719" name="Oval 383"/>
          <p:cNvSpPr>
            <a:spLocks noChangeArrowheads="1"/>
          </p:cNvSpPr>
          <p:nvPr/>
        </p:nvSpPr>
        <p:spPr bwMode="auto">
          <a:xfrm>
            <a:off x="5334000" y="3613150"/>
            <a:ext cx="3810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70720" name="Oval 384"/>
          <p:cNvSpPr>
            <a:spLocks noChangeArrowheads="1"/>
          </p:cNvSpPr>
          <p:nvPr/>
        </p:nvSpPr>
        <p:spPr bwMode="auto">
          <a:xfrm>
            <a:off x="3962400" y="3613150"/>
            <a:ext cx="3810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70721" name="Oval 385"/>
          <p:cNvSpPr>
            <a:spLocks noChangeArrowheads="1"/>
          </p:cNvSpPr>
          <p:nvPr/>
        </p:nvSpPr>
        <p:spPr bwMode="auto">
          <a:xfrm>
            <a:off x="3429000" y="4375150"/>
            <a:ext cx="3810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270722" name="Oval 386"/>
          <p:cNvSpPr>
            <a:spLocks noChangeArrowheads="1"/>
          </p:cNvSpPr>
          <p:nvPr/>
        </p:nvSpPr>
        <p:spPr bwMode="auto">
          <a:xfrm>
            <a:off x="4724400" y="4375150"/>
            <a:ext cx="3810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270723" name="Line 387"/>
          <p:cNvSpPr>
            <a:spLocks noChangeShapeType="1"/>
          </p:cNvSpPr>
          <p:nvPr/>
        </p:nvSpPr>
        <p:spPr bwMode="auto">
          <a:xfrm flipH="1">
            <a:off x="4648200" y="2546350"/>
            <a:ext cx="990600" cy="3048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0724" name="Line 388"/>
          <p:cNvSpPr>
            <a:spLocks noChangeShapeType="1"/>
          </p:cNvSpPr>
          <p:nvPr/>
        </p:nvSpPr>
        <p:spPr bwMode="auto">
          <a:xfrm>
            <a:off x="4267200" y="3917950"/>
            <a:ext cx="609600" cy="4572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0726" name="Line 390"/>
          <p:cNvSpPr>
            <a:spLocks noChangeShapeType="1"/>
          </p:cNvSpPr>
          <p:nvPr/>
        </p:nvSpPr>
        <p:spPr bwMode="auto">
          <a:xfrm flipH="1">
            <a:off x="3657600" y="3917950"/>
            <a:ext cx="381000" cy="4572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0727" name="Oval 391"/>
          <p:cNvSpPr>
            <a:spLocks noChangeArrowheads="1"/>
          </p:cNvSpPr>
          <p:nvPr/>
        </p:nvSpPr>
        <p:spPr bwMode="auto">
          <a:xfrm>
            <a:off x="6096000" y="4375150"/>
            <a:ext cx="3810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270728" name="Oval 392"/>
          <p:cNvSpPr>
            <a:spLocks noChangeArrowheads="1"/>
          </p:cNvSpPr>
          <p:nvPr/>
        </p:nvSpPr>
        <p:spPr bwMode="auto">
          <a:xfrm>
            <a:off x="7391400" y="4375150"/>
            <a:ext cx="3810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270729" name="Line 393"/>
          <p:cNvSpPr>
            <a:spLocks noChangeShapeType="1"/>
          </p:cNvSpPr>
          <p:nvPr/>
        </p:nvSpPr>
        <p:spPr bwMode="auto">
          <a:xfrm>
            <a:off x="6934200" y="3917950"/>
            <a:ext cx="609600" cy="4572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0730" name="Line 394"/>
          <p:cNvSpPr>
            <a:spLocks noChangeShapeType="1"/>
          </p:cNvSpPr>
          <p:nvPr/>
        </p:nvSpPr>
        <p:spPr bwMode="auto">
          <a:xfrm flipH="1">
            <a:off x="6324600" y="3917950"/>
            <a:ext cx="381000" cy="4572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0731" name="Oval 395"/>
          <p:cNvSpPr>
            <a:spLocks noChangeArrowheads="1"/>
          </p:cNvSpPr>
          <p:nvPr/>
        </p:nvSpPr>
        <p:spPr bwMode="auto">
          <a:xfrm>
            <a:off x="4191000" y="5137150"/>
            <a:ext cx="3810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K</a:t>
            </a:r>
          </a:p>
        </p:txBody>
      </p:sp>
      <p:sp>
        <p:nvSpPr>
          <p:cNvPr id="270732" name="Oval 396"/>
          <p:cNvSpPr>
            <a:spLocks noChangeArrowheads="1"/>
          </p:cNvSpPr>
          <p:nvPr/>
        </p:nvSpPr>
        <p:spPr bwMode="auto">
          <a:xfrm>
            <a:off x="5486400" y="5137150"/>
            <a:ext cx="3810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270733" name="Line 397"/>
          <p:cNvSpPr>
            <a:spLocks noChangeShapeType="1"/>
          </p:cNvSpPr>
          <p:nvPr/>
        </p:nvSpPr>
        <p:spPr bwMode="auto">
          <a:xfrm>
            <a:off x="5029200" y="4679950"/>
            <a:ext cx="609600" cy="4572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0734" name="Line 398"/>
          <p:cNvSpPr>
            <a:spLocks noChangeShapeType="1"/>
          </p:cNvSpPr>
          <p:nvPr/>
        </p:nvSpPr>
        <p:spPr bwMode="auto">
          <a:xfrm flipH="1">
            <a:off x="4419600" y="4679950"/>
            <a:ext cx="381000" cy="4572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0735" name="Oval 399"/>
          <p:cNvSpPr>
            <a:spLocks noChangeArrowheads="1"/>
          </p:cNvSpPr>
          <p:nvPr/>
        </p:nvSpPr>
        <p:spPr bwMode="auto">
          <a:xfrm>
            <a:off x="6858000" y="5137150"/>
            <a:ext cx="3810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70736" name="Oval 400"/>
          <p:cNvSpPr>
            <a:spLocks noChangeArrowheads="1"/>
          </p:cNvSpPr>
          <p:nvPr/>
        </p:nvSpPr>
        <p:spPr bwMode="auto">
          <a:xfrm>
            <a:off x="8153400" y="5137150"/>
            <a:ext cx="3810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270737" name="Line 401"/>
          <p:cNvSpPr>
            <a:spLocks noChangeShapeType="1"/>
          </p:cNvSpPr>
          <p:nvPr/>
        </p:nvSpPr>
        <p:spPr bwMode="auto">
          <a:xfrm>
            <a:off x="7696200" y="4679950"/>
            <a:ext cx="609600" cy="4572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0738" name="Line 402"/>
          <p:cNvSpPr>
            <a:spLocks noChangeShapeType="1"/>
          </p:cNvSpPr>
          <p:nvPr/>
        </p:nvSpPr>
        <p:spPr bwMode="auto">
          <a:xfrm flipH="1">
            <a:off x="7086600" y="4679950"/>
            <a:ext cx="381000" cy="4572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0739" name="Oval 403"/>
          <p:cNvSpPr>
            <a:spLocks noChangeArrowheads="1"/>
          </p:cNvSpPr>
          <p:nvPr/>
        </p:nvSpPr>
        <p:spPr bwMode="auto">
          <a:xfrm>
            <a:off x="5365750" y="5029200"/>
            <a:ext cx="609600" cy="533400"/>
          </a:xfrm>
          <a:prstGeom prst="ellipse">
            <a:avLst/>
          </a:prstGeom>
          <a:noFill/>
          <a:ln w="25400">
            <a:solidFill>
              <a:srgbClr val="FFFF00"/>
            </a:solidFill>
            <a:prstDash val="lg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0740" name="Line 404"/>
          <p:cNvSpPr>
            <a:spLocks noChangeShapeType="1"/>
          </p:cNvSpPr>
          <p:nvPr/>
        </p:nvSpPr>
        <p:spPr bwMode="auto">
          <a:xfrm>
            <a:off x="5638800" y="2546350"/>
            <a:ext cx="1143000" cy="3048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0745" name="Rectangle 409"/>
          <p:cNvSpPr>
            <a:spLocks noChangeArrowheads="1"/>
          </p:cNvSpPr>
          <p:nvPr/>
        </p:nvSpPr>
        <p:spPr bwMode="auto">
          <a:xfrm>
            <a:off x="4411663" y="2622550"/>
            <a:ext cx="127000" cy="2746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270746" name="Rectangle 410"/>
          <p:cNvSpPr>
            <a:spLocks noChangeArrowheads="1"/>
          </p:cNvSpPr>
          <p:nvPr/>
        </p:nvSpPr>
        <p:spPr bwMode="auto">
          <a:xfrm>
            <a:off x="6934200" y="2546350"/>
            <a:ext cx="254000" cy="2746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0747" name="Rectangle 411"/>
          <p:cNvSpPr>
            <a:spLocks noChangeArrowheads="1"/>
          </p:cNvSpPr>
          <p:nvPr/>
        </p:nvSpPr>
        <p:spPr bwMode="auto">
          <a:xfrm>
            <a:off x="6400800" y="3262313"/>
            <a:ext cx="317500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7.1</a:t>
            </a:r>
          </a:p>
        </p:txBody>
      </p:sp>
      <p:sp>
        <p:nvSpPr>
          <p:cNvPr id="270748" name="Rectangle 412"/>
          <p:cNvSpPr>
            <a:spLocks noChangeArrowheads="1"/>
          </p:cNvSpPr>
          <p:nvPr/>
        </p:nvSpPr>
        <p:spPr bwMode="auto">
          <a:xfrm>
            <a:off x="7848600" y="3262313"/>
            <a:ext cx="127000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270749" name="Rectangle 413"/>
          <p:cNvSpPr>
            <a:spLocks noChangeArrowheads="1"/>
          </p:cNvSpPr>
          <p:nvPr/>
        </p:nvSpPr>
        <p:spPr bwMode="auto">
          <a:xfrm>
            <a:off x="6045200" y="4024313"/>
            <a:ext cx="127000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270750" name="Rectangle 414"/>
          <p:cNvSpPr>
            <a:spLocks noChangeArrowheads="1"/>
          </p:cNvSpPr>
          <p:nvPr/>
        </p:nvSpPr>
        <p:spPr bwMode="auto">
          <a:xfrm>
            <a:off x="7924800" y="4252913"/>
            <a:ext cx="317500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5.3</a:t>
            </a:r>
          </a:p>
        </p:txBody>
      </p:sp>
      <p:sp>
        <p:nvSpPr>
          <p:cNvPr id="270751" name="Rectangle 415"/>
          <p:cNvSpPr>
            <a:spLocks noChangeArrowheads="1"/>
          </p:cNvSpPr>
          <p:nvPr/>
        </p:nvSpPr>
        <p:spPr bwMode="auto">
          <a:xfrm>
            <a:off x="6731000" y="4862513"/>
            <a:ext cx="127000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70752" name="Rectangle 416"/>
          <p:cNvSpPr>
            <a:spLocks noChangeArrowheads="1"/>
          </p:cNvSpPr>
          <p:nvPr/>
        </p:nvSpPr>
        <p:spPr bwMode="auto">
          <a:xfrm>
            <a:off x="8331200" y="4786313"/>
            <a:ext cx="127000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70753" name="Rectangle 417"/>
          <p:cNvSpPr>
            <a:spLocks noChangeArrowheads="1"/>
          </p:cNvSpPr>
          <p:nvPr/>
        </p:nvSpPr>
        <p:spPr bwMode="auto">
          <a:xfrm>
            <a:off x="5588000" y="3308350"/>
            <a:ext cx="317500" cy="2746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8.5</a:t>
            </a:r>
          </a:p>
        </p:txBody>
      </p:sp>
      <p:sp>
        <p:nvSpPr>
          <p:cNvPr id="270754" name="Rectangle 418"/>
          <p:cNvSpPr>
            <a:spLocks noChangeArrowheads="1"/>
          </p:cNvSpPr>
          <p:nvPr/>
        </p:nvSpPr>
        <p:spPr bwMode="auto">
          <a:xfrm>
            <a:off x="3810000" y="3308350"/>
            <a:ext cx="317500" cy="2746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7.3</a:t>
            </a:r>
          </a:p>
        </p:txBody>
      </p:sp>
      <p:sp>
        <p:nvSpPr>
          <p:cNvPr id="270755" name="Rectangle 419"/>
          <p:cNvSpPr>
            <a:spLocks noChangeArrowheads="1"/>
          </p:cNvSpPr>
          <p:nvPr/>
        </p:nvSpPr>
        <p:spPr bwMode="auto">
          <a:xfrm>
            <a:off x="3454400" y="4679950"/>
            <a:ext cx="127000" cy="2746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70756" name="Rectangle 420"/>
          <p:cNvSpPr>
            <a:spLocks noChangeArrowheads="1"/>
          </p:cNvSpPr>
          <p:nvPr/>
        </p:nvSpPr>
        <p:spPr bwMode="auto">
          <a:xfrm>
            <a:off x="5207000" y="4298950"/>
            <a:ext cx="127000" cy="2746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70757" name="Rectangle 421"/>
          <p:cNvSpPr>
            <a:spLocks noChangeArrowheads="1"/>
          </p:cNvSpPr>
          <p:nvPr/>
        </p:nvSpPr>
        <p:spPr bwMode="auto">
          <a:xfrm>
            <a:off x="6045200" y="5091113"/>
            <a:ext cx="127000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270758" name="Rectangle 422"/>
          <p:cNvSpPr>
            <a:spLocks noChangeArrowheads="1"/>
          </p:cNvSpPr>
          <p:nvPr/>
        </p:nvSpPr>
        <p:spPr bwMode="auto">
          <a:xfrm>
            <a:off x="4648200" y="5014913"/>
            <a:ext cx="317500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2.5</a:t>
            </a:r>
          </a:p>
        </p:txBody>
      </p:sp>
      <p:sp>
        <p:nvSpPr>
          <p:cNvPr id="270767" name="Rectangle 431"/>
          <p:cNvSpPr>
            <a:spLocks noChangeArrowheads="1"/>
          </p:cNvSpPr>
          <p:nvPr/>
        </p:nvSpPr>
        <p:spPr bwMode="auto">
          <a:xfrm>
            <a:off x="228600" y="1600200"/>
            <a:ext cx="38100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sz="2400" b="1">
                <a:solidFill>
                  <a:schemeClr val="bg1"/>
                </a:solidFill>
              </a:rPr>
              <a:t>Degree = 2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endParaRPr lang="en-US" sz="2400" b="1">
              <a:solidFill>
                <a:schemeClr val="bg1"/>
              </a:solidFill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sz="2400" b="1">
                <a:solidFill>
                  <a:schemeClr val="bg1"/>
                </a:solidFill>
              </a:rPr>
              <a:t>At every level use only </a:t>
            </a:r>
            <a:r>
              <a:rPr lang="en-US" sz="2400" b="1">
                <a:solidFill>
                  <a:srgbClr val="FFFF00"/>
                </a:solidFill>
              </a:rPr>
              <a:t>2</a:t>
            </a:r>
            <a:r>
              <a:rPr lang="en-US" sz="2400" b="1">
                <a:solidFill>
                  <a:schemeClr val="bg1"/>
                </a:solidFill>
              </a:rPr>
              <a:t>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sz="2400" b="1">
                <a:solidFill>
                  <a:schemeClr val="bg1"/>
                </a:solidFill>
              </a:rPr>
              <a:t>best nodes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524000"/>
            <a:ext cx="8724900" cy="441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7" name="Line 376"/>
          <p:cNvSpPr>
            <a:spLocks noChangeShapeType="1"/>
          </p:cNvSpPr>
          <p:nvPr/>
        </p:nvSpPr>
        <p:spPr bwMode="auto">
          <a:xfrm flipH="1">
            <a:off x="6934200" y="3200400"/>
            <a:ext cx="0" cy="457200"/>
          </a:xfrm>
          <a:prstGeom prst="line">
            <a:avLst/>
          </a:prstGeom>
          <a:noFill/>
          <a:ln w="38100">
            <a:solidFill>
              <a:srgbClr val="99FF33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8" name="Line 389"/>
          <p:cNvSpPr>
            <a:spLocks noChangeShapeType="1"/>
          </p:cNvSpPr>
          <p:nvPr/>
        </p:nvSpPr>
        <p:spPr bwMode="auto">
          <a:xfrm flipH="1">
            <a:off x="4267200" y="3200400"/>
            <a:ext cx="457200" cy="457200"/>
          </a:xfrm>
          <a:prstGeom prst="line">
            <a:avLst/>
          </a:prstGeom>
          <a:noFill/>
          <a:ln w="38100">
            <a:solidFill>
              <a:srgbClr val="99FF33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9" name="Line 423"/>
          <p:cNvSpPr>
            <a:spLocks noChangeShapeType="1"/>
          </p:cNvSpPr>
          <p:nvPr/>
        </p:nvSpPr>
        <p:spPr bwMode="auto">
          <a:xfrm flipH="1">
            <a:off x="4800600" y="2590800"/>
            <a:ext cx="990600" cy="304800"/>
          </a:xfrm>
          <a:prstGeom prst="line">
            <a:avLst/>
          </a:prstGeom>
          <a:noFill/>
          <a:ln w="38100">
            <a:solidFill>
              <a:srgbClr val="99FF33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" name="Line 424"/>
          <p:cNvSpPr>
            <a:spLocks noChangeShapeType="1"/>
          </p:cNvSpPr>
          <p:nvPr/>
        </p:nvSpPr>
        <p:spPr bwMode="auto">
          <a:xfrm>
            <a:off x="5791200" y="2590800"/>
            <a:ext cx="1143000" cy="304800"/>
          </a:xfrm>
          <a:prstGeom prst="line">
            <a:avLst/>
          </a:prstGeom>
          <a:noFill/>
          <a:ln w="38100">
            <a:solidFill>
              <a:srgbClr val="99FF33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1" name="Line 425"/>
          <p:cNvSpPr>
            <a:spLocks noChangeShapeType="1"/>
          </p:cNvSpPr>
          <p:nvPr/>
        </p:nvSpPr>
        <p:spPr bwMode="auto">
          <a:xfrm>
            <a:off x="4419600" y="3962400"/>
            <a:ext cx="609600" cy="457200"/>
          </a:xfrm>
          <a:prstGeom prst="line">
            <a:avLst/>
          </a:prstGeom>
          <a:noFill/>
          <a:ln w="38100">
            <a:solidFill>
              <a:srgbClr val="99FF33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2" name="Line 426"/>
          <p:cNvSpPr>
            <a:spLocks noChangeShapeType="1"/>
          </p:cNvSpPr>
          <p:nvPr/>
        </p:nvSpPr>
        <p:spPr bwMode="auto">
          <a:xfrm>
            <a:off x="7086600" y="3962400"/>
            <a:ext cx="609600" cy="457200"/>
          </a:xfrm>
          <a:prstGeom prst="line">
            <a:avLst/>
          </a:prstGeom>
          <a:noFill/>
          <a:ln w="38100">
            <a:solidFill>
              <a:srgbClr val="99FF33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" name="Line 427"/>
          <p:cNvSpPr>
            <a:spLocks noChangeShapeType="1"/>
          </p:cNvSpPr>
          <p:nvPr/>
        </p:nvSpPr>
        <p:spPr bwMode="auto">
          <a:xfrm>
            <a:off x="5181600" y="4724400"/>
            <a:ext cx="609600" cy="457200"/>
          </a:xfrm>
          <a:prstGeom prst="line">
            <a:avLst/>
          </a:prstGeom>
          <a:noFill/>
          <a:ln w="38100">
            <a:solidFill>
              <a:srgbClr val="99FF33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4" name="Line 428"/>
          <p:cNvSpPr>
            <a:spLocks noChangeShapeType="1"/>
          </p:cNvSpPr>
          <p:nvPr/>
        </p:nvSpPr>
        <p:spPr bwMode="auto">
          <a:xfrm>
            <a:off x="7848600" y="4724400"/>
            <a:ext cx="609600" cy="457200"/>
          </a:xfrm>
          <a:prstGeom prst="line">
            <a:avLst/>
          </a:prstGeom>
          <a:noFill/>
          <a:ln w="38100">
            <a:solidFill>
              <a:srgbClr val="99FF33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Since a goal state could potentially be pruned, beam search sacrifices completeness (the guarantee that an algorithm will terminate with a solution, if one exists).</a:t>
            </a:r>
          </a:p>
          <a:p>
            <a:pPr algn="just"/>
            <a:r>
              <a:rPr lang="en-US" dirty="0"/>
              <a:t> Beam search is not optimal (that is, there is no guarantee that it will find the best solution). It returns the first solution found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Beam search is not complete </a:t>
            </a:r>
          </a:p>
          <a:p>
            <a:pPr algn="just"/>
            <a:r>
              <a:rPr lang="en-US" dirty="0" smtClean="0"/>
              <a:t>Space complexity is constant </a:t>
            </a:r>
          </a:p>
          <a:p>
            <a:pPr algn="just"/>
            <a:r>
              <a:rPr lang="en-US" dirty="0" smtClean="0"/>
              <a:t>Time complexity </a:t>
            </a:r>
            <a:r>
              <a:rPr lang="en-US" dirty="0" err="1" smtClean="0"/>
              <a:t>NlogN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1272</TotalTime>
  <Words>1157</Words>
  <Application>Microsoft Office PowerPoint</Application>
  <PresentationFormat>On-screen Show (4:3)</PresentationFormat>
  <Paragraphs>242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Arial Black</vt:lpstr>
      <vt:lpstr>Arial Narrow</vt:lpstr>
      <vt:lpstr>Calibri</vt:lpstr>
      <vt:lpstr>Wingdings</vt:lpstr>
      <vt:lpstr>Wingdings 2</vt:lpstr>
      <vt:lpstr>Office Theme</vt:lpstr>
      <vt:lpstr>Lecture 5</vt:lpstr>
      <vt:lpstr>Heuristics</vt:lpstr>
      <vt:lpstr>Example of Heuristic Function</vt:lpstr>
      <vt:lpstr>Example of Heuristic Function</vt:lpstr>
      <vt:lpstr>PowerPoint Presentation</vt:lpstr>
      <vt:lpstr>8-puzzle </vt:lpstr>
      <vt:lpstr>Euclidean Distance Heuristic for 8-puzzle</vt:lpstr>
      <vt:lpstr>Manhattan Distance Heuristic for 8-puzzle</vt:lpstr>
      <vt:lpstr>State space generated in Manhattan Distance heuristic search of the 8-puzzle</vt:lpstr>
      <vt:lpstr>State space generated in heuristic search of the 8-puzzle</vt:lpstr>
      <vt:lpstr>Best First Search</vt:lpstr>
      <vt:lpstr>Best First Search</vt:lpstr>
      <vt:lpstr>Greedy Best First Search</vt:lpstr>
      <vt:lpstr>Map of Romania with road distances in km</vt:lpstr>
      <vt:lpstr>straight-line distances to Bucharest.</vt:lpstr>
      <vt:lpstr>Stages in a greedy search for Bucharest, using the straight-line distance to Bucharest</vt:lpstr>
      <vt:lpstr>Best First Search (All options open)</vt:lpstr>
      <vt:lpstr>Properties of Greedy Best First Search</vt:lpstr>
      <vt:lpstr>Properties of Greedy Best First Search</vt:lpstr>
      <vt:lpstr>Hill climbing </vt:lpstr>
      <vt:lpstr>Hill climbing: Algorithm</vt:lpstr>
      <vt:lpstr>Hill climbing: Example</vt:lpstr>
      <vt:lpstr>Hill Climbing</vt:lpstr>
      <vt:lpstr>Hill climbing: Problems</vt:lpstr>
      <vt:lpstr>Problems with  Hill climbing</vt:lpstr>
      <vt:lpstr>Random-restart hill-climbing</vt:lpstr>
      <vt:lpstr>Beam search</vt:lpstr>
      <vt:lpstr>Beam search (1):</vt:lpstr>
      <vt:lpstr>Beam search (2):</vt:lpstr>
      <vt:lpstr>Beam Search</vt:lpstr>
      <vt:lpstr>Properties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5</dc:title>
  <dc:creator>My PC</dc:creator>
  <cp:lastModifiedBy>Dr. Sajid</cp:lastModifiedBy>
  <cp:revision>57</cp:revision>
  <dcterms:created xsi:type="dcterms:W3CDTF">2006-08-16T00:00:00Z</dcterms:created>
  <dcterms:modified xsi:type="dcterms:W3CDTF">2025-10-13T06:29:38Z</dcterms:modified>
</cp:coreProperties>
</file>