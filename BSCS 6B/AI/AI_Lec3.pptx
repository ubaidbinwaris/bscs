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 id="268" r:id="rId14"/>
    <p:sldId id="269" r:id="rId15"/>
    <p:sldId id="270" r:id="rId16"/>
    <p:sldId id="271" r:id="rId17"/>
    <p:sldId id="272" r:id="rId18"/>
    <p:sldId id="273"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75" r:id="rId36"/>
    <p:sldId id="278" r:id="rId37"/>
    <p:sldId id="277" r:id="rId38"/>
    <p:sldId id="279" r:id="rId39"/>
    <p:sldId id="280" r:id="rId40"/>
    <p:sldId id="281" r:id="rId41"/>
    <p:sldId id="274" r:id="rId42"/>
    <p:sldId id="298"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11/3/2014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11/3/2014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11/3/2014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11/3/2014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667000"/>
            <a:ext cx="7620000" cy="1162050"/>
          </a:xfrm>
        </p:spPr>
        <p:txBody>
          <a:bodyPr/>
          <a:lstStyle/>
          <a:p>
            <a:r>
              <a:rPr lang="en-US" dirty="0" smtClean="0"/>
              <a:t>Problem solving using search</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Directed Agent </a:t>
            </a:r>
            <a:endParaRPr lang="en-US" dirty="0"/>
          </a:p>
        </p:txBody>
      </p:sp>
      <p:sp>
        <p:nvSpPr>
          <p:cNvPr id="3" name="Content Placeholder 2"/>
          <p:cNvSpPr>
            <a:spLocks noGrp="1"/>
          </p:cNvSpPr>
          <p:nvPr>
            <p:ph idx="1"/>
          </p:nvPr>
        </p:nvSpPr>
        <p:spPr/>
        <p:txBody>
          <a:bodyPr>
            <a:normAutofit/>
          </a:bodyPr>
          <a:lstStyle/>
          <a:p>
            <a:r>
              <a:rPr lang="en-US" dirty="0" smtClean="0"/>
              <a:t>A goal directed agent needs to achieve certain goals.</a:t>
            </a:r>
          </a:p>
          <a:p>
            <a:r>
              <a:rPr lang="en-US" dirty="0" smtClean="0"/>
              <a:t>Such an agent selects its actions based on the goal it has.</a:t>
            </a:r>
          </a:p>
          <a:p>
            <a:r>
              <a:rPr lang="en-US" dirty="0" smtClean="0"/>
              <a:t>Many problems can be represented as </a:t>
            </a:r>
          </a:p>
          <a:p>
            <a:pPr lvl="1"/>
            <a:r>
              <a:rPr lang="en-US" dirty="0" smtClean="0"/>
              <a:t>a set of states and </a:t>
            </a:r>
          </a:p>
          <a:p>
            <a:pPr lvl="1"/>
            <a:r>
              <a:rPr lang="en-US" dirty="0" smtClean="0"/>
              <a:t>a set of rules of how one state is transformed to another.</a:t>
            </a:r>
          </a:p>
          <a:p>
            <a:pPr lvl="1">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space</a:t>
            </a:r>
            <a:endParaRPr lang="en-US" dirty="0"/>
          </a:p>
        </p:txBody>
      </p:sp>
      <p:sp>
        <p:nvSpPr>
          <p:cNvPr id="3" name="Content Placeholder 2"/>
          <p:cNvSpPr>
            <a:spLocks noGrp="1"/>
          </p:cNvSpPr>
          <p:nvPr>
            <p:ph idx="1"/>
          </p:nvPr>
        </p:nvSpPr>
        <p:spPr/>
        <p:txBody>
          <a:bodyPr>
            <a:normAutofit lnSpcReduction="10000"/>
          </a:bodyPr>
          <a:lstStyle/>
          <a:p>
            <a:pPr marL="342900" lvl="1" indent="-342900">
              <a:buFont typeface="Arial" pitchFamily="34" charset="0"/>
              <a:buChar char="•"/>
            </a:pPr>
            <a:r>
              <a:rPr lang="en-US" dirty="0" smtClean="0"/>
              <a:t> Each state is an abstract representation of the agent's environment.</a:t>
            </a:r>
          </a:p>
          <a:p>
            <a:r>
              <a:rPr lang="en-US" dirty="0" smtClean="0"/>
              <a:t>It is an abstraction that denotes a configuration of the agent. </a:t>
            </a:r>
          </a:p>
          <a:p>
            <a:pPr lvl="1"/>
            <a:r>
              <a:rPr lang="en-US" dirty="0" smtClean="0">
                <a:solidFill>
                  <a:srgbClr val="FF0000"/>
                </a:solidFill>
              </a:rPr>
              <a:t>Initial state :</a:t>
            </a:r>
            <a:r>
              <a:rPr lang="en-US" dirty="0" smtClean="0"/>
              <a:t> The description of the starting configuration of the agent  </a:t>
            </a:r>
          </a:p>
          <a:p>
            <a:pPr lvl="1"/>
            <a:r>
              <a:rPr lang="en-US" dirty="0" smtClean="0"/>
              <a:t>An action/ operator takes the agent from one state to another state. A state can have a number of successor states.  </a:t>
            </a:r>
          </a:p>
          <a:p>
            <a:pPr lvl="1"/>
            <a:r>
              <a:rPr lang="en-US" dirty="0" smtClean="0"/>
              <a:t>A </a:t>
            </a:r>
            <a:r>
              <a:rPr lang="en-US" dirty="0" smtClean="0">
                <a:solidFill>
                  <a:srgbClr val="FF0000"/>
                </a:solidFill>
              </a:rPr>
              <a:t>plan</a:t>
            </a:r>
            <a:r>
              <a:rPr lang="en-US" dirty="0" smtClean="0"/>
              <a:t> is a sequence of actions.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space</a:t>
            </a:r>
            <a:endParaRPr lang="en-US" dirty="0"/>
          </a:p>
        </p:txBody>
      </p:sp>
      <p:sp>
        <p:nvSpPr>
          <p:cNvPr id="3" name="Content Placeholder 2"/>
          <p:cNvSpPr>
            <a:spLocks noGrp="1"/>
          </p:cNvSpPr>
          <p:nvPr>
            <p:ph idx="1"/>
          </p:nvPr>
        </p:nvSpPr>
        <p:spPr/>
        <p:txBody>
          <a:bodyPr/>
          <a:lstStyle/>
          <a:p>
            <a:pPr marL="342900" lvl="1" indent="-342900">
              <a:buFont typeface="Arial" pitchFamily="34" charset="0"/>
              <a:buChar char="•"/>
            </a:pPr>
            <a:r>
              <a:rPr lang="en-US" dirty="0" smtClean="0"/>
              <a:t>A goal is a description of a set of desirable states of the world.</a:t>
            </a:r>
          </a:p>
          <a:p>
            <a:pPr marL="342900" lvl="1" indent="-342900">
              <a:buFont typeface="Arial" pitchFamily="34" charset="0"/>
              <a:buChar char="•"/>
            </a:pPr>
            <a:r>
              <a:rPr lang="en-US" dirty="0" smtClean="0"/>
              <a:t> Goal states are often specified by a </a:t>
            </a:r>
            <a:r>
              <a:rPr lang="en-US" dirty="0" smtClean="0">
                <a:solidFill>
                  <a:srgbClr val="FF0000"/>
                </a:solidFill>
              </a:rPr>
              <a:t>goal test </a:t>
            </a:r>
            <a:r>
              <a:rPr lang="en-US" dirty="0" smtClean="0"/>
              <a:t>which any goal state must satisfy. </a:t>
            </a:r>
          </a:p>
          <a:p>
            <a:pPr marL="342900" lvl="1" indent="-342900">
              <a:buFont typeface="Arial" pitchFamily="34" charset="0"/>
              <a:buChar char="•"/>
            </a:pPr>
            <a:r>
              <a:rPr lang="en-US" dirty="0" smtClean="0">
                <a:solidFill>
                  <a:srgbClr val="FF0000"/>
                </a:solidFill>
              </a:rPr>
              <a:t>Path cost</a:t>
            </a:r>
          </a:p>
          <a:p>
            <a:pPr marL="742950" lvl="2" indent="-342900"/>
            <a:r>
              <a:rPr lang="en-US" dirty="0" smtClean="0"/>
              <a:t>Sum of the costs at each step</a:t>
            </a:r>
          </a:p>
          <a:p>
            <a:pPr marL="342900" lvl="1" indent="-342900">
              <a:buFont typeface="Arial" pitchFamily="34" charset="0"/>
              <a:buChar char="•"/>
            </a:pPr>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Formulation</a:t>
            </a:r>
            <a:endParaRPr lang="en-US" dirty="0"/>
          </a:p>
        </p:txBody>
      </p:sp>
      <p:sp>
        <p:nvSpPr>
          <p:cNvPr id="3" name="Content Placeholder 2"/>
          <p:cNvSpPr>
            <a:spLocks noGrp="1"/>
          </p:cNvSpPr>
          <p:nvPr>
            <p:ph idx="1"/>
          </p:nvPr>
        </p:nvSpPr>
        <p:spPr/>
        <p:txBody>
          <a:bodyPr/>
          <a:lstStyle/>
          <a:p>
            <a:pPr algn="just"/>
            <a:r>
              <a:rPr lang="en-US" dirty="0" smtClean="0">
                <a:solidFill>
                  <a:srgbClr val="0070C0"/>
                </a:solidFill>
              </a:rPr>
              <a:t>Problem formulation </a:t>
            </a:r>
            <a:r>
              <a:rPr lang="en-US" dirty="0" smtClean="0"/>
              <a:t>means choosing a relevant </a:t>
            </a:r>
            <a:r>
              <a:rPr lang="en-US" u="sng" dirty="0" smtClean="0">
                <a:solidFill>
                  <a:srgbClr val="FF0000"/>
                </a:solidFill>
              </a:rPr>
              <a:t>set of states </a:t>
            </a:r>
            <a:r>
              <a:rPr lang="en-US" dirty="0" smtClean="0"/>
              <a:t>to consider, and a feasible </a:t>
            </a:r>
            <a:r>
              <a:rPr lang="en-US" u="sng" dirty="0" smtClean="0">
                <a:solidFill>
                  <a:srgbClr val="FF0000"/>
                </a:solidFill>
              </a:rPr>
              <a:t>set of operators </a:t>
            </a:r>
            <a:r>
              <a:rPr lang="en-US" dirty="0" smtClean="0"/>
              <a:t>for moving from one state to another. </a:t>
            </a:r>
          </a:p>
          <a:p>
            <a:pPr algn="just"/>
            <a:r>
              <a:rPr lang="en-US" dirty="0" smtClean="0">
                <a:solidFill>
                  <a:srgbClr val="0070C0"/>
                </a:solidFill>
              </a:rPr>
              <a:t> Search </a:t>
            </a:r>
            <a:r>
              <a:rPr lang="en-US" dirty="0" smtClean="0"/>
              <a:t>is the process of considering various possible sequences of operators applied to the initial state, and finding out a sequence which culminates in a goal state.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Problem</a:t>
            </a:r>
            <a:endParaRPr lang="en-US" dirty="0"/>
          </a:p>
        </p:txBody>
      </p:sp>
      <p:sp>
        <p:nvSpPr>
          <p:cNvPr id="3" name="Content Placeholder 2"/>
          <p:cNvSpPr>
            <a:spLocks noGrp="1"/>
          </p:cNvSpPr>
          <p:nvPr>
            <p:ph idx="1"/>
          </p:nvPr>
        </p:nvSpPr>
        <p:spPr/>
        <p:txBody>
          <a:bodyPr/>
          <a:lstStyle/>
          <a:p>
            <a:r>
              <a:rPr lang="en-US" dirty="0" smtClean="0"/>
              <a:t>A search problem consists of the following:</a:t>
            </a:r>
          </a:p>
          <a:p>
            <a:pPr lvl="1"/>
            <a:r>
              <a:rPr lang="en-US" dirty="0" smtClean="0"/>
              <a:t> S: the full  set of states</a:t>
            </a:r>
          </a:p>
          <a:p>
            <a:pPr lvl="1"/>
            <a:r>
              <a:rPr lang="en-US" dirty="0" smtClean="0"/>
              <a:t> s0 : the initial state </a:t>
            </a:r>
          </a:p>
          <a:p>
            <a:pPr lvl="1"/>
            <a:r>
              <a:rPr lang="en-US" dirty="0" smtClean="0"/>
              <a:t>A:S→S is a set of operators </a:t>
            </a:r>
          </a:p>
          <a:p>
            <a:pPr lvl="1"/>
            <a:r>
              <a:rPr lang="en-US" dirty="0" smtClean="0"/>
              <a:t>G  is the set of final states. Note that G ⊆S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Problem</a:t>
            </a:r>
            <a:endParaRPr lang="en-US" dirty="0"/>
          </a:p>
        </p:txBody>
      </p:sp>
      <p:sp>
        <p:nvSpPr>
          <p:cNvPr id="3" name="Content Placeholder 2"/>
          <p:cNvSpPr>
            <a:spLocks noGrp="1"/>
          </p:cNvSpPr>
          <p:nvPr>
            <p:ph idx="1"/>
          </p:nvPr>
        </p:nvSpPr>
        <p:spPr/>
        <p:txBody>
          <a:bodyPr/>
          <a:lstStyle/>
          <a:p>
            <a:r>
              <a:rPr lang="en-US" dirty="0" smtClean="0"/>
              <a:t>The search problem is to find a sequence of actions which transforms the agent from the initial state to a goal state </a:t>
            </a:r>
            <a:r>
              <a:rPr lang="en-US" dirty="0" err="1" smtClean="0"/>
              <a:t>g∈G</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space representation</a:t>
            </a:r>
            <a:endParaRPr lang="en-US" dirty="0"/>
          </a:p>
        </p:txBody>
      </p:sp>
      <p:pic>
        <p:nvPicPr>
          <p:cNvPr id="1028" name="Picture 4"/>
          <p:cNvPicPr>
            <a:picLocks noGrp="1" noChangeAspect="1" noChangeArrowheads="1"/>
          </p:cNvPicPr>
          <p:nvPr>
            <p:ph idx="1"/>
          </p:nvPr>
        </p:nvPicPr>
        <p:blipFill>
          <a:blip r:embed="rId2" cstate="print"/>
          <a:srcRect/>
          <a:stretch>
            <a:fillRect/>
          </a:stretch>
        </p:blipFill>
        <p:spPr bwMode="auto">
          <a:xfrm>
            <a:off x="1447800" y="1403350"/>
            <a:ext cx="6019800" cy="454025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Representation of search problems  </a:t>
            </a:r>
            <a:endParaRPr lang="en-US" dirty="0"/>
          </a:p>
        </p:txBody>
      </p:sp>
      <p:sp>
        <p:nvSpPr>
          <p:cNvPr id="3" name="Content Placeholder 2"/>
          <p:cNvSpPr>
            <a:spLocks noGrp="1"/>
          </p:cNvSpPr>
          <p:nvPr>
            <p:ph idx="1"/>
          </p:nvPr>
        </p:nvSpPr>
        <p:spPr/>
        <p:txBody>
          <a:bodyPr/>
          <a:lstStyle/>
          <a:p>
            <a:r>
              <a:rPr lang="en-US" dirty="0" smtClean="0"/>
              <a:t>A search problem is represented using a </a:t>
            </a:r>
            <a:r>
              <a:rPr lang="en-US" dirty="0" smtClean="0">
                <a:solidFill>
                  <a:srgbClr val="FF0000"/>
                </a:solidFill>
              </a:rPr>
              <a:t>directed graph</a:t>
            </a:r>
            <a:r>
              <a:rPr lang="en-US" dirty="0" smtClean="0"/>
              <a:t>. </a:t>
            </a:r>
          </a:p>
          <a:p>
            <a:r>
              <a:rPr lang="en-US" dirty="0" smtClean="0"/>
              <a:t> The states are represented as </a:t>
            </a:r>
            <a:r>
              <a:rPr lang="en-US" dirty="0" smtClean="0">
                <a:solidFill>
                  <a:srgbClr val="FF0000"/>
                </a:solidFill>
              </a:rPr>
              <a:t>nodes</a:t>
            </a:r>
            <a:r>
              <a:rPr lang="en-US" dirty="0" smtClean="0"/>
              <a:t>.</a:t>
            </a:r>
          </a:p>
          <a:p>
            <a:r>
              <a:rPr lang="en-US" dirty="0" smtClean="0"/>
              <a:t> The allowed </a:t>
            </a:r>
            <a:r>
              <a:rPr lang="en-US" dirty="0" smtClean="0">
                <a:solidFill>
                  <a:srgbClr val="FF0000"/>
                </a:solidFill>
              </a:rPr>
              <a:t>actions</a:t>
            </a:r>
            <a:r>
              <a:rPr lang="en-US" dirty="0" smtClean="0"/>
              <a:t> are represented as arcs.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 &amp; path</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Plan: The sequence of actions is called a solution plan. </a:t>
            </a:r>
          </a:p>
          <a:p>
            <a:pPr lvl="1"/>
            <a:r>
              <a:rPr lang="en-US" dirty="0" smtClean="0"/>
              <a:t>It is a path from the initial state to a goal state.</a:t>
            </a:r>
          </a:p>
          <a:p>
            <a:pPr lvl="1"/>
            <a:r>
              <a:rPr lang="en-US" dirty="0" smtClean="0"/>
              <a:t> A plan P is a sequence of actions P = {a0, a1,  … , </a:t>
            </a:r>
            <a:r>
              <a:rPr lang="en-US" dirty="0" err="1" smtClean="0"/>
              <a:t>aN</a:t>
            </a:r>
            <a:r>
              <a:rPr lang="en-US" dirty="0" smtClean="0"/>
              <a:t>} which leads to traversing a number of states {s0, s1,  … , sN+1∈G}. </a:t>
            </a:r>
          </a:p>
          <a:p>
            <a:r>
              <a:rPr lang="en-US" dirty="0" smtClean="0"/>
              <a:t>Path: A sequence of states is called a path. </a:t>
            </a:r>
          </a:p>
          <a:p>
            <a:pPr lvl="1"/>
            <a:r>
              <a:rPr lang="en-US" dirty="0" smtClean="0"/>
              <a:t>The cost of a path is a positive number. </a:t>
            </a:r>
          </a:p>
          <a:p>
            <a:pPr lvl="1"/>
            <a:r>
              <a:rPr lang="en-US" dirty="0" smtClean="0"/>
              <a:t>In many cases the path cost is computed by taking the sum of the costs of each action.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Searching process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generic searching process can be very simply described in terms of the following steps: </a:t>
            </a:r>
          </a:p>
          <a:p>
            <a:r>
              <a:rPr lang="en-US" dirty="0" smtClean="0"/>
              <a:t>Do until a solution is found or the state space is exhausted. </a:t>
            </a:r>
          </a:p>
          <a:p>
            <a:pPr lvl="1"/>
            <a:r>
              <a:rPr lang="en-US" dirty="0" smtClean="0"/>
              <a:t> Check the current state </a:t>
            </a:r>
          </a:p>
          <a:p>
            <a:pPr lvl="1"/>
            <a:r>
              <a:rPr lang="en-US" dirty="0" smtClean="0"/>
              <a:t>Execute allowable actions to find the successor states.</a:t>
            </a:r>
          </a:p>
          <a:p>
            <a:pPr lvl="1"/>
            <a:r>
              <a:rPr lang="en-US" dirty="0" smtClean="0"/>
              <a:t> Pick one of the new states. </a:t>
            </a:r>
          </a:p>
          <a:p>
            <a:pPr lvl="1"/>
            <a:r>
              <a:rPr lang="en-US" dirty="0" smtClean="0"/>
              <a:t>Check if the new state is a solution state If it is not, the new state becomes the current state and the process is repeated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of a search process</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828800" y="1752600"/>
            <a:ext cx="5333999" cy="38862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of a search process</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752600" y="1676400"/>
            <a:ext cx="5334000" cy="38100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Illustration of a search process</a:t>
            </a:r>
            <a:endParaRPr lang="en-US" dirty="0"/>
          </a:p>
        </p:txBody>
      </p:sp>
      <p:sp>
        <p:nvSpPr>
          <p:cNvPr id="3" name="Content Placeholder 2"/>
          <p:cNvSpPr>
            <a:spLocks noGrp="1"/>
          </p:cNvSpPr>
          <p:nvPr>
            <p:ph idx="1"/>
          </p:nvPr>
        </p:nvSpPr>
        <p:spPr/>
        <p:txBody>
          <a:bodyPr/>
          <a:lstStyle/>
          <a:p>
            <a:r>
              <a:rPr lang="en-US" dirty="0" smtClean="0"/>
              <a:t>The grey nodes define the search tree. </a:t>
            </a:r>
          </a:p>
          <a:p>
            <a:r>
              <a:rPr lang="en-US" dirty="0" smtClean="0"/>
              <a:t>Usually the search tree is extended one node at a time. </a:t>
            </a:r>
          </a:p>
          <a:p>
            <a:r>
              <a:rPr lang="en-US" dirty="0" smtClean="0"/>
              <a:t>The order in which the search tree is extended depends on the search strategy.</a:t>
            </a:r>
          </a:p>
          <a:p>
            <a:r>
              <a:rPr lang="en-US" dirty="0" smtClean="0"/>
              <a:t>We can start from a given state and follow the successors, and be able to find solution paths that lead to a goal state.</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 problem: Pegs and Disks problem </a:t>
            </a:r>
            <a:endParaRPr lang="en-US" dirty="0"/>
          </a:p>
        </p:txBody>
      </p:sp>
      <p:sp>
        <p:nvSpPr>
          <p:cNvPr id="3" name="Content Placeholder 2"/>
          <p:cNvSpPr>
            <a:spLocks noGrp="1"/>
          </p:cNvSpPr>
          <p:nvPr>
            <p:ph idx="1"/>
          </p:nvPr>
        </p:nvSpPr>
        <p:spPr/>
        <p:txBody>
          <a:bodyPr/>
          <a:lstStyle/>
          <a:p>
            <a:r>
              <a:rPr lang="en-US" dirty="0" smtClean="0"/>
              <a:t>Consider the following problem. </a:t>
            </a:r>
          </a:p>
          <a:p>
            <a:pPr lvl="1"/>
            <a:r>
              <a:rPr lang="en-US" dirty="0" smtClean="0"/>
              <a:t>We have 3 pegs and 3 disks.  </a:t>
            </a:r>
          </a:p>
          <a:p>
            <a:pPr lvl="1"/>
            <a:r>
              <a:rPr lang="en-US" dirty="0" smtClean="0"/>
              <a:t>Operators: one may move the topmost disk on any needle to the topmost position to any other needle.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state</a:t>
            </a:r>
            <a:endParaRPr lang="en-US" dirty="0"/>
          </a:p>
        </p:txBody>
      </p:sp>
      <p:pic>
        <p:nvPicPr>
          <p:cNvPr id="4100" name="Picture 4"/>
          <p:cNvPicPr>
            <a:picLocks noGrp="1" noChangeAspect="1" noChangeArrowheads="1"/>
          </p:cNvPicPr>
          <p:nvPr>
            <p:ph idx="1"/>
          </p:nvPr>
        </p:nvPicPr>
        <p:blipFill>
          <a:blip r:embed="rId2" cstate="print"/>
          <a:srcRect/>
          <a:stretch>
            <a:fillRect/>
          </a:stretch>
        </p:blipFill>
        <p:spPr bwMode="auto">
          <a:xfrm>
            <a:off x="2133600" y="1981200"/>
            <a:ext cx="4876800"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 state</a:t>
            </a:r>
            <a:endParaRPr lang="en-US"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1752600" y="2057400"/>
            <a:ext cx="5486400" cy="281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of actions</a:t>
            </a:r>
            <a:endParaRPr lang="en-US" dirty="0"/>
          </a:p>
        </p:txBody>
      </p:sp>
      <p:pic>
        <p:nvPicPr>
          <p:cNvPr id="6149" name="Picture 5"/>
          <p:cNvPicPr>
            <a:picLocks noGrp="1" noChangeAspect="1" noChangeArrowheads="1"/>
          </p:cNvPicPr>
          <p:nvPr>
            <p:ph idx="1"/>
          </p:nvPr>
        </p:nvPicPr>
        <p:blipFill>
          <a:blip r:embed="rId2" cstate="print"/>
          <a:srcRect/>
          <a:stretch>
            <a:fillRect/>
          </a:stretch>
        </p:blipFill>
        <p:spPr bwMode="auto">
          <a:xfrm>
            <a:off x="1219200" y="1447800"/>
            <a:ext cx="6705600" cy="36964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of actions</a:t>
            </a:r>
            <a:endParaRPr lang="en-US"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1524000" y="1676400"/>
            <a:ext cx="62484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of actions</a:t>
            </a:r>
            <a:endParaRPr lang="en-US" dirty="0"/>
          </a:p>
        </p:txBody>
      </p:sp>
      <p:pic>
        <p:nvPicPr>
          <p:cNvPr id="11266" name="Picture 2"/>
          <p:cNvPicPr>
            <a:picLocks noGrp="1" noChangeAspect="1" noChangeArrowheads="1"/>
          </p:cNvPicPr>
          <p:nvPr>
            <p:ph idx="1"/>
          </p:nvPr>
        </p:nvPicPr>
        <p:blipFill>
          <a:blip r:embed="rId2" cstate="print"/>
          <a:srcRect/>
          <a:stretch>
            <a:fillRect/>
          </a:stretch>
        </p:blipFill>
        <p:spPr bwMode="auto">
          <a:xfrm>
            <a:off x="1295400" y="1752600"/>
            <a:ext cx="6629400" cy="3352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of actions</a:t>
            </a:r>
            <a:endParaRPr lang="en-US" dirty="0"/>
          </a:p>
        </p:txBody>
      </p:sp>
      <p:pic>
        <p:nvPicPr>
          <p:cNvPr id="12290" name="Picture 2"/>
          <p:cNvPicPr>
            <a:picLocks noGrp="1" noChangeAspect="1" noChangeArrowheads="1"/>
          </p:cNvPicPr>
          <p:nvPr>
            <p:ph idx="1"/>
          </p:nvPr>
        </p:nvPicPr>
        <p:blipFill>
          <a:blip r:embed="rId2" cstate="print"/>
          <a:srcRect/>
          <a:stretch>
            <a:fillRect/>
          </a:stretch>
        </p:blipFill>
        <p:spPr bwMode="auto">
          <a:xfrm>
            <a:off x="1752600" y="1676400"/>
            <a:ext cx="60198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of actions</a:t>
            </a:r>
            <a:endParaRPr lang="en-US" dirty="0"/>
          </a:p>
        </p:txBody>
      </p:sp>
      <p:pic>
        <p:nvPicPr>
          <p:cNvPr id="13314" name="Picture 2"/>
          <p:cNvPicPr>
            <a:picLocks noGrp="1" noChangeAspect="1" noChangeArrowheads="1"/>
          </p:cNvPicPr>
          <p:nvPr>
            <p:ph idx="1"/>
          </p:nvPr>
        </p:nvPicPr>
        <p:blipFill>
          <a:blip r:embed="rId2" cstate="print"/>
          <a:srcRect/>
          <a:stretch>
            <a:fillRect/>
          </a:stretch>
        </p:blipFill>
        <p:spPr bwMode="auto">
          <a:xfrm>
            <a:off x="1524000" y="1600200"/>
            <a:ext cx="5943600"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of actions</a:t>
            </a:r>
            <a:endParaRPr lang="en-US" dirty="0"/>
          </a:p>
        </p:txBody>
      </p:sp>
      <p:pic>
        <p:nvPicPr>
          <p:cNvPr id="14338" name="Picture 2"/>
          <p:cNvPicPr>
            <a:picLocks noGrp="1" noChangeAspect="1" noChangeArrowheads="1"/>
          </p:cNvPicPr>
          <p:nvPr>
            <p:ph idx="1"/>
          </p:nvPr>
        </p:nvPicPr>
        <p:blipFill>
          <a:blip r:embed="rId2" cstate="print"/>
          <a:srcRect/>
          <a:stretch>
            <a:fillRect/>
          </a:stretch>
        </p:blipFill>
        <p:spPr bwMode="auto">
          <a:xfrm>
            <a:off x="1447800" y="1752600"/>
            <a:ext cx="6019800"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of actions</a:t>
            </a:r>
            <a:endParaRPr lang="en-US" dirty="0"/>
          </a:p>
        </p:txBody>
      </p:sp>
      <p:pic>
        <p:nvPicPr>
          <p:cNvPr id="15362" name="Picture 2"/>
          <p:cNvPicPr>
            <a:picLocks noGrp="1" noChangeAspect="1" noChangeArrowheads="1"/>
          </p:cNvPicPr>
          <p:nvPr>
            <p:ph idx="1"/>
          </p:nvPr>
        </p:nvPicPr>
        <p:blipFill>
          <a:blip r:embed="rId2" cstate="print"/>
          <a:srcRect/>
          <a:stretch>
            <a:fillRect/>
          </a:stretch>
        </p:blipFill>
        <p:spPr bwMode="auto">
          <a:xfrm>
            <a:off x="1447800" y="1600200"/>
            <a:ext cx="67056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queens problem</a:t>
            </a:r>
            <a:endParaRPr lang="en-US" dirty="0"/>
          </a:p>
        </p:txBody>
      </p:sp>
      <p:sp>
        <p:nvSpPr>
          <p:cNvPr id="3" name="Content Placeholder 2"/>
          <p:cNvSpPr>
            <a:spLocks noGrp="1"/>
          </p:cNvSpPr>
          <p:nvPr>
            <p:ph idx="1"/>
          </p:nvPr>
        </p:nvSpPr>
        <p:spPr/>
        <p:txBody>
          <a:bodyPr/>
          <a:lstStyle/>
          <a:p>
            <a:pPr algn="just"/>
            <a:r>
              <a:rPr lang="en-US" dirty="0" smtClean="0"/>
              <a:t>The problem is to place 8 queens on a chessboard so that no two queens are in the same row, column or diagonal  </a:t>
            </a:r>
          </a:p>
          <a:p>
            <a:pPr algn="just"/>
            <a:r>
              <a:rPr lang="en-US" dirty="0" smtClean="0"/>
              <a:t>The picture  on the left shows a solution of the 8-queens problem. The picture on the right is not a correct solution, because some of the queens are attacking each other. </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 queens problem</a:t>
            </a:r>
            <a:endParaRPr lang="en-US" dirty="0"/>
          </a:p>
        </p:txBody>
      </p:sp>
      <p:pic>
        <p:nvPicPr>
          <p:cNvPr id="16386" name="Picture 2"/>
          <p:cNvPicPr>
            <a:picLocks noGrp="1" noChangeAspect="1" noChangeArrowheads="1"/>
          </p:cNvPicPr>
          <p:nvPr>
            <p:ph idx="1"/>
          </p:nvPr>
        </p:nvPicPr>
        <p:blipFill>
          <a:blip r:embed="rId2" cstate="print"/>
          <a:srcRect/>
          <a:stretch>
            <a:fillRect/>
          </a:stretch>
        </p:blipFill>
        <p:spPr bwMode="auto">
          <a:xfrm>
            <a:off x="1143000" y="1676400"/>
            <a:ext cx="6934200"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a:t>
            </a:r>
            <a:endParaRPr lang="en-US" dirty="0"/>
          </a:p>
        </p:txBody>
      </p:sp>
      <p:sp>
        <p:nvSpPr>
          <p:cNvPr id="3" name="Content Placeholder 2"/>
          <p:cNvSpPr>
            <a:spLocks noGrp="1"/>
          </p:cNvSpPr>
          <p:nvPr>
            <p:ph idx="1"/>
          </p:nvPr>
        </p:nvSpPr>
        <p:spPr/>
        <p:txBody>
          <a:bodyPr/>
          <a:lstStyle/>
          <a:p>
            <a:r>
              <a:rPr lang="en-US" dirty="0" smtClean="0"/>
              <a:t>Problem formulation</a:t>
            </a:r>
          </a:p>
          <a:p>
            <a:pPr lvl="1"/>
            <a:r>
              <a:rPr lang="en-US" dirty="0" smtClean="0"/>
              <a:t>Deciding the representation of the states</a:t>
            </a:r>
          </a:p>
          <a:p>
            <a:pPr lvl="1"/>
            <a:r>
              <a:rPr lang="en-US" dirty="0" smtClean="0"/>
              <a:t>Selecting the initial state representation</a:t>
            </a:r>
          </a:p>
          <a:p>
            <a:pPr lvl="1"/>
            <a:r>
              <a:rPr lang="en-US" dirty="0" smtClean="0"/>
              <a:t> The description of the operators, and the successor states</a:t>
            </a:r>
          </a:p>
          <a:p>
            <a:r>
              <a:rPr lang="en-US" dirty="0" smtClean="0"/>
              <a:t> We can formulate the search problem in several different ways for this problem.</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a:t>
            </a:r>
            <a:endParaRPr lang="en-US" dirty="0"/>
          </a:p>
        </p:txBody>
      </p:sp>
      <p:sp>
        <p:nvSpPr>
          <p:cNvPr id="3" name="Content Placeholder 2"/>
          <p:cNvSpPr>
            <a:spLocks noGrp="1"/>
          </p:cNvSpPr>
          <p:nvPr>
            <p:ph idx="1"/>
          </p:nvPr>
        </p:nvSpPr>
        <p:spPr/>
        <p:txBody>
          <a:bodyPr/>
          <a:lstStyle/>
          <a:p>
            <a:r>
              <a:rPr lang="en-US" dirty="0" smtClean="0"/>
              <a:t>N queens problem formulation 1 </a:t>
            </a:r>
          </a:p>
          <a:p>
            <a:pPr lvl="1"/>
            <a:r>
              <a:rPr lang="en-US" dirty="0" smtClean="0"/>
              <a:t>States: Any arrangement of 0 to 8 queens on the board </a:t>
            </a:r>
          </a:p>
          <a:p>
            <a:pPr lvl="1"/>
            <a:r>
              <a:rPr lang="en-US" dirty="0" smtClean="0"/>
              <a:t>Initial state: 0 queens on the board </a:t>
            </a:r>
          </a:p>
          <a:p>
            <a:pPr lvl="1"/>
            <a:r>
              <a:rPr lang="en-US" dirty="0" smtClean="0"/>
              <a:t>Successor function: Add a queen in any square</a:t>
            </a:r>
          </a:p>
          <a:p>
            <a:pPr lvl="1"/>
            <a:r>
              <a:rPr lang="en-US" dirty="0" smtClean="0"/>
              <a:t>Goal test: 8 queens on the board, none are attacked </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 1</a:t>
            </a:r>
            <a:endParaRPr lang="en-US" dirty="0"/>
          </a:p>
        </p:txBody>
      </p:sp>
      <p:sp>
        <p:nvSpPr>
          <p:cNvPr id="3" name="Content Placeholder 2"/>
          <p:cNvSpPr>
            <a:spLocks noGrp="1"/>
          </p:cNvSpPr>
          <p:nvPr>
            <p:ph idx="1"/>
          </p:nvPr>
        </p:nvSpPr>
        <p:spPr/>
        <p:txBody>
          <a:bodyPr>
            <a:normAutofit/>
          </a:bodyPr>
          <a:lstStyle/>
          <a:p>
            <a:r>
              <a:rPr lang="en-US" dirty="0" smtClean="0"/>
              <a:t> The initial state has 64 successors.</a:t>
            </a:r>
          </a:p>
          <a:p>
            <a:r>
              <a:rPr lang="en-US" dirty="0" smtClean="0"/>
              <a:t> Each of the states at the next level have 63 successors, and so on. </a:t>
            </a:r>
          </a:p>
          <a:p>
            <a:r>
              <a:rPr lang="en-US" dirty="0" smtClean="0"/>
              <a:t>We can restrict the search tree somewhat by considering only those successors where no queen is attacking each other. To do that we have to check the new queen against all existing queens on the board.  </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 1</a:t>
            </a:r>
            <a:endParaRPr lang="en-US" dirty="0"/>
          </a:p>
        </p:txBody>
      </p:sp>
      <p:pic>
        <p:nvPicPr>
          <p:cNvPr id="17410" name="Picture 2"/>
          <p:cNvPicPr>
            <a:picLocks noGrp="1" noChangeAspect="1" noChangeArrowheads="1"/>
          </p:cNvPicPr>
          <p:nvPr>
            <p:ph idx="1"/>
          </p:nvPr>
        </p:nvPicPr>
        <p:blipFill>
          <a:blip r:embed="rId2" cstate="print"/>
          <a:srcRect/>
          <a:stretch>
            <a:fillRect/>
          </a:stretch>
        </p:blipFill>
        <p:spPr bwMode="auto">
          <a:xfrm>
            <a:off x="1295400" y="1371600"/>
            <a:ext cx="6553200" cy="4571999"/>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 2</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States: </a:t>
            </a:r>
          </a:p>
          <a:p>
            <a:pPr lvl="1"/>
            <a:r>
              <a:rPr lang="en-US" dirty="0" smtClean="0"/>
              <a:t>Any arrangement of 8 queens on the board</a:t>
            </a:r>
          </a:p>
          <a:p>
            <a:r>
              <a:rPr lang="en-US" dirty="0" smtClean="0"/>
              <a:t>Initial state: </a:t>
            </a:r>
          </a:p>
          <a:p>
            <a:pPr lvl="1"/>
            <a:r>
              <a:rPr lang="en-US" dirty="0" smtClean="0"/>
              <a:t>All queens are at column 1</a:t>
            </a:r>
          </a:p>
          <a:p>
            <a:r>
              <a:rPr lang="en-US" dirty="0" smtClean="0"/>
              <a:t>Successor function: </a:t>
            </a:r>
          </a:p>
          <a:p>
            <a:pPr lvl="1"/>
            <a:r>
              <a:rPr lang="en-US" dirty="0" smtClean="0"/>
              <a:t>Change the position of any one queen </a:t>
            </a:r>
          </a:p>
          <a:p>
            <a:r>
              <a:rPr lang="en-US" dirty="0" smtClean="0"/>
              <a:t>Goal test: </a:t>
            </a:r>
          </a:p>
          <a:p>
            <a:pPr lvl="1"/>
            <a:r>
              <a:rPr lang="en-US" dirty="0" smtClean="0"/>
              <a:t>8 queens on the board, none are attacked </a:t>
            </a:r>
          </a:p>
          <a:p>
            <a:r>
              <a:rPr lang="en-US" dirty="0" smtClean="0"/>
              <a:t>If we consider moving the queen at column 1, it may move to any of the seven remaining columns.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 2</a:t>
            </a:r>
            <a:endParaRPr lang="en-US" dirty="0"/>
          </a:p>
        </p:txBody>
      </p:sp>
      <p:pic>
        <p:nvPicPr>
          <p:cNvPr id="18434" name="Picture 2"/>
          <p:cNvPicPr>
            <a:picLocks noGrp="1" noChangeAspect="1" noChangeArrowheads="1"/>
          </p:cNvPicPr>
          <p:nvPr>
            <p:ph idx="1"/>
          </p:nvPr>
        </p:nvPicPr>
        <p:blipFill>
          <a:blip r:embed="rId2" cstate="print"/>
          <a:srcRect/>
          <a:stretch>
            <a:fillRect/>
          </a:stretch>
        </p:blipFill>
        <p:spPr bwMode="auto">
          <a:xfrm>
            <a:off x="2057400" y="1447800"/>
            <a:ext cx="4648200" cy="39623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 3</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States: </a:t>
            </a:r>
          </a:p>
          <a:p>
            <a:pPr lvl="1"/>
            <a:r>
              <a:rPr lang="en-US" dirty="0" smtClean="0"/>
              <a:t>Any arrangement of k queens in the first k rows such that none are attacked </a:t>
            </a:r>
          </a:p>
          <a:p>
            <a:r>
              <a:rPr lang="en-US" dirty="0" smtClean="0"/>
              <a:t>Initial state: </a:t>
            </a:r>
          </a:p>
          <a:p>
            <a:pPr lvl="1"/>
            <a:r>
              <a:rPr lang="en-US" dirty="0" smtClean="0"/>
              <a:t>0 queens on the board</a:t>
            </a:r>
          </a:p>
          <a:p>
            <a:r>
              <a:rPr lang="en-US" dirty="0" smtClean="0"/>
              <a:t> Successor function: </a:t>
            </a:r>
          </a:p>
          <a:p>
            <a:pPr lvl="1"/>
            <a:r>
              <a:rPr lang="en-US" dirty="0" smtClean="0"/>
              <a:t>Add a queen to the (k+1)</a:t>
            </a:r>
            <a:r>
              <a:rPr lang="en-US" dirty="0" err="1" smtClean="0"/>
              <a:t>th</a:t>
            </a:r>
            <a:r>
              <a:rPr lang="en-US" dirty="0" smtClean="0"/>
              <a:t> row so that none are attacked.</a:t>
            </a:r>
          </a:p>
          <a:p>
            <a:r>
              <a:rPr lang="en-US" dirty="0" smtClean="0"/>
              <a:t>Goal test : </a:t>
            </a:r>
          </a:p>
          <a:p>
            <a:pPr lvl="1"/>
            <a:r>
              <a:rPr lang="en-US" dirty="0" smtClean="0"/>
              <a:t>8 queens on the board, none are attacked </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 queens problem formulation 3</a:t>
            </a:r>
            <a:endParaRPr lang="en-US" dirty="0"/>
          </a:p>
        </p:txBody>
      </p:sp>
      <p:pic>
        <p:nvPicPr>
          <p:cNvPr id="19458" name="Picture 2"/>
          <p:cNvPicPr>
            <a:picLocks noGrp="1" noChangeAspect="1" noChangeArrowheads="1"/>
          </p:cNvPicPr>
          <p:nvPr>
            <p:ph idx="1"/>
          </p:nvPr>
        </p:nvPicPr>
        <p:blipFill>
          <a:blip r:embed="rId2" cstate="print"/>
          <a:srcRect/>
          <a:stretch>
            <a:fillRect/>
          </a:stretch>
        </p:blipFill>
        <p:spPr bwMode="auto">
          <a:xfrm>
            <a:off x="1295400" y="1600200"/>
            <a:ext cx="6705600"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8 puzzle</a:t>
            </a:r>
            <a:endParaRPr lang="en-US"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2057400" y="1752600"/>
            <a:ext cx="5257800"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8 puzzle</a:t>
            </a:r>
            <a:endParaRPr lang="en-US" dirty="0"/>
          </a:p>
        </p:txBody>
      </p:sp>
      <p:sp>
        <p:nvSpPr>
          <p:cNvPr id="3" name="Content Placeholder 2"/>
          <p:cNvSpPr>
            <a:spLocks noGrp="1"/>
          </p:cNvSpPr>
          <p:nvPr>
            <p:ph idx="1"/>
          </p:nvPr>
        </p:nvSpPr>
        <p:spPr/>
        <p:txBody>
          <a:bodyPr/>
          <a:lstStyle/>
          <a:p>
            <a:r>
              <a:rPr lang="en-US" dirty="0" smtClean="0"/>
              <a:t>In the 8-puzzle problem we have a 3×3 square board and 8 numbered tiles. </a:t>
            </a:r>
          </a:p>
          <a:p>
            <a:r>
              <a:rPr lang="en-US" dirty="0" smtClean="0"/>
              <a:t>The board has one blank position.  </a:t>
            </a:r>
          </a:p>
          <a:p>
            <a:r>
              <a:rPr lang="en-US" dirty="0" smtClean="0"/>
              <a:t>Bocks can be slid to adjacent blank positions.</a:t>
            </a:r>
          </a:p>
          <a:p>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8 puzzle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state space representation for this problem is summarized below:  </a:t>
            </a:r>
          </a:p>
          <a:p>
            <a:r>
              <a:rPr lang="en-US" dirty="0" smtClean="0"/>
              <a:t>States:</a:t>
            </a:r>
          </a:p>
          <a:p>
            <a:pPr lvl="1"/>
            <a:r>
              <a:rPr lang="en-US" dirty="0" smtClean="0"/>
              <a:t> A state is a description of each of the eight tiles in each location that it can occupy.</a:t>
            </a:r>
          </a:p>
          <a:p>
            <a:r>
              <a:rPr lang="en-US" dirty="0" smtClean="0"/>
              <a:t>Operators/Action: </a:t>
            </a:r>
          </a:p>
          <a:p>
            <a:pPr lvl="1"/>
            <a:r>
              <a:rPr lang="en-US" dirty="0" smtClean="0"/>
              <a:t>The blank moves left, right, up or down</a:t>
            </a:r>
          </a:p>
          <a:p>
            <a:r>
              <a:rPr lang="en-US" dirty="0" smtClean="0"/>
              <a:t> Goal Test: </a:t>
            </a:r>
          </a:p>
          <a:p>
            <a:pPr lvl="1"/>
            <a:r>
              <a:rPr lang="en-US" dirty="0" smtClean="0"/>
              <a:t>The current state matches a certain state (e.g. one of the ones shown on previous slide) </a:t>
            </a:r>
          </a:p>
          <a:p>
            <a:r>
              <a:rPr lang="en-US" dirty="0" smtClean="0"/>
              <a:t>Path Cost:</a:t>
            </a:r>
          </a:p>
          <a:p>
            <a:pPr lvl="1"/>
            <a:r>
              <a:rPr lang="en-US" dirty="0" smtClean="0"/>
              <a:t> Each move of the blank costs 1</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8-puzzle partial state space</a:t>
            </a:r>
            <a:endParaRPr lang="en-US" dirty="0"/>
          </a:p>
        </p:txBody>
      </p:sp>
      <p:pic>
        <p:nvPicPr>
          <p:cNvPr id="8194" name="Picture 2"/>
          <p:cNvPicPr>
            <a:picLocks noGrp="1" noChangeAspect="1" noChangeArrowheads="1"/>
          </p:cNvPicPr>
          <p:nvPr>
            <p:ph idx="1"/>
          </p:nvPr>
        </p:nvPicPr>
        <p:blipFill>
          <a:blip r:embed="rId2" cstate="print"/>
          <a:srcRect/>
          <a:stretch>
            <a:fillRect/>
          </a:stretch>
        </p:blipFill>
        <p:spPr bwMode="auto">
          <a:xfrm>
            <a:off x="1143000" y="1066800"/>
            <a:ext cx="6781800" cy="480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Example: tic-tac-toe </a:t>
            </a:r>
            <a:endParaRPr lang="en-US" dirty="0"/>
          </a:p>
        </p:txBody>
      </p:sp>
      <p:sp>
        <p:nvSpPr>
          <p:cNvPr id="3" name="Content Placeholder 2"/>
          <p:cNvSpPr>
            <a:spLocks noGrp="1"/>
          </p:cNvSpPr>
          <p:nvPr>
            <p:ph idx="1"/>
          </p:nvPr>
        </p:nvSpPr>
        <p:spPr/>
        <p:txBody>
          <a:bodyPr>
            <a:normAutofit fontScale="92500"/>
          </a:bodyPr>
          <a:lstStyle/>
          <a:p>
            <a:r>
              <a:rPr lang="en-US" dirty="0" smtClean="0"/>
              <a:t>Another example we will consider now is the game of tic-tac-toe. </a:t>
            </a:r>
          </a:p>
          <a:p>
            <a:r>
              <a:rPr lang="en-US" dirty="0" smtClean="0"/>
              <a:t>This is a game that involves two players who play alternately. </a:t>
            </a:r>
          </a:p>
          <a:p>
            <a:r>
              <a:rPr lang="en-US" dirty="0" smtClean="0"/>
              <a:t>Player one puts a X in an empty position. Player 2 places an O in an unoccupied position. </a:t>
            </a:r>
          </a:p>
          <a:p>
            <a:r>
              <a:rPr lang="en-US" dirty="0" smtClean="0"/>
              <a:t>The player who can first get three of his symbols in the same row, column or diagonal wins.</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portion of the state space of tic-tac- toe </a:t>
            </a:r>
            <a:endParaRPr lang="en-US" dirty="0"/>
          </a:p>
        </p:txBody>
      </p:sp>
      <p:pic>
        <p:nvPicPr>
          <p:cNvPr id="9219" name="Picture 3"/>
          <p:cNvPicPr>
            <a:picLocks noGrp="1" noChangeAspect="1" noChangeArrowheads="1"/>
          </p:cNvPicPr>
          <p:nvPr>
            <p:ph idx="1"/>
          </p:nvPr>
        </p:nvPicPr>
        <p:blipFill>
          <a:blip r:embed="rId2" cstate="print"/>
          <a:srcRect/>
          <a:stretch>
            <a:fillRect/>
          </a:stretch>
        </p:blipFill>
        <p:spPr bwMode="auto">
          <a:xfrm>
            <a:off x="762000" y="1524000"/>
            <a:ext cx="7696200" cy="44076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Explicit </a:t>
            </a:r>
            <a:r>
              <a:rPr lang="en-US" dirty="0" err="1" smtClean="0"/>
              <a:t>vs</a:t>
            </a:r>
            <a:r>
              <a:rPr lang="en-US" dirty="0" smtClean="0"/>
              <a:t> Implicit state space</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state space may be explicitly represented by a graph.</a:t>
            </a:r>
          </a:p>
          <a:p>
            <a:r>
              <a:rPr lang="en-US" dirty="0" smtClean="0"/>
              <a:t>More typically the state space can be implicitly represented and generated when required.</a:t>
            </a:r>
          </a:p>
          <a:p>
            <a:r>
              <a:rPr lang="en-US" dirty="0" smtClean="0"/>
              <a:t>To generate the state space implicitly, the agent needs to know</a:t>
            </a:r>
          </a:p>
          <a:p>
            <a:pPr lvl="1"/>
            <a:r>
              <a:rPr lang="en-US" dirty="0" smtClean="0"/>
              <a:t>the initial state</a:t>
            </a:r>
          </a:p>
          <a:p>
            <a:pPr lvl="1"/>
            <a:r>
              <a:rPr lang="en-US" dirty="0" smtClean="0"/>
              <a:t>the operators and a description of the effects of the operators</a:t>
            </a:r>
          </a:p>
          <a:p>
            <a:r>
              <a:rPr lang="en-US" dirty="0" smtClean="0"/>
              <a:t>An operator is a function which "expands" a node.</a:t>
            </a:r>
          </a:p>
          <a:p>
            <a:pPr lvl="1"/>
            <a:r>
              <a:rPr lang="en-US" dirty="0" smtClean="0"/>
              <a:t>Computes the successor node(s).</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through a state </a:t>
            </a:r>
            <a:r>
              <a:rPr lang="en-US" dirty="0" smtClean="0"/>
              <a:t>space</a:t>
            </a:r>
            <a:endParaRPr lang="en-US" dirty="0"/>
          </a:p>
        </p:txBody>
      </p:sp>
      <p:sp>
        <p:nvSpPr>
          <p:cNvPr id="3" name="Content Placeholder 2"/>
          <p:cNvSpPr>
            <a:spLocks noGrp="1"/>
          </p:cNvSpPr>
          <p:nvPr>
            <p:ph idx="1"/>
          </p:nvPr>
        </p:nvSpPr>
        <p:spPr/>
        <p:txBody>
          <a:bodyPr>
            <a:normAutofit/>
          </a:bodyPr>
          <a:lstStyle/>
          <a:p>
            <a:r>
              <a:rPr lang="en-US" dirty="0" smtClean="0"/>
              <a:t>Input</a:t>
            </a:r>
            <a:endParaRPr lang="en-US" dirty="0" smtClean="0"/>
          </a:p>
          <a:p>
            <a:pPr lvl="1"/>
            <a:r>
              <a:rPr lang="en-US" dirty="0" smtClean="0"/>
              <a:t>Set of states</a:t>
            </a:r>
            <a:endParaRPr lang="en-US" dirty="0" smtClean="0"/>
          </a:p>
          <a:p>
            <a:pPr lvl="1"/>
            <a:r>
              <a:rPr lang="en-US" dirty="0" smtClean="0"/>
              <a:t>Operators ( costs)</a:t>
            </a:r>
          </a:p>
          <a:p>
            <a:pPr lvl="1"/>
            <a:r>
              <a:rPr lang="en-US" dirty="0" smtClean="0"/>
              <a:t>Start State </a:t>
            </a:r>
          </a:p>
          <a:p>
            <a:pPr lvl="1"/>
            <a:r>
              <a:rPr lang="en-US" dirty="0" smtClean="0"/>
              <a:t>Goal State </a:t>
            </a:r>
            <a:endParaRPr lang="en-US" dirty="0" smtClean="0"/>
          </a:p>
          <a:p>
            <a:r>
              <a:rPr lang="en-US" dirty="0" smtClean="0"/>
              <a:t>Output </a:t>
            </a:r>
            <a:endParaRPr lang="en-US" dirty="0" smtClean="0"/>
          </a:p>
          <a:p>
            <a:pPr lvl="1"/>
            <a:r>
              <a:rPr lang="en-US" dirty="0" smtClean="0"/>
              <a:t>Path: Start =&gt; a state satisfying goal test </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478</TotalTime>
  <Words>1328</Words>
  <Application>Microsoft Office PowerPoint</Application>
  <PresentationFormat>On-screen Show (4:3)</PresentationFormat>
  <Paragraphs>148</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Problem solving using search</vt:lpstr>
      <vt:lpstr>Goal Directed Agent </vt:lpstr>
      <vt:lpstr>State space</vt:lpstr>
      <vt:lpstr>State space</vt:lpstr>
      <vt:lpstr>Problem Formulation</vt:lpstr>
      <vt:lpstr>Search Problem</vt:lpstr>
      <vt:lpstr>Search Problem</vt:lpstr>
      <vt:lpstr>State space representation</vt:lpstr>
      <vt:lpstr>Representation of search problems  </vt:lpstr>
      <vt:lpstr>Plan &amp; path</vt:lpstr>
      <vt:lpstr>Searching process </vt:lpstr>
      <vt:lpstr>Illustration of a search process</vt:lpstr>
      <vt:lpstr>Illustration of a search process</vt:lpstr>
      <vt:lpstr>Illustration of a search process</vt:lpstr>
      <vt:lpstr>Example problem: Pegs and Disks problem </vt:lpstr>
      <vt:lpstr>Initial state</vt:lpstr>
      <vt:lpstr>Goal state</vt:lpstr>
      <vt:lpstr>Sequence of actions</vt:lpstr>
      <vt:lpstr>Sequence of actions</vt:lpstr>
      <vt:lpstr>Sequence of actions</vt:lpstr>
      <vt:lpstr>Sequence of actions</vt:lpstr>
      <vt:lpstr>Sequence of actions</vt:lpstr>
      <vt:lpstr>Sequence of actions</vt:lpstr>
      <vt:lpstr>Sequence of actions</vt:lpstr>
      <vt:lpstr>8 queens problem</vt:lpstr>
      <vt:lpstr>8 queens problem</vt:lpstr>
      <vt:lpstr>N queens problem formulation</vt:lpstr>
      <vt:lpstr>N queens problem formulation</vt:lpstr>
      <vt:lpstr>N queens problem formulation 1</vt:lpstr>
      <vt:lpstr>N queens problem formulation 1</vt:lpstr>
      <vt:lpstr>N queens problem formulation 2</vt:lpstr>
      <vt:lpstr>N queens problem formulation 2</vt:lpstr>
      <vt:lpstr>N queens problem formulation 3</vt:lpstr>
      <vt:lpstr>N queens problem formulation 3</vt:lpstr>
      <vt:lpstr>Example: 8 puzzle</vt:lpstr>
      <vt:lpstr>Example: 8 puzzle</vt:lpstr>
      <vt:lpstr>Example: 8 puzzle</vt:lpstr>
      <vt:lpstr>8-puzzle partial state space</vt:lpstr>
      <vt:lpstr> Example: tic-tac-toe </vt:lpstr>
      <vt:lpstr>A portion of the state space of tic-tac- toe </vt:lpstr>
      <vt:lpstr>Explicit vs Implicit state space</vt:lpstr>
      <vt:lpstr>Search through a state space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using search</dc:title>
  <dc:creator>My PC</dc:creator>
  <cp:lastModifiedBy>Hp</cp:lastModifiedBy>
  <cp:revision>55</cp:revision>
  <dcterms:created xsi:type="dcterms:W3CDTF">2006-08-16T00:00:00Z</dcterms:created>
  <dcterms:modified xsi:type="dcterms:W3CDTF">2014-11-03T17:43:08Z</dcterms:modified>
</cp:coreProperties>
</file>