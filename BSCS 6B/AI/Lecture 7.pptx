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2"/>
  </p:notesMasterIdLst>
  <p:sldIdLst>
    <p:sldId id="256" r:id="rId2"/>
    <p:sldId id="286" r:id="rId3"/>
    <p:sldId id="303" r:id="rId4"/>
    <p:sldId id="302" r:id="rId5"/>
    <p:sldId id="305" r:id="rId6"/>
    <p:sldId id="304" r:id="rId7"/>
    <p:sldId id="306" r:id="rId8"/>
    <p:sldId id="307" r:id="rId9"/>
    <p:sldId id="312" r:id="rId10"/>
    <p:sldId id="313" r:id="rId11"/>
    <p:sldId id="314" r:id="rId12"/>
    <p:sldId id="308" r:id="rId13"/>
    <p:sldId id="309" r:id="rId14"/>
    <p:sldId id="310" r:id="rId15"/>
    <p:sldId id="311" r:id="rId16"/>
    <p:sldId id="315" r:id="rId17"/>
    <p:sldId id="316" r:id="rId18"/>
    <p:sldId id="317" r:id="rId19"/>
    <p:sldId id="345" r:id="rId20"/>
    <p:sldId id="344" r:id="rId21"/>
    <p:sldId id="331" r:id="rId22"/>
    <p:sldId id="332" r:id="rId23"/>
    <p:sldId id="346" r:id="rId24"/>
    <p:sldId id="318" r:id="rId25"/>
    <p:sldId id="319" r:id="rId26"/>
    <p:sldId id="320" r:id="rId27"/>
    <p:sldId id="321" r:id="rId28"/>
    <p:sldId id="322" r:id="rId29"/>
    <p:sldId id="323" r:id="rId30"/>
    <p:sldId id="32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0"/>
  </p:normalViewPr>
  <p:slideViewPr>
    <p:cSldViewPr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FCE8B-050A-4476-AB66-A801EF62085B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30E9D-3CE3-41A5-8420-7FD712BF5B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B25E3C-1695-4A44-93C2-54316DCE0A79}" type="slidenum">
              <a:rPr lang="en-US"/>
              <a:pPr/>
              <a:t>4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chess utility = +1, 0, -1</a:t>
            </a:r>
          </a:p>
          <a:p>
            <a:r>
              <a:rPr lang="en-US"/>
              <a:t>backgammon utility = -192 to +192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F87EC8-6495-4A70-A192-9F0402B8CB82}" type="slidenum">
              <a:rPr lang="en-US"/>
              <a:pPr/>
              <a:t>7</a:t>
            </a:fld>
            <a:endParaRPr lang="en-US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deterministic, turn-taking, two-player, zero-sum games or perfect information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816E15-D5D7-4067-91EB-56BABE59FF2A}" type="slidenum">
              <a:rPr lang="en-US"/>
              <a:pPr/>
              <a:t>13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minimax performs complete depth-first search of tree O(b^m) where max depth of tree = m and b legal moves at each point</a:t>
            </a:r>
          </a:p>
          <a:p>
            <a:r>
              <a:rPr lang="en-US"/>
              <a:t>for real games this time cost is totally impractical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F005DB-58F2-4742-B25B-E5E7FF3FDD8C}" type="slidenum">
              <a:rPr lang="en-US"/>
              <a:pPr/>
              <a:t>18</a:t>
            </a:fld>
            <a:endParaRPr lang="en-US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optimal time – O(b^(m/2)) instead of O(b^m)</a:t>
            </a:r>
          </a:p>
          <a:p>
            <a:r>
              <a:rPr lang="en-US"/>
              <a:t>branching factor goes from b to sqrt(b)</a:t>
            </a:r>
          </a:p>
          <a:p>
            <a:endParaRPr lang="en-US"/>
          </a:p>
          <a:p>
            <a:r>
              <a:rPr lang="en-US"/>
              <a:t>order of nodes matters </a:t>
            </a:r>
          </a:p>
          <a:p>
            <a:r>
              <a:rPr lang="en-US"/>
              <a:t>random order: O(b^(3m/4))</a:t>
            </a:r>
          </a:p>
          <a:p>
            <a:r>
              <a:rPr lang="en-US"/>
              <a:t>chess: order (capture first, then threats, then forward moves, then backward moves) gets within factor of 2 of best case</a:t>
            </a:r>
          </a:p>
          <a:p>
            <a:r>
              <a:rPr lang="en-US"/>
              <a:t>adding dynamic ordering – try moves that were best last time brings close to theoretical limit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1E23628-A90D-4B07-A489-B9F82E00C207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1941790-C096-4963-A9EB-F86A1708BDFC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825" y="4318000"/>
            <a:ext cx="5853113" cy="4056063"/>
          </a:xfrm>
          <a:solidFill>
            <a:srgbClr val="FFFFFF"/>
          </a:solidFill>
          <a:ln w="12700" cap="flat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mtClean="0"/>
              <a:t>Winston Page 107 to 109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14C86C-9D3E-4143-B306-42A903ABE58E}" type="slidenum">
              <a:rPr lang="en-US"/>
              <a:pPr/>
              <a:t>24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Must be applied carefully: In some positions a static evaluator will not take into account significant changes that are about to happen.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F88CFD-A65B-40B1-813E-6C6174172C8B}" type="slidenum">
              <a:rPr lang="en-US"/>
              <a:pPr/>
              <a:t>25</a:t>
            </a:fld>
            <a:endParaRPr lang="en-US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Since game trees are too large to be fully searched, it is important to have a function to statically evaluate a given position in the game.</a:t>
            </a: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0F1E61C0-30C7-4257-8650-3BED052DE59A}" type="datetimeFigureOut">
              <a:rPr lang="en-US" smtClean="0"/>
              <a:pPr/>
              <a:t>23-Oct-25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DF615D31-6332-41DF-975F-CFC0CFA24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981200"/>
            <a:ext cx="7772400" cy="1600200"/>
          </a:xfrm>
        </p:spPr>
        <p:txBody>
          <a:bodyPr>
            <a:normAutofit fontScale="90000"/>
          </a:bodyPr>
          <a:lstStyle/>
          <a:p>
            <a:pPr algn="l"/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6000" dirty="0" smtClean="0">
                <a:solidFill>
                  <a:schemeClr val="tx1"/>
                </a:solidFill>
              </a:rPr>
              <a:t/>
            </a:r>
            <a:br>
              <a:rPr lang="en-GB" sz="6000" dirty="0" smtClean="0">
                <a:solidFill>
                  <a:schemeClr val="tx1"/>
                </a:solidFill>
              </a:rPr>
            </a:br>
            <a:r>
              <a:rPr lang="en-GB" sz="5300" dirty="0" smtClean="0">
                <a:solidFill>
                  <a:schemeClr val="tx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Lecture</a:t>
            </a:r>
            <a:r>
              <a:rPr lang="en-GB" sz="6000" dirty="0" smtClean="0">
                <a:solidFill>
                  <a:schemeClr val="tx1"/>
                </a:solidFill>
              </a:rPr>
              <a:t> 7:</a:t>
            </a:r>
            <a:br>
              <a:rPr lang="en-GB" sz="6000" dirty="0" smtClean="0">
                <a:solidFill>
                  <a:schemeClr val="tx1"/>
                </a:solidFill>
              </a:rPr>
            </a:b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28536"/>
            <a:ext cx="7010400" cy="1752600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GAME PLAYING</a:t>
            </a:r>
            <a:endParaRPr lang="en-US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Relation of Games to Search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534400" cy="59436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Search – no adversary</a:t>
            </a:r>
          </a:p>
          <a:p>
            <a:pPr lvl="1"/>
            <a:r>
              <a:rPr lang="en-US" sz="2000" dirty="0" smtClean="0"/>
              <a:t> Solution is (heuristic) method for finding goal</a:t>
            </a:r>
          </a:p>
          <a:p>
            <a:pPr lvl="1"/>
            <a:r>
              <a:rPr lang="en-US" sz="2000" dirty="0" smtClean="0"/>
              <a:t> Heuristics and CSP techniques can find optimal solution</a:t>
            </a:r>
          </a:p>
          <a:p>
            <a:pPr lvl="1"/>
            <a:r>
              <a:rPr lang="en-US" sz="2000" dirty="0" smtClean="0"/>
              <a:t> Evaluation function: estimate of cost from start to goal </a:t>
            </a:r>
          </a:p>
          <a:p>
            <a:pPr lvl="1"/>
            <a:r>
              <a:rPr lang="en-US" sz="2000" dirty="0" smtClean="0"/>
              <a:t>Examples: path planning, scheduling activities</a:t>
            </a:r>
          </a:p>
          <a:p>
            <a:r>
              <a:rPr lang="en-US" sz="2000" dirty="0" smtClean="0"/>
              <a:t> </a:t>
            </a:r>
            <a:r>
              <a:rPr lang="en-US" sz="2400" b="1" dirty="0" smtClean="0"/>
              <a:t>Games – adversary</a:t>
            </a:r>
          </a:p>
          <a:p>
            <a:pPr lvl="1"/>
            <a:r>
              <a:rPr lang="en-US" sz="2000" dirty="0" smtClean="0"/>
              <a:t> Solution is strategy (strategy specifies move for every possible opponent reply).</a:t>
            </a:r>
          </a:p>
          <a:p>
            <a:pPr lvl="1"/>
            <a:r>
              <a:rPr lang="en-US" sz="2000" dirty="0" smtClean="0"/>
              <a:t> Time limits force an approximate solution</a:t>
            </a:r>
          </a:p>
          <a:p>
            <a:pPr lvl="1"/>
            <a:r>
              <a:rPr lang="en-US" sz="2000" dirty="0" smtClean="0"/>
              <a:t> Evaluation function: evaluate “goodness” of  game position</a:t>
            </a:r>
          </a:p>
          <a:p>
            <a:pPr lvl="1"/>
            <a:r>
              <a:rPr lang="en-US" sz="2000" dirty="0" smtClean="0"/>
              <a:t> Examples: chess, checkers, backgammon</a:t>
            </a:r>
            <a:endParaRPr lang="en-US" altLang="zh-TW" sz="20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altLang="zh-TW" sz="2000" dirty="0" smtClean="0"/>
          </a:p>
          <a:p>
            <a:pPr eaLnBrk="1" hangingPunct="1"/>
            <a:endParaRPr lang="en-US" altLang="zh-TW" sz="2000" dirty="0" smtClean="0"/>
          </a:p>
        </p:txBody>
      </p:sp>
      <p:sp>
        <p:nvSpPr>
          <p:cNvPr id="2150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>
            <a:normAutofit fontScale="92500" lnSpcReduction="20000"/>
          </a:bodyPr>
          <a:lstStyle/>
          <a:p>
            <a:fld id="{34E75A93-8D63-444C-9B9C-BAF9B0D3BDE0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2085975" y="2462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0"/>
            <a:ext cx="8229600" cy="85648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/>
              <a:t>Game setup</a:t>
            </a:r>
            <a:br>
              <a:rPr lang="en-US" sz="6000" dirty="0" smtClean="0"/>
            </a:b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players: MAX and MIN</a:t>
            </a:r>
          </a:p>
          <a:p>
            <a:r>
              <a:rPr lang="en-US" dirty="0" smtClean="0"/>
              <a:t> MAX moves first and they take turns until the game is</a:t>
            </a:r>
          </a:p>
          <a:p>
            <a:pPr>
              <a:buNone/>
            </a:pPr>
            <a:r>
              <a:rPr lang="en-US" dirty="0" smtClean="0"/>
              <a:t>	 over. </a:t>
            </a:r>
          </a:p>
          <a:p>
            <a:r>
              <a:rPr lang="en-US" dirty="0" smtClean="0"/>
              <a:t>Winner gets award, looser gets penalty.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Game as Search Problem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229600" cy="438912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Initial State:</a:t>
            </a:r>
            <a:r>
              <a:rPr lang="en-US" dirty="0"/>
              <a:t> board position and player to move</a:t>
            </a:r>
          </a:p>
          <a:p>
            <a:pPr>
              <a:lnSpc>
                <a:spcPct val="90000"/>
              </a:lnSpc>
            </a:pPr>
            <a:r>
              <a:rPr lang="en-US" b="1" dirty="0"/>
              <a:t>Successor Function: </a:t>
            </a:r>
            <a:r>
              <a:rPr lang="en-US" dirty="0"/>
              <a:t>returns a list of legal (</a:t>
            </a:r>
            <a:r>
              <a:rPr lang="en-US" i="1" dirty="0"/>
              <a:t>move</a:t>
            </a:r>
            <a:r>
              <a:rPr lang="en-US" dirty="0"/>
              <a:t>, </a:t>
            </a:r>
            <a:r>
              <a:rPr lang="en-US" i="1" dirty="0"/>
              <a:t>state</a:t>
            </a:r>
            <a:r>
              <a:rPr lang="en-US" dirty="0"/>
              <a:t>) pairs</a:t>
            </a:r>
          </a:p>
          <a:p>
            <a:pPr>
              <a:lnSpc>
                <a:spcPct val="90000"/>
              </a:lnSpc>
            </a:pPr>
            <a:r>
              <a:rPr lang="en-US" b="1" dirty="0"/>
              <a:t>Terminal Test:</a:t>
            </a:r>
            <a:r>
              <a:rPr lang="en-US" b="1" i="1" dirty="0"/>
              <a:t> </a:t>
            </a:r>
            <a:r>
              <a:rPr lang="en-US" dirty="0"/>
              <a:t>determines when the game is over</a:t>
            </a:r>
          </a:p>
          <a:p>
            <a:pPr>
              <a:lnSpc>
                <a:spcPct val="90000"/>
              </a:lnSpc>
            </a:pPr>
            <a:r>
              <a:rPr lang="en-US" b="1" dirty="0"/>
              <a:t>Utility function:</a:t>
            </a:r>
            <a:r>
              <a:rPr lang="en-US" dirty="0"/>
              <a:t> Gives a numeric value for the terminal state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Game Trees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Game trees are used to represent two-player games.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Alternate moves in the game are represented by alternate levels in the </a:t>
            </a:r>
            <a:r>
              <a:rPr lang="en-US" altLang="en-US" sz="2800" dirty="0" smtClean="0"/>
              <a:t>tree.</a:t>
            </a: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Nodes in the tree represent positions.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Edges between nodes represent moves.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Leaf nodes represent won, lost or drawn positions.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algn="ctr"/>
            <a:r>
              <a:rPr lang="en-US" altLang="en-US" dirty="0"/>
              <a:t>Game Trees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7391400" cy="5112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4419600" y="3733800"/>
            <a:ext cx="3887788" cy="19177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GB" sz="2400" dirty="0">
                <a:latin typeface="Arial" charset="0"/>
              </a:rPr>
              <a:t>This is an example of a partial game tree for the game tic-tac-toe.</a:t>
            </a:r>
          </a:p>
          <a:p>
            <a:r>
              <a:rPr lang="en-GB" sz="2400" dirty="0">
                <a:latin typeface="Arial" charset="0"/>
              </a:rPr>
              <a:t>Even for this simple game, the game tree is very large.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Assumptions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 talking about game playing systems, we make a number of assumptions: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opponent is rational – will play to win.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game is zero-sum – if one player wins, the other loses.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Usually, the two players have complete knowledge of the game. For games such as poker, this is clearly not true.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D0E2D-281E-42A9-9ABA-7091047CCDD3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/>
              <a:t>Minimax</a:t>
            </a:r>
            <a:endParaRPr lang="en-US" altLang="en-US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/>
              <a:t>Minimax</a:t>
            </a:r>
            <a:r>
              <a:rPr lang="en-US" altLang="en-US" dirty="0"/>
              <a:t> is a method used to evaluate game trees.</a:t>
            </a:r>
          </a:p>
          <a:p>
            <a:r>
              <a:rPr lang="en-US" altLang="en-US" dirty="0"/>
              <a:t>A static </a:t>
            </a:r>
            <a:r>
              <a:rPr lang="en-US" altLang="en-US" dirty="0" smtClean="0"/>
              <a:t>evaluator (Situation analyzer) </a:t>
            </a:r>
            <a:r>
              <a:rPr lang="en-US" altLang="en-US" dirty="0"/>
              <a:t>is applied to leaf nodes, and values are passed back up the tree to determine the best score the computer can obtain against a rational opponent.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71EAE-C9D7-43CC-86E3-25EC96CCBA4A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Two-Ply Game Tree</a:t>
            </a:r>
            <a:endParaRPr lang="en-US" dirty="0"/>
          </a:p>
        </p:txBody>
      </p:sp>
      <p:pic>
        <p:nvPicPr>
          <p:cNvPr id="3078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194325"/>
            <a:ext cx="8229600" cy="342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Two-Ply Game Tree</a:t>
            </a:r>
            <a:endParaRPr lang="en-US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184098"/>
            <a:ext cx="8229600" cy="3450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Two-Ply Game Tree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09800"/>
            <a:ext cx="8153400" cy="3937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pPr algn="ctr"/>
            <a:r>
              <a:rPr lang="en-US" altLang="en-US" dirty="0" err="1"/>
              <a:t>Minimax</a:t>
            </a:r>
            <a:r>
              <a:rPr lang="en-US" altLang="en-US" dirty="0"/>
              <a:t> </a:t>
            </a:r>
            <a:r>
              <a:rPr lang="en-US" altLang="en-US" dirty="0" smtClean="0"/>
              <a:t>–Example</a:t>
            </a:r>
            <a:endParaRPr lang="en-US" altLang="en-US" dirty="0"/>
          </a:p>
        </p:txBody>
      </p:sp>
      <p:sp>
        <p:nvSpPr>
          <p:cNvPr id="10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10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9B273-C2C8-475E-B2A3-A20EC054F15C}" type="slidenum">
              <a:rPr lang="en-US"/>
              <a:pPr/>
              <a:t>12</a:t>
            </a:fld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55625" y="1752600"/>
            <a:ext cx="7575550" cy="4022725"/>
            <a:chOff x="350" y="1104"/>
            <a:chExt cx="4772" cy="2534"/>
          </a:xfrm>
        </p:grpSpPr>
        <p:sp>
          <p:nvSpPr>
            <p:cNvPr id="136196" name="Line 4"/>
            <p:cNvSpPr>
              <a:spLocks noChangeShapeType="1"/>
            </p:cNvSpPr>
            <p:nvPr/>
          </p:nvSpPr>
          <p:spPr bwMode="auto">
            <a:xfrm flipH="1">
              <a:off x="1824" y="1152"/>
              <a:ext cx="912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197" name="Line 5"/>
            <p:cNvSpPr>
              <a:spLocks noChangeShapeType="1"/>
            </p:cNvSpPr>
            <p:nvPr/>
          </p:nvSpPr>
          <p:spPr bwMode="auto">
            <a:xfrm>
              <a:off x="2736" y="1152"/>
              <a:ext cx="96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198" name="Oval 6"/>
            <p:cNvSpPr>
              <a:spLocks noChangeArrowheads="1"/>
            </p:cNvSpPr>
            <p:nvPr/>
          </p:nvSpPr>
          <p:spPr bwMode="auto">
            <a:xfrm flipH="1" flipV="1">
              <a:off x="2688" y="1104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199" name="Oval 7"/>
            <p:cNvSpPr>
              <a:spLocks noChangeArrowheads="1"/>
            </p:cNvSpPr>
            <p:nvPr/>
          </p:nvSpPr>
          <p:spPr bwMode="auto">
            <a:xfrm flipH="1" flipV="1">
              <a:off x="3648" y="163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0" name="Oval 8"/>
            <p:cNvSpPr>
              <a:spLocks noChangeArrowheads="1"/>
            </p:cNvSpPr>
            <p:nvPr/>
          </p:nvSpPr>
          <p:spPr bwMode="auto">
            <a:xfrm flipH="1" flipV="1">
              <a:off x="1728" y="1680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1" name="Line 9"/>
            <p:cNvSpPr>
              <a:spLocks noChangeShapeType="1"/>
            </p:cNvSpPr>
            <p:nvPr/>
          </p:nvSpPr>
          <p:spPr bwMode="auto">
            <a:xfrm flipH="1">
              <a:off x="864" y="1776"/>
              <a:ext cx="912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02" name="Line 10"/>
            <p:cNvSpPr>
              <a:spLocks noChangeShapeType="1"/>
            </p:cNvSpPr>
            <p:nvPr/>
          </p:nvSpPr>
          <p:spPr bwMode="auto">
            <a:xfrm flipH="1">
              <a:off x="3312" y="1776"/>
              <a:ext cx="38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03" name="Line 11"/>
            <p:cNvSpPr>
              <a:spLocks noChangeShapeType="1"/>
            </p:cNvSpPr>
            <p:nvPr/>
          </p:nvSpPr>
          <p:spPr bwMode="auto">
            <a:xfrm>
              <a:off x="3744" y="1728"/>
              <a:ext cx="96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04" name="Line 12"/>
            <p:cNvSpPr>
              <a:spLocks noChangeShapeType="1"/>
            </p:cNvSpPr>
            <p:nvPr/>
          </p:nvSpPr>
          <p:spPr bwMode="auto">
            <a:xfrm>
              <a:off x="1824" y="1776"/>
              <a:ext cx="432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05" name="Oval 13"/>
            <p:cNvSpPr>
              <a:spLocks noChangeArrowheads="1"/>
            </p:cNvSpPr>
            <p:nvPr/>
          </p:nvSpPr>
          <p:spPr bwMode="auto">
            <a:xfrm flipH="1" flipV="1">
              <a:off x="4656" y="2256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6" name="Oval 14"/>
            <p:cNvSpPr>
              <a:spLocks noChangeArrowheads="1"/>
            </p:cNvSpPr>
            <p:nvPr/>
          </p:nvSpPr>
          <p:spPr bwMode="auto">
            <a:xfrm flipH="1" flipV="1">
              <a:off x="3216" y="2256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7" name="Oval 15"/>
            <p:cNvSpPr>
              <a:spLocks noChangeArrowheads="1"/>
            </p:cNvSpPr>
            <p:nvPr/>
          </p:nvSpPr>
          <p:spPr bwMode="auto">
            <a:xfrm flipH="1" flipV="1">
              <a:off x="2208" y="2256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8" name="Oval 16"/>
            <p:cNvSpPr>
              <a:spLocks noChangeArrowheads="1"/>
            </p:cNvSpPr>
            <p:nvPr/>
          </p:nvSpPr>
          <p:spPr bwMode="auto">
            <a:xfrm flipH="1" flipV="1">
              <a:off x="768" y="2304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9" name="Line 17"/>
            <p:cNvSpPr>
              <a:spLocks noChangeShapeType="1"/>
            </p:cNvSpPr>
            <p:nvPr/>
          </p:nvSpPr>
          <p:spPr bwMode="auto">
            <a:xfrm flipH="1">
              <a:off x="528" y="2448"/>
              <a:ext cx="288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0" name="Line 18"/>
            <p:cNvSpPr>
              <a:spLocks noChangeShapeType="1"/>
            </p:cNvSpPr>
            <p:nvPr/>
          </p:nvSpPr>
          <p:spPr bwMode="auto">
            <a:xfrm>
              <a:off x="816" y="2448"/>
              <a:ext cx="288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1" name="Line 19"/>
            <p:cNvSpPr>
              <a:spLocks noChangeShapeType="1"/>
            </p:cNvSpPr>
            <p:nvPr/>
          </p:nvSpPr>
          <p:spPr bwMode="auto">
            <a:xfrm flipH="1">
              <a:off x="2016" y="2400"/>
              <a:ext cx="24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2" name="Line 20"/>
            <p:cNvSpPr>
              <a:spLocks noChangeShapeType="1"/>
            </p:cNvSpPr>
            <p:nvPr/>
          </p:nvSpPr>
          <p:spPr bwMode="auto">
            <a:xfrm>
              <a:off x="2304" y="2400"/>
              <a:ext cx="24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3" name="Line 21"/>
            <p:cNvSpPr>
              <a:spLocks noChangeShapeType="1"/>
            </p:cNvSpPr>
            <p:nvPr/>
          </p:nvSpPr>
          <p:spPr bwMode="auto">
            <a:xfrm flipH="1">
              <a:off x="3120" y="2400"/>
              <a:ext cx="14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4" name="Line 22"/>
            <p:cNvSpPr>
              <a:spLocks noChangeShapeType="1"/>
            </p:cNvSpPr>
            <p:nvPr/>
          </p:nvSpPr>
          <p:spPr bwMode="auto">
            <a:xfrm>
              <a:off x="3264" y="2400"/>
              <a:ext cx="288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5" name="Line 23"/>
            <p:cNvSpPr>
              <a:spLocks noChangeShapeType="1"/>
            </p:cNvSpPr>
            <p:nvPr/>
          </p:nvSpPr>
          <p:spPr bwMode="auto">
            <a:xfrm flipH="1">
              <a:off x="4512" y="2400"/>
              <a:ext cx="192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6" name="Line 24"/>
            <p:cNvSpPr>
              <a:spLocks noChangeShapeType="1"/>
            </p:cNvSpPr>
            <p:nvPr/>
          </p:nvSpPr>
          <p:spPr bwMode="auto">
            <a:xfrm>
              <a:off x="4752" y="2400"/>
              <a:ext cx="24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17" name="Oval 25"/>
            <p:cNvSpPr>
              <a:spLocks noChangeArrowheads="1"/>
            </p:cNvSpPr>
            <p:nvPr/>
          </p:nvSpPr>
          <p:spPr bwMode="auto">
            <a:xfrm flipH="1" flipV="1">
              <a:off x="432" y="307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18" name="Oval 26"/>
            <p:cNvSpPr>
              <a:spLocks noChangeArrowheads="1"/>
            </p:cNvSpPr>
            <p:nvPr/>
          </p:nvSpPr>
          <p:spPr bwMode="auto">
            <a:xfrm flipH="1" flipV="1">
              <a:off x="1056" y="307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19" name="Oval 27"/>
            <p:cNvSpPr>
              <a:spLocks noChangeArrowheads="1"/>
            </p:cNvSpPr>
            <p:nvPr/>
          </p:nvSpPr>
          <p:spPr bwMode="auto">
            <a:xfrm flipH="1" flipV="1">
              <a:off x="1968" y="3024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20" name="Oval 28"/>
            <p:cNvSpPr>
              <a:spLocks noChangeArrowheads="1"/>
            </p:cNvSpPr>
            <p:nvPr/>
          </p:nvSpPr>
          <p:spPr bwMode="auto">
            <a:xfrm flipH="1" flipV="1">
              <a:off x="2448" y="3024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21" name="Oval 29"/>
            <p:cNvSpPr>
              <a:spLocks noChangeArrowheads="1"/>
            </p:cNvSpPr>
            <p:nvPr/>
          </p:nvSpPr>
          <p:spPr bwMode="auto">
            <a:xfrm flipH="1" flipV="1">
              <a:off x="3072" y="307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22" name="Oval 30"/>
            <p:cNvSpPr>
              <a:spLocks noChangeArrowheads="1"/>
            </p:cNvSpPr>
            <p:nvPr/>
          </p:nvSpPr>
          <p:spPr bwMode="auto">
            <a:xfrm flipH="1" flipV="1">
              <a:off x="3504" y="307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23" name="Oval 31"/>
            <p:cNvSpPr>
              <a:spLocks noChangeArrowheads="1"/>
            </p:cNvSpPr>
            <p:nvPr/>
          </p:nvSpPr>
          <p:spPr bwMode="auto">
            <a:xfrm flipH="1" flipV="1">
              <a:off x="4464" y="307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24" name="Oval 32"/>
            <p:cNvSpPr>
              <a:spLocks noChangeArrowheads="1"/>
            </p:cNvSpPr>
            <p:nvPr/>
          </p:nvSpPr>
          <p:spPr bwMode="auto">
            <a:xfrm flipH="1" flipV="1">
              <a:off x="4944" y="3072"/>
              <a:ext cx="144" cy="14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25" name="Text Box 33"/>
            <p:cNvSpPr txBox="1">
              <a:spLocks noChangeArrowheads="1"/>
            </p:cNvSpPr>
            <p:nvPr/>
          </p:nvSpPr>
          <p:spPr bwMode="auto">
            <a:xfrm>
              <a:off x="350" y="3403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5</a:t>
              </a:r>
            </a:p>
          </p:txBody>
        </p:sp>
        <p:sp>
          <p:nvSpPr>
            <p:cNvPr id="136226" name="Text Box 34"/>
            <p:cNvSpPr txBox="1">
              <a:spLocks noChangeArrowheads="1"/>
            </p:cNvSpPr>
            <p:nvPr/>
          </p:nvSpPr>
          <p:spPr bwMode="auto">
            <a:xfrm>
              <a:off x="1920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1</a:t>
              </a:r>
            </a:p>
          </p:txBody>
        </p:sp>
        <p:sp>
          <p:nvSpPr>
            <p:cNvPr id="136227" name="Text Box 35"/>
            <p:cNvSpPr txBox="1">
              <a:spLocks noChangeArrowheads="1"/>
            </p:cNvSpPr>
            <p:nvPr/>
          </p:nvSpPr>
          <p:spPr bwMode="auto">
            <a:xfrm>
              <a:off x="2448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3</a:t>
              </a:r>
            </a:p>
          </p:txBody>
        </p:sp>
        <p:sp>
          <p:nvSpPr>
            <p:cNvPr id="136228" name="Text Box 36"/>
            <p:cNvSpPr txBox="1">
              <a:spLocks noChangeArrowheads="1"/>
            </p:cNvSpPr>
            <p:nvPr/>
          </p:nvSpPr>
          <p:spPr bwMode="auto">
            <a:xfrm>
              <a:off x="3024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6</a:t>
              </a:r>
            </a:p>
          </p:txBody>
        </p:sp>
        <p:sp>
          <p:nvSpPr>
            <p:cNvPr id="136229" name="Text Box 37"/>
            <p:cNvSpPr txBox="1">
              <a:spLocks noChangeArrowheads="1"/>
            </p:cNvSpPr>
            <p:nvPr/>
          </p:nvSpPr>
          <p:spPr bwMode="auto">
            <a:xfrm>
              <a:off x="3504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2</a:t>
              </a:r>
            </a:p>
          </p:txBody>
        </p:sp>
        <p:sp>
          <p:nvSpPr>
            <p:cNvPr id="136230" name="Text Box 38"/>
            <p:cNvSpPr txBox="1">
              <a:spLocks noChangeArrowheads="1"/>
            </p:cNvSpPr>
            <p:nvPr/>
          </p:nvSpPr>
          <p:spPr bwMode="auto">
            <a:xfrm>
              <a:off x="1056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2</a:t>
              </a:r>
            </a:p>
          </p:txBody>
        </p:sp>
        <p:sp>
          <p:nvSpPr>
            <p:cNvPr id="136231" name="Text Box 39"/>
            <p:cNvSpPr txBox="1">
              <a:spLocks noChangeArrowheads="1"/>
            </p:cNvSpPr>
            <p:nvPr/>
          </p:nvSpPr>
          <p:spPr bwMode="auto">
            <a:xfrm>
              <a:off x="4944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7</a:t>
              </a:r>
            </a:p>
          </p:txBody>
        </p:sp>
        <p:sp>
          <p:nvSpPr>
            <p:cNvPr id="136232" name="Text Box 40"/>
            <p:cNvSpPr txBox="1">
              <a:spLocks noChangeArrowheads="1"/>
            </p:cNvSpPr>
            <p:nvPr/>
          </p:nvSpPr>
          <p:spPr bwMode="auto">
            <a:xfrm>
              <a:off x="4416" y="3408"/>
              <a:ext cx="178" cy="23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400">
                  <a:latin typeface="Arial" charset="0"/>
                </a:rPr>
                <a:t>0</a:t>
              </a:r>
            </a:p>
          </p:txBody>
        </p:sp>
      </p:grpSp>
      <p:sp>
        <p:nvSpPr>
          <p:cNvPr id="136233" name="Line 41"/>
          <p:cNvSpPr>
            <a:spLocks noChangeShapeType="1"/>
          </p:cNvSpPr>
          <p:nvPr/>
        </p:nvSpPr>
        <p:spPr bwMode="auto">
          <a:xfrm flipH="1">
            <a:off x="2971800" y="1828800"/>
            <a:ext cx="13716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34" name="Line 42"/>
          <p:cNvSpPr>
            <a:spLocks noChangeShapeType="1"/>
          </p:cNvSpPr>
          <p:nvPr/>
        </p:nvSpPr>
        <p:spPr bwMode="auto">
          <a:xfrm flipH="1">
            <a:off x="1371600" y="2895600"/>
            <a:ext cx="13716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35" name="Line 43"/>
          <p:cNvSpPr>
            <a:spLocks noChangeShapeType="1"/>
          </p:cNvSpPr>
          <p:nvPr/>
        </p:nvSpPr>
        <p:spPr bwMode="auto">
          <a:xfrm flipH="1">
            <a:off x="838200" y="3886200"/>
            <a:ext cx="4572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36" name="Oval 44"/>
          <p:cNvSpPr>
            <a:spLocks noChangeArrowheads="1"/>
          </p:cNvSpPr>
          <p:nvPr/>
        </p:nvSpPr>
        <p:spPr bwMode="auto">
          <a:xfrm>
            <a:off x="3810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37" name="Text Box 45"/>
          <p:cNvSpPr txBox="1">
            <a:spLocks noChangeArrowheads="1"/>
          </p:cNvSpPr>
          <p:nvPr/>
        </p:nvSpPr>
        <p:spPr bwMode="auto">
          <a:xfrm>
            <a:off x="3124200" y="1600200"/>
            <a:ext cx="7604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Max</a:t>
            </a:r>
          </a:p>
        </p:txBody>
      </p:sp>
      <p:sp>
        <p:nvSpPr>
          <p:cNvPr id="136238" name="Text Box 46"/>
          <p:cNvSpPr txBox="1">
            <a:spLocks noChangeArrowheads="1"/>
          </p:cNvSpPr>
          <p:nvPr/>
        </p:nvSpPr>
        <p:spPr bwMode="auto">
          <a:xfrm>
            <a:off x="1719263" y="2514600"/>
            <a:ext cx="6762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Min</a:t>
            </a:r>
          </a:p>
        </p:txBody>
      </p:sp>
      <p:sp>
        <p:nvSpPr>
          <p:cNvPr id="136239" name="Text Box 47"/>
          <p:cNvSpPr txBox="1">
            <a:spLocks noChangeArrowheads="1"/>
          </p:cNvSpPr>
          <p:nvPr/>
        </p:nvSpPr>
        <p:spPr bwMode="auto">
          <a:xfrm>
            <a:off x="304800" y="3581400"/>
            <a:ext cx="7604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Max</a:t>
            </a:r>
          </a:p>
        </p:txBody>
      </p:sp>
      <p:sp>
        <p:nvSpPr>
          <p:cNvPr id="136240" name="Line 48"/>
          <p:cNvSpPr>
            <a:spLocks noChangeShapeType="1"/>
          </p:cNvSpPr>
          <p:nvPr/>
        </p:nvSpPr>
        <p:spPr bwMode="auto">
          <a:xfrm flipV="1">
            <a:off x="838200" y="3886200"/>
            <a:ext cx="4572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1" name="Line 49"/>
          <p:cNvSpPr>
            <a:spLocks noChangeShapeType="1"/>
          </p:cNvSpPr>
          <p:nvPr/>
        </p:nvSpPr>
        <p:spPr bwMode="auto">
          <a:xfrm flipV="1">
            <a:off x="2971800" y="1828800"/>
            <a:ext cx="13716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2" name="Line 50"/>
          <p:cNvSpPr>
            <a:spLocks noChangeShapeType="1"/>
          </p:cNvSpPr>
          <p:nvPr/>
        </p:nvSpPr>
        <p:spPr bwMode="auto">
          <a:xfrm>
            <a:off x="1295400" y="3962400"/>
            <a:ext cx="457200" cy="9144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3" name="Line 51"/>
          <p:cNvSpPr>
            <a:spLocks noChangeShapeType="1"/>
          </p:cNvSpPr>
          <p:nvPr/>
        </p:nvSpPr>
        <p:spPr bwMode="auto">
          <a:xfrm flipH="1" flipV="1">
            <a:off x="1295400" y="3886200"/>
            <a:ext cx="4572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4" name="Line 52"/>
          <p:cNvSpPr>
            <a:spLocks noChangeShapeType="1"/>
          </p:cNvSpPr>
          <p:nvPr/>
        </p:nvSpPr>
        <p:spPr bwMode="auto">
          <a:xfrm flipV="1">
            <a:off x="1447800" y="2895600"/>
            <a:ext cx="1219200" cy="762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5" name="Line 53"/>
          <p:cNvSpPr>
            <a:spLocks noChangeShapeType="1"/>
          </p:cNvSpPr>
          <p:nvPr/>
        </p:nvSpPr>
        <p:spPr bwMode="auto">
          <a:xfrm flipV="1">
            <a:off x="7162800" y="3810000"/>
            <a:ext cx="304800" cy="1066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6" name="Line 54"/>
          <p:cNvSpPr>
            <a:spLocks noChangeShapeType="1"/>
          </p:cNvSpPr>
          <p:nvPr/>
        </p:nvSpPr>
        <p:spPr bwMode="auto">
          <a:xfrm flipV="1">
            <a:off x="4953000" y="3733800"/>
            <a:ext cx="228600" cy="1143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7" name="Line 55"/>
          <p:cNvSpPr>
            <a:spLocks noChangeShapeType="1"/>
          </p:cNvSpPr>
          <p:nvPr/>
        </p:nvSpPr>
        <p:spPr bwMode="auto">
          <a:xfrm flipV="1">
            <a:off x="3200400" y="3810000"/>
            <a:ext cx="3810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8" name="Line 56"/>
          <p:cNvSpPr>
            <a:spLocks noChangeShapeType="1"/>
          </p:cNvSpPr>
          <p:nvPr/>
        </p:nvSpPr>
        <p:spPr bwMode="auto">
          <a:xfrm flipV="1">
            <a:off x="5334000" y="2819400"/>
            <a:ext cx="533400" cy="762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49" name="Line 57"/>
          <p:cNvSpPr>
            <a:spLocks noChangeShapeType="1"/>
          </p:cNvSpPr>
          <p:nvPr/>
        </p:nvSpPr>
        <p:spPr bwMode="auto">
          <a:xfrm>
            <a:off x="4419600" y="1828800"/>
            <a:ext cx="14478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0" name="Line 58"/>
          <p:cNvSpPr>
            <a:spLocks noChangeShapeType="1"/>
          </p:cNvSpPr>
          <p:nvPr/>
        </p:nvSpPr>
        <p:spPr bwMode="auto">
          <a:xfrm>
            <a:off x="2895600" y="2819400"/>
            <a:ext cx="685800" cy="762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1" name="Line 59"/>
          <p:cNvSpPr>
            <a:spLocks noChangeShapeType="1"/>
          </p:cNvSpPr>
          <p:nvPr/>
        </p:nvSpPr>
        <p:spPr bwMode="auto">
          <a:xfrm>
            <a:off x="6019800" y="2743200"/>
            <a:ext cx="14478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2" name="Line 60"/>
          <p:cNvSpPr>
            <a:spLocks noChangeShapeType="1"/>
          </p:cNvSpPr>
          <p:nvPr/>
        </p:nvSpPr>
        <p:spPr bwMode="auto">
          <a:xfrm>
            <a:off x="3657600" y="3810000"/>
            <a:ext cx="3810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3" name="Line 61"/>
          <p:cNvSpPr>
            <a:spLocks noChangeShapeType="1"/>
          </p:cNvSpPr>
          <p:nvPr/>
        </p:nvSpPr>
        <p:spPr bwMode="auto">
          <a:xfrm>
            <a:off x="7543800" y="3886200"/>
            <a:ext cx="3810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4" name="Line 62"/>
          <p:cNvSpPr>
            <a:spLocks noChangeShapeType="1"/>
          </p:cNvSpPr>
          <p:nvPr/>
        </p:nvSpPr>
        <p:spPr bwMode="auto">
          <a:xfrm>
            <a:off x="5257800" y="3886200"/>
            <a:ext cx="3810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5" name="Line 63"/>
          <p:cNvSpPr>
            <a:spLocks noChangeShapeType="1"/>
          </p:cNvSpPr>
          <p:nvPr/>
        </p:nvSpPr>
        <p:spPr bwMode="auto">
          <a:xfrm flipH="1">
            <a:off x="5334000" y="2819400"/>
            <a:ext cx="533400" cy="762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6" name="Line 64"/>
          <p:cNvSpPr>
            <a:spLocks noChangeShapeType="1"/>
          </p:cNvSpPr>
          <p:nvPr/>
        </p:nvSpPr>
        <p:spPr bwMode="auto">
          <a:xfrm flipH="1" flipV="1">
            <a:off x="2895600" y="2819400"/>
            <a:ext cx="609600" cy="685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7" name="Line 65"/>
          <p:cNvSpPr>
            <a:spLocks noChangeShapeType="1"/>
          </p:cNvSpPr>
          <p:nvPr/>
        </p:nvSpPr>
        <p:spPr bwMode="auto">
          <a:xfrm flipH="1">
            <a:off x="7162800" y="3886200"/>
            <a:ext cx="3048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8" name="Line 66"/>
          <p:cNvSpPr>
            <a:spLocks noChangeShapeType="1"/>
          </p:cNvSpPr>
          <p:nvPr/>
        </p:nvSpPr>
        <p:spPr bwMode="auto">
          <a:xfrm flipH="1">
            <a:off x="4953000" y="3810000"/>
            <a:ext cx="228600" cy="1066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59" name="Line 67"/>
          <p:cNvSpPr>
            <a:spLocks noChangeShapeType="1"/>
          </p:cNvSpPr>
          <p:nvPr/>
        </p:nvSpPr>
        <p:spPr bwMode="auto">
          <a:xfrm flipH="1">
            <a:off x="3200400" y="3810000"/>
            <a:ext cx="3810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60" name="Line 68"/>
          <p:cNvSpPr>
            <a:spLocks noChangeShapeType="1"/>
          </p:cNvSpPr>
          <p:nvPr/>
        </p:nvSpPr>
        <p:spPr bwMode="auto">
          <a:xfrm flipH="1" flipV="1">
            <a:off x="7543800" y="3886200"/>
            <a:ext cx="381000" cy="9906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61" name="Line 69"/>
          <p:cNvSpPr>
            <a:spLocks noChangeShapeType="1"/>
          </p:cNvSpPr>
          <p:nvPr/>
        </p:nvSpPr>
        <p:spPr bwMode="auto">
          <a:xfrm flipH="1" flipV="1">
            <a:off x="5257800" y="3962400"/>
            <a:ext cx="381000" cy="9144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62" name="Line 70"/>
          <p:cNvSpPr>
            <a:spLocks noChangeShapeType="1"/>
          </p:cNvSpPr>
          <p:nvPr/>
        </p:nvSpPr>
        <p:spPr bwMode="auto">
          <a:xfrm flipH="1" flipV="1">
            <a:off x="3657600" y="3886200"/>
            <a:ext cx="3810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63" name="Line 71"/>
          <p:cNvSpPr>
            <a:spLocks noChangeShapeType="1"/>
          </p:cNvSpPr>
          <p:nvPr/>
        </p:nvSpPr>
        <p:spPr bwMode="auto">
          <a:xfrm flipH="1" flipV="1">
            <a:off x="6019800" y="2743200"/>
            <a:ext cx="1371600" cy="8382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64" name="Line 72"/>
          <p:cNvSpPr>
            <a:spLocks noChangeShapeType="1"/>
          </p:cNvSpPr>
          <p:nvPr/>
        </p:nvSpPr>
        <p:spPr bwMode="auto">
          <a:xfrm flipH="1" flipV="1">
            <a:off x="4419600" y="1905000"/>
            <a:ext cx="1371600" cy="6858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 type="none" w="sm" len="sm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6265" name="Oval 73"/>
          <p:cNvSpPr>
            <a:spLocks noChangeArrowheads="1"/>
          </p:cNvSpPr>
          <p:nvPr/>
        </p:nvSpPr>
        <p:spPr bwMode="auto">
          <a:xfrm>
            <a:off x="46482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66" name="Oval 74"/>
          <p:cNvSpPr>
            <a:spLocks noChangeArrowheads="1"/>
          </p:cNvSpPr>
          <p:nvPr/>
        </p:nvSpPr>
        <p:spPr bwMode="auto">
          <a:xfrm>
            <a:off x="54102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67" name="Oval 75"/>
          <p:cNvSpPr>
            <a:spLocks noChangeArrowheads="1"/>
          </p:cNvSpPr>
          <p:nvPr/>
        </p:nvSpPr>
        <p:spPr bwMode="auto">
          <a:xfrm>
            <a:off x="67818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68" name="Oval 76"/>
          <p:cNvSpPr>
            <a:spLocks noChangeArrowheads="1"/>
          </p:cNvSpPr>
          <p:nvPr/>
        </p:nvSpPr>
        <p:spPr bwMode="auto">
          <a:xfrm>
            <a:off x="76200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69" name="Oval 77"/>
          <p:cNvSpPr>
            <a:spLocks noChangeArrowheads="1"/>
          </p:cNvSpPr>
          <p:nvPr/>
        </p:nvSpPr>
        <p:spPr bwMode="auto">
          <a:xfrm>
            <a:off x="28194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70" name="Oval 78"/>
          <p:cNvSpPr>
            <a:spLocks noChangeArrowheads="1"/>
          </p:cNvSpPr>
          <p:nvPr/>
        </p:nvSpPr>
        <p:spPr bwMode="auto">
          <a:xfrm>
            <a:off x="36576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71" name="Oval 79"/>
          <p:cNvSpPr>
            <a:spLocks noChangeArrowheads="1"/>
          </p:cNvSpPr>
          <p:nvPr/>
        </p:nvSpPr>
        <p:spPr bwMode="auto">
          <a:xfrm>
            <a:off x="1447800" y="525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72" name="Rectangle 80"/>
          <p:cNvSpPr>
            <a:spLocks noChangeArrowheads="1"/>
          </p:cNvSpPr>
          <p:nvPr/>
        </p:nvSpPr>
        <p:spPr bwMode="auto">
          <a:xfrm>
            <a:off x="1600200" y="38100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5</a:t>
            </a:r>
          </a:p>
        </p:txBody>
      </p:sp>
      <p:sp>
        <p:nvSpPr>
          <p:cNvPr id="136273" name="Rectangle 81"/>
          <p:cNvSpPr>
            <a:spLocks noChangeArrowheads="1"/>
          </p:cNvSpPr>
          <p:nvPr/>
        </p:nvSpPr>
        <p:spPr bwMode="auto">
          <a:xfrm>
            <a:off x="3276600" y="25908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5</a:t>
            </a:r>
          </a:p>
        </p:txBody>
      </p:sp>
      <p:sp>
        <p:nvSpPr>
          <p:cNvPr id="136274" name="Rectangle 82"/>
          <p:cNvSpPr>
            <a:spLocks noChangeArrowheads="1"/>
          </p:cNvSpPr>
          <p:nvPr/>
        </p:nvSpPr>
        <p:spPr bwMode="auto">
          <a:xfrm>
            <a:off x="5105400" y="15240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6</a:t>
            </a:r>
          </a:p>
        </p:txBody>
      </p:sp>
      <p:sp>
        <p:nvSpPr>
          <p:cNvPr id="136275" name="Rectangle 83"/>
          <p:cNvSpPr>
            <a:spLocks noChangeArrowheads="1"/>
          </p:cNvSpPr>
          <p:nvPr/>
        </p:nvSpPr>
        <p:spPr bwMode="auto">
          <a:xfrm>
            <a:off x="8077200" y="35052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7</a:t>
            </a:r>
          </a:p>
        </p:txBody>
      </p:sp>
      <p:sp>
        <p:nvSpPr>
          <p:cNvPr id="136276" name="Rectangle 84"/>
          <p:cNvSpPr>
            <a:spLocks noChangeArrowheads="1"/>
          </p:cNvSpPr>
          <p:nvPr/>
        </p:nvSpPr>
        <p:spPr bwMode="auto">
          <a:xfrm>
            <a:off x="7696200" y="35052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0</a:t>
            </a:r>
          </a:p>
        </p:txBody>
      </p:sp>
      <p:sp>
        <p:nvSpPr>
          <p:cNvPr id="136277" name="Rectangle 85"/>
          <p:cNvSpPr>
            <a:spLocks noChangeArrowheads="1"/>
          </p:cNvSpPr>
          <p:nvPr/>
        </p:nvSpPr>
        <p:spPr bwMode="auto">
          <a:xfrm>
            <a:off x="6096000" y="23622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6</a:t>
            </a:r>
          </a:p>
        </p:txBody>
      </p:sp>
      <p:sp>
        <p:nvSpPr>
          <p:cNvPr id="136278" name="Rectangle 86"/>
          <p:cNvSpPr>
            <a:spLocks noChangeArrowheads="1"/>
          </p:cNvSpPr>
          <p:nvPr/>
        </p:nvSpPr>
        <p:spPr bwMode="auto">
          <a:xfrm>
            <a:off x="5410200" y="35814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6</a:t>
            </a:r>
          </a:p>
        </p:txBody>
      </p:sp>
      <p:sp>
        <p:nvSpPr>
          <p:cNvPr id="136279" name="Rectangle 87"/>
          <p:cNvSpPr>
            <a:spLocks noChangeArrowheads="1"/>
          </p:cNvSpPr>
          <p:nvPr/>
        </p:nvSpPr>
        <p:spPr bwMode="auto">
          <a:xfrm>
            <a:off x="4724400" y="15240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3</a:t>
            </a:r>
          </a:p>
        </p:txBody>
      </p:sp>
      <p:sp>
        <p:nvSpPr>
          <p:cNvPr id="136280" name="Rectangle 88"/>
          <p:cNvSpPr>
            <a:spLocks noChangeArrowheads="1"/>
          </p:cNvSpPr>
          <p:nvPr/>
        </p:nvSpPr>
        <p:spPr bwMode="auto">
          <a:xfrm>
            <a:off x="3657600" y="25908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3</a:t>
            </a:r>
          </a:p>
        </p:txBody>
      </p:sp>
      <p:sp>
        <p:nvSpPr>
          <p:cNvPr id="136281" name="Rectangle 89"/>
          <p:cNvSpPr>
            <a:spLocks noChangeArrowheads="1"/>
          </p:cNvSpPr>
          <p:nvPr/>
        </p:nvSpPr>
        <p:spPr bwMode="auto">
          <a:xfrm>
            <a:off x="4191000" y="35052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3</a:t>
            </a:r>
          </a:p>
        </p:txBody>
      </p:sp>
      <p:sp>
        <p:nvSpPr>
          <p:cNvPr id="136282" name="Rectangle 90"/>
          <p:cNvSpPr>
            <a:spLocks noChangeArrowheads="1"/>
          </p:cNvSpPr>
          <p:nvPr/>
        </p:nvSpPr>
        <p:spPr bwMode="auto">
          <a:xfrm>
            <a:off x="3810000" y="3505200"/>
            <a:ext cx="35401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GB" sz="2400">
                <a:latin typeface="Arial" charset="0"/>
              </a:rPr>
              <a:t>1</a:t>
            </a:r>
          </a:p>
        </p:txBody>
      </p:sp>
      <p:grpSp>
        <p:nvGrpSpPr>
          <p:cNvPr id="3" name="Group 91"/>
          <p:cNvGrpSpPr>
            <a:grpSpLocks/>
          </p:cNvGrpSpPr>
          <p:nvPr/>
        </p:nvGrpSpPr>
        <p:grpSpPr bwMode="auto">
          <a:xfrm>
            <a:off x="3810000" y="3581400"/>
            <a:ext cx="381000" cy="381000"/>
            <a:chOff x="4752" y="1440"/>
            <a:chExt cx="240" cy="240"/>
          </a:xfrm>
        </p:grpSpPr>
        <p:sp>
          <p:nvSpPr>
            <p:cNvPr id="136284" name="Line 92"/>
            <p:cNvSpPr>
              <a:spLocks noChangeShapeType="1"/>
            </p:cNvSpPr>
            <p:nvPr/>
          </p:nvSpPr>
          <p:spPr bwMode="auto">
            <a:xfrm flipV="1">
              <a:off x="4752" y="1440"/>
              <a:ext cx="19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85" name="Line 93"/>
            <p:cNvSpPr>
              <a:spLocks noChangeShapeType="1"/>
            </p:cNvSpPr>
            <p:nvPr/>
          </p:nvSpPr>
          <p:spPr bwMode="auto">
            <a:xfrm>
              <a:off x="4752" y="144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3276600" y="2590800"/>
            <a:ext cx="381000" cy="381000"/>
            <a:chOff x="4752" y="1440"/>
            <a:chExt cx="240" cy="240"/>
          </a:xfrm>
        </p:grpSpPr>
        <p:sp>
          <p:nvSpPr>
            <p:cNvPr id="136287" name="Line 95"/>
            <p:cNvSpPr>
              <a:spLocks noChangeShapeType="1"/>
            </p:cNvSpPr>
            <p:nvPr/>
          </p:nvSpPr>
          <p:spPr bwMode="auto">
            <a:xfrm flipV="1">
              <a:off x="4752" y="1440"/>
              <a:ext cx="19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88" name="Line 96"/>
            <p:cNvSpPr>
              <a:spLocks noChangeShapeType="1"/>
            </p:cNvSpPr>
            <p:nvPr/>
          </p:nvSpPr>
          <p:spPr bwMode="auto">
            <a:xfrm>
              <a:off x="4752" y="144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97"/>
          <p:cNvGrpSpPr>
            <a:grpSpLocks/>
          </p:cNvGrpSpPr>
          <p:nvPr/>
        </p:nvGrpSpPr>
        <p:grpSpPr bwMode="auto">
          <a:xfrm>
            <a:off x="4724400" y="1524000"/>
            <a:ext cx="381000" cy="381000"/>
            <a:chOff x="4752" y="1440"/>
            <a:chExt cx="240" cy="240"/>
          </a:xfrm>
        </p:grpSpPr>
        <p:sp>
          <p:nvSpPr>
            <p:cNvPr id="136290" name="Line 98"/>
            <p:cNvSpPr>
              <a:spLocks noChangeShapeType="1"/>
            </p:cNvSpPr>
            <p:nvPr/>
          </p:nvSpPr>
          <p:spPr bwMode="auto">
            <a:xfrm flipV="1">
              <a:off x="4752" y="1440"/>
              <a:ext cx="19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91" name="Line 99"/>
            <p:cNvSpPr>
              <a:spLocks noChangeShapeType="1"/>
            </p:cNvSpPr>
            <p:nvPr/>
          </p:nvSpPr>
          <p:spPr bwMode="auto">
            <a:xfrm>
              <a:off x="4752" y="144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00"/>
          <p:cNvGrpSpPr>
            <a:grpSpLocks/>
          </p:cNvGrpSpPr>
          <p:nvPr/>
        </p:nvGrpSpPr>
        <p:grpSpPr bwMode="auto">
          <a:xfrm>
            <a:off x="7696200" y="3581400"/>
            <a:ext cx="381000" cy="381000"/>
            <a:chOff x="4752" y="1440"/>
            <a:chExt cx="240" cy="240"/>
          </a:xfrm>
        </p:grpSpPr>
        <p:sp>
          <p:nvSpPr>
            <p:cNvPr id="136293" name="Line 101"/>
            <p:cNvSpPr>
              <a:spLocks noChangeShapeType="1"/>
            </p:cNvSpPr>
            <p:nvPr/>
          </p:nvSpPr>
          <p:spPr bwMode="auto">
            <a:xfrm flipV="1">
              <a:off x="4752" y="1440"/>
              <a:ext cx="19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294" name="Line 102"/>
            <p:cNvSpPr>
              <a:spLocks noChangeShapeType="1"/>
            </p:cNvSpPr>
            <p:nvPr/>
          </p:nvSpPr>
          <p:spPr bwMode="auto">
            <a:xfrm>
              <a:off x="4752" y="1440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6295" name="Text Box 103"/>
          <p:cNvSpPr txBox="1">
            <a:spLocks noChangeArrowheads="1"/>
          </p:cNvSpPr>
          <p:nvPr/>
        </p:nvSpPr>
        <p:spPr bwMode="auto">
          <a:xfrm>
            <a:off x="6477000" y="1524000"/>
            <a:ext cx="2406650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/>
            <a:r>
              <a:rPr lang="en-GB" sz="2000">
                <a:latin typeface="Arial" charset="0"/>
              </a:rPr>
              <a:t>The computer can obtain 6 by choosing the right hand edge from the first node.</a:t>
            </a:r>
          </a:p>
        </p:txBody>
      </p:sp>
      <p:sp>
        <p:nvSpPr>
          <p:cNvPr id="136296" name="Oval 104"/>
          <p:cNvSpPr>
            <a:spLocks noChangeArrowheads="1"/>
          </p:cNvSpPr>
          <p:nvPr/>
        </p:nvSpPr>
        <p:spPr bwMode="auto">
          <a:xfrm>
            <a:off x="4953000" y="1447800"/>
            <a:ext cx="609600" cy="609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33" grpId="0" animBg="1"/>
      <p:bldP spid="136234" grpId="0" animBg="1"/>
      <p:bldP spid="136235" grpId="0" animBg="1"/>
      <p:bldP spid="136236" grpId="0" animBg="1"/>
      <p:bldP spid="136240" grpId="0" animBg="1"/>
      <p:bldP spid="136241" grpId="0" animBg="1"/>
      <p:bldP spid="136242" grpId="0" animBg="1"/>
      <p:bldP spid="136243" grpId="0" animBg="1"/>
      <p:bldP spid="136244" grpId="0" animBg="1"/>
      <p:bldP spid="136245" grpId="0" animBg="1"/>
      <p:bldP spid="136246" grpId="0" animBg="1"/>
      <p:bldP spid="136247" grpId="0" animBg="1"/>
      <p:bldP spid="136248" grpId="0" animBg="1"/>
      <p:bldP spid="136249" grpId="0" animBg="1"/>
      <p:bldP spid="136250" grpId="0" animBg="1"/>
      <p:bldP spid="136251" grpId="0" animBg="1"/>
      <p:bldP spid="136252" grpId="0" animBg="1"/>
      <p:bldP spid="136253" grpId="0" animBg="1"/>
      <p:bldP spid="136254" grpId="0" animBg="1"/>
      <p:bldP spid="136255" grpId="0" animBg="1"/>
      <p:bldP spid="136256" grpId="0" animBg="1"/>
      <p:bldP spid="136257" grpId="0" animBg="1"/>
      <p:bldP spid="136258" grpId="0" animBg="1"/>
      <p:bldP spid="136259" grpId="0" animBg="1"/>
      <p:bldP spid="136260" grpId="0" animBg="1"/>
      <p:bldP spid="136261" grpId="0" animBg="1"/>
      <p:bldP spid="136262" grpId="0" animBg="1"/>
      <p:bldP spid="136263" grpId="0" animBg="1"/>
      <p:bldP spid="136264" grpId="0" animBg="1"/>
      <p:bldP spid="136265" grpId="0" animBg="1"/>
      <p:bldP spid="136266" grpId="0" animBg="1"/>
      <p:bldP spid="136267" grpId="0" animBg="1"/>
      <p:bldP spid="136268" grpId="0" animBg="1"/>
      <p:bldP spid="136269" grpId="0" animBg="1"/>
      <p:bldP spid="136270" grpId="0" animBg="1"/>
      <p:bldP spid="136271" grpId="0" animBg="1"/>
      <p:bldP spid="136272" grpId="0" autoUpdateAnimBg="0"/>
      <p:bldP spid="136273" grpId="0" autoUpdateAnimBg="0"/>
      <p:bldP spid="136274" grpId="0" autoUpdateAnimBg="0"/>
      <p:bldP spid="136275" grpId="0" autoUpdateAnimBg="0"/>
      <p:bldP spid="136276" grpId="0" autoUpdateAnimBg="0"/>
      <p:bldP spid="136277" grpId="0" autoUpdateAnimBg="0"/>
      <p:bldP spid="136278" grpId="0" autoUpdateAnimBg="0"/>
      <p:bldP spid="136279" grpId="0" autoUpdateAnimBg="0"/>
      <p:bldP spid="136280" grpId="0" autoUpdateAnimBg="0"/>
      <p:bldP spid="136281" grpId="0" autoUpdateAnimBg="0"/>
      <p:bldP spid="136282" grpId="0" autoUpdateAnimBg="0"/>
      <p:bldP spid="136295" grpId="0" autoUpdateAnimBg="0"/>
      <p:bldP spid="13629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Minimax</a:t>
            </a:r>
            <a:r>
              <a:rPr lang="en-US" dirty="0"/>
              <a:t> Function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MINIMAX-VALUE(</a:t>
            </a:r>
            <a:r>
              <a:rPr lang="en-US" i="1"/>
              <a:t>n</a:t>
            </a:r>
            <a:r>
              <a:rPr lang="en-US"/>
              <a:t>) =</a:t>
            </a:r>
          </a:p>
          <a:p>
            <a:pPr lvl="1"/>
            <a:r>
              <a:rPr lang="en-US"/>
              <a:t>UTILITY(</a:t>
            </a:r>
            <a:r>
              <a:rPr lang="en-US" i="1"/>
              <a:t>n</a:t>
            </a:r>
            <a:r>
              <a:rPr lang="en-US"/>
              <a:t>)                                                       if </a:t>
            </a:r>
            <a:r>
              <a:rPr lang="en-US" i="1"/>
              <a:t>n</a:t>
            </a:r>
            <a:r>
              <a:rPr lang="en-US"/>
              <a:t> is a terminal state</a:t>
            </a:r>
          </a:p>
          <a:p>
            <a:pPr lvl="1"/>
            <a:r>
              <a:rPr lang="en-US"/>
              <a:t>max</a:t>
            </a:r>
            <a:r>
              <a:rPr lang="en-US" i="1" baseline="-25000"/>
              <a:t>s</a:t>
            </a:r>
            <a:r>
              <a:rPr lang="en-US"/>
              <a:t> </a:t>
            </a:r>
            <a:r>
              <a:rPr lang="en-US" baseline="-25000">
                <a:sym typeface="Symbol" pitchFamily="18" charset="2"/>
              </a:rPr>
              <a:t></a:t>
            </a:r>
            <a:r>
              <a:rPr lang="en-US" baseline="-25000"/>
              <a:t> </a:t>
            </a:r>
            <a:r>
              <a:rPr lang="en-US" i="1" baseline="-25000"/>
              <a:t>Successors</a:t>
            </a:r>
            <a:r>
              <a:rPr lang="en-US" baseline="-25000"/>
              <a:t>(</a:t>
            </a:r>
            <a:r>
              <a:rPr lang="en-US" i="1" baseline="-25000"/>
              <a:t>n</a:t>
            </a:r>
            <a:r>
              <a:rPr lang="en-US" baseline="-25000"/>
              <a:t>)</a:t>
            </a:r>
            <a:r>
              <a:rPr lang="en-US"/>
              <a:t> MINIMAX-VALUE(s)          if </a:t>
            </a:r>
            <a:r>
              <a:rPr lang="en-US" i="1"/>
              <a:t>n</a:t>
            </a:r>
            <a:r>
              <a:rPr lang="en-US"/>
              <a:t> is a MAX node</a:t>
            </a:r>
          </a:p>
          <a:p>
            <a:pPr lvl="1"/>
            <a:r>
              <a:rPr lang="en-US"/>
              <a:t>min</a:t>
            </a:r>
            <a:r>
              <a:rPr lang="en-US" i="1" baseline="-25000"/>
              <a:t>s</a:t>
            </a:r>
            <a:r>
              <a:rPr lang="en-US"/>
              <a:t> </a:t>
            </a:r>
            <a:r>
              <a:rPr lang="en-US" baseline="-25000">
                <a:sym typeface="Symbol" pitchFamily="18" charset="2"/>
              </a:rPr>
              <a:t></a:t>
            </a:r>
            <a:r>
              <a:rPr lang="en-US" baseline="-25000"/>
              <a:t> </a:t>
            </a:r>
            <a:r>
              <a:rPr lang="en-US" i="1" baseline="-25000"/>
              <a:t>Successors</a:t>
            </a:r>
            <a:r>
              <a:rPr lang="en-US" baseline="-25000"/>
              <a:t>(</a:t>
            </a:r>
            <a:r>
              <a:rPr lang="en-US" i="1" baseline="-25000"/>
              <a:t>n</a:t>
            </a:r>
            <a:r>
              <a:rPr lang="en-US" baseline="-25000"/>
              <a:t>)</a:t>
            </a:r>
            <a:r>
              <a:rPr lang="en-US"/>
              <a:t> MINIMAX-VALUE(</a:t>
            </a:r>
            <a:r>
              <a:rPr lang="en-US" i="1"/>
              <a:t>s</a:t>
            </a:r>
            <a:r>
              <a:rPr lang="en-US"/>
              <a:t>)             if </a:t>
            </a:r>
            <a:r>
              <a:rPr lang="en-US" i="1"/>
              <a:t>n</a:t>
            </a:r>
            <a:r>
              <a:rPr lang="en-US"/>
              <a:t> is a MIN node</a:t>
            </a:r>
            <a:endParaRPr lang="en-US" baseline="-25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A4F-9519-4F92-9435-A63F5F59E6B2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Searching Game Trees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Exhaustively searching a game tree is not usually a good idea.</a:t>
            </a:r>
          </a:p>
          <a:p>
            <a:r>
              <a:rPr lang="en-US" altLang="en-US" sz="2800"/>
              <a:t>Even for a game as simple as tic-tac-toe there are over 350,000 nodes in the complete game tree.</a:t>
            </a:r>
          </a:p>
          <a:p>
            <a:r>
              <a:rPr lang="en-US" altLang="en-US" sz="2800"/>
              <a:t>An additional problem is that the computer only gets to choose every other path through the tree – the opponent chooses the others.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32F1F-1E13-411B-A858-74BBD713E558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Properties of </a:t>
            </a:r>
            <a:r>
              <a:rPr lang="en-US" dirty="0" err="1" smtClean="0"/>
              <a:t>Minimax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309019" y="1646238"/>
            <a:ext cx="4525962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 of </a:t>
            </a:r>
            <a:r>
              <a:rPr lang="en-US" dirty="0" err="1" smtClean="0"/>
              <a:t>minimax</a:t>
            </a:r>
            <a:r>
              <a:rPr lang="en-US" dirty="0" smtClean="0"/>
              <a:t> search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>
            <a:noAutofit/>
          </a:bodyPr>
          <a:lstStyle/>
          <a:p>
            <a:r>
              <a:rPr lang="en-US" sz="2800" dirty="0" smtClean="0"/>
              <a:t>Number of games states is exponential to the</a:t>
            </a:r>
          </a:p>
          <a:p>
            <a:r>
              <a:rPr lang="en-US" sz="2800" dirty="0" smtClean="0"/>
              <a:t>number of moves.</a:t>
            </a:r>
          </a:p>
          <a:p>
            <a:pPr lvl="1"/>
            <a:r>
              <a:rPr lang="en-US" sz="2800" dirty="0" smtClean="0"/>
              <a:t>Solution: Do not examine every node</a:t>
            </a:r>
          </a:p>
          <a:p>
            <a:pPr lvl="1"/>
            <a:r>
              <a:rPr lang="en-US" sz="2800" dirty="0" smtClean="0"/>
              <a:t>==&gt; Alpha-beta pruning</a:t>
            </a:r>
          </a:p>
          <a:p>
            <a:pPr lvl="2"/>
            <a:r>
              <a:rPr lang="en-US" sz="2800" dirty="0" smtClean="0"/>
              <a:t>Alpha = value of best choice found so far at any choice</a:t>
            </a:r>
          </a:p>
          <a:p>
            <a:pPr lvl="2"/>
            <a:r>
              <a:rPr lang="en-US" sz="2800" dirty="0" smtClean="0"/>
              <a:t>point along the MAX path</a:t>
            </a:r>
          </a:p>
          <a:p>
            <a:pPr lvl="2"/>
            <a:r>
              <a:rPr lang="en-US" sz="2800" dirty="0" smtClean="0"/>
              <a:t>Beta = value of best choice found so far at any choice point along the MIN path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Alpha-beta Pruning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method that can often cut off a half the game tree.</a:t>
            </a:r>
          </a:p>
          <a:p>
            <a:r>
              <a:rPr lang="en-US" altLang="en-US"/>
              <a:t>Based on the idea that if a move is clearly bad, there is no need to follow the consequences of it.</a:t>
            </a:r>
          </a:p>
          <a:p>
            <a:r>
              <a:rPr lang="en-US" altLang="en-US"/>
              <a:t>alpha – highest value we have found so far</a:t>
            </a:r>
          </a:p>
          <a:p>
            <a:r>
              <a:rPr lang="en-US" altLang="en-US"/>
              <a:t>beta – lowest value we have found so far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AB01-F5F3-44AD-9638-337A04932AE1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Alpha-beta Pruning – Example.</a:t>
            </a:r>
          </a:p>
        </p:txBody>
      </p:sp>
      <p:sp>
        <p:nvSpPr>
          <p:cNvPr id="139268" name="Rectangle 4"/>
          <p:cNvSpPr>
            <a:spLocks noGrp="1" noChangeArrowheads="1"/>
          </p:cNvSpPr>
          <p:nvPr>
            <p:ph idx="1"/>
          </p:nvPr>
        </p:nvSpPr>
        <p:spPr>
          <a:xfrm>
            <a:off x="5707063" y="1981200"/>
            <a:ext cx="3319462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 this tree, having examined the nodes with values 7 and 1 there is no need to examine the final node.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2E816-9EEB-4CCA-AF31-E945C60C63AB}" type="slidenum">
              <a:rPr lang="en-US"/>
              <a:pPr/>
              <a:t>18</a:t>
            </a:fld>
            <a:endParaRPr lang="en-US"/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304800" y="1905000"/>
          <a:ext cx="4572000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Bitmap Image" r:id="rId4" imgW="2638095" imgH="1828571" progId="PBrush">
                  <p:embed/>
                </p:oleObj>
              </mc:Choice>
              <mc:Fallback>
                <p:oleObj name="Bitmap Image" r:id="rId4" imgW="2638095" imgH="1828571" progId="PBrush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05000"/>
                        <a:ext cx="4572000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2803525" y="20574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39270" name="Text Box 6"/>
          <p:cNvSpPr txBox="1">
            <a:spLocks noChangeArrowheads="1"/>
          </p:cNvSpPr>
          <p:nvPr/>
        </p:nvSpPr>
        <p:spPr bwMode="auto">
          <a:xfrm>
            <a:off x="288925" y="1943100"/>
            <a:ext cx="57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max</a:t>
            </a:r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304800" y="304800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5000" b="1" smtClean="0">
                <a:solidFill>
                  <a:srgbClr val="FFFF00"/>
                </a:solidFill>
                <a:latin typeface="Arial Black" pitchFamily="34" charset="0"/>
              </a:rPr>
              <a:t>Alpha Beta Pruning</a:t>
            </a:r>
          </a:p>
        </p:txBody>
      </p:sp>
      <p:sp>
        <p:nvSpPr>
          <p:cNvPr id="20483" name="Freeform 33"/>
          <p:cNvSpPr>
            <a:spLocks/>
          </p:cNvSpPr>
          <p:nvPr/>
        </p:nvSpPr>
        <p:spPr bwMode="auto">
          <a:xfrm>
            <a:off x="1741488" y="3246438"/>
            <a:ext cx="393700" cy="393700"/>
          </a:xfrm>
          <a:custGeom>
            <a:avLst/>
            <a:gdLst>
              <a:gd name="T0" fmla="*/ 0 w 248"/>
              <a:gd name="T1" fmla="*/ 302418750 h 248"/>
              <a:gd name="T2" fmla="*/ 22682200 w 248"/>
              <a:gd name="T3" fmla="*/ 186491563 h 248"/>
              <a:gd name="T4" fmla="*/ 90725625 w 248"/>
              <a:gd name="T5" fmla="*/ 93246575 h 248"/>
              <a:gd name="T6" fmla="*/ 183972200 w 248"/>
              <a:gd name="T7" fmla="*/ 22682200 h 248"/>
              <a:gd name="T8" fmla="*/ 299899388 w 248"/>
              <a:gd name="T9" fmla="*/ 0 h 248"/>
              <a:gd name="T10" fmla="*/ 438507188 w 248"/>
              <a:gd name="T11" fmla="*/ 22682200 h 248"/>
              <a:gd name="T12" fmla="*/ 531753763 w 248"/>
              <a:gd name="T13" fmla="*/ 93246575 h 248"/>
              <a:gd name="T14" fmla="*/ 599797188 w 248"/>
              <a:gd name="T15" fmla="*/ 186491563 h 248"/>
              <a:gd name="T16" fmla="*/ 624998750 w 248"/>
              <a:gd name="T17" fmla="*/ 302418750 h 248"/>
              <a:gd name="T18" fmla="*/ 624998750 w 248"/>
              <a:gd name="T19" fmla="*/ 302418750 h 248"/>
              <a:gd name="T20" fmla="*/ 599797188 w 248"/>
              <a:gd name="T21" fmla="*/ 418345938 h 248"/>
              <a:gd name="T22" fmla="*/ 531753763 w 248"/>
              <a:gd name="T23" fmla="*/ 531753763 h 248"/>
              <a:gd name="T24" fmla="*/ 438507188 w 248"/>
              <a:gd name="T25" fmla="*/ 602318138 h 248"/>
              <a:gd name="T26" fmla="*/ 299899388 w 248"/>
              <a:gd name="T27" fmla="*/ 624998750 h 248"/>
              <a:gd name="T28" fmla="*/ 183972200 w 248"/>
              <a:gd name="T29" fmla="*/ 602318138 h 248"/>
              <a:gd name="T30" fmla="*/ 90725625 w 248"/>
              <a:gd name="T31" fmla="*/ 531753763 h 248"/>
              <a:gd name="T32" fmla="*/ 22682200 w 248"/>
              <a:gd name="T33" fmla="*/ 418345938 h 248"/>
              <a:gd name="T34" fmla="*/ 0 w 248"/>
              <a:gd name="T35" fmla="*/ 302418750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20"/>
                </a:moveTo>
                <a:lnTo>
                  <a:pt x="9" y="74"/>
                </a:lnTo>
                <a:lnTo>
                  <a:pt x="36" y="37"/>
                </a:lnTo>
                <a:lnTo>
                  <a:pt x="73" y="9"/>
                </a:lnTo>
                <a:lnTo>
                  <a:pt x="119" y="0"/>
                </a:lnTo>
                <a:lnTo>
                  <a:pt x="174" y="9"/>
                </a:lnTo>
                <a:lnTo>
                  <a:pt x="211" y="37"/>
                </a:lnTo>
                <a:lnTo>
                  <a:pt x="238" y="74"/>
                </a:lnTo>
                <a:lnTo>
                  <a:pt x="248" y="120"/>
                </a:lnTo>
                <a:lnTo>
                  <a:pt x="238" y="166"/>
                </a:lnTo>
                <a:lnTo>
                  <a:pt x="211" y="211"/>
                </a:lnTo>
                <a:lnTo>
                  <a:pt x="174" y="239"/>
                </a:lnTo>
                <a:lnTo>
                  <a:pt x="119" y="248"/>
                </a:lnTo>
                <a:lnTo>
                  <a:pt x="73" y="239"/>
                </a:lnTo>
                <a:lnTo>
                  <a:pt x="36" y="211"/>
                </a:lnTo>
                <a:lnTo>
                  <a:pt x="9" y="166"/>
                </a:lnTo>
                <a:lnTo>
                  <a:pt x="0" y="120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4" name="Freeform 34"/>
          <p:cNvSpPr>
            <a:spLocks/>
          </p:cNvSpPr>
          <p:nvPr/>
        </p:nvSpPr>
        <p:spPr bwMode="auto">
          <a:xfrm>
            <a:off x="1741488" y="3246438"/>
            <a:ext cx="393700" cy="393700"/>
          </a:xfrm>
          <a:custGeom>
            <a:avLst/>
            <a:gdLst>
              <a:gd name="T0" fmla="*/ 0 w 248"/>
              <a:gd name="T1" fmla="*/ 302418750 h 248"/>
              <a:gd name="T2" fmla="*/ 22682200 w 248"/>
              <a:gd name="T3" fmla="*/ 186491563 h 248"/>
              <a:gd name="T4" fmla="*/ 90725625 w 248"/>
              <a:gd name="T5" fmla="*/ 93246575 h 248"/>
              <a:gd name="T6" fmla="*/ 183972200 w 248"/>
              <a:gd name="T7" fmla="*/ 22682200 h 248"/>
              <a:gd name="T8" fmla="*/ 299899388 w 248"/>
              <a:gd name="T9" fmla="*/ 0 h 248"/>
              <a:gd name="T10" fmla="*/ 438507188 w 248"/>
              <a:gd name="T11" fmla="*/ 22682200 h 248"/>
              <a:gd name="T12" fmla="*/ 531753763 w 248"/>
              <a:gd name="T13" fmla="*/ 93246575 h 248"/>
              <a:gd name="T14" fmla="*/ 599797188 w 248"/>
              <a:gd name="T15" fmla="*/ 186491563 h 248"/>
              <a:gd name="T16" fmla="*/ 624998750 w 248"/>
              <a:gd name="T17" fmla="*/ 302418750 h 248"/>
              <a:gd name="T18" fmla="*/ 624998750 w 248"/>
              <a:gd name="T19" fmla="*/ 302418750 h 248"/>
              <a:gd name="T20" fmla="*/ 599797188 w 248"/>
              <a:gd name="T21" fmla="*/ 418345938 h 248"/>
              <a:gd name="T22" fmla="*/ 531753763 w 248"/>
              <a:gd name="T23" fmla="*/ 531753763 h 248"/>
              <a:gd name="T24" fmla="*/ 438507188 w 248"/>
              <a:gd name="T25" fmla="*/ 602318138 h 248"/>
              <a:gd name="T26" fmla="*/ 299899388 w 248"/>
              <a:gd name="T27" fmla="*/ 624998750 h 248"/>
              <a:gd name="T28" fmla="*/ 183972200 w 248"/>
              <a:gd name="T29" fmla="*/ 602318138 h 248"/>
              <a:gd name="T30" fmla="*/ 90725625 w 248"/>
              <a:gd name="T31" fmla="*/ 531753763 h 248"/>
              <a:gd name="T32" fmla="*/ 22682200 w 248"/>
              <a:gd name="T33" fmla="*/ 418345938 h 248"/>
              <a:gd name="T34" fmla="*/ 0 w 248"/>
              <a:gd name="T35" fmla="*/ 302418750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20"/>
                </a:moveTo>
                <a:lnTo>
                  <a:pt x="9" y="74"/>
                </a:lnTo>
                <a:lnTo>
                  <a:pt x="36" y="37"/>
                </a:lnTo>
                <a:lnTo>
                  <a:pt x="73" y="9"/>
                </a:lnTo>
                <a:lnTo>
                  <a:pt x="119" y="0"/>
                </a:lnTo>
                <a:lnTo>
                  <a:pt x="174" y="9"/>
                </a:lnTo>
                <a:lnTo>
                  <a:pt x="211" y="37"/>
                </a:lnTo>
                <a:lnTo>
                  <a:pt x="238" y="74"/>
                </a:lnTo>
                <a:lnTo>
                  <a:pt x="248" y="120"/>
                </a:lnTo>
                <a:lnTo>
                  <a:pt x="238" y="166"/>
                </a:lnTo>
                <a:lnTo>
                  <a:pt x="211" y="211"/>
                </a:lnTo>
                <a:lnTo>
                  <a:pt x="174" y="239"/>
                </a:lnTo>
                <a:lnTo>
                  <a:pt x="119" y="248"/>
                </a:lnTo>
                <a:lnTo>
                  <a:pt x="73" y="239"/>
                </a:lnTo>
                <a:lnTo>
                  <a:pt x="36" y="211"/>
                </a:lnTo>
                <a:lnTo>
                  <a:pt x="9" y="166"/>
                </a:lnTo>
                <a:lnTo>
                  <a:pt x="0" y="120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5" name="Freeform 35"/>
          <p:cNvSpPr>
            <a:spLocks/>
          </p:cNvSpPr>
          <p:nvPr/>
        </p:nvSpPr>
        <p:spPr bwMode="auto">
          <a:xfrm>
            <a:off x="4759325" y="3246438"/>
            <a:ext cx="393700" cy="393700"/>
          </a:xfrm>
          <a:custGeom>
            <a:avLst/>
            <a:gdLst>
              <a:gd name="T0" fmla="*/ 0 w 248"/>
              <a:gd name="T1" fmla="*/ 302418750 h 248"/>
              <a:gd name="T2" fmla="*/ 25201563 w 248"/>
              <a:gd name="T3" fmla="*/ 186491563 h 248"/>
              <a:gd name="T4" fmla="*/ 93246575 w 248"/>
              <a:gd name="T5" fmla="*/ 93246575 h 248"/>
              <a:gd name="T6" fmla="*/ 186491563 w 248"/>
              <a:gd name="T7" fmla="*/ 22682200 h 248"/>
              <a:gd name="T8" fmla="*/ 302418750 w 248"/>
              <a:gd name="T9" fmla="*/ 0 h 248"/>
              <a:gd name="T10" fmla="*/ 441028138 w 248"/>
              <a:gd name="T11" fmla="*/ 22682200 h 248"/>
              <a:gd name="T12" fmla="*/ 5342731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302418750 h 248"/>
              <a:gd name="T18" fmla="*/ 624998750 w 248"/>
              <a:gd name="T19" fmla="*/ 302418750 h 248"/>
              <a:gd name="T20" fmla="*/ 602318138 w 248"/>
              <a:gd name="T21" fmla="*/ 418345938 h 248"/>
              <a:gd name="T22" fmla="*/ 534273125 w 248"/>
              <a:gd name="T23" fmla="*/ 531753763 h 248"/>
              <a:gd name="T24" fmla="*/ 441028138 w 248"/>
              <a:gd name="T25" fmla="*/ 602318138 h 248"/>
              <a:gd name="T26" fmla="*/ 302418750 w 248"/>
              <a:gd name="T27" fmla="*/ 624998750 h 248"/>
              <a:gd name="T28" fmla="*/ 186491563 w 248"/>
              <a:gd name="T29" fmla="*/ 602318138 h 248"/>
              <a:gd name="T30" fmla="*/ 93246575 w 248"/>
              <a:gd name="T31" fmla="*/ 531753763 h 248"/>
              <a:gd name="T32" fmla="*/ 25201563 w 248"/>
              <a:gd name="T33" fmla="*/ 418345938 h 248"/>
              <a:gd name="T34" fmla="*/ 0 w 248"/>
              <a:gd name="T35" fmla="*/ 302418750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20"/>
                </a:moveTo>
                <a:lnTo>
                  <a:pt x="10" y="74"/>
                </a:lnTo>
                <a:lnTo>
                  <a:pt x="37" y="37"/>
                </a:lnTo>
                <a:lnTo>
                  <a:pt x="74" y="9"/>
                </a:lnTo>
                <a:lnTo>
                  <a:pt x="120" y="0"/>
                </a:lnTo>
                <a:lnTo>
                  <a:pt x="175" y="9"/>
                </a:lnTo>
                <a:lnTo>
                  <a:pt x="212" y="37"/>
                </a:lnTo>
                <a:lnTo>
                  <a:pt x="239" y="74"/>
                </a:lnTo>
                <a:lnTo>
                  <a:pt x="248" y="120"/>
                </a:lnTo>
                <a:lnTo>
                  <a:pt x="239" y="166"/>
                </a:lnTo>
                <a:lnTo>
                  <a:pt x="212" y="211"/>
                </a:lnTo>
                <a:lnTo>
                  <a:pt x="175" y="239"/>
                </a:lnTo>
                <a:lnTo>
                  <a:pt x="120" y="248"/>
                </a:lnTo>
                <a:lnTo>
                  <a:pt x="74" y="239"/>
                </a:lnTo>
                <a:lnTo>
                  <a:pt x="37" y="211"/>
                </a:lnTo>
                <a:lnTo>
                  <a:pt x="10" y="166"/>
                </a:lnTo>
                <a:lnTo>
                  <a:pt x="0" y="120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6" name="Freeform 36"/>
          <p:cNvSpPr>
            <a:spLocks/>
          </p:cNvSpPr>
          <p:nvPr/>
        </p:nvSpPr>
        <p:spPr bwMode="auto">
          <a:xfrm>
            <a:off x="4759325" y="3246438"/>
            <a:ext cx="393700" cy="393700"/>
          </a:xfrm>
          <a:custGeom>
            <a:avLst/>
            <a:gdLst>
              <a:gd name="T0" fmla="*/ 0 w 248"/>
              <a:gd name="T1" fmla="*/ 302418750 h 248"/>
              <a:gd name="T2" fmla="*/ 25201563 w 248"/>
              <a:gd name="T3" fmla="*/ 186491563 h 248"/>
              <a:gd name="T4" fmla="*/ 93246575 w 248"/>
              <a:gd name="T5" fmla="*/ 93246575 h 248"/>
              <a:gd name="T6" fmla="*/ 186491563 w 248"/>
              <a:gd name="T7" fmla="*/ 22682200 h 248"/>
              <a:gd name="T8" fmla="*/ 302418750 w 248"/>
              <a:gd name="T9" fmla="*/ 0 h 248"/>
              <a:gd name="T10" fmla="*/ 441028138 w 248"/>
              <a:gd name="T11" fmla="*/ 22682200 h 248"/>
              <a:gd name="T12" fmla="*/ 5342731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302418750 h 248"/>
              <a:gd name="T18" fmla="*/ 624998750 w 248"/>
              <a:gd name="T19" fmla="*/ 302418750 h 248"/>
              <a:gd name="T20" fmla="*/ 602318138 w 248"/>
              <a:gd name="T21" fmla="*/ 418345938 h 248"/>
              <a:gd name="T22" fmla="*/ 534273125 w 248"/>
              <a:gd name="T23" fmla="*/ 531753763 h 248"/>
              <a:gd name="T24" fmla="*/ 441028138 w 248"/>
              <a:gd name="T25" fmla="*/ 602318138 h 248"/>
              <a:gd name="T26" fmla="*/ 302418750 w 248"/>
              <a:gd name="T27" fmla="*/ 624998750 h 248"/>
              <a:gd name="T28" fmla="*/ 186491563 w 248"/>
              <a:gd name="T29" fmla="*/ 602318138 h 248"/>
              <a:gd name="T30" fmla="*/ 93246575 w 248"/>
              <a:gd name="T31" fmla="*/ 531753763 h 248"/>
              <a:gd name="T32" fmla="*/ 25201563 w 248"/>
              <a:gd name="T33" fmla="*/ 418345938 h 248"/>
              <a:gd name="T34" fmla="*/ 0 w 248"/>
              <a:gd name="T35" fmla="*/ 302418750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20"/>
                </a:moveTo>
                <a:lnTo>
                  <a:pt x="10" y="74"/>
                </a:lnTo>
                <a:lnTo>
                  <a:pt x="37" y="37"/>
                </a:lnTo>
                <a:lnTo>
                  <a:pt x="74" y="9"/>
                </a:lnTo>
                <a:lnTo>
                  <a:pt x="120" y="0"/>
                </a:lnTo>
                <a:lnTo>
                  <a:pt x="175" y="9"/>
                </a:lnTo>
                <a:lnTo>
                  <a:pt x="212" y="37"/>
                </a:lnTo>
                <a:lnTo>
                  <a:pt x="239" y="74"/>
                </a:lnTo>
                <a:lnTo>
                  <a:pt x="248" y="120"/>
                </a:lnTo>
                <a:lnTo>
                  <a:pt x="239" y="166"/>
                </a:lnTo>
                <a:lnTo>
                  <a:pt x="212" y="211"/>
                </a:lnTo>
                <a:lnTo>
                  <a:pt x="175" y="239"/>
                </a:lnTo>
                <a:lnTo>
                  <a:pt x="120" y="248"/>
                </a:lnTo>
                <a:lnTo>
                  <a:pt x="74" y="239"/>
                </a:lnTo>
                <a:lnTo>
                  <a:pt x="37" y="211"/>
                </a:lnTo>
                <a:lnTo>
                  <a:pt x="10" y="166"/>
                </a:lnTo>
                <a:lnTo>
                  <a:pt x="0" y="120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Freeform 37"/>
          <p:cNvSpPr>
            <a:spLocks/>
          </p:cNvSpPr>
          <p:nvPr/>
        </p:nvSpPr>
        <p:spPr bwMode="auto">
          <a:xfrm>
            <a:off x="1011238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47883763 w 248"/>
              <a:gd name="T3" fmla="*/ 186491563 h 248"/>
              <a:gd name="T4" fmla="*/ 93246575 w 248"/>
              <a:gd name="T5" fmla="*/ 93246575 h 248"/>
              <a:gd name="T6" fmla="*/ 209173763 w 248"/>
              <a:gd name="T7" fmla="*/ 22682200 h 248"/>
              <a:gd name="T8" fmla="*/ 325100950 w 248"/>
              <a:gd name="T9" fmla="*/ 0 h 248"/>
              <a:gd name="T10" fmla="*/ 441028138 w 248"/>
              <a:gd name="T11" fmla="*/ 22682200 h 248"/>
              <a:gd name="T12" fmla="*/ 5569553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56955325 w 248"/>
              <a:gd name="T23" fmla="*/ 531753763 h 248"/>
              <a:gd name="T24" fmla="*/ 441028138 w 248"/>
              <a:gd name="T25" fmla="*/ 602318138 h 248"/>
              <a:gd name="T26" fmla="*/ 325100950 w 248"/>
              <a:gd name="T27" fmla="*/ 624998750 h 248"/>
              <a:gd name="T28" fmla="*/ 209173763 w 248"/>
              <a:gd name="T29" fmla="*/ 602318138 h 248"/>
              <a:gd name="T30" fmla="*/ 93246575 w 248"/>
              <a:gd name="T31" fmla="*/ 531753763 h 248"/>
              <a:gd name="T32" fmla="*/ 47883763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19" y="74"/>
                </a:lnTo>
                <a:lnTo>
                  <a:pt x="37" y="37"/>
                </a:lnTo>
                <a:lnTo>
                  <a:pt x="83" y="9"/>
                </a:lnTo>
                <a:lnTo>
                  <a:pt x="129" y="0"/>
                </a:lnTo>
                <a:lnTo>
                  <a:pt x="175" y="9"/>
                </a:lnTo>
                <a:lnTo>
                  <a:pt x="221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21" y="211"/>
                </a:lnTo>
                <a:lnTo>
                  <a:pt x="175" y="239"/>
                </a:lnTo>
                <a:lnTo>
                  <a:pt x="129" y="248"/>
                </a:lnTo>
                <a:lnTo>
                  <a:pt x="83" y="239"/>
                </a:lnTo>
                <a:lnTo>
                  <a:pt x="37" y="211"/>
                </a:lnTo>
                <a:lnTo>
                  <a:pt x="19" y="165"/>
                </a:lnTo>
                <a:lnTo>
                  <a:pt x="0" y="119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8" name="Freeform 38"/>
          <p:cNvSpPr>
            <a:spLocks/>
          </p:cNvSpPr>
          <p:nvPr/>
        </p:nvSpPr>
        <p:spPr bwMode="auto">
          <a:xfrm>
            <a:off x="1011238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47883763 w 248"/>
              <a:gd name="T3" fmla="*/ 186491563 h 248"/>
              <a:gd name="T4" fmla="*/ 93246575 w 248"/>
              <a:gd name="T5" fmla="*/ 93246575 h 248"/>
              <a:gd name="T6" fmla="*/ 209173763 w 248"/>
              <a:gd name="T7" fmla="*/ 22682200 h 248"/>
              <a:gd name="T8" fmla="*/ 325100950 w 248"/>
              <a:gd name="T9" fmla="*/ 0 h 248"/>
              <a:gd name="T10" fmla="*/ 441028138 w 248"/>
              <a:gd name="T11" fmla="*/ 22682200 h 248"/>
              <a:gd name="T12" fmla="*/ 5569553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56955325 w 248"/>
              <a:gd name="T23" fmla="*/ 531753763 h 248"/>
              <a:gd name="T24" fmla="*/ 441028138 w 248"/>
              <a:gd name="T25" fmla="*/ 602318138 h 248"/>
              <a:gd name="T26" fmla="*/ 325100950 w 248"/>
              <a:gd name="T27" fmla="*/ 624998750 h 248"/>
              <a:gd name="T28" fmla="*/ 209173763 w 248"/>
              <a:gd name="T29" fmla="*/ 602318138 h 248"/>
              <a:gd name="T30" fmla="*/ 93246575 w 248"/>
              <a:gd name="T31" fmla="*/ 531753763 h 248"/>
              <a:gd name="T32" fmla="*/ 47883763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19" y="74"/>
                </a:lnTo>
                <a:lnTo>
                  <a:pt x="37" y="37"/>
                </a:lnTo>
                <a:lnTo>
                  <a:pt x="83" y="9"/>
                </a:lnTo>
                <a:lnTo>
                  <a:pt x="129" y="0"/>
                </a:lnTo>
                <a:lnTo>
                  <a:pt x="175" y="9"/>
                </a:lnTo>
                <a:lnTo>
                  <a:pt x="221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21" y="211"/>
                </a:lnTo>
                <a:lnTo>
                  <a:pt x="175" y="239"/>
                </a:lnTo>
                <a:lnTo>
                  <a:pt x="129" y="248"/>
                </a:lnTo>
                <a:lnTo>
                  <a:pt x="83" y="239"/>
                </a:lnTo>
                <a:lnTo>
                  <a:pt x="37" y="211"/>
                </a:lnTo>
                <a:lnTo>
                  <a:pt x="19" y="165"/>
                </a:lnTo>
                <a:lnTo>
                  <a:pt x="0" y="119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9" name="Freeform 39"/>
          <p:cNvSpPr>
            <a:spLocks/>
          </p:cNvSpPr>
          <p:nvPr/>
        </p:nvSpPr>
        <p:spPr bwMode="auto">
          <a:xfrm>
            <a:off x="2659063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25201563 w 248"/>
              <a:gd name="T3" fmla="*/ 186491563 h 248"/>
              <a:gd name="T4" fmla="*/ 93246575 w 248"/>
              <a:gd name="T5" fmla="*/ 93246575 h 248"/>
              <a:gd name="T6" fmla="*/ 186491563 w 248"/>
              <a:gd name="T7" fmla="*/ 22682200 h 248"/>
              <a:gd name="T8" fmla="*/ 302418750 w 248"/>
              <a:gd name="T9" fmla="*/ 0 h 248"/>
              <a:gd name="T10" fmla="*/ 441028138 w 248"/>
              <a:gd name="T11" fmla="*/ 22682200 h 248"/>
              <a:gd name="T12" fmla="*/ 5342731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34273125 w 248"/>
              <a:gd name="T23" fmla="*/ 531753763 h 248"/>
              <a:gd name="T24" fmla="*/ 441028138 w 248"/>
              <a:gd name="T25" fmla="*/ 602318138 h 248"/>
              <a:gd name="T26" fmla="*/ 302418750 w 248"/>
              <a:gd name="T27" fmla="*/ 624998750 h 248"/>
              <a:gd name="T28" fmla="*/ 186491563 w 248"/>
              <a:gd name="T29" fmla="*/ 602318138 h 248"/>
              <a:gd name="T30" fmla="*/ 93246575 w 248"/>
              <a:gd name="T31" fmla="*/ 531753763 h 248"/>
              <a:gd name="T32" fmla="*/ 25201563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10" y="74"/>
                </a:lnTo>
                <a:lnTo>
                  <a:pt x="37" y="37"/>
                </a:lnTo>
                <a:lnTo>
                  <a:pt x="74" y="9"/>
                </a:lnTo>
                <a:lnTo>
                  <a:pt x="120" y="0"/>
                </a:lnTo>
                <a:lnTo>
                  <a:pt x="175" y="9"/>
                </a:lnTo>
                <a:lnTo>
                  <a:pt x="212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12" y="211"/>
                </a:lnTo>
                <a:lnTo>
                  <a:pt x="175" y="239"/>
                </a:lnTo>
                <a:lnTo>
                  <a:pt x="120" y="248"/>
                </a:lnTo>
                <a:lnTo>
                  <a:pt x="74" y="239"/>
                </a:lnTo>
                <a:lnTo>
                  <a:pt x="37" y="211"/>
                </a:lnTo>
                <a:lnTo>
                  <a:pt x="10" y="165"/>
                </a:lnTo>
                <a:lnTo>
                  <a:pt x="0" y="119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0" name="Freeform 40"/>
          <p:cNvSpPr>
            <a:spLocks/>
          </p:cNvSpPr>
          <p:nvPr/>
        </p:nvSpPr>
        <p:spPr bwMode="auto">
          <a:xfrm>
            <a:off x="2659063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25201563 w 248"/>
              <a:gd name="T3" fmla="*/ 186491563 h 248"/>
              <a:gd name="T4" fmla="*/ 93246575 w 248"/>
              <a:gd name="T5" fmla="*/ 93246575 h 248"/>
              <a:gd name="T6" fmla="*/ 186491563 w 248"/>
              <a:gd name="T7" fmla="*/ 22682200 h 248"/>
              <a:gd name="T8" fmla="*/ 302418750 w 248"/>
              <a:gd name="T9" fmla="*/ 0 h 248"/>
              <a:gd name="T10" fmla="*/ 441028138 w 248"/>
              <a:gd name="T11" fmla="*/ 22682200 h 248"/>
              <a:gd name="T12" fmla="*/ 5342731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34273125 w 248"/>
              <a:gd name="T23" fmla="*/ 531753763 h 248"/>
              <a:gd name="T24" fmla="*/ 441028138 w 248"/>
              <a:gd name="T25" fmla="*/ 602318138 h 248"/>
              <a:gd name="T26" fmla="*/ 302418750 w 248"/>
              <a:gd name="T27" fmla="*/ 624998750 h 248"/>
              <a:gd name="T28" fmla="*/ 186491563 w 248"/>
              <a:gd name="T29" fmla="*/ 602318138 h 248"/>
              <a:gd name="T30" fmla="*/ 93246575 w 248"/>
              <a:gd name="T31" fmla="*/ 531753763 h 248"/>
              <a:gd name="T32" fmla="*/ 25201563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10" y="74"/>
                </a:lnTo>
                <a:lnTo>
                  <a:pt x="37" y="37"/>
                </a:lnTo>
                <a:lnTo>
                  <a:pt x="74" y="9"/>
                </a:lnTo>
                <a:lnTo>
                  <a:pt x="120" y="0"/>
                </a:lnTo>
                <a:lnTo>
                  <a:pt x="175" y="9"/>
                </a:lnTo>
                <a:lnTo>
                  <a:pt x="212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12" y="211"/>
                </a:lnTo>
                <a:lnTo>
                  <a:pt x="175" y="239"/>
                </a:lnTo>
                <a:lnTo>
                  <a:pt x="120" y="248"/>
                </a:lnTo>
                <a:lnTo>
                  <a:pt x="74" y="239"/>
                </a:lnTo>
                <a:lnTo>
                  <a:pt x="37" y="211"/>
                </a:lnTo>
                <a:lnTo>
                  <a:pt x="10" y="165"/>
                </a:lnTo>
                <a:lnTo>
                  <a:pt x="0" y="119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1" name="Freeform 41"/>
          <p:cNvSpPr>
            <a:spLocks/>
          </p:cNvSpPr>
          <p:nvPr/>
        </p:nvSpPr>
        <p:spPr bwMode="auto">
          <a:xfrm>
            <a:off x="3768725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22682200 w 248"/>
              <a:gd name="T3" fmla="*/ 186491563 h 248"/>
              <a:gd name="T4" fmla="*/ 90725625 w 248"/>
              <a:gd name="T5" fmla="*/ 93246575 h 248"/>
              <a:gd name="T6" fmla="*/ 206652813 w 248"/>
              <a:gd name="T7" fmla="*/ 22682200 h 248"/>
              <a:gd name="T8" fmla="*/ 322580000 w 248"/>
              <a:gd name="T9" fmla="*/ 0 h 248"/>
              <a:gd name="T10" fmla="*/ 438507188 w 248"/>
              <a:gd name="T11" fmla="*/ 22682200 h 248"/>
              <a:gd name="T12" fmla="*/ 531753763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31753763 w 248"/>
              <a:gd name="T23" fmla="*/ 531753763 h 248"/>
              <a:gd name="T24" fmla="*/ 438507188 w 248"/>
              <a:gd name="T25" fmla="*/ 602318138 h 248"/>
              <a:gd name="T26" fmla="*/ 322580000 w 248"/>
              <a:gd name="T27" fmla="*/ 624998750 h 248"/>
              <a:gd name="T28" fmla="*/ 206652813 w 248"/>
              <a:gd name="T29" fmla="*/ 602318138 h 248"/>
              <a:gd name="T30" fmla="*/ 90725625 w 248"/>
              <a:gd name="T31" fmla="*/ 531753763 h 248"/>
              <a:gd name="T32" fmla="*/ 22682200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9" y="74"/>
                </a:lnTo>
                <a:lnTo>
                  <a:pt x="36" y="37"/>
                </a:lnTo>
                <a:lnTo>
                  <a:pt x="82" y="9"/>
                </a:lnTo>
                <a:lnTo>
                  <a:pt x="128" y="0"/>
                </a:lnTo>
                <a:lnTo>
                  <a:pt x="174" y="9"/>
                </a:lnTo>
                <a:lnTo>
                  <a:pt x="211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11" y="211"/>
                </a:lnTo>
                <a:lnTo>
                  <a:pt x="174" y="239"/>
                </a:lnTo>
                <a:lnTo>
                  <a:pt x="128" y="248"/>
                </a:lnTo>
                <a:lnTo>
                  <a:pt x="82" y="239"/>
                </a:lnTo>
                <a:lnTo>
                  <a:pt x="36" y="211"/>
                </a:lnTo>
                <a:lnTo>
                  <a:pt x="9" y="165"/>
                </a:lnTo>
                <a:lnTo>
                  <a:pt x="0" y="119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2" name="Freeform 42"/>
          <p:cNvSpPr>
            <a:spLocks/>
          </p:cNvSpPr>
          <p:nvPr/>
        </p:nvSpPr>
        <p:spPr bwMode="auto">
          <a:xfrm>
            <a:off x="3768725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22682200 w 248"/>
              <a:gd name="T3" fmla="*/ 186491563 h 248"/>
              <a:gd name="T4" fmla="*/ 90725625 w 248"/>
              <a:gd name="T5" fmla="*/ 93246575 h 248"/>
              <a:gd name="T6" fmla="*/ 206652813 w 248"/>
              <a:gd name="T7" fmla="*/ 22682200 h 248"/>
              <a:gd name="T8" fmla="*/ 322580000 w 248"/>
              <a:gd name="T9" fmla="*/ 0 h 248"/>
              <a:gd name="T10" fmla="*/ 438507188 w 248"/>
              <a:gd name="T11" fmla="*/ 22682200 h 248"/>
              <a:gd name="T12" fmla="*/ 531753763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31753763 w 248"/>
              <a:gd name="T23" fmla="*/ 531753763 h 248"/>
              <a:gd name="T24" fmla="*/ 438507188 w 248"/>
              <a:gd name="T25" fmla="*/ 602318138 h 248"/>
              <a:gd name="T26" fmla="*/ 322580000 w 248"/>
              <a:gd name="T27" fmla="*/ 624998750 h 248"/>
              <a:gd name="T28" fmla="*/ 206652813 w 248"/>
              <a:gd name="T29" fmla="*/ 602318138 h 248"/>
              <a:gd name="T30" fmla="*/ 90725625 w 248"/>
              <a:gd name="T31" fmla="*/ 531753763 h 248"/>
              <a:gd name="T32" fmla="*/ 22682200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9" y="74"/>
                </a:lnTo>
                <a:lnTo>
                  <a:pt x="36" y="37"/>
                </a:lnTo>
                <a:lnTo>
                  <a:pt x="82" y="9"/>
                </a:lnTo>
                <a:lnTo>
                  <a:pt x="128" y="0"/>
                </a:lnTo>
                <a:lnTo>
                  <a:pt x="174" y="9"/>
                </a:lnTo>
                <a:lnTo>
                  <a:pt x="211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11" y="211"/>
                </a:lnTo>
                <a:lnTo>
                  <a:pt x="174" y="239"/>
                </a:lnTo>
                <a:lnTo>
                  <a:pt x="128" y="248"/>
                </a:lnTo>
                <a:lnTo>
                  <a:pt x="82" y="239"/>
                </a:lnTo>
                <a:lnTo>
                  <a:pt x="36" y="211"/>
                </a:lnTo>
                <a:lnTo>
                  <a:pt x="9" y="165"/>
                </a:lnTo>
                <a:lnTo>
                  <a:pt x="0" y="119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3" name="Freeform 43"/>
          <p:cNvSpPr>
            <a:spLocks/>
          </p:cNvSpPr>
          <p:nvPr/>
        </p:nvSpPr>
        <p:spPr bwMode="auto">
          <a:xfrm>
            <a:off x="5678488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22682200 w 248"/>
              <a:gd name="T3" fmla="*/ 186491563 h 248"/>
              <a:gd name="T4" fmla="*/ 93246575 w 248"/>
              <a:gd name="T5" fmla="*/ 93246575 h 248"/>
              <a:gd name="T6" fmla="*/ 186491563 w 248"/>
              <a:gd name="T7" fmla="*/ 22682200 h 248"/>
              <a:gd name="T8" fmla="*/ 302418750 w 248"/>
              <a:gd name="T9" fmla="*/ 0 h 248"/>
              <a:gd name="T10" fmla="*/ 441028138 w 248"/>
              <a:gd name="T11" fmla="*/ 22682200 h 248"/>
              <a:gd name="T12" fmla="*/ 5342731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34273125 w 248"/>
              <a:gd name="T23" fmla="*/ 531753763 h 248"/>
              <a:gd name="T24" fmla="*/ 441028138 w 248"/>
              <a:gd name="T25" fmla="*/ 602318138 h 248"/>
              <a:gd name="T26" fmla="*/ 302418750 w 248"/>
              <a:gd name="T27" fmla="*/ 624998750 h 248"/>
              <a:gd name="T28" fmla="*/ 186491563 w 248"/>
              <a:gd name="T29" fmla="*/ 602318138 h 248"/>
              <a:gd name="T30" fmla="*/ 93246575 w 248"/>
              <a:gd name="T31" fmla="*/ 531753763 h 248"/>
              <a:gd name="T32" fmla="*/ 22682200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9" y="74"/>
                </a:lnTo>
                <a:lnTo>
                  <a:pt x="37" y="37"/>
                </a:lnTo>
                <a:lnTo>
                  <a:pt x="74" y="9"/>
                </a:lnTo>
                <a:lnTo>
                  <a:pt x="120" y="0"/>
                </a:lnTo>
                <a:lnTo>
                  <a:pt x="175" y="9"/>
                </a:lnTo>
                <a:lnTo>
                  <a:pt x="212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12" y="211"/>
                </a:lnTo>
                <a:lnTo>
                  <a:pt x="175" y="239"/>
                </a:lnTo>
                <a:lnTo>
                  <a:pt x="120" y="248"/>
                </a:lnTo>
                <a:lnTo>
                  <a:pt x="74" y="239"/>
                </a:lnTo>
                <a:lnTo>
                  <a:pt x="37" y="211"/>
                </a:lnTo>
                <a:lnTo>
                  <a:pt x="9" y="165"/>
                </a:lnTo>
                <a:lnTo>
                  <a:pt x="0" y="119"/>
                </a:lnTo>
                <a:close/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4" name="Freeform 44"/>
          <p:cNvSpPr>
            <a:spLocks/>
          </p:cNvSpPr>
          <p:nvPr/>
        </p:nvSpPr>
        <p:spPr bwMode="auto">
          <a:xfrm>
            <a:off x="5678488" y="4427538"/>
            <a:ext cx="393700" cy="393700"/>
          </a:xfrm>
          <a:custGeom>
            <a:avLst/>
            <a:gdLst>
              <a:gd name="T0" fmla="*/ 0 w 248"/>
              <a:gd name="T1" fmla="*/ 299899388 h 248"/>
              <a:gd name="T2" fmla="*/ 22682200 w 248"/>
              <a:gd name="T3" fmla="*/ 186491563 h 248"/>
              <a:gd name="T4" fmla="*/ 93246575 w 248"/>
              <a:gd name="T5" fmla="*/ 93246575 h 248"/>
              <a:gd name="T6" fmla="*/ 186491563 w 248"/>
              <a:gd name="T7" fmla="*/ 22682200 h 248"/>
              <a:gd name="T8" fmla="*/ 302418750 w 248"/>
              <a:gd name="T9" fmla="*/ 0 h 248"/>
              <a:gd name="T10" fmla="*/ 441028138 w 248"/>
              <a:gd name="T11" fmla="*/ 22682200 h 248"/>
              <a:gd name="T12" fmla="*/ 534273125 w 248"/>
              <a:gd name="T13" fmla="*/ 93246575 h 248"/>
              <a:gd name="T14" fmla="*/ 602318138 w 248"/>
              <a:gd name="T15" fmla="*/ 186491563 h 248"/>
              <a:gd name="T16" fmla="*/ 624998750 w 248"/>
              <a:gd name="T17" fmla="*/ 299899388 h 248"/>
              <a:gd name="T18" fmla="*/ 624998750 w 248"/>
              <a:gd name="T19" fmla="*/ 299899388 h 248"/>
              <a:gd name="T20" fmla="*/ 602318138 w 248"/>
              <a:gd name="T21" fmla="*/ 415826575 h 248"/>
              <a:gd name="T22" fmla="*/ 534273125 w 248"/>
              <a:gd name="T23" fmla="*/ 531753763 h 248"/>
              <a:gd name="T24" fmla="*/ 441028138 w 248"/>
              <a:gd name="T25" fmla="*/ 602318138 h 248"/>
              <a:gd name="T26" fmla="*/ 302418750 w 248"/>
              <a:gd name="T27" fmla="*/ 624998750 h 248"/>
              <a:gd name="T28" fmla="*/ 186491563 w 248"/>
              <a:gd name="T29" fmla="*/ 602318138 h 248"/>
              <a:gd name="T30" fmla="*/ 93246575 w 248"/>
              <a:gd name="T31" fmla="*/ 531753763 h 248"/>
              <a:gd name="T32" fmla="*/ 22682200 w 248"/>
              <a:gd name="T33" fmla="*/ 415826575 h 248"/>
              <a:gd name="T34" fmla="*/ 0 w 248"/>
              <a:gd name="T35" fmla="*/ 299899388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19"/>
                </a:moveTo>
                <a:lnTo>
                  <a:pt x="9" y="74"/>
                </a:lnTo>
                <a:lnTo>
                  <a:pt x="37" y="37"/>
                </a:lnTo>
                <a:lnTo>
                  <a:pt x="74" y="9"/>
                </a:lnTo>
                <a:lnTo>
                  <a:pt x="120" y="0"/>
                </a:lnTo>
                <a:lnTo>
                  <a:pt x="175" y="9"/>
                </a:lnTo>
                <a:lnTo>
                  <a:pt x="212" y="37"/>
                </a:lnTo>
                <a:lnTo>
                  <a:pt x="239" y="74"/>
                </a:lnTo>
                <a:lnTo>
                  <a:pt x="248" y="119"/>
                </a:lnTo>
                <a:lnTo>
                  <a:pt x="239" y="165"/>
                </a:lnTo>
                <a:lnTo>
                  <a:pt x="212" y="211"/>
                </a:lnTo>
                <a:lnTo>
                  <a:pt x="175" y="239"/>
                </a:lnTo>
                <a:lnTo>
                  <a:pt x="120" y="248"/>
                </a:lnTo>
                <a:lnTo>
                  <a:pt x="74" y="239"/>
                </a:lnTo>
                <a:lnTo>
                  <a:pt x="37" y="211"/>
                </a:lnTo>
                <a:lnTo>
                  <a:pt x="9" y="165"/>
                </a:lnTo>
                <a:lnTo>
                  <a:pt x="0" y="119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5" name="Line 45"/>
          <p:cNvSpPr>
            <a:spLocks noChangeShapeType="1"/>
          </p:cNvSpPr>
          <p:nvPr/>
        </p:nvSpPr>
        <p:spPr bwMode="auto">
          <a:xfrm flipH="1">
            <a:off x="1930400" y="2649538"/>
            <a:ext cx="1444625" cy="5969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6" name="Line 46"/>
          <p:cNvSpPr>
            <a:spLocks noChangeShapeType="1"/>
          </p:cNvSpPr>
          <p:nvPr/>
        </p:nvSpPr>
        <p:spPr bwMode="auto">
          <a:xfrm>
            <a:off x="3375025" y="2649538"/>
            <a:ext cx="1574800" cy="5969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7" name="Line 47"/>
          <p:cNvSpPr>
            <a:spLocks noChangeShapeType="1"/>
          </p:cNvSpPr>
          <p:nvPr/>
        </p:nvSpPr>
        <p:spPr bwMode="auto">
          <a:xfrm flipH="1">
            <a:off x="3971925" y="3640138"/>
            <a:ext cx="977900" cy="787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8" name="Line 48"/>
          <p:cNvSpPr>
            <a:spLocks noChangeShapeType="1"/>
          </p:cNvSpPr>
          <p:nvPr/>
        </p:nvSpPr>
        <p:spPr bwMode="auto">
          <a:xfrm>
            <a:off x="4949825" y="3640138"/>
            <a:ext cx="919163" cy="787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9" name="Line 49"/>
          <p:cNvSpPr>
            <a:spLocks noChangeShapeType="1"/>
          </p:cNvSpPr>
          <p:nvPr/>
        </p:nvSpPr>
        <p:spPr bwMode="auto">
          <a:xfrm flipH="1">
            <a:off x="1216025" y="3640138"/>
            <a:ext cx="714375" cy="787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500" name="Line 50"/>
          <p:cNvSpPr>
            <a:spLocks noChangeShapeType="1"/>
          </p:cNvSpPr>
          <p:nvPr/>
        </p:nvSpPr>
        <p:spPr bwMode="auto">
          <a:xfrm>
            <a:off x="1930400" y="3640138"/>
            <a:ext cx="919163" cy="787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501" name="Rectangle 51"/>
          <p:cNvSpPr>
            <a:spLocks noChangeArrowheads="1"/>
          </p:cNvSpPr>
          <p:nvPr/>
        </p:nvSpPr>
        <p:spPr bwMode="auto">
          <a:xfrm>
            <a:off x="1171575" y="4953000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3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502" name="Rectangle 52"/>
          <p:cNvSpPr>
            <a:spLocks noChangeArrowheads="1"/>
          </p:cNvSpPr>
          <p:nvPr/>
        </p:nvSpPr>
        <p:spPr bwMode="auto">
          <a:xfrm>
            <a:off x="2805113" y="4953000"/>
            <a:ext cx="1063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6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7877" name="Rectangle 53"/>
          <p:cNvSpPr>
            <a:spLocks noChangeArrowheads="1"/>
          </p:cNvSpPr>
          <p:nvPr/>
        </p:nvSpPr>
        <p:spPr bwMode="auto">
          <a:xfrm>
            <a:off x="3914775" y="4953000"/>
            <a:ext cx="106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2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504" name="Rectangle 55"/>
          <p:cNvSpPr>
            <a:spLocks noChangeArrowheads="1"/>
          </p:cNvSpPr>
          <p:nvPr/>
        </p:nvSpPr>
        <p:spPr bwMode="auto">
          <a:xfrm>
            <a:off x="6437313" y="2239963"/>
            <a:ext cx="1752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Maximizing Level</a:t>
            </a:r>
          </a:p>
        </p:txBody>
      </p:sp>
      <p:sp>
        <p:nvSpPr>
          <p:cNvPr id="20505" name="Rectangle 56"/>
          <p:cNvSpPr>
            <a:spLocks noChangeArrowheads="1"/>
          </p:cNvSpPr>
          <p:nvPr/>
        </p:nvSpPr>
        <p:spPr bwMode="auto">
          <a:xfrm>
            <a:off x="6408738" y="3260725"/>
            <a:ext cx="1689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Minimizing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Level</a:t>
            </a:r>
          </a:p>
        </p:txBody>
      </p:sp>
      <p:sp>
        <p:nvSpPr>
          <p:cNvPr id="20506" name="Rectangle 57"/>
          <p:cNvSpPr>
            <a:spLocks noChangeArrowheads="1"/>
          </p:cNvSpPr>
          <p:nvPr/>
        </p:nvSpPr>
        <p:spPr bwMode="auto">
          <a:xfrm>
            <a:off x="6378575" y="4368800"/>
            <a:ext cx="1752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Maximizing Level</a:t>
            </a:r>
          </a:p>
        </p:txBody>
      </p:sp>
      <p:sp>
        <p:nvSpPr>
          <p:cNvPr id="77883" name="Line 59"/>
          <p:cNvSpPr>
            <a:spLocks noChangeShapeType="1"/>
          </p:cNvSpPr>
          <p:nvPr/>
        </p:nvSpPr>
        <p:spPr bwMode="auto">
          <a:xfrm flipH="1">
            <a:off x="941388" y="3684588"/>
            <a:ext cx="703262" cy="70326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84" name="Freeform 60"/>
          <p:cNvSpPr>
            <a:spLocks/>
          </p:cNvSpPr>
          <p:nvPr/>
        </p:nvSpPr>
        <p:spPr bwMode="auto">
          <a:xfrm>
            <a:off x="881063" y="4343400"/>
            <a:ext cx="104775" cy="104775"/>
          </a:xfrm>
          <a:custGeom>
            <a:avLst/>
            <a:gdLst>
              <a:gd name="T0" fmla="*/ 166330313 w 66"/>
              <a:gd name="T1" fmla="*/ 118448138 h 66"/>
              <a:gd name="T2" fmla="*/ 0 w 66"/>
              <a:gd name="T3" fmla="*/ 166330313 h 66"/>
              <a:gd name="T4" fmla="*/ 47883763 w 66"/>
              <a:gd name="T5" fmla="*/ 0 h 66"/>
              <a:gd name="T6" fmla="*/ 166330313 w 66"/>
              <a:gd name="T7" fmla="*/ 118448138 h 6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6" h="66">
                <a:moveTo>
                  <a:pt x="66" y="47"/>
                </a:moveTo>
                <a:lnTo>
                  <a:pt x="0" y="66"/>
                </a:lnTo>
                <a:lnTo>
                  <a:pt x="19" y="0"/>
                </a:lnTo>
                <a:lnTo>
                  <a:pt x="66" y="47"/>
                </a:lnTo>
                <a:close/>
              </a:path>
            </a:pathLst>
          </a:custGeom>
          <a:solidFill>
            <a:srgbClr val="0000FF"/>
          </a:solidFill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87" name="Rectangle 63"/>
          <p:cNvSpPr>
            <a:spLocks noChangeArrowheads="1"/>
          </p:cNvSpPr>
          <p:nvPr/>
        </p:nvSpPr>
        <p:spPr bwMode="auto">
          <a:xfrm>
            <a:off x="1570038" y="3111500"/>
            <a:ext cx="2174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=3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7892" name="Line 68"/>
          <p:cNvSpPr>
            <a:spLocks noChangeShapeType="1"/>
          </p:cNvSpPr>
          <p:nvPr/>
        </p:nvSpPr>
        <p:spPr bwMode="auto">
          <a:xfrm flipH="1">
            <a:off x="1981200" y="2530475"/>
            <a:ext cx="1203325" cy="4413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93" name="Freeform 69"/>
          <p:cNvSpPr>
            <a:spLocks/>
          </p:cNvSpPr>
          <p:nvPr/>
        </p:nvSpPr>
        <p:spPr bwMode="auto">
          <a:xfrm>
            <a:off x="1905000" y="2943225"/>
            <a:ext cx="104775" cy="104775"/>
          </a:xfrm>
          <a:custGeom>
            <a:avLst/>
            <a:gdLst>
              <a:gd name="T0" fmla="*/ 166330313 w 66"/>
              <a:gd name="T1" fmla="*/ 118448138 h 66"/>
              <a:gd name="T2" fmla="*/ 0 w 66"/>
              <a:gd name="T3" fmla="*/ 166330313 h 66"/>
              <a:gd name="T4" fmla="*/ 47883763 w 66"/>
              <a:gd name="T5" fmla="*/ 0 h 66"/>
              <a:gd name="T6" fmla="*/ 166330313 w 66"/>
              <a:gd name="T7" fmla="*/ 118448138 h 6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6" h="66">
                <a:moveTo>
                  <a:pt x="66" y="47"/>
                </a:moveTo>
                <a:lnTo>
                  <a:pt x="0" y="66"/>
                </a:lnTo>
                <a:lnTo>
                  <a:pt x="19" y="0"/>
                </a:lnTo>
                <a:lnTo>
                  <a:pt x="66" y="47"/>
                </a:lnTo>
                <a:close/>
              </a:path>
            </a:pathLst>
          </a:custGeom>
          <a:solidFill>
            <a:srgbClr val="0000FF"/>
          </a:solidFill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94" name="Rectangle 70"/>
          <p:cNvSpPr>
            <a:spLocks noChangeArrowheads="1"/>
          </p:cNvSpPr>
          <p:nvPr/>
        </p:nvSpPr>
        <p:spPr bwMode="auto">
          <a:xfrm>
            <a:off x="2743200" y="1828800"/>
            <a:ext cx="328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  =3</a:t>
            </a:r>
          </a:p>
          <a:p>
            <a:r>
              <a:rPr lang="en-US" sz="1500">
                <a:solidFill>
                  <a:schemeClr val="bg1"/>
                </a:solidFill>
              </a:rPr>
              <a:t>&gt;=3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7895" name="Rectangle 71"/>
          <p:cNvSpPr>
            <a:spLocks noChangeArrowheads="1"/>
          </p:cNvSpPr>
          <p:nvPr/>
        </p:nvSpPr>
        <p:spPr bwMode="auto">
          <a:xfrm>
            <a:off x="4343400" y="3352800"/>
            <a:ext cx="328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=&lt;2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514" name="Freeform 72"/>
          <p:cNvSpPr>
            <a:spLocks/>
          </p:cNvSpPr>
          <p:nvPr/>
        </p:nvSpPr>
        <p:spPr bwMode="auto">
          <a:xfrm>
            <a:off x="3187700" y="2273300"/>
            <a:ext cx="393700" cy="393700"/>
          </a:xfrm>
          <a:custGeom>
            <a:avLst/>
            <a:gdLst>
              <a:gd name="T0" fmla="*/ 0 w 248"/>
              <a:gd name="T1" fmla="*/ 302418750 h 248"/>
              <a:gd name="T2" fmla="*/ 22682200 w 248"/>
              <a:gd name="T3" fmla="*/ 186491563 h 248"/>
              <a:gd name="T4" fmla="*/ 90725625 w 248"/>
              <a:gd name="T5" fmla="*/ 93246575 h 248"/>
              <a:gd name="T6" fmla="*/ 183972200 w 248"/>
              <a:gd name="T7" fmla="*/ 22682200 h 248"/>
              <a:gd name="T8" fmla="*/ 299899388 w 248"/>
              <a:gd name="T9" fmla="*/ 0 h 248"/>
              <a:gd name="T10" fmla="*/ 438507188 w 248"/>
              <a:gd name="T11" fmla="*/ 22682200 h 248"/>
              <a:gd name="T12" fmla="*/ 531753763 w 248"/>
              <a:gd name="T13" fmla="*/ 93246575 h 248"/>
              <a:gd name="T14" fmla="*/ 599797188 w 248"/>
              <a:gd name="T15" fmla="*/ 186491563 h 248"/>
              <a:gd name="T16" fmla="*/ 624998750 w 248"/>
              <a:gd name="T17" fmla="*/ 302418750 h 248"/>
              <a:gd name="T18" fmla="*/ 624998750 w 248"/>
              <a:gd name="T19" fmla="*/ 302418750 h 248"/>
              <a:gd name="T20" fmla="*/ 599797188 w 248"/>
              <a:gd name="T21" fmla="*/ 418345938 h 248"/>
              <a:gd name="T22" fmla="*/ 531753763 w 248"/>
              <a:gd name="T23" fmla="*/ 531753763 h 248"/>
              <a:gd name="T24" fmla="*/ 438507188 w 248"/>
              <a:gd name="T25" fmla="*/ 602318138 h 248"/>
              <a:gd name="T26" fmla="*/ 299899388 w 248"/>
              <a:gd name="T27" fmla="*/ 624998750 h 248"/>
              <a:gd name="T28" fmla="*/ 183972200 w 248"/>
              <a:gd name="T29" fmla="*/ 602318138 h 248"/>
              <a:gd name="T30" fmla="*/ 90725625 w 248"/>
              <a:gd name="T31" fmla="*/ 531753763 h 248"/>
              <a:gd name="T32" fmla="*/ 22682200 w 248"/>
              <a:gd name="T33" fmla="*/ 418345938 h 248"/>
              <a:gd name="T34" fmla="*/ 0 w 248"/>
              <a:gd name="T35" fmla="*/ 302418750 h 24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48" h="248">
                <a:moveTo>
                  <a:pt x="0" y="120"/>
                </a:moveTo>
                <a:lnTo>
                  <a:pt x="9" y="74"/>
                </a:lnTo>
                <a:lnTo>
                  <a:pt x="36" y="37"/>
                </a:lnTo>
                <a:lnTo>
                  <a:pt x="73" y="9"/>
                </a:lnTo>
                <a:lnTo>
                  <a:pt x="119" y="0"/>
                </a:lnTo>
                <a:lnTo>
                  <a:pt x="174" y="9"/>
                </a:lnTo>
                <a:lnTo>
                  <a:pt x="211" y="37"/>
                </a:lnTo>
                <a:lnTo>
                  <a:pt x="238" y="74"/>
                </a:lnTo>
                <a:lnTo>
                  <a:pt x="248" y="120"/>
                </a:lnTo>
                <a:lnTo>
                  <a:pt x="238" y="166"/>
                </a:lnTo>
                <a:lnTo>
                  <a:pt x="211" y="211"/>
                </a:lnTo>
                <a:lnTo>
                  <a:pt x="174" y="239"/>
                </a:lnTo>
                <a:lnTo>
                  <a:pt x="119" y="248"/>
                </a:lnTo>
                <a:lnTo>
                  <a:pt x="73" y="239"/>
                </a:lnTo>
                <a:lnTo>
                  <a:pt x="36" y="211"/>
                </a:lnTo>
                <a:lnTo>
                  <a:pt x="9" y="166"/>
                </a:lnTo>
                <a:lnTo>
                  <a:pt x="0" y="120"/>
                </a:lnTo>
              </a:path>
            </a:pathLst>
          </a:custGeom>
          <a:noFill/>
          <a:ln w="381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515" name="Rectangle 73"/>
          <p:cNvSpPr>
            <a:spLocks noChangeArrowheads="1"/>
          </p:cNvSpPr>
          <p:nvPr/>
        </p:nvSpPr>
        <p:spPr bwMode="auto">
          <a:xfrm>
            <a:off x="3352800" y="2362200"/>
            <a:ext cx="109538" cy="1825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0516" name="Rectangle 74"/>
          <p:cNvSpPr>
            <a:spLocks noChangeArrowheads="1"/>
          </p:cNvSpPr>
          <p:nvPr/>
        </p:nvSpPr>
        <p:spPr bwMode="auto">
          <a:xfrm>
            <a:off x="1879600" y="3352800"/>
            <a:ext cx="109538" cy="1825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0517" name="Rectangle 75"/>
          <p:cNvSpPr>
            <a:spLocks noChangeArrowheads="1"/>
          </p:cNvSpPr>
          <p:nvPr/>
        </p:nvSpPr>
        <p:spPr bwMode="auto">
          <a:xfrm>
            <a:off x="4953000" y="3352800"/>
            <a:ext cx="109538" cy="1825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77" grpId="0"/>
      <p:bldP spid="77883" grpId="0" animBg="1"/>
      <p:bldP spid="77884" grpId="0" animBg="1"/>
      <p:bldP spid="77887" grpId="0"/>
      <p:bldP spid="77892" grpId="0" animBg="1"/>
      <p:bldP spid="77893" grpId="0" animBg="1"/>
      <p:bldP spid="77894" grpId="0"/>
      <p:bldP spid="778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-762000"/>
            <a:ext cx="7851648" cy="1828800"/>
          </a:xfrm>
          <a:noFill/>
        </p:spPr>
        <p:txBody>
          <a:bodyPr/>
          <a:lstStyle/>
          <a:p>
            <a:pPr eaLnBrk="1" hangingPunct="1"/>
            <a:r>
              <a:rPr lang="en-US" sz="5000" b="1" dirty="0" smtClean="0">
                <a:solidFill>
                  <a:srgbClr val="FFFF00"/>
                </a:solidFill>
                <a:latin typeface="Arial Black" pitchFamily="34" charset="0"/>
              </a:rPr>
              <a:t>Alpha Beta Pruning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9600" y="1524000"/>
            <a:ext cx="8001000" cy="4437063"/>
            <a:chOff x="2736" y="3312"/>
            <a:chExt cx="6300" cy="3780"/>
          </a:xfrm>
        </p:grpSpPr>
        <p:sp>
          <p:nvSpPr>
            <p:cNvPr id="21528" name="Oval 5"/>
            <p:cNvSpPr>
              <a:spLocks noChangeArrowheads="1"/>
            </p:cNvSpPr>
            <p:nvPr/>
          </p:nvSpPr>
          <p:spPr bwMode="auto">
            <a:xfrm>
              <a:off x="5256" y="33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Oval 6"/>
            <p:cNvSpPr>
              <a:spLocks noChangeArrowheads="1"/>
            </p:cNvSpPr>
            <p:nvPr/>
          </p:nvSpPr>
          <p:spPr bwMode="auto">
            <a:xfrm>
              <a:off x="4356" y="42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Oval 7"/>
            <p:cNvSpPr>
              <a:spLocks noChangeArrowheads="1"/>
            </p:cNvSpPr>
            <p:nvPr/>
          </p:nvSpPr>
          <p:spPr bwMode="auto">
            <a:xfrm>
              <a:off x="5076" y="42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Oval 8"/>
            <p:cNvSpPr>
              <a:spLocks noChangeArrowheads="1"/>
            </p:cNvSpPr>
            <p:nvPr/>
          </p:nvSpPr>
          <p:spPr bwMode="auto">
            <a:xfrm>
              <a:off x="3996" y="51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Oval 9"/>
            <p:cNvSpPr>
              <a:spLocks noChangeArrowheads="1"/>
            </p:cNvSpPr>
            <p:nvPr/>
          </p:nvSpPr>
          <p:spPr bwMode="auto">
            <a:xfrm>
              <a:off x="4536" y="51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Oval 10"/>
            <p:cNvSpPr>
              <a:spLocks noChangeArrowheads="1"/>
            </p:cNvSpPr>
            <p:nvPr/>
          </p:nvSpPr>
          <p:spPr bwMode="auto">
            <a:xfrm>
              <a:off x="5076" y="51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Oval 11"/>
            <p:cNvSpPr>
              <a:spLocks noChangeArrowheads="1"/>
            </p:cNvSpPr>
            <p:nvPr/>
          </p:nvSpPr>
          <p:spPr bwMode="auto">
            <a:xfrm>
              <a:off x="5616" y="51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Oval 12"/>
            <p:cNvSpPr>
              <a:spLocks noChangeArrowheads="1"/>
            </p:cNvSpPr>
            <p:nvPr/>
          </p:nvSpPr>
          <p:spPr bwMode="auto">
            <a:xfrm>
              <a:off x="6156" y="51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Oval 13"/>
            <p:cNvSpPr>
              <a:spLocks noChangeArrowheads="1"/>
            </p:cNvSpPr>
            <p:nvPr/>
          </p:nvSpPr>
          <p:spPr bwMode="auto">
            <a:xfrm>
              <a:off x="6696" y="51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Oval 14"/>
            <p:cNvSpPr>
              <a:spLocks noChangeArrowheads="1"/>
            </p:cNvSpPr>
            <p:nvPr/>
          </p:nvSpPr>
          <p:spPr bwMode="auto">
            <a:xfrm>
              <a:off x="273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Oval 15"/>
            <p:cNvSpPr>
              <a:spLocks noChangeArrowheads="1"/>
            </p:cNvSpPr>
            <p:nvPr/>
          </p:nvSpPr>
          <p:spPr bwMode="auto">
            <a:xfrm>
              <a:off x="327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Oval 16"/>
            <p:cNvSpPr>
              <a:spLocks noChangeArrowheads="1"/>
            </p:cNvSpPr>
            <p:nvPr/>
          </p:nvSpPr>
          <p:spPr bwMode="auto">
            <a:xfrm>
              <a:off x="381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Oval 17"/>
            <p:cNvSpPr>
              <a:spLocks noChangeArrowheads="1"/>
            </p:cNvSpPr>
            <p:nvPr/>
          </p:nvSpPr>
          <p:spPr bwMode="auto">
            <a:xfrm>
              <a:off x="435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Oval 18"/>
            <p:cNvSpPr>
              <a:spLocks noChangeArrowheads="1"/>
            </p:cNvSpPr>
            <p:nvPr/>
          </p:nvSpPr>
          <p:spPr bwMode="auto">
            <a:xfrm>
              <a:off x="489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Oval 19"/>
            <p:cNvSpPr>
              <a:spLocks noChangeArrowheads="1"/>
            </p:cNvSpPr>
            <p:nvPr/>
          </p:nvSpPr>
          <p:spPr bwMode="auto">
            <a:xfrm>
              <a:off x="543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Oval 20"/>
            <p:cNvSpPr>
              <a:spLocks noChangeArrowheads="1"/>
            </p:cNvSpPr>
            <p:nvPr/>
          </p:nvSpPr>
          <p:spPr bwMode="auto">
            <a:xfrm>
              <a:off x="5796" y="421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Oval 21"/>
            <p:cNvSpPr>
              <a:spLocks noChangeArrowheads="1"/>
            </p:cNvSpPr>
            <p:nvPr/>
          </p:nvSpPr>
          <p:spPr bwMode="auto">
            <a:xfrm>
              <a:off x="597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Oval 22"/>
            <p:cNvSpPr>
              <a:spLocks noChangeArrowheads="1"/>
            </p:cNvSpPr>
            <p:nvPr/>
          </p:nvSpPr>
          <p:spPr bwMode="auto">
            <a:xfrm>
              <a:off x="651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Oval 23"/>
            <p:cNvSpPr>
              <a:spLocks noChangeArrowheads="1"/>
            </p:cNvSpPr>
            <p:nvPr/>
          </p:nvSpPr>
          <p:spPr bwMode="auto">
            <a:xfrm>
              <a:off x="705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Oval 24"/>
            <p:cNvSpPr>
              <a:spLocks noChangeArrowheads="1"/>
            </p:cNvSpPr>
            <p:nvPr/>
          </p:nvSpPr>
          <p:spPr bwMode="auto">
            <a:xfrm>
              <a:off x="759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Oval 25"/>
            <p:cNvSpPr>
              <a:spLocks noChangeArrowheads="1"/>
            </p:cNvSpPr>
            <p:nvPr/>
          </p:nvSpPr>
          <p:spPr bwMode="auto">
            <a:xfrm>
              <a:off x="813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Oval 26"/>
            <p:cNvSpPr>
              <a:spLocks noChangeArrowheads="1"/>
            </p:cNvSpPr>
            <p:nvPr/>
          </p:nvSpPr>
          <p:spPr bwMode="auto">
            <a:xfrm>
              <a:off x="8676" y="6192"/>
              <a:ext cx="360" cy="3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Text Box 27"/>
            <p:cNvSpPr txBox="1">
              <a:spLocks noChangeArrowheads="1"/>
            </p:cNvSpPr>
            <p:nvPr/>
          </p:nvSpPr>
          <p:spPr bwMode="auto">
            <a:xfrm>
              <a:off x="273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50</a:t>
              </a:r>
              <a:endParaRPr lang="en-US"/>
            </a:p>
          </p:txBody>
        </p:sp>
        <p:sp>
          <p:nvSpPr>
            <p:cNvPr id="21551" name="Text Box 28"/>
            <p:cNvSpPr txBox="1">
              <a:spLocks noChangeArrowheads="1"/>
            </p:cNvSpPr>
            <p:nvPr/>
          </p:nvSpPr>
          <p:spPr bwMode="auto">
            <a:xfrm>
              <a:off x="327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40</a:t>
              </a:r>
              <a:endParaRPr lang="en-US"/>
            </a:p>
          </p:txBody>
        </p:sp>
        <p:sp>
          <p:nvSpPr>
            <p:cNvPr id="21552" name="Text Box 29"/>
            <p:cNvSpPr txBox="1">
              <a:spLocks noChangeArrowheads="1"/>
            </p:cNvSpPr>
            <p:nvPr/>
          </p:nvSpPr>
          <p:spPr bwMode="auto">
            <a:xfrm>
              <a:off x="381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70</a:t>
              </a:r>
              <a:endParaRPr lang="en-US"/>
            </a:p>
          </p:txBody>
        </p:sp>
        <p:sp>
          <p:nvSpPr>
            <p:cNvPr id="21553" name="Text Box 30"/>
            <p:cNvSpPr txBox="1">
              <a:spLocks noChangeArrowheads="1"/>
            </p:cNvSpPr>
            <p:nvPr/>
          </p:nvSpPr>
          <p:spPr bwMode="auto">
            <a:xfrm>
              <a:off x="435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10</a:t>
              </a:r>
              <a:endParaRPr lang="en-US"/>
            </a:p>
          </p:txBody>
        </p:sp>
        <p:sp>
          <p:nvSpPr>
            <p:cNvPr id="21554" name="Text Box 31"/>
            <p:cNvSpPr txBox="1">
              <a:spLocks noChangeArrowheads="1"/>
            </p:cNvSpPr>
            <p:nvPr/>
          </p:nvSpPr>
          <p:spPr bwMode="auto">
            <a:xfrm>
              <a:off x="489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60</a:t>
              </a:r>
              <a:endParaRPr lang="en-US"/>
            </a:p>
          </p:txBody>
        </p:sp>
        <p:sp>
          <p:nvSpPr>
            <p:cNvPr id="21555" name="Text Box 32"/>
            <p:cNvSpPr txBox="1">
              <a:spLocks noChangeArrowheads="1"/>
            </p:cNvSpPr>
            <p:nvPr/>
          </p:nvSpPr>
          <p:spPr bwMode="auto">
            <a:xfrm>
              <a:off x="543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30</a:t>
              </a:r>
              <a:endParaRPr lang="en-US"/>
            </a:p>
          </p:txBody>
        </p:sp>
        <p:sp>
          <p:nvSpPr>
            <p:cNvPr id="21556" name="Text Box 33"/>
            <p:cNvSpPr txBox="1">
              <a:spLocks noChangeArrowheads="1"/>
            </p:cNvSpPr>
            <p:nvPr/>
          </p:nvSpPr>
          <p:spPr bwMode="auto">
            <a:xfrm>
              <a:off x="597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80</a:t>
              </a:r>
              <a:endParaRPr lang="en-US"/>
            </a:p>
          </p:txBody>
        </p:sp>
        <p:sp>
          <p:nvSpPr>
            <p:cNvPr id="21557" name="Text Box 34"/>
            <p:cNvSpPr txBox="1">
              <a:spLocks noChangeArrowheads="1"/>
            </p:cNvSpPr>
            <p:nvPr/>
          </p:nvSpPr>
          <p:spPr bwMode="auto">
            <a:xfrm>
              <a:off x="651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90</a:t>
              </a:r>
              <a:endParaRPr lang="en-US"/>
            </a:p>
          </p:txBody>
        </p:sp>
        <p:sp>
          <p:nvSpPr>
            <p:cNvPr id="21558" name="Text Box 35"/>
            <p:cNvSpPr txBox="1">
              <a:spLocks noChangeArrowheads="1"/>
            </p:cNvSpPr>
            <p:nvPr/>
          </p:nvSpPr>
          <p:spPr bwMode="auto">
            <a:xfrm>
              <a:off x="705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20</a:t>
              </a:r>
              <a:endParaRPr lang="en-US"/>
            </a:p>
          </p:txBody>
        </p:sp>
        <p:sp>
          <p:nvSpPr>
            <p:cNvPr id="21559" name="Text Box 36"/>
            <p:cNvSpPr txBox="1">
              <a:spLocks noChangeArrowheads="1"/>
            </p:cNvSpPr>
            <p:nvPr/>
          </p:nvSpPr>
          <p:spPr bwMode="auto">
            <a:xfrm>
              <a:off x="759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90</a:t>
              </a:r>
              <a:endParaRPr lang="en-US"/>
            </a:p>
          </p:txBody>
        </p:sp>
        <p:sp>
          <p:nvSpPr>
            <p:cNvPr id="21560" name="Text Box 37"/>
            <p:cNvSpPr txBox="1">
              <a:spLocks noChangeArrowheads="1"/>
            </p:cNvSpPr>
            <p:nvPr/>
          </p:nvSpPr>
          <p:spPr bwMode="auto">
            <a:xfrm>
              <a:off x="813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70</a:t>
              </a:r>
              <a:endParaRPr lang="en-US"/>
            </a:p>
          </p:txBody>
        </p:sp>
        <p:sp>
          <p:nvSpPr>
            <p:cNvPr id="21561" name="Text Box 38"/>
            <p:cNvSpPr txBox="1">
              <a:spLocks noChangeArrowheads="1"/>
            </p:cNvSpPr>
            <p:nvPr/>
          </p:nvSpPr>
          <p:spPr bwMode="auto">
            <a:xfrm>
              <a:off x="8676" y="6732"/>
              <a:ext cx="360" cy="3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200"/>
                <a:t>60</a:t>
              </a:r>
              <a:endParaRPr lang="en-US"/>
            </a:p>
          </p:txBody>
        </p:sp>
        <p:sp>
          <p:nvSpPr>
            <p:cNvPr id="21562" name="Line 39"/>
            <p:cNvSpPr>
              <a:spLocks noChangeShapeType="1"/>
            </p:cNvSpPr>
            <p:nvPr/>
          </p:nvSpPr>
          <p:spPr bwMode="auto">
            <a:xfrm flipH="1">
              <a:off x="4536" y="3672"/>
              <a:ext cx="90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Line 40"/>
            <p:cNvSpPr>
              <a:spLocks noChangeShapeType="1"/>
            </p:cNvSpPr>
            <p:nvPr/>
          </p:nvSpPr>
          <p:spPr bwMode="auto">
            <a:xfrm flipH="1">
              <a:off x="5256" y="3672"/>
              <a:ext cx="18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Line 41"/>
            <p:cNvSpPr>
              <a:spLocks noChangeShapeType="1"/>
            </p:cNvSpPr>
            <p:nvPr/>
          </p:nvSpPr>
          <p:spPr bwMode="auto">
            <a:xfrm>
              <a:off x="5436" y="3672"/>
              <a:ext cx="54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Line 42"/>
            <p:cNvSpPr>
              <a:spLocks noChangeShapeType="1"/>
            </p:cNvSpPr>
            <p:nvPr/>
          </p:nvSpPr>
          <p:spPr bwMode="auto">
            <a:xfrm flipH="1">
              <a:off x="4176" y="4572"/>
              <a:ext cx="36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Line 43"/>
            <p:cNvSpPr>
              <a:spLocks noChangeShapeType="1"/>
            </p:cNvSpPr>
            <p:nvPr/>
          </p:nvSpPr>
          <p:spPr bwMode="auto">
            <a:xfrm>
              <a:off x="4536" y="4572"/>
              <a:ext cx="18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Line 44"/>
            <p:cNvSpPr>
              <a:spLocks noChangeShapeType="1"/>
            </p:cNvSpPr>
            <p:nvPr/>
          </p:nvSpPr>
          <p:spPr bwMode="auto">
            <a:xfrm flipH="1">
              <a:off x="5256" y="4572"/>
              <a:ext cx="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Line 45"/>
            <p:cNvSpPr>
              <a:spLocks noChangeShapeType="1"/>
            </p:cNvSpPr>
            <p:nvPr/>
          </p:nvSpPr>
          <p:spPr bwMode="auto">
            <a:xfrm>
              <a:off x="5256" y="4572"/>
              <a:ext cx="54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Line 46"/>
            <p:cNvSpPr>
              <a:spLocks noChangeShapeType="1"/>
            </p:cNvSpPr>
            <p:nvPr/>
          </p:nvSpPr>
          <p:spPr bwMode="auto">
            <a:xfrm>
              <a:off x="5976" y="4572"/>
              <a:ext cx="36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Line 47"/>
            <p:cNvSpPr>
              <a:spLocks noChangeShapeType="1"/>
            </p:cNvSpPr>
            <p:nvPr/>
          </p:nvSpPr>
          <p:spPr bwMode="auto">
            <a:xfrm>
              <a:off x="5976" y="4572"/>
              <a:ext cx="900" cy="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Line 48"/>
            <p:cNvSpPr>
              <a:spLocks noChangeShapeType="1"/>
            </p:cNvSpPr>
            <p:nvPr/>
          </p:nvSpPr>
          <p:spPr bwMode="auto">
            <a:xfrm flipH="1">
              <a:off x="2916" y="5472"/>
              <a:ext cx="126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Line 49"/>
            <p:cNvSpPr>
              <a:spLocks noChangeShapeType="1"/>
            </p:cNvSpPr>
            <p:nvPr/>
          </p:nvSpPr>
          <p:spPr bwMode="auto">
            <a:xfrm flipH="1">
              <a:off x="3456" y="5472"/>
              <a:ext cx="72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Line 50"/>
            <p:cNvSpPr>
              <a:spLocks noChangeShapeType="1"/>
            </p:cNvSpPr>
            <p:nvPr/>
          </p:nvSpPr>
          <p:spPr bwMode="auto">
            <a:xfrm flipH="1">
              <a:off x="3996" y="5472"/>
              <a:ext cx="72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Line 51"/>
            <p:cNvSpPr>
              <a:spLocks noChangeShapeType="1"/>
            </p:cNvSpPr>
            <p:nvPr/>
          </p:nvSpPr>
          <p:spPr bwMode="auto">
            <a:xfrm flipH="1">
              <a:off x="4536" y="5472"/>
              <a:ext cx="18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Line 52"/>
            <p:cNvSpPr>
              <a:spLocks noChangeShapeType="1"/>
            </p:cNvSpPr>
            <p:nvPr/>
          </p:nvSpPr>
          <p:spPr bwMode="auto">
            <a:xfrm>
              <a:off x="4716" y="5472"/>
              <a:ext cx="36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Line 53"/>
            <p:cNvSpPr>
              <a:spLocks noChangeShapeType="1"/>
            </p:cNvSpPr>
            <p:nvPr/>
          </p:nvSpPr>
          <p:spPr bwMode="auto">
            <a:xfrm>
              <a:off x="5256" y="5472"/>
              <a:ext cx="36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Line 54"/>
            <p:cNvSpPr>
              <a:spLocks noChangeShapeType="1"/>
            </p:cNvSpPr>
            <p:nvPr/>
          </p:nvSpPr>
          <p:spPr bwMode="auto">
            <a:xfrm>
              <a:off x="5796" y="5472"/>
              <a:ext cx="36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Line 55"/>
            <p:cNvSpPr>
              <a:spLocks noChangeShapeType="1"/>
            </p:cNvSpPr>
            <p:nvPr/>
          </p:nvSpPr>
          <p:spPr bwMode="auto">
            <a:xfrm>
              <a:off x="5796" y="5472"/>
              <a:ext cx="90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Line 56"/>
            <p:cNvSpPr>
              <a:spLocks noChangeShapeType="1"/>
            </p:cNvSpPr>
            <p:nvPr/>
          </p:nvSpPr>
          <p:spPr bwMode="auto">
            <a:xfrm>
              <a:off x="6336" y="5472"/>
              <a:ext cx="90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Line 57"/>
            <p:cNvSpPr>
              <a:spLocks noChangeShapeType="1"/>
            </p:cNvSpPr>
            <p:nvPr/>
          </p:nvSpPr>
          <p:spPr bwMode="auto">
            <a:xfrm>
              <a:off x="6876" y="5472"/>
              <a:ext cx="90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Line 58"/>
            <p:cNvSpPr>
              <a:spLocks noChangeShapeType="1"/>
            </p:cNvSpPr>
            <p:nvPr/>
          </p:nvSpPr>
          <p:spPr bwMode="auto">
            <a:xfrm>
              <a:off x="6876" y="5472"/>
              <a:ext cx="144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Line 59"/>
            <p:cNvSpPr>
              <a:spLocks noChangeShapeType="1"/>
            </p:cNvSpPr>
            <p:nvPr/>
          </p:nvSpPr>
          <p:spPr bwMode="auto">
            <a:xfrm>
              <a:off x="6876" y="5472"/>
              <a:ext cx="198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172" name="Text Box 60"/>
          <p:cNvSpPr txBox="1">
            <a:spLocks noChangeArrowheads="1"/>
          </p:cNvSpPr>
          <p:nvPr/>
        </p:nvSpPr>
        <p:spPr bwMode="auto">
          <a:xfrm>
            <a:off x="1752600" y="3636963"/>
            <a:ext cx="450850" cy="414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90173" name="Text Box 61"/>
          <p:cNvSpPr txBox="1">
            <a:spLocks noChangeArrowheads="1"/>
          </p:cNvSpPr>
          <p:nvPr/>
        </p:nvSpPr>
        <p:spPr bwMode="auto">
          <a:xfrm>
            <a:off x="2825750" y="3473450"/>
            <a:ext cx="4508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70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0174" name="Text Box 62"/>
          <p:cNvSpPr txBox="1">
            <a:spLocks noChangeArrowheads="1"/>
          </p:cNvSpPr>
          <p:nvPr/>
        </p:nvSpPr>
        <p:spPr bwMode="auto">
          <a:xfrm>
            <a:off x="3587750" y="3473450"/>
            <a:ext cx="4508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30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0176" name="Text Box 64"/>
          <p:cNvSpPr txBox="1">
            <a:spLocks noChangeArrowheads="1"/>
          </p:cNvSpPr>
          <p:nvPr/>
        </p:nvSpPr>
        <p:spPr bwMode="auto">
          <a:xfrm>
            <a:off x="5181600" y="3425825"/>
            <a:ext cx="4508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20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0178" name="Text Box 66"/>
          <p:cNvSpPr txBox="1">
            <a:spLocks noChangeArrowheads="1"/>
          </p:cNvSpPr>
          <p:nvPr/>
        </p:nvSpPr>
        <p:spPr bwMode="auto">
          <a:xfrm>
            <a:off x="2209800" y="2368550"/>
            <a:ext cx="45085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50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0179" name="Text Box 67"/>
          <p:cNvSpPr txBox="1">
            <a:spLocks noChangeArrowheads="1"/>
          </p:cNvSpPr>
          <p:nvPr/>
        </p:nvSpPr>
        <p:spPr bwMode="auto">
          <a:xfrm>
            <a:off x="3581400" y="2368550"/>
            <a:ext cx="45085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30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0180" name="Text Box 68"/>
          <p:cNvSpPr txBox="1">
            <a:spLocks noChangeArrowheads="1"/>
          </p:cNvSpPr>
          <p:nvPr/>
        </p:nvSpPr>
        <p:spPr bwMode="auto">
          <a:xfrm>
            <a:off x="4953000" y="2368550"/>
            <a:ext cx="45085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20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1515" name="Text Box 69"/>
          <p:cNvSpPr txBox="1">
            <a:spLocks noChangeArrowheads="1"/>
          </p:cNvSpPr>
          <p:nvPr/>
        </p:nvSpPr>
        <p:spPr bwMode="auto">
          <a:xfrm>
            <a:off x="3581400" y="1524000"/>
            <a:ext cx="45085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900" b="1">
                <a:solidFill>
                  <a:srgbClr val="FF0000"/>
                </a:solidFill>
              </a:rPr>
              <a:t>50</a:t>
            </a:r>
            <a:endParaRPr lang="en-US"/>
          </a:p>
        </p:txBody>
      </p:sp>
      <p:sp>
        <p:nvSpPr>
          <p:cNvPr id="90183" name="Rectangle 71"/>
          <p:cNvSpPr>
            <a:spLocks noChangeArrowheads="1"/>
          </p:cNvSpPr>
          <p:nvPr/>
        </p:nvSpPr>
        <p:spPr bwMode="auto">
          <a:xfrm>
            <a:off x="508000" y="5435600"/>
            <a:ext cx="685800" cy="633413"/>
          </a:xfrm>
          <a:prstGeom prst="rect">
            <a:avLst/>
          </a:prstGeom>
          <a:noFill/>
          <a:ln w="5715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84" name="Rectangle 72"/>
          <p:cNvSpPr>
            <a:spLocks noChangeArrowheads="1"/>
          </p:cNvSpPr>
          <p:nvPr/>
        </p:nvSpPr>
        <p:spPr bwMode="auto">
          <a:xfrm>
            <a:off x="1879600" y="5435600"/>
            <a:ext cx="685800" cy="633413"/>
          </a:xfrm>
          <a:prstGeom prst="rect">
            <a:avLst/>
          </a:prstGeom>
          <a:noFill/>
          <a:ln w="5715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85" name="Rectangle 73"/>
          <p:cNvSpPr>
            <a:spLocks noChangeArrowheads="1"/>
          </p:cNvSpPr>
          <p:nvPr/>
        </p:nvSpPr>
        <p:spPr bwMode="auto">
          <a:xfrm>
            <a:off x="5994400" y="5435600"/>
            <a:ext cx="685800" cy="633413"/>
          </a:xfrm>
          <a:prstGeom prst="rect">
            <a:avLst/>
          </a:prstGeom>
          <a:noFill/>
          <a:ln w="5715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86" name="Rectangle 74"/>
          <p:cNvSpPr>
            <a:spLocks noChangeArrowheads="1"/>
          </p:cNvSpPr>
          <p:nvPr/>
        </p:nvSpPr>
        <p:spPr bwMode="auto">
          <a:xfrm>
            <a:off x="3937000" y="5435600"/>
            <a:ext cx="685800" cy="633413"/>
          </a:xfrm>
          <a:prstGeom prst="rect">
            <a:avLst/>
          </a:prstGeom>
          <a:noFill/>
          <a:ln w="5715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87" name="Rectangle 75"/>
          <p:cNvSpPr>
            <a:spLocks noChangeArrowheads="1"/>
          </p:cNvSpPr>
          <p:nvPr/>
        </p:nvSpPr>
        <p:spPr bwMode="auto">
          <a:xfrm>
            <a:off x="1193800" y="5435600"/>
            <a:ext cx="685800" cy="633413"/>
          </a:xfrm>
          <a:prstGeom prst="rect">
            <a:avLst/>
          </a:prstGeom>
          <a:noFill/>
          <a:ln w="5715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88" name="Line 76"/>
          <p:cNvSpPr>
            <a:spLocks noChangeShapeType="1"/>
          </p:cNvSpPr>
          <p:nvPr/>
        </p:nvSpPr>
        <p:spPr bwMode="auto">
          <a:xfrm flipV="1">
            <a:off x="2819400" y="4270375"/>
            <a:ext cx="685800" cy="211138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89" name="Line 77"/>
          <p:cNvSpPr>
            <a:spLocks noChangeShapeType="1"/>
          </p:cNvSpPr>
          <p:nvPr/>
        </p:nvSpPr>
        <p:spPr bwMode="auto">
          <a:xfrm flipV="1">
            <a:off x="3962400" y="3003550"/>
            <a:ext cx="304800" cy="34925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0190" name="Line 78"/>
          <p:cNvSpPr>
            <a:spLocks noChangeShapeType="1"/>
          </p:cNvSpPr>
          <p:nvPr/>
        </p:nvSpPr>
        <p:spPr bwMode="auto">
          <a:xfrm flipV="1">
            <a:off x="5105400" y="3003550"/>
            <a:ext cx="304800" cy="34925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24" name="Rectangle 80"/>
          <p:cNvSpPr>
            <a:spLocks noChangeArrowheads="1"/>
          </p:cNvSpPr>
          <p:nvPr/>
        </p:nvSpPr>
        <p:spPr bwMode="auto">
          <a:xfrm>
            <a:off x="6629400" y="1554163"/>
            <a:ext cx="1752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Maximizing Level</a:t>
            </a:r>
          </a:p>
        </p:txBody>
      </p:sp>
      <p:sp>
        <p:nvSpPr>
          <p:cNvPr id="21525" name="Rectangle 81"/>
          <p:cNvSpPr>
            <a:spLocks noChangeArrowheads="1"/>
          </p:cNvSpPr>
          <p:nvPr/>
        </p:nvSpPr>
        <p:spPr bwMode="auto">
          <a:xfrm>
            <a:off x="6553200" y="2590800"/>
            <a:ext cx="1689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Minimizing Level</a:t>
            </a:r>
          </a:p>
        </p:txBody>
      </p:sp>
      <p:sp>
        <p:nvSpPr>
          <p:cNvPr id="21526" name="Rectangle 82"/>
          <p:cNvSpPr>
            <a:spLocks noChangeArrowheads="1"/>
          </p:cNvSpPr>
          <p:nvPr/>
        </p:nvSpPr>
        <p:spPr bwMode="auto">
          <a:xfrm>
            <a:off x="6553200" y="3611563"/>
            <a:ext cx="1752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Maximizing Level</a:t>
            </a:r>
          </a:p>
        </p:txBody>
      </p:sp>
      <p:sp>
        <p:nvSpPr>
          <p:cNvPr id="90195" name="Text Box 83"/>
          <p:cNvSpPr txBox="1">
            <a:spLocks noChangeArrowheads="1"/>
          </p:cNvSpPr>
          <p:nvPr/>
        </p:nvSpPr>
        <p:spPr bwMode="auto">
          <a:xfrm>
            <a:off x="3587750" y="1447800"/>
            <a:ext cx="45085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 b="1">
                <a:solidFill>
                  <a:schemeClr val="bg1"/>
                </a:solidFill>
              </a:rPr>
              <a:t>50</a:t>
            </a:r>
            <a:endParaRPr 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72" grpId="0"/>
      <p:bldP spid="90173" grpId="0"/>
      <p:bldP spid="90174" grpId="0"/>
      <p:bldP spid="90176" grpId="0"/>
      <p:bldP spid="90178" grpId="0"/>
      <p:bldP spid="90179" grpId="0"/>
      <p:bldP spid="90180" grpId="0"/>
      <p:bldP spid="90183" grpId="0" animBg="1"/>
      <p:bldP spid="90184" grpId="0" animBg="1"/>
      <p:bldP spid="90185" grpId="0" animBg="1"/>
      <p:bldP spid="90186" grpId="0" animBg="1"/>
      <p:bldP spid="90187" grpId="0" animBg="1"/>
      <p:bldP spid="90188" grpId="0" animBg="1"/>
      <p:bldP spid="90189" grpId="0" animBg="1"/>
      <p:bldP spid="90190" grpId="0" animBg="1"/>
      <p:bldP spid="9019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smtClean="0"/>
              <a:t>Alpha-beta Pruning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689866"/>
            <a:ext cx="8229600" cy="4438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smtClean="0"/>
              <a:t>Alpha-beta Pruning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687613"/>
            <a:ext cx="8229600" cy="44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Aplha</a:t>
            </a:r>
            <a:r>
              <a:rPr lang="en-US" dirty="0" smtClean="0"/>
              <a:t>-Beta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Best and Average case complexity:  O power b/d)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70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Bounded Lookahead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For trees with high depth or very high branching factor, minimax cannot be applied to the entire tree.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In such cases, bounded lookahead is applied: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search is cut off at specified depth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static evaluator applied.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Horizon effect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F8DABD48-7B5A-4AC7-863A-782D43B37119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Static Evaluation Functions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78486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A static evaluator assigns a score to a position: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High positive = computer is winning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Zero = even game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High negative = opponent is winning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It is most important that a static evaluator will give a better score to a better position – the actual values are not so important.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7AAAACB4-7B9A-4AAE-8004-28685BC9D1E6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Evaluation Function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How likely are you to win from a given position?</a:t>
            </a:r>
          </a:p>
          <a:p>
            <a:pPr>
              <a:lnSpc>
                <a:spcPct val="90000"/>
              </a:lnSpc>
            </a:pPr>
            <a:r>
              <a:rPr lang="en-US"/>
              <a:t>Usually weighted linear functions</a:t>
            </a:r>
          </a:p>
          <a:p>
            <a:pPr lvl="1">
              <a:lnSpc>
                <a:spcPct val="90000"/>
              </a:lnSpc>
            </a:pPr>
            <a:r>
              <a:rPr lang="en-US"/>
              <a:t>Different scores are given to different position and added together in a weighted fashion</a:t>
            </a:r>
          </a:p>
          <a:p>
            <a:pPr>
              <a:lnSpc>
                <a:spcPct val="90000"/>
              </a:lnSpc>
            </a:pPr>
            <a:r>
              <a:rPr lang="en-US"/>
              <a:t>Possible chess function</a:t>
            </a:r>
          </a:p>
          <a:p>
            <a:pPr lvl="1">
              <a:lnSpc>
                <a:spcPct val="90000"/>
              </a:lnSpc>
            </a:pPr>
            <a:r>
              <a:rPr lang="en-US" i="1"/>
              <a:t>score</a:t>
            </a:r>
            <a:r>
              <a:rPr lang="en-US"/>
              <a:t> = 9</a:t>
            </a:r>
            <a:r>
              <a:rPr lang="en-US" i="1"/>
              <a:t>q</a:t>
            </a:r>
            <a:r>
              <a:rPr lang="en-US"/>
              <a:t> + 5</a:t>
            </a:r>
            <a:r>
              <a:rPr lang="en-US" i="1"/>
              <a:t>r</a:t>
            </a:r>
            <a:r>
              <a:rPr lang="en-US"/>
              <a:t> + 3</a:t>
            </a:r>
            <a:r>
              <a:rPr lang="en-US" i="1"/>
              <a:t>b</a:t>
            </a:r>
            <a:r>
              <a:rPr lang="en-US"/>
              <a:t> + 3</a:t>
            </a:r>
            <a:r>
              <a:rPr lang="en-US" i="1"/>
              <a:t>n</a:t>
            </a:r>
            <a:r>
              <a:rPr lang="en-US"/>
              <a:t> + </a:t>
            </a:r>
            <a:r>
              <a:rPr lang="en-US" i="1"/>
              <a:t>p</a:t>
            </a:r>
          </a:p>
          <a:p>
            <a:pPr lvl="2">
              <a:lnSpc>
                <a:spcPct val="90000"/>
              </a:lnSpc>
            </a:pPr>
            <a:r>
              <a:rPr lang="en-US" i="1"/>
              <a:t>q</a:t>
            </a:r>
            <a:r>
              <a:rPr lang="en-US"/>
              <a:t> = # of queens, </a:t>
            </a:r>
            <a:r>
              <a:rPr lang="en-US" i="1"/>
              <a:t>r</a:t>
            </a:r>
            <a:r>
              <a:rPr lang="en-US"/>
              <a:t> = # of rooks, </a:t>
            </a:r>
            <a:r>
              <a:rPr lang="en-US" i="1"/>
              <a:t>b</a:t>
            </a:r>
            <a:r>
              <a:rPr lang="en-US"/>
              <a:t> = # of bishops,      </a:t>
            </a:r>
            <a:r>
              <a:rPr lang="en-US" i="1"/>
              <a:t>n</a:t>
            </a:r>
            <a:r>
              <a:rPr lang="en-US"/>
              <a:t> = # of knights, and </a:t>
            </a:r>
            <a:r>
              <a:rPr lang="en-US" i="1"/>
              <a:t>p</a:t>
            </a:r>
            <a:r>
              <a:rPr lang="en-US"/>
              <a:t> = # of pawns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CB164377-1490-4476-AD7D-7686BB05786B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Checkers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In 1959, Arthur Samuel creates a computer program that could play checkers to a high level using minimax and alpha-beta pruning.</a:t>
            </a:r>
          </a:p>
          <a:p>
            <a:r>
              <a:rPr lang="en-US" altLang="en-US" sz="2800"/>
              <a:t>Chinook, developed in Canada defeated the world champion:</a:t>
            </a:r>
          </a:p>
          <a:p>
            <a:pPr lvl="1"/>
            <a:r>
              <a:rPr lang="en-US" altLang="en-US" sz="2400"/>
              <a:t>Uses alpha-beta pruning.</a:t>
            </a:r>
          </a:p>
          <a:p>
            <a:pPr lvl="1"/>
            <a:r>
              <a:rPr lang="en-US" altLang="en-US" sz="2400"/>
              <a:t>Has a database of millions of end games.</a:t>
            </a:r>
          </a:p>
          <a:p>
            <a:pPr lvl="1"/>
            <a:r>
              <a:rPr lang="en-US" altLang="en-US" sz="2400"/>
              <a:t>Also has a database of openings.</a:t>
            </a:r>
          </a:p>
          <a:p>
            <a:pPr lvl="1"/>
            <a:r>
              <a:rPr lang="en-US" altLang="en-US" sz="2400"/>
              <a:t>Uses heuristics and knowledge about the game.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5AA89033-D86B-4F61-BFA2-916E16CCDD70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Chess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In 1997, Deep Blue defeated world champion, Garry Kasparov.</a:t>
            </a:r>
          </a:p>
          <a:p>
            <a:r>
              <a:rPr lang="en-US" altLang="en-US" sz="2800"/>
              <a:t>This has not yet been repeated.</a:t>
            </a:r>
          </a:p>
          <a:p>
            <a:r>
              <a:rPr lang="en-US" altLang="en-US" sz="2800"/>
              <a:t>Current systems use parallel search, alpha-beta pruning, databases of openings and heuristics.</a:t>
            </a:r>
          </a:p>
          <a:p>
            <a:r>
              <a:rPr lang="en-US" altLang="en-US" sz="2800"/>
              <a:t>The deeper in a search tree the computer can search, the better it plays.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61AE-D0B1-4FD9-B67D-4A723218099D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Go is a complex game played on a 19x19 board.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Average branching factor in search tree around 360 (compared to 38 for chess).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The best computer programs cannot compete yet with the best human players.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Methods use pattern matching or selective search to explore the most appropriate parts of the search tree.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848CE-0A12-4775-82B7-FEA8803CBEA9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Games of Chance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methods described so far do not work well with games of chance such as poker or backgammon.</a:t>
            </a:r>
          </a:p>
          <a:p>
            <a:pPr>
              <a:lnSpc>
                <a:spcPct val="90000"/>
              </a:lnSpc>
            </a:pPr>
            <a:r>
              <a:rPr lang="en-US" altLang="en-US"/>
              <a:t>Expectiminimax is a variant of minimax designed to deal with chance.</a:t>
            </a:r>
          </a:p>
          <a:p>
            <a:pPr>
              <a:lnSpc>
                <a:spcPct val="90000"/>
              </a:lnSpc>
            </a:pPr>
            <a:r>
              <a:rPr lang="en-US" altLang="en-US"/>
              <a:t>Nodes have expected values based on probabilities.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484 –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81CA-0419-4E48-BDCA-DD4BAD2142DF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15547</TotalTime>
  <Words>1409</Words>
  <Application>Microsoft Office PowerPoint</Application>
  <PresentationFormat>On-screen Show (4:3)</PresentationFormat>
  <Paragraphs>234</Paragraphs>
  <Slides>30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Arial Black</vt:lpstr>
      <vt:lpstr>Calibri</vt:lpstr>
      <vt:lpstr>標楷體</vt:lpstr>
      <vt:lpstr>Rockwell</vt:lpstr>
      <vt:lpstr>Symbol</vt:lpstr>
      <vt:lpstr>Wingdings</vt:lpstr>
      <vt:lpstr>Wingdings 2</vt:lpstr>
      <vt:lpstr>Foundry</vt:lpstr>
      <vt:lpstr>Bitmap Image</vt:lpstr>
      <vt:lpstr>           Lecture 7: </vt:lpstr>
      <vt:lpstr>Relation of Games to Search</vt:lpstr>
      <vt:lpstr>Game setup </vt:lpstr>
      <vt:lpstr>Game as Search Problem</vt:lpstr>
      <vt:lpstr>Game Trees</vt:lpstr>
      <vt:lpstr>Game Trees</vt:lpstr>
      <vt:lpstr>Assumptions</vt:lpstr>
      <vt:lpstr>Minimax</vt:lpstr>
      <vt:lpstr>Two-Ply Game Tree</vt:lpstr>
      <vt:lpstr>Two-Ply Game Tree</vt:lpstr>
      <vt:lpstr>Two-Ply Game Tree</vt:lpstr>
      <vt:lpstr>Minimax –Example</vt:lpstr>
      <vt:lpstr>Minimax Function</vt:lpstr>
      <vt:lpstr>Searching Game Trees</vt:lpstr>
      <vt:lpstr>Properties of Minimax</vt:lpstr>
      <vt:lpstr>Problem of minimax search </vt:lpstr>
      <vt:lpstr>Alpha-beta Pruning</vt:lpstr>
      <vt:lpstr>Alpha-beta Pruning – Example.</vt:lpstr>
      <vt:lpstr>Alpha Beta Pruning</vt:lpstr>
      <vt:lpstr>Alpha Beta Pruning</vt:lpstr>
      <vt:lpstr>Alpha-beta Pruning</vt:lpstr>
      <vt:lpstr>Alpha-beta Pruning</vt:lpstr>
      <vt:lpstr>Aplha-Beta </vt:lpstr>
      <vt:lpstr>Bounded Lookahead</vt:lpstr>
      <vt:lpstr>Static Evaluation Functions</vt:lpstr>
      <vt:lpstr>Creating Evaluation Function</vt:lpstr>
      <vt:lpstr>Checkers</vt:lpstr>
      <vt:lpstr>Chess</vt:lpstr>
      <vt:lpstr>Go</vt:lpstr>
      <vt:lpstr>Games of Chance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Bahria</dc:creator>
  <cp:lastModifiedBy>Dr. Sajid</cp:lastModifiedBy>
  <cp:revision>145</cp:revision>
  <dcterms:created xsi:type="dcterms:W3CDTF">2014-10-16T13:06:26Z</dcterms:created>
  <dcterms:modified xsi:type="dcterms:W3CDTF">2025-10-23T12:01:13Z</dcterms:modified>
</cp:coreProperties>
</file>