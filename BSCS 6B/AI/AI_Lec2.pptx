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3"/>
  </p:notesMasterIdLst>
  <p:handoutMasterIdLst>
    <p:handoutMasterId r:id="rId34"/>
  </p:handoutMasterIdLst>
  <p:sldIdLst>
    <p:sldId id="256" r:id="rId2"/>
    <p:sldId id="294" r:id="rId3"/>
    <p:sldId id="295" r:id="rId4"/>
    <p:sldId id="296" r:id="rId5"/>
    <p:sldId id="298" r:id="rId6"/>
    <p:sldId id="300" r:id="rId7"/>
    <p:sldId id="301" r:id="rId8"/>
    <p:sldId id="302" r:id="rId9"/>
    <p:sldId id="303" r:id="rId10"/>
    <p:sldId id="304" r:id="rId11"/>
    <p:sldId id="326" r:id="rId12"/>
    <p:sldId id="327" r:id="rId13"/>
    <p:sldId id="328" r:id="rId14"/>
    <p:sldId id="329" r:id="rId15"/>
    <p:sldId id="330" r:id="rId16"/>
    <p:sldId id="331" r:id="rId17"/>
    <p:sldId id="332" r:id="rId18"/>
    <p:sldId id="333" r:id="rId19"/>
    <p:sldId id="306" r:id="rId20"/>
    <p:sldId id="307" r:id="rId21"/>
    <p:sldId id="320" r:id="rId22"/>
    <p:sldId id="322" r:id="rId23"/>
    <p:sldId id="312" r:id="rId24"/>
    <p:sldId id="321" r:id="rId25"/>
    <p:sldId id="313" r:id="rId26"/>
    <p:sldId id="315" r:id="rId27"/>
    <p:sldId id="317" r:id="rId28"/>
    <p:sldId id="318" r:id="rId29"/>
    <p:sldId id="319" r:id="rId30"/>
    <p:sldId id="334" r:id="rId31"/>
    <p:sldId id="335" r:id="rId32"/>
  </p:sldIdLst>
  <p:sldSz cx="9144000" cy="6858000" type="screen4x3"/>
  <p:notesSz cx="6858000" cy="9144000"/>
  <p:kinsoku lang="ja-JP" invalStChars="" invalEndChars=""/>
  <p:defaultTextStyle>
    <a:defPPr>
      <a:defRPr lang="en-US"/>
    </a:defPPr>
    <a:lvl1pPr algn="l" rtl="0" eaLnBrk="0" fontAlgn="base" hangingPunct="0">
      <a:spcBef>
        <a:spcPct val="0"/>
      </a:spcBef>
      <a:spcAft>
        <a:spcPct val="0"/>
      </a:spcAft>
      <a:defRPr kern="1200">
        <a:solidFill>
          <a:schemeClr val="tx1"/>
        </a:solidFill>
        <a:latin typeface="Times New Roman" charset="0"/>
        <a:ea typeface="+mn-ea"/>
        <a:cs typeface="+mn-cs"/>
      </a:defRPr>
    </a:lvl1pPr>
    <a:lvl2pPr marL="457200" algn="l" rtl="0" eaLnBrk="0" fontAlgn="base" hangingPunct="0">
      <a:spcBef>
        <a:spcPct val="0"/>
      </a:spcBef>
      <a:spcAft>
        <a:spcPct val="0"/>
      </a:spcAft>
      <a:defRPr kern="1200">
        <a:solidFill>
          <a:schemeClr val="tx1"/>
        </a:solidFill>
        <a:latin typeface="Times New Roman" charset="0"/>
        <a:ea typeface="+mn-ea"/>
        <a:cs typeface="+mn-cs"/>
      </a:defRPr>
    </a:lvl2pPr>
    <a:lvl3pPr marL="914400" algn="l" rtl="0" eaLnBrk="0" fontAlgn="base" hangingPunct="0">
      <a:spcBef>
        <a:spcPct val="0"/>
      </a:spcBef>
      <a:spcAft>
        <a:spcPct val="0"/>
      </a:spcAft>
      <a:defRPr kern="1200">
        <a:solidFill>
          <a:schemeClr val="tx1"/>
        </a:solidFill>
        <a:latin typeface="Times New Roman" charset="0"/>
        <a:ea typeface="+mn-ea"/>
        <a:cs typeface="+mn-cs"/>
      </a:defRPr>
    </a:lvl3pPr>
    <a:lvl4pPr marL="1371600" algn="l" rtl="0" eaLnBrk="0" fontAlgn="base" hangingPunct="0">
      <a:spcBef>
        <a:spcPct val="0"/>
      </a:spcBef>
      <a:spcAft>
        <a:spcPct val="0"/>
      </a:spcAft>
      <a:defRPr kern="1200">
        <a:solidFill>
          <a:schemeClr val="tx1"/>
        </a:solidFill>
        <a:latin typeface="Times New Roman" charset="0"/>
        <a:ea typeface="+mn-ea"/>
        <a:cs typeface="+mn-cs"/>
      </a:defRPr>
    </a:lvl4pPr>
    <a:lvl5pPr marL="1828800" algn="l" rtl="0" eaLnBrk="0" fontAlgn="base" hangingPunct="0">
      <a:spcBef>
        <a:spcPct val="0"/>
      </a:spcBef>
      <a:spcAft>
        <a:spcPct val="0"/>
      </a:spcAft>
      <a:defRPr kern="1200">
        <a:solidFill>
          <a:schemeClr val="tx1"/>
        </a:solidFill>
        <a:latin typeface="Times New Roman" charset="0"/>
        <a:ea typeface="+mn-ea"/>
        <a:cs typeface="+mn-cs"/>
      </a:defRPr>
    </a:lvl5pPr>
    <a:lvl6pPr marL="2286000" algn="l" defTabSz="914400" rtl="0" eaLnBrk="1" latinLnBrk="0" hangingPunct="1">
      <a:defRPr kern="1200">
        <a:solidFill>
          <a:schemeClr val="tx1"/>
        </a:solidFill>
        <a:latin typeface="Times New Roman" charset="0"/>
        <a:ea typeface="+mn-ea"/>
        <a:cs typeface="+mn-cs"/>
      </a:defRPr>
    </a:lvl6pPr>
    <a:lvl7pPr marL="2743200" algn="l" defTabSz="914400" rtl="0" eaLnBrk="1" latinLnBrk="0" hangingPunct="1">
      <a:defRPr kern="1200">
        <a:solidFill>
          <a:schemeClr val="tx1"/>
        </a:solidFill>
        <a:latin typeface="Times New Roman" charset="0"/>
        <a:ea typeface="+mn-ea"/>
        <a:cs typeface="+mn-cs"/>
      </a:defRPr>
    </a:lvl7pPr>
    <a:lvl8pPr marL="3200400" algn="l" defTabSz="914400" rtl="0" eaLnBrk="1" latinLnBrk="0" hangingPunct="1">
      <a:defRPr kern="1200">
        <a:solidFill>
          <a:schemeClr val="tx1"/>
        </a:solidFill>
        <a:latin typeface="Times New Roman" charset="0"/>
        <a:ea typeface="+mn-ea"/>
        <a:cs typeface="+mn-cs"/>
      </a:defRPr>
    </a:lvl8pPr>
    <a:lvl9pPr marL="3657600" algn="l" defTabSz="914400" rtl="0" eaLnBrk="1" latinLnBrk="0" hangingPunct="1">
      <a:defRPr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663300"/>
    <a:srgbClr val="800080"/>
    <a:srgbClr val="006600"/>
    <a:srgbClr val="FF0000"/>
    <a:srgbClr val="0000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571" autoAdjust="0"/>
  </p:normalViewPr>
  <p:slideViewPr>
    <p:cSldViewPr>
      <p:cViewPr varScale="1">
        <p:scale>
          <a:sx n="52" d="100"/>
          <a:sy n="52" d="100"/>
        </p:scale>
        <p:origin x="1700"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6627" name="Rectangle 3"/>
          <p:cNvSpPr>
            <a:spLocks noGrp="1" noRot="1" noChangeAspect="1" noChangeArrowheads="1" noTextEdit="1"/>
          </p:cNvSpPr>
          <p:nvPr>
            <p:ph type="sldImg" idx="2"/>
          </p:nvPr>
        </p:nvSpPr>
        <p:spPr bwMode="auto">
          <a:xfrm>
            <a:off x="1143000" y="685800"/>
            <a:ext cx="4572000" cy="3429000"/>
          </a:xfrm>
          <a:prstGeom prst="rect">
            <a:avLst/>
          </a:prstGeom>
          <a:noFill/>
          <a:ln w="12700">
            <a:solidFill>
              <a:schemeClr val="tx1"/>
            </a:solidFill>
            <a:miter lim="800000"/>
            <a:headEnd/>
            <a:tailEnd/>
          </a:ln>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w="9525"/>
        </p:spPr>
        <p:txBody>
          <a:bodyPr/>
          <a:lstStyle/>
          <a:p>
            <a:endParaRPr lang="en-US" smtClean="0">
              <a:latin typeface="Times New Roman"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w="9525"/>
        </p:spPr>
        <p:txBody>
          <a:bodyPr/>
          <a:lstStyle/>
          <a:p>
            <a:endParaRPr lang="en-US" smtClean="0">
              <a:latin typeface="Times New Roman"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w="9525"/>
        </p:spPr>
        <p:txBody>
          <a:bodyPr/>
          <a:lstStyle/>
          <a:p>
            <a:endParaRPr lang="en-US" smtClean="0">
              <a:latin typeface="Times New Roman"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w="9525"/>
        </p:spPr>
        <p:txBody>
          <a:bodyPr/>
          <a:lstStyle/>
          <a:p>
            <a:endParaRPr lang="en-US" smtClean="0">
              <a:latin typeface="Times New 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xfrm>
            <a:off x="685800" y="4343400"/>
            <a:ext cx="5486400" cy="4114800"/>
          </a:xfrm>
          <a:noFill/>
          <a:ln w="9525"/>
        </p:spPr>
        <p:txBody>
          <a:bodyPr/>
          <a:lstStyle/>
          <a:p>
            <a:r>
              <a:rPr lang="en-US" dirty="0" smtClean="0">
                <a:latin typeface="Times New Roman" charset="0"/>
              </a:rPr>
              <a:t>-Act only on the basis of current percept </a:t>
            </a:r>
          </a:p>
          <a:p>
            <a:pPr marL="171450" indent="-171450">
              <a:buFontTx/>
              <a:buChar char="-"/>
            </a:pPr>
            <a:r>
              <a:rPr lang="en-US" dirty="0" smtClean="0">
                <a:latin typeface="Times New Roman" charset="0"/>
              </a:rPr>
              <a:t>Ignore the rest of</a:t>
            </a:r>
            <a:r>
              <a:rPr lang="en-US" baseline="0" dirty="0" smtClean="0">
                <a:latin typeface="Times New Roman" charset="0"/>
              </a:rPr>
              <a:t> the percept history </a:t>
            </a:r>
          </a:p>
          <a:p>
            <a:pPr marL="171450" indent="-171450">
              <a:buFontTx/>
              <a:buChar char="-"/>
            </a:pPr>
            <a:r>
              <a:rPr lang="en-US" baseline="0" dirty="0" smtClean="0">
                <a:latin typeface="Times New Roman" charset="0"/>
              </a:rPr>
              <a:t>Based on IF-Then rules </a:t>
            </a:r>
          </a:p>
          <a:p>
            <a:pPr marL="171450" indent="-171450">
              <a:buFontTx/>
              <a:buChar char="-"/>
            </a:pPr>
            <a:r>
              <a:rPr lang="en-US" baseline="0" dirty="0" err="1" smtClean="0">
                <a:latin typeface="Times New Roman" charset="0"/>
              </a:rPr>
              <a:t>Env</a:t>
            </a:r>
            <a:r>
              <a:rPr lang="en-US" baseline="0" dirty="0" smtClean="0">
                <a:latin typeface="Times New Roman" charset="0"/>
              </a:rPr>
              <a:t> should be fully observable </a:t>
            </a:r>
            <a:endParaRPr lang="en-US" dirty="0" smtClean="0">
              <a:latin typeface="Times New Roman"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xfrm>
            <a:off x="685800" y="4343400"/>
            <a:ext cx="5486400" cy="4114800"/>
          </a:xfrm>
          <a:noFill/>
          <a:ln w="9525"/>
        </p:spPr>
        <p:txBody>
          <a:bodyPr/>
          <a:lstStyle/>
          <a:p>
            <a:endParaRPr lang="en-US" smtClean="0">
              <a:latin typeface="Times New 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685800" y="4343400"/>
            <a:ext cx="5486400" cy="4114800"/>
          </a:xfrm>
          <a:noFill/>
          <a:ln w="9525"/>
        </p:spPr>
        <p:txBody>
          <a:bodyPr/>
          <a:lstStyle/>
          <a:p>
            <a:r>
              <a:rPr lang="en-US" dirty="0" smtClean="0">
                <a:latin typeface="Times New Roman" charset="0"/>
              </a:rPr>
              <a:t>Extension of model</a:t>
            </a:r>
            <a:r>
              <a:rPr lang="en-US" baseline="0" dirty="0" smtClean="0">
                <a:latin typeface="Times New Roman" charset="0"/>
              </a:rPr>
              <a:t> based reflex agent. </a:t>
            </a:r>
          </a:p>
          <a:p>
            <a:r>
              <a:rPr lang="en-US" baseline="0" dirty="0" smtClean="0">
                <a:latin typeface="Times New Roman" charset="0"/>
              </a:rPr>
              <a:t>For example, your goal is to visit </a:t>
            </a:r>
            <a:r>
              <a:rPr lang="en-US" baseline="0" dirty="0" err="1" smtClean="0">
                <a:latin typeface="Times New Roman" charset="0"/>
              </a:rPr>
              <a:t>Muree</a:t>
            </a:r>
            <a:r>
              <a:rPr lang="en-US" baseline="0" dirty="0" smtClean="0">
                <a:latin typeface="Times New Roman" charset="0"/>
              </a:rPr>
              <a:t> (Goal). You need to perform searching and planning. </a:t>
            </a:r>
            <a:endParaRPr lang="en-US" dirty="0" smtClean="0">
              <a:latin typeface="Times New Roman"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xfrm>
            <a:off x="685800" y="4343400"/>
            <a:ext cx="5486400" cy="4114800"/>
          </a:xfrm>
          <a:noFill/>
          <a:ln w="9525"/>
        </p:spPr>
        <p:txBody>
          <a:bodyPr/>
          <a:lstStyle/>
          <a:p>
            <a:pPr marL="171450" indent="-171450">
              <a:buFontTx/>
              <a:buChar char="-"/>
            </a:pPr>
            <a:r>
              <a:rPr lang="en-US" dirty="0" smtClean="0">
                <a:latin typeface="Times New Roman" charset="0"/>
              </a:rPr>
              <a:t>Focus</a:t>
            </a:r>
            <a:r>
              <a:rPr lang="en-US" baseline="0" dirty="0" smtClean="0">
                <a:latin typeface="Times New Roman" charset="0"/>
              </a:rPr>
              <a:t> on utility not goal </a:t>
            </a:r>
          </a:p>
          <a:p>
            <a:pPr marL="171450" indent="-171450">
              <a:buFontTx/>
              <a:buChar char="-"/>
            </a:pPr>
            <a:r>
              <a:rPr lang="en-US" dirty="0" smtClean="0">
                <a:latin typeface="Times New Roman" charset="0"/>
              </a:rPr>
              <a:t>Deals</a:t>
            </a:r>
            <a:r>
              <a:rPr lang="en-US" baseline="0" dirty="0" smtClean="0">
                <a:latin typeface="Times New Roman" charset="0"/>
              </a:rPr>
              <a:t> with the happy and un happy state </a:t>
            </a:r>
          </a:p>
          <a:p>
            <a:pPr marL="171450" indent="-171450">
              <a:buFontTx/>
              <a:buChar char="-"/>
            </a:pPr>
            <a:r>
              <a:rPr lang="en-US" baseline="0" dirty="0" smtClean="0">
                <a:latin typeface="Times New Roman" charset="0"/>
              </a:rPr>
              <a:t>Utility based agent act based not only goals but also the best way to achieve the goal </a:t>
            </a:r>
          </a:p>
          <a:p>
            <a:pPr marL="171450" indent="-171450">
              <a:buFontTx/>
              <a:buChar char="-"/>
            </a:pPr>
            <a:r>
              <a:rPr lang="en-US" baseline="0" dirty="0" smtClean="0">
                <a:latin typeface="Times New Roman" charset="0"/>
              </a:rPr>
              <a:t>Utility based agent is useful when there are multiple possible alternatives, and an agent has to choose in order to perform best action</a:t>
            </a:r>
          </a:p>
          <a:p>
            <a:pPr marL="171450" indent="-171450">
              <a:buFontTx/>
              <a:buChar char="-"/>
            </a:pPr>
            <a:r>
              <a:rPr lang="en-US" baseline="0" dirty="0" smtClean="0">
                <a:latin typeface="Times New Roman" charset="0"/>
              </a:rPr>
              <a:t>The utility function maps each state to a real number to check how efficiently each action achieves the goals. </a:t>
            </a:r>
          </a:p>
          <a:p>
            <a:pPr marL="171450" indent="-171450">
              <a:buFontTx/>
              <a:buChar char="-"/>
            </a:pPr>
            <a:r>
              <a:rPr lang="en-US" baseline="0" dirty="0" smtClean="0">
                <a:latin typeface="Times New Roman" charset="0"/>
              </a:rPr>
              <a:t>Recommendation systems </a:t>
            </a:r>
          </a:p>
          <a:p>
            <a:pPr marL="171450" indent="-171450">
              <a:buFontTx/>
              <a:buChar char="-"/>
            </a:pPr>
            <a:r>
              <a:rPr lang="en-US" baseline="0" dirty="0" smtClean="0">
                <a:latin typeface="Times New Roman" charset="0"/>
              </a:rPr>
              <a:t>Trading Robots: These robots use utility functions to evaluate investment options and trading decisions based on maximizing their ROI  </a:t>
            </a:r>
          </a:p>
          <a:p>
            <a:pPr marL="171450" indent="-171450">
              <a:buFontTx/>
              <a:buChar char="-"/>
            </a:pPr>
            <a:endParaRPr lang="en-US" dirty="0" smtClean="0">
              <a:latin typeface="Times New Roman"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xfrm>
            <a:off x="685800" y="4343400"/>
            <a:ext cx="5486400" cy="4114800"/>
          </a:xfrm>
          <a:noFill/>
          <a:ln w="9525"/>
        </p:spPr>
        <p:txBody>
          <a:bodyPr/>
          <a:lstStyle/>
          <a:p>
            <a:pPr marL="171450" indent="-171450">
              <a:buFontTx/>
              <a:buChar char="-"/>
            </a:pPr>
            <a:r>
              <a:rPr lang="en-US" dirty="0" smtClean="0">
                <a:latin typeface="Times New Roman" charset="0"/>
              </a:rPr>
              <a:t>Learning</a:t>
            </a:r>
            <a:r>
              <a:rPr lang="en-US" baseline="0" dirty="0" smtClean="0">
                <a:latin typeface="Times New Roman" charset="0"/>
              </a:rPr>
              <a:t> agents can improve their performance by learning from experiences </a:t>
            </a:r>
          </a:p>
          <a:p>
            <a:pPr marL="171450" indent="-171450">
              <a:buFontTx/>
              <a:buChar char="-"/>
            </a:pPr>
            <a:r>
              <a:rPr lang="en-US" baseline="0" dirty="0" smtClean="0">
                <a:latin typeface="Times New Roman" charset="0"/>
              </a:rPr>
              <a:t>Unlike other agents, they can adopt to new or unknown environment </a:t>
            </a:r>
          </a:p>
          <a:p>
            <a:pPr marL="171450" indent="-171450">
              <a:buFontTx/>
              <a:buChar char="-"/>
            </a:pPr>
            <a:r>
              <a:rPr lang="en-US" baseline="0" dirty="0" smtClean="0">
                <a:latin typeface="Times New Roman" charset="0"/>
              </a:rPr>
              <a:t>Learning elements -&gt; Helps the agent improve, Performance element -&gt; Make the decision , Critic -&gt; Provide feedback , Problem generator -&gt; New actions to explore </a:t>
            </a:r>
          </a:p>
          <a:p>
            <a:pPr marL="171450" indent="-171450">
              <a:buFontTx/>
              <a:buChar char="-"/>
            </a:pPr>
            <a:endParaRPr lang="en-US" dirty="0" smtClean="0">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43000"/>
            <a:ext cx="38481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143000"/>
            <a:ext cx="38481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304800"/>
            <a:ext cx="1962150" cy="5867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04800"/>
            <a:ext cx="573405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609600"/>
          </a:xfrm>
          <a:prstGeom prst="rect">
            <a:avLst/>
          </a:prstGeom>
          <a:noFill/>
          <a:ln w="12700">
            <a:noFill/>
            <a:miter lim="800000"/>
            <a:headEnd/>
            <a:tailEnd/>
          </a:ln>
        </p:spPr>
        <p:txBody>
          <a:bodyPr vert="horz" wrap="square" lIns="90488" tIns="44450" rIns="90488" bIns="4445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09600" y="1143000"/>
            <a:ext cx="7848600" cy="5029200"/>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 </a:t>
            </a:r>
          </a:p>
        </p:txBody>
      </p:sp>
      <p:sp>
        <p:nvSpPr>
          <p:cNvPr id="1028" name="Rectangle 4"/>
          <p:cNvSpPr>
            <a:spLocks noChangeArrowheads="1"/>
          </p:cNvSpPr>
          <p:nvPr/>
        </p:nvSpPr>
        <p:spPr bwMode="auto">
          <a:xfrm>
            <a:off x="7377113" y="6524625"/>
            <a:ext cx="1546225" cy="271463"/>
          </a:xfrm>
          <a:prstGeom prst="rect">
            <a:avLst/>
          </a:prstGeom>
          <a:noFill/>
          <a:ln w="12700">
            <a:noFill/>
            <a:miter lim="800000"/>
            <a:headEnd/>
            <a:tailEnd/>
          </a:ln>
          <a:effectLst/>
        </p:spPr>
        <p:txBody>
          <a:bodyPr wrap="none" lIns="90488" tIns="44450" rIns="90488" bIns="44450">
            <a:spAutoFit/>
          </a:bodyPr>
          <a:lstStyle/>
          <a:p>
            <a:pPr>
              <a:defRPr/>
            </a:pPr>
            <a:r>
              <a:rPr lang="en-US" sz="1200" b="1">
                <a:latin typeface="Times New Roman" pitchFamily="18" charset="0"/>
              </a:rPr>
              <a:t>ICS-171: Notes 2: </a:t>
            </a:r>
            <a:fld id="{E92A3DB9-0617-47C8-A90B-5EEDDFAB24D8}" type="slidenum">
              <a:rPr lang="en-US" sz="1200" b="1">
                <a:latin typeface="Times New Roman" pitchFamily="18" charset="0"/>
              </a:rPr>
              <a:pPr>
                <a:defRPr/>
              </a:pPr>
              <a:t>‹#›</a:t>
            </a:fld>
            <a:endParaRPr lang="en-US" sz="1200" b="1">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2400" b="1">
          <a:solidFill>
            <a:schemeClr val="tx2"/>
          </a:solidFill>
          <a:latin typeface="+mj-lt"/>
          <a:ea typeface="+mj-ea"/>
          <a:cs typeface="+mj-cs"/>
        </a:defRPr>
      </a:lvl1pPr>
      <a:lvl2pPr algn="ctr" rtl="0" eaLnBrk="0" fontAlgn="base" hangingPunct="0">
        <a:spcBef>
          <a:spcPct val="0"/>
        </a:spcBef>
        <a:spcAft>
          <a:spcPct val="0"/>
        </a:spcAft>
        <a:defRPr sz="2400" b="1">
          <a:solidFill>
            <a:schemeClr val="tx2"/>
          </a:solidFill>
          <a:latin typeface="Arial" charset="0"/>
        </a:defRPr>
      </a:lvl2pPr>
      <a:lvl3pPr algn="ctr" rtl="0" eaLnBrk="0" fontAlgn="base" hangingPunct="0">
        <a:spcBef>
          <a:spcPct val="0"/>
        </a:spcBef>
        <a:spcAft>
          <a:spcPct val="0"/>
        </a:spcAft>
        <a:defRPr sz="2400" b="1">
          <a:solidFill>
            <a:schemeClr val="tx2"/>
          </a:solidFill>
          <a:latin typeface="Arial" charset="0"/>
        </a:defRPr>
      </a:lvl3pPr>
      <a:lvl4pPr algn="ctr" rtl="0" eaLnBrk="0" fontAlgn="base" hangingPunct="0">
        <a:spcBef>
          <a:spcPct val="0"/>
        </a:spcBef>
        <a:spcAft>
          <a:spcPct val="0"/>
        </a:spcAft>
        <a:defRPr sz="2400" b="1">
          <a:solidFill>
            <a:schemeClr val="tx2"/>
          </a:solidFill>
          <a:latin typeface="Arial" charset="0"/>
        </a:defRPr>
      </a:lvl4pPr>
      <a:lvl5pPr algn="ctr" rtl="0" eaLnBrk="0" fontAlgn="base" hangingPunct="0">
        <a:spcBef>
          <a:spcPct val="0"/>
        </a:spcBef>
        <a:spcAft>
          <a:spcPct val="0"/>
        </a:spcAft>
        <a:defRPr sz="2400" b="1">
          <a:solidFill>
            <a:schemeClr val="tx2"/>
          </a:solidFill>
          <a:latin typeface="Arial" charset="0"/>
        </a:defRPr>
      </a:lvl5pPr>
      <a:lvl6pPr marL="457200" algn="ctr" rtl="0" eaLnBrk="0" fontAlgn="base" hangingPunct="0">
        <a:spcBef>
          <a:spcPct val="0"/>
        </a:spcBef>
        <a:spcAft>
          <a:spcPct val="0"/>
        </a:spcAft>
        <a:defRPr sz="2400" b="1">
          <a:solidFill>
            <a:schemeClr val="tx2"/>
          </a:solidFill>
          <a:latin typeface="Arial" charset="0"/>
        </a:defRPr>
      </a:lvl6pPr>
      <a:lvl7pPr marL="914400" algn="ctr" rtl="0" eaLnBrk="0" fontAlgn="base" hangingPunct="0">
        <a:spcBef>
          <a:spcPct val="0"/>
        </a:spcBef>
        <a:spcAft>
          <a:spcPct val="0"/>
        </a:spcAft>
        <a:defRPr sz="2400" b="1">
          <a:solidFill>
            <a:schemeClr val="tx2"/>
          </a:solidFill>
          <a:latin typeface="Arial" charset="0"/>
        </a:defRPr>
      </a:lvl7pPr>
      <a:lvl8pPr marL="1371600" algn="ctr" rtl="0" eaLnBrk="0" fontAlgn="base" hangingPunct="0">
        <a:spcBef>
          <a:spcPct val="0"/>
        </a:spcBef>
        <a:spcAft>
          <a:spcPct val="0"/>
        </a:spcAft>
        <a:defRPr sz="2400" b="1">
          <a:solidFill>
            <a:schemeClr val="tx2"/>
          </a:solidFill>
          <a:latin typeface="Arial" charset="0"/>
        </a:defRPr>
      </a:lvl8pPr>
      <a:lvl9pPr marL="1828800" algn="ctr" rtl="0" eaLnBrk="0" fontAlgn="base" hangingPunct="0">
        <a:spcBef>
          <a:spcPct val="0"/>
        </a:spcBef>
        <a:spcAft>
          <a:spcPct val="0"/>
        </a:spcAft>
        <a:defRPr sz="2400" b="1">
          <a:solidFill>
            <a:schemeClr val="tx2"/>
          </a:solidFill>
          <a:latin typeface="Arial" charset="0"/>
        </a:defRPr>
      </a:lvl9pPr>
    </p:titleStyle>
    <p:bodyStyle>
      <a:lvl1pPr marL="342900" indent="-342900" algn="l" rtl="0" eaLnBrk="0" fontAlgn="base" hangingPunct="0">
        <a:spcBef>
          <a:spcPct val="20000"/>
        </a:spcBef>
        <a:spcAft>
          <a:spcPct val="0"/>
        </a:spcAft>
        <a:buSzPct val="100000"/>
        <a:buChar char="•"/>
        <a:defRPr b="1">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a:solidFill>
            <a:schemeClr val="tx1"/>
          </a:solidFill>
          <a:latin typeface="+mn-lt"/>
        </a:defRPr>
      </a:lvl2pPr>
      <a:lvl3pPr marL="1143000" indent="-228600" algn="l" rtl="0" eaLnBrk="0" fontAlgn="base" hangingPunct="0">
        <a:spcBef>
          <a:spcPct val="20000"/>
        </a:spcBef>
        <a:spcAft>
          <a:spcPct val="0"/>
        </a:spcAft>
        <a:buSzPct val="100000"/>
        <a:buChar char="•"/>
        <a:defRPr>
          <a:solidFill>
            <a:schemeClr val="tx1"/>
          </a:solidFill>
          <a:latin typeface="+mn-lt"/>
        </a:defRPr>
      </a:lvl3pPr>
      <a:lvl4pPr marL="1600200" indent="-228600" algn="l" rtl="0" eaLnBrk="0" fontAlgn="base" hangingPunct="0">
        <a:spcBef>
          <a:spcPct val="20000"/>
        </a:spcBef>
        <a:spcAft>
          <a:spcPct val="0"/>
        </a:spcAft>
        <a:buSzPct val="100000"/>
        <a:buChar char="–"/>
        <a:defRPr>
          <a:solidFill>
            <a:schemeClr val="tx1"/>
          </a:solidFill>
          <a:latin typeface="+mn-lt"/>
        </a:defRPr>
      </a:lvl4pPr>
      <a:lvl5pPr marL="2057400" indent="-228600" algn="l" rtl="0" eaLnBrk="0" fontAlgn="base" hangingPunct="0">
        <a:spcBef>
          <a:spcPct val="20000"/>
        </a:spcBef>
        <a:spcAft>
          <a:spcPct val="0"/>
        </a:spcAft>
        <a:buSzPct val="100000"/>
        <a:buChar char="•"/>
        <a:defRPr>
          <a:solidFill>
            <a:schemeClr val="tx1"/>
          </a:solidFill>
          <a:latin typeface="+mn-lt"/>
        </a:defRPr>
      </a:lvl5pPr>
      <a:lvl6pPr marL="2514600" indent="-228600" algn="l" rtl="0" eaLnBrk="0" fontAlgn="base" hangingPunct="0">
        <a:spcBef>
          <a:spcPct val="20000"/>
        </a:spcBef>
        <a:spcAft>
          <a:spcPct val="0"/>
        </a:spcAft>
        <a:buSzPct val="100000"/>
        <a:buChar char="•"/>
        <a:defRPr>
          <a:solidFill>
            <a:schemeClr val="tx1"/>
          </a:solidFill>
          <a:latin typeface="+mn-lt"/>
        </a:defRPr>
      </a:lvl6pPr>
      <a:lvl7pPr marL="2971800" indent="-228600" algn="l" rtl="0" eaLnBrk="0" fontAlgn="base" hangingPunct="0">
        <a:spcBef>
          <a:spcPct val="20000"/>
        </a:spcBef>
        <a:spcAft>
          <a:spcPct val="0"/>
        </a:spcAft>
        <a:buSzPct val="100000"/>
        <a:buChar char="•"/>
        <a:defRPr>
          <a:solidFill>
            <a:schemeClr val="tx1"/>
          </a:solidFill>
          <a:latin typeface="+mn-lt"/>
        </a:defRPr>
      </a:lvl7pPr>
      <a:lvl8pPr marL="3429000" indent="-228600" algn="l" rtl="0" eaLnBrk="0" fontAlgn="base" hangingPunct="0">
        <a:spcBef>
          <a:spcPct val="20000"/>
        </a:spcBef>
        <a:spcAft>
          <a:spcPct val="0"/>
        </a:spcAft>
        <a:buSzPct val="100000"/>
        <a:buChar char="•"/>
        <a:defRPr>
          <a:solidFill>
            <a:schemeClr val="tx1"/>
          </a:solidFill>
          <a:latin typeface="+mn-lt"/>
        </a:defRPr>
      </a:lvl8pPr>
      <a:lvl9pPr marL="3886200" indent="-228600" algn="l" rtl="0" eaLnBrk="0" fontAlgn="base" hangingPunct="0">
        <a:spcBef>
          <a:spcPct val="20000"/>
        </a:spcBef>
        <a:spcAft>
          <a:spcPct val="0"/>
        </a:spcAft>
        <a:buSzPct val="100000"/>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286000"/>
            <a:ext cx="7772400" cy="1143000"/>
          </a:xfrm>
          <a:noFill/>
        </p:spPr>
        <p:txBody>
          <a:bodyPr/>
          <a:lstStyle/>
          <a:p>
            <a:r>
              <a:rPr lang="en-US" sz="3600" smtClean="0"/>
              <a:t>Intelligent Agents</a:t>
            </a:r>
          </a:p>
        </p:txBody>
      </p:sp>
      <p:sp>
        <p:nvSpPr>
          <p:cNvPr id="2051" name="Rectangle 3"/>
          <p:cNvSpPr>
            <a:spLocks noGrp="1" noChangeArrowheads="1"/>
          </p:cNvSpPr>
          <p:nvPr>
            <p:ph type="subTitle" idx="1"/>
          </p:nvPr>
        </p:nvSpPr>
        <p:spPr>
          <a:xfrm>
            <a:off x="762000" y="3886200"/>
            <a:ext cx="7772400" cy="1752600"/>
          </a:xfrm>
          <a:noFill/>
        </p:spPr>
        <p:txBody>
          <a:bodyPr/>
          <a:lstStyle/>
          <a:p>
            <a:pPr marL="342900" indent="-342900"/>
            <a:endParaRPr lang="en-US"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z="3200" smtClean="0"/>
              <a:t>Agents</a:t>
            </a:r>
          </a:p>
        </p:txBody>
      </p:sp>
      <p:sp>
        <p:nvSpPr>
          <p:cNvPr id="5123" name="Rectangle 3"/>
          <p:cNvSpPr>
            <a:spLocks noGrp="1" noChangeArrowheads="1"/>
          </p:cNvSpPr>
          <p:nvPr>
            <p:ph type="body" idx="1"/>
          </p:nvPr>
        </p:nvSpPr>
        <p:spPr>
          <a:xfrm>
            <a:off x="609600" y="1524000"/>
            <a:ext cx="7848600" cy="4724400"/>
          </a:xfrm>
        </p:spPr>
        <p:txBody>
          <a:bodyPr/>
          <a:lstStyle/>
          <a:p>
            <a:pPr>
              <a:lnSpc>
                <a:spcPct val="90000"/>
              </a:lnSpc>
            </a:pPr>
            <a:r>
              <a:rPr lang="en-US" sz="2400" smtClean="0"/>
              <a:t>An </a:t>
            </a:r>
            <a:r>
              <a:rPr lang="en-US" sz="2400" smtClean="0">
                <a:solidFill>
                  <a:srgbClr val="FF0000"/>
                </a:solidFill>
              </a:rPr>
              <a:t>agent</a:t>
            </a:r>
            <a:r>
              <a:rPr lang="en-US" sz="2400" smtClean="0"/>
              <a:t> is anything that can be viewed as </a:t>
            </a:r>
            <a:r>
              <a:rPr lang="en-US" sz="2400" smtClean="0">
                <a:solidFill>
                  <a:srgbClr val="FF0000"/>
                </a:solidFill>
              </a:rPr>
              <a:t>perceiving</a:t>
            </a:r>
            <a:r>
              <a:rPr lang="en-US" sz="2400" smtClean="0"/>
              <a:t> its </a:t>
            </a:r>
            <a:r>
              <a:rPr lang="en-US" sz="2400" smtClean="0">
                <a:solidFill>
                  <a:srgbClr val="FF0000"/>
                </a:solidFill>
              </a:rPr>
              <a:t>environment </a:t>
            </a:r>
            <a:r>
              <a:rPr lang="en-US" sz="2400" smtClean="0"/>
              <a:t>through </a:t>
            </a:r>
            <a:r>
              <a:rPr lang="en-US" sz="2400" smtClean="0">
                <a:solidFill>
                  <a:srgbClr val="FF0000"/>
                </a:solidFill>
              </a:rPr>
              <a:t>sensors</a:t>
            </a:r>
            <a:r>
              <a:rPr lang="en-US" sz="2400" smtClean="0"/>
              <a:t> and </a:t>
            </a:r>
            <a:r>
              <a:rPr lang="en-US" sz="2400" smtClean="0">
                <a:solidFill>
                  <a:srgbClr val="FF0000"/>
                </a:solidFill>
              </a:rPr>
              <a:t>acting</a:t>
            </a:r>
            <a:r>
              <a:rPr lang="en-US" sz="2400" smtClean="0"/>
              <a:t> upon that environment through </a:t>
            </a:r>
            <a:r>
              <a:rPr lang="en-US" sz="2400" smtClean="0">
                <a:solidFill>
                  <a:srgbClr val="FF0000"/>
                </a:solidFill>
              </a:rPr>
              <a:t>actuators</a:t>
            </a:r>
          </a:p>
          <a:p>
            <a:pPr>
              <a:lnSpc>
                <a:spcPct val="90000"/>
              </a:lnSpc>
            </a:pPr>
            <a:endParaRPr lang="en-US" sz="2400" smtClean="0"/>
          </a:p>
          <a:p>
            <a:pPr>
              <a:lnSpc>
                <a:spcPct val="90000"/>
              </a:lnSpc>
              <a:buFontTx/>
              <a:buNone/>
            </a:pPr>
            <a:r>
              <a:rPr lang="en-US" sz="2400" smtClean="0"/>
              <a:t>    </a:t>
            </a:r>
            <a:r>
              <a:rPr lang="en-US" sz="2400" smtClean="0">
                <a:solidFill>
                  <a:srgbClr val="0000CC"/>
                </a:solidFill>
              </a:rPr>
              <a:t>Human agent:</a:t>
            </a:r>
            <a:r>
              <a:rPr lang="en-US" sz="2400" smtClean="0"/>
              <a:t> </a:t>
            </a:r>
          </a:p>
          <a:p>
            <a:pPr>
              <a:lnSpc>
                <a:spcPct val="90000"/>
              </a:lnSpc>
              <a:buFontTx/>
              <a:buNone/>
            </a:pPr>
            <a:r>
              <a:rPr lang="en-US" sz="2400" smtClean="0"/>
              <a:t>   eyes, ears, and other organs for sensors; </a:t>
            </a:r>
          </a:p>
          <a:p>
            <a:pPr>
              <a:lnSpc>
                <a:spcPct val="90000"/>
              </a:lnSpc>
              <a:buFontTx/>
              <a:buNone/>
            </a:pPr>
            <a:r>
              <a:rPr lang="en-US" sz="2400" smtClean="0"/>
              <a:t>   hands, legs, mouth, and other body parts for</a:t>
            </a:r>
          </a:p>
          <a:p>
            <a:pPr>
              <a:lnSpc>
                <a:spcPct val="90000"/>
              </a:lnSpc>
              <a:buFontTx/>
              <a:buNone/>
            </a:pPr>
            <a:r>
              <a:rPr lang="en-US" sz="2400" smtClean="0"/>
              <a:t>   actuators</a:t>
            </a:r>
          </a:p>
          <a:p>
            <a:pPr>
              <a:lnSpc>
                <a:spcPct val="90000"/>
              </a:lnSpc>
              <a:buFontTx/>
              <a:buNone/>
            </a:pPr>
            <a:endParaRPr lang="en-US" sz="2400" smtClean="0"/>
          </a:p>
          <a:p>
            <a:pPr>
              <a:lnSpc>
                <a:spcPct val="90000"/>
              </a:lnSpc>
            </a:pPr>
            <a:r>
              <a:rPr lang="en-US" sz="2400" smtClean="0">
                <a:solidFill>
                  <a:srgbClr val="0000CC"/>
                </a:solidFill>
              </a:rPr>
              <a:t>Robotic agent:</a:t>
            </a:r>
            <a:r>
              <a:rPr lang="en-US" sz="2400" smtClean="0"/>
              <a:t> </a:t>
            </a:r>
          </a:p>
          <a:p>
            <a:pPr>
              <a:lnSpc>
                <a:spcPct val="90000"/>
              </a:lnSpc>
              <a:buFontTx/>
              <a:buNone/>
            </a:pPr>
            <a:r>
              <a:rPr lang="en-US" sz="2400" smtClean="0"/>
              <a:t>    cameras and infrared range finders for sensors; various motors for actuators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8600" y="304800"/>
            <a:ext cx="7772400" cy="609600"/>
          </a:xfrm>
        </p:spPr>
        <p:txBody>
          <a:bodyPr/>
          <a:lstStyle/>
          <a:p>
            <a:r>
              <a:rPr lang="en-US" smtClean="0"/>
              <a:t>Agents and environments</a:t>
            </a:r>
          </a:p>
        </p:txBody>
      </p:sp>
      <p:sp>
        <p:nvSpPr>
          <p:cNvPr id="6147" name="Rectangle 3"/>
          <p:cNvSpPr>
            <a:spLocks noGrp="1" noChangeArrowheads="1"/>
          </p:cNvSpPr>
          <p:nvPr>
            <p:ph type="body" idx="1"/>
          </p:nvPr>
        </p:nvSpPr>
        <p:spPr>
          <a:xfrm>
            <a:off x="457200" y="2590800"/>
            <a:ext cx="7848600" cy="4038600"/>
          </a:xfrm>
        </p:spPr>
        <p:txBody>
          <a:bodyPr/>
          <a:lstStyle/>
          <a:p>
            <a:pPr>
              <a:buFontTx/>
              <a:buNone/>
            </a:pPr>
            <a:endParaRPr lang="en-US" sz="1600" smtClean="0"/>
          </a:p>
          <a:p>
            <a:r>
              <a:rPr lang="en-US" sz="2400" smtClean="0"/>
              <a:t>The </a:t>
            </a:r>
            <a:r>
              <a:rPr lang="en-US" sz="2400" smtClean="0">
                <a:solidFill>
                  <a:srgbClr val="FF0000"/>
                </a:solidFill>
              </a:rPr>
              <a:t>agent</a:t>
            </a:r>
            <a:r>
              <a:rPr lang="en-US" sz="2400" smtClean="0"/>
              <a:t> </a:t>
            </a:r>
            <a:r>
              <a:rPr lang="en-US" sz="2400" smtClean="0">
                <a:solidFill>
                  <a:srgbClr val="FF0000"/>
                </a:solidFill>
              </a:rPr>
              <a:t>function</a:t>
            </a:r>
            <a:r>
              <a:rPr lang="en-US" sz="2400" smtClean="0"/>
              <a:t> maps from percept histories to actions:</a:t>
            </a:r>
          </a:p>
          <a:p>
            <a:pPr algn="ctr">
              <a:buFontTx/>
              <a:buNone/>
            </a:pPr>
            <a:r>
              <a:rPr lang="en-US" sz="2400" smtClean="0"/>
              <a:t>[</a:t>
            </a:r>
            <a:r>
              <a:rPr lang="en-US" sz="2400" i="1" smtClean="0"/>
              <a:t>f</a:t>
            </a:r>
            <a:r>
              <a:rPr lang="en-US" sz="2400" smtClean="0"/>
              <a:t>: </a:t>
            </a:r>
            <a:r>
              <a:rPr lang="en-US" sz="2400" smtClean="0">
                <a:latin typeface="Monotype Corsiva" pitchFamily="66" charset="0"/>
              </a:rPr>
              <a:t>P*</a:t>
            </a:r>
            <a:r>
              <a:rPr lang="en-US" sz="2400" smtClean="0"/>
              <a:t> </a:t>
            </a:r>
            <a:r>
              <a:rPr lang="en-US" sz="2400" smtClean="0">
                <a:sym typeface="Wingdings" pitchFamily="2" charset="2"/>
              </a:rPr>
              <a:t> </a:t>
            </a:r>
            <a:r>
              <a:rPr lang="en-US" sz="2400" smtClean="0">
                <a:latin typeface="Monotype Corsiva" pitchFamily="66" charset="0"/>
              </a:rPr>
              <a:t>A</a:t>
            </a:r>
            <a:r>
              <a:rPr lang="en-US" sz="2400" smtClean="0"/>
              <a:t>]</a:t>
            </a:r>
          </a:p>
          <a:p>
            <a:pPr algn="ctr">
              <a:buFontTx/>
              <a:buNone/>
            </a:pPr>
            <a:endParaRPr lang="en-US" sz="2400" smtClean="0"/>
          </a:p>
          <a:p>
            <a:r>
              <a:rPr lang="en-US" sz="2400" smtClean="0"/>
              <a:t>The </a:t>
            </a:r>
            <a:r>
              <a:rPr lang="en-US" sz="2400" smtClean="0">
                <a:solidFill>
                  <a:srgbClr val="FF0000"/>
                </a:solidFill>
              </a:rPr>
              <a:t>agent</a:t>
            </a:r>
            <a:r>
              <a:rPr lang="en-US" sz="2400" smtClean="0"/>
              <a:t> </a:t>
            </a:r>
            <a:r>
              <a:rPr lang="en-US" sz="2400" smtClean="0">
                <a:solidFill>
                  <a:srgbClr val="FF0000"/>
                </a:solidFill>
              </a:rPr>
              <a:t>program</a:t>
            </a:r>
            <a:r>
              <a:rPr lang="en-US" sz="2400" smtClean="0"/>
              <a:t> runs on the physical </a:t>
            </a:r>
            <a:r>
              <a:rPr lang="en-US" sz="2400" smtClean="0">
                <a:solidFill>
                  <a:srgbClr val="FF0000"/>
                </a:solidFill>
              </a:rPr>
              <a:t>architecture</a:t>
            </a:r>
            <a:r>
              <a:rPr lang="en-US" sz="2400" smtClean="0"/>
              <a:t> to produce </a:t>
            </a:r>
            <a:r>
              <a:rPr lang="en-US" sz="2400" i="1" smtClean="0"/>
              <a:t>f</a:t>
            </a:r>
          </a:p>
          <a:p>
            <a:pPr>
              <a:buFontTx/>
              <a:buNone/>
            </a:pPr>
            <a:endParaRPr lang="en-US" sz="2400" smtClean="0"/>
          </a:p>
          <a:p>
            <a:r>
              <a:rPr lang="en-US" sz="2400" smtClean="0">
                <a:solidFill>
                  <a:srgbClr val="0000CC"/>
                </a:solidFill>
              </a:rPr>
              <a:t>agent = architecture + program</a:t>
            </a:r>
          </a:p>
        </p:txBody>
      </p:sp>
      <p:pic>
        <p:nvPicPr>
          <p:cNvPr id="6148" name="Picture 4" descr="agent-environment"/>
          <p:cNvPicPr>
            <a:picLocks noChangeAspect="1" noChangeArrowheads="1"/>
          </p:cNvPicPr>
          <p:nvPr/>
        </p:nvPicPr>
        <p:blipFill>
          <a:blip r:embed="rId3"/>
          <a:srcRect/>
          <a:stretch>
            <a:fillRect/>
          </a:stretch>
        </p:blipFill>
        <p:spPr bwMode="auto">
          <a:xfrm>
            <a:off x="2514600" y="990600"/>
            <a:ext cx="3733800" cy="1685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mtClean="0"/>
              <a:t>Vacuum-cleaner world</a:t>
            </a:r>
          </a:p>
        </p:txBody>
      </p:sp>
      <p:sp>
        <p:nvSpPr>
          <p:cNvPr id="7171" name="Rectangle 3"/>
          <p:cNvSpPr>
            <a:spLocks noGrp="1" noChangeArrowheads="1"/>
          </p:cNvSpPr>
          <p:nvPr>
            <p:ph type="body" idx="1"/>
          </p:nvPr>
        </p:nvSpPr>
        <p:spPr>
          <a:xfrm>
            <a:off x="685800" y="3200400"/>
            <a:ext cx="7848600" cy="2590800"/>
          </a:xfrm>
        </p:spPr>
        <p:txBody>
          <a:bodyPr/>
          <a:lstStyle/>
          <a:p>
            <a:endParaRPr lang="en-US" smtClean="0"/>
          </a:p>
          <a:p>
            <a:r>
              <a:rPr lang="en-US" sz="2400" smtClean="0">
                <a:solidFill>
                  <a:srgbClr val="FF0000"/>
                </a:solidFill>
              </a:rPr>
              <a:t>Percepts:</a:t>
            </a:r>
            <a:r>
              <a:rPr lang="en-US" sz="2400" smtClean="0"/>
              <a:t>  location and state of the environment, e.g., [A,Dirty], [B,Clean]</a:t>
            </a:r>
          </a:p>
          <a:p>
            <a:pPr>
              <a:buFontTx/>
              <a:buNone/>
            </a:pPr>
            <a:endParaRPr lang="en-US" sz="2400" smtClean="0"/>
          </a:p>
          <a:p>
            <a:r>
              <a:rPr lang="en-US" sz="2400" smtClean="0">
                <a:solidFill>
                  <a:srgbClr val="FF0000"/>
                </a:solidFill>
              </a:rPr>
              <a:t>Actions:</a:t>
            </a:r>
            <a:r>
              <a:rPr lang="en-US" sz="2400" smtClean="0"/>
              <a:t> </a:t>
            </a:r>
            <a:r>
              <a:rPr lang="en-US" sz="2400" i="1" smtClean="0"/>
              <a:t>Left</a:t>
            </a:r>
            <a:r>
              <a:rPr lang="en-US" sz="2400" smtClean="0"/>
              <a:t>, </a:t>
            </a:r>
            <a:r>
              <a:rPr lang="en-US" sz="2400" i="1" smtClean="0"/>
              <a:t>Right</a:t>
            </a:r>
            <a:r>
              <a:rPr lang="en-US" sz="2400" smtClean="0"/>
              <a:t>, </a:t>
            </a:r>
            <a:r>
              <a:rPr lang="en-US" sz="2400" i="1" smtClean="0"/>
              <a:t>Suck</a:t>
            </a:r>
            <a:r>
              <a:rPr lang="en-US" sz="2400" smtClean="0"/>
              <a:t>, </a:t>
            </a:r>
            <a:r>
              <a:rPr lang="en-US" sz="2400" i="1" smtClean="0"/>
              <a:t>NoOp</a:t>
            </a:r>
            <a:endParaRPr lang="en-US" sz="2400" smtClean="0"/>
          </a:p>
        </p:txBody>
      </p:sp>
      <p:pic>
        <p:nvPicPr>
          <p:cNvPr id="7172" name="Picture 4" descr="vacuum2-environment"/>
          <p:cNvPicPr>
            <a:picLocks noChangeAspect="1" noChangeArrowheads="1"/>
          </p:cNvPicPr>
          <p:nvPr/>
        </p:nvPicPr>
        <p:blipFill>
          <a:blip r:embed="rId3"/>
          <a:srcRect/>
          <a:stretch>
            <a:fillRect/>
          </a:stretch>
        </p:blipFill>
        <p:spPr bwMode="auto">
          <a:xfrm>
            <a:off x="3429000" y="1219200"/>
            <a:ext cx="2457450" cy="125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2800" dirty="0" smtClean="0"/>
              <a:t>Rational agents</a:t>
            </a:r>
          </a:p>
        </p:txBody>
      </p:sp>
      <p:sp>
        <p:nvSpPr>
          <p:cNvPr id="8195" name="Rectangle 3"/>
          <p:cNvSpPr>
            <a:spLocks noGrp="1" noChangeArrowheads="1"/>
          </p:cNvSpPr>
          <p:nvPr>
            <p:ph type="body" idx="1"/>
          </p:nvPr>
        </p:nvSpPr>
        <p:spPr/>
        <p:txBody>
          <a:bodyPr/>
          <a:lstStyle/>
          <a:p>
            <a:pPr>
              <a:lnSpc>
                <a:spcPct val="90000"/>
              </a:lnSpc>
            </a:pPr>
            <a:r>
              <a:rPr lang="en-US" sz="2400" smtClean="0">
                <a:solidFill>
                  <a:srgbClr val="FF0000"/>
                </a:solidFill>
              </a:rPr>
              <a:t>Rational</a:t>
            </a:r>
            <a:r>
              <a:rPr lang="en-US" sz="2400" smtClean="0"/>
              <a:t> </a:t>
            </a:r>
            <a:r>
              <a:rPr lang="en-US" sz="2400" smtClean="0">
                <a:solidFill>
                  <a:srgbClr val="FF0000"/>
                </a:solidFill>
              </a:rPr>
              <a:t>Agent</a:t>
            </a:r>
            <a:r>
              <a:rPr lang="en-US" sz="2400" smtClean="0"/>
              <a:t>: For each possible percept sequence, a rational agent should select an action that is </a:t>
            </a:r>
            <a:r>
              <a:rPr lang="en-US" sz="2400" i="1" smtClean="0">
                <a:solidFill>
                  <a:srgbClr val="0000CC"/>
                </a:solidFill>
              </a:rPr>
              <a:t>expected</a:t>
            </a:r>
            <a:r>
              <a:rPr lang="en-US" sz="2400" smtClean="0"/>
              <a:t> to maximize its </a:t>
            </a:r>
            <a:r>
              <a:rPr lang="en-US" sz="2400" smtClean="0">
                <a:solidFill>
                  <a:srgbClr val="0000CC"/>
                </a:solidFill>
              </a:rPr>
              <a:t>performance measure</a:t>
            </a:r>
            <a:r>
              <a:rPr lang="en-US" sz="2400" smtClean="0"/>
              <a:t>, based on the evidence provided by the percept sequence and whatever built-in knowledge the agent has</a:t>
            </a:r>
            <a:r>
              <a:rPr lang="en-US" sz="1600" smtClean="0"/>
              <a:t>.</a:t>
            </a:r>
            <a:endParaRPr lang="en-US" sz="2400" smtClean="0"/>
          </a:p>
          <a:p>
            <a:pPr>
              <a:lnSpc>
                <a:spcPct val="90000"/>
              </a:lnSpc>
            </a:pPr>
            <a:endParaRPr lang="en-US" sz="2400" smtClean="0"/>
          </a:p>
          <a:p>
            <a:pPr>
              <a:lnSpc>
                <a:spcPct val="90000"/>
              </a:lnSpc>
            </a:pPr>
            <a:r>
              <a:rPr lang="en-US" sz="2400" smtClean="0">
                <a:solidFill>
                  <a:srgbClr val="FF0000"/>
                </a:solidFill>
              </a:rPr>
              <a:t>Performance measure:</a:t>
            </a:r>
            <a:r>
              <a:rPr lang="en-US" sz="2400" smtClean="0"/>
              <a:t> An objective criterion for success of an agent's behavior</a:t>
            </a:r>
          </a:p>
          <a:p>
            <a:pPr>
              <a:lnSpc>
                <a:spcPct val="90000"/>
              </a:lnSpc>
            </a:pPr>
            <a:endParaRPr lang="en-US" sz="2400" smtClean="0"/>
          </a:p>
          <a:p>
            <a:pPr>
              <a:lnSpc>
                <a:spcPct val="90000"/>
              </a:lnSpc>
            </a:pPr>
            <a:r>
              <a:rPr lang="en-US" sz="2400" smtClean="0">
                <a:solidFill>
                  <a:srgbClr val="0000CC"/>
                </a:solidFill>
              </a:rPr>
              <a:t>E.g.,</a:t>
            </a:r>
            <a:r>
              <a:rPr lang="en-US" sz="2400" smtClean="0"/>
              <a:t> performance measure of a vacuum-cleaner agent could be amount of dirt cleaned up, amount of time taken, amount of electricity consumed, amount of noise generated, etc.</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sz="3200" smtClean="0"/>
              <a:t>Rational agents</a:t>
            </a:r>
          </a:p>
        </p:txBody>
      </p:sp>
      <p:sp>
        <p:nvSpPr>
          <p:cNvPr id="9219" name="Rectangle 3"/>
          <p:cNvSpPr>
            <a:spLocks noGrp="1" noChangeArrowheads="1"/>
          </p:cNvSpPr>
          <p:nvPr>
            <p:ph type="body" idx="1"/>
          </p:nvPr>
        </p:nvSpPr>
        <p:spPr/>
        <p:txBody>
          <a:bodyPr/>
          <a:lstStyle/>
          <a:p>
            <a:pPr>
              <a:lnSpc>
                <a:spcPct val="90000"/>
              </a:lnSpc>
            </a:pPr>
            <a:r>
              <a:rPr lang="en-US" sz="2800" smtClean="0">
                <a:solidFill>
                  <a:srgbClr val="FF0000"/>
                </a:solidFill>
              </a:rPr>
              <a:t>Rationality</a:t>
            </a:r>
            <a:r>
              <a:rPr lang="en-US" sz="2800" smtClean="0"/>
              <a:t> is </a:t>
            </a:r>
            <a:r>
              <a:rPr lang="en-US" sz="2800" smtClean="0">
                <a:solidFill>
                  <a:srgbClr val="0000CC"/>
                </a:solidFill>
              </a:rPr>
              <a:t>distinct</a:t>
            </a:r>
            <a:r>
              <a:rPr lang="en-US" sz="2800" smtClean="0"/>
              <a:t> from </a:t>
            </a:r>
            <a:r>
              <a:rPr lang="en-US" sz="2800" smtClean="0">
                <a:solidFill>
                  <a:srgbClr val="FF0000"/>
                </a:solidFill>
              </a:rPr>
              <a:t>omniscience</a:t>
            </a:r>
            <a:r>
              <a:rPr lang="en-US" sz="2800" smtClean="0"/>
              <a:t> (all-knowing with infinite knowledge)</a:t>
            </a:r>
          </a:p>
          <a:p>
            <a:pPr>
              <a:lnSpc>
                <a:spcPct val="90000"/>
              </a:lnSpc>
            </a:pPr>
            <a:endParaRPr lang="en-US" sz="2800" smtClean="0"/>
          </a:p>
          <a:p>
            <a:pPr>
              <a:lnSpc>
                <a:spcPct val="90000"/>
              </a:lnSpc>
            </a:pPr>
            <a:r>
              <a:rPr lang="en-US" sz="2800" smtClean="0"/>
              <a:t>Agents can perform actions in order to modify future percepts so as to obtain useful information (</a:t>
            </a:r>
            <a:r>
              <a:rPr lang="en-US" sz="2800" smtClean="0">
                <a:solidFill>
                  <a:srgbClr val="0000CC"/>
                </a:solidFill>
              </a:rPr>
              <a:t>information gathering, exploration</a:t>
            </a:r>
            <a:r>
              <a:rPr lang="en-US" sz="2800" smtClean="0"/>
              <a:t>)</a:t>
            </a:r>
          </a:p>
          <a:p>
            <a:pPr>
              <a:lnSpc>
                <a:spcPct val="90000"/>
              </a:lnSpc>
            </a:pPr>
            <a:endParaRPr lang="en-US" sz="2800" smtClean="0"/>
          </a:p>
          <a:p>
            <a:pPr>
              <a:lnSpc>
                <a:spcPct val="90000"/>
              </a:lnSpc>
            </a:pPr>
            <a:r>
              <a:rPr lang="en-US" sz="2800" smtClean="0"/>
              <a:t>An agent is </a:t>
            </a:r>
            <a:r>
              <a:rPr lang="en-US" sz="2800" smtClean="0">
                <a:solidFill>
                  <a:srgbClr val="FF0000"/>
                </a:solidFill>
              </a:rPr>
              <a:t>autonomous</a:t>
            </a:r>
            <a:r>
              <a:rPr lang="en-US" sz="2800" smtClean="0"/>
              <a:t> if its behavior is determined by its own percepts &amp; experience (with ability to </a:t>
            </a:r>
            <a:r>
              <a:rPr lang="en-US" sz="2800" smtClean="0">
                <a:solidFill>
                  <a:srgbClr val="0000CC"/>
                </a:solidFill>
              </a:rPr>
              <a:t>learn and adapt</a:t>
            </a:r>
            <a:r>
              <a:rPr lang="en-US" sz="2800" smtClean="0"/>
              <a:t>)</a:t>
            </a:r>
          </a:p>
          <a:p>
            <a:pPr>
              <a:lnSpc>
                <a:spcPct val="90000"/>
              </a:lnSpc>
              <a:buFontTx/>
              <a:buNone/>
            </a:pPr>
            <a:r>
              <a:rPr lang="en-US" sz="2800" smtClean="0"/>
              <a:t>   without depending solely on build-in knowledge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z="3200" smtClean="0"/>
              <a:t>Task Environment</a:t>
            </a:r>
          </a:p>
        </p:txBody>
      </p:sp>
      <p:sp>
        <p:nvSpPr>
          <p:cNvPr id="10243" name="Rectangle 3"/>
          <p:cNvSpPr>
            <a:spLocks noGrp="1" noChangeArrowheads="1"/>
          </p:cNvSpPr>
          <p:nvPr>
            <p:ph type="body" idx="1"/>
          </p:nvPr>
        </p:nvSpPr>
        <p:spPr/>
        <p:txBody>
          <a:bodyPr/>
          <a:lstStyle/>
          <a:p>
            <a:pPr>
              <a:lnSpc>
                <a:spcPct val="90000"/>
              </a:lnSpc>
            </a:pPr>
            <a:r>
              <a:rPr lang="en-US" sz="2800" smtClean="0"/>
              <a:t>Before we design an intelligent agent, we must specify its “task environment”:</a:t>
            </a:r>
          </a:p>
          <a:p>
            <a:pPr>
              <a:lnSpc>
                <a:spcPct val="90000"/>
              </a:lnSpc>
              <a:buFontTx/>
              <a:buNone/>
            </a:pPr>
            <a:r>
              <a:rPr lang="en-US" sz="2800" smtClean="0"/>
              <a:t>  </a:t>
            </a:r>
          </a:p>
          <a:p>
            <a:pPr>
              <a:lnSpc>
                <a:spcPct val="90000"/>
              </a:lnSpc>
              <a:buFontTx/>
              <a:buNone/>
            </a:pPr>
            <a:r>
              <a:rPr lang="en-US" sz="2800" smtClean="0"/>
              <a:t>   PEAS:</a:t>
            </a:r>
          </a:p>
          <a:p>
            <a:pPr>
              <a:lnSpc>
                <a:spcPct val="90000"/>
              </a:lnSpc>
              <a:buFontTx/>
              <a:buNone/>
            </a:pPr>
            <a:endParaRPr lang="en-US" sz="2800" smtClean="0"/>
          </a:p>
          <a:p>
            <a:pPr>
              <a:lnSpc>
                <a:spcPct val="90000"/>
              </a:lnSpc>
              <a:buFontTx/>
              <a:buNone/>
            </a:pPr>
            <a:r>
              <a:rPr lang="en-US" sz="2800" smtClean="0"/>
              <a:t>   </a:t>
            </a:r>
            <a:r>
              <a:rPr lang="en-US" sz="2800" smtClean="0">
                <a:solidFill>
                  <a:srgbClr val="0000CC"/>
                </a:solidFill>
              </a:rPr>
              <a:t>Performance measure</a:t>
            </a:r>
            <a:endParaRPr lang="en-US" sz="2800" smtClean="0"/>
          </a:p>
          <a:p>
            <a:pPr>
              <a:lnSpc>
                <a:spcPct val="90000"/>
              </a:lnSpc>
              <a:buFontTx/>
              <a:buNone/>
            </a:pPr>
            <a:r>
              <a:rPr lang="en-US" sz="2800" smtClean="0"/>
              <a:t>   </a:t>
            </a:r>
            <a:r>
              <a:rPr lang="en-US" sz="2800" smtClean="0">
                <a:solidFill>
                  <a:srgbClr val="006600"/>
                </a:solidFill>
              </a:rPr>
              <a:t>Environment</a:t>
            </a:r>
            <a:endParaRPr lang="en-US" sz="2800" smtClean="0"/>
          </a:p>
          <a:p>
            <a:pPr>
              <a:lnSpc>
                <a:spcPct val="90000"/>
              </a:lnSpc>
              <a:buFontTx/>
              <a:buNone/>
            </a:pPr>
            <a:r>
              <a:rPr lang="en-US" sz="2800" smtClean="0"/>
              <a:t>   </a:t>
            </a:r>
            <a:r>
              <a:rPr lang="en-US" sz="2800" smtClean="0">
                <a:solidFill>
                  <a:srgbClr val="FF0000"/>
                </a:solidFill>
              </a:rPr>
              <a:t>Actuators</a:t>
            </a:r>
            <a:endParaRPr lang="en-US" sz="2800" smtClean="0"/>
          </a:p>
          <a:p>
            <a:pPr>
              <a:lnSpc>
                <a:spcPct val="90000"/>
              </a:lnSpc>
              <a:buFontTx/>
              <a:buNone/>
            </a:pPr>
            <a:r>
              <a:rPr lang="en-US" sz="2800" smtClean="0"/>
              <a:t>   </a:t>
            </a:r>
            <a:r>
              <a:rPr lang="en-US" sz="2800" smtClean="0">
                <a:solidFill>
                  <a:srgbClr val="800080"/>
                </a:solidFill>
              </a:rPr>
              <a:t>Sensors</a:t>
            </a:r>
          </a:p>
          <a:p>
            <a:pPr>
              <a:lnSpc>
                <a:spcPct val="90000"/>
              </a:lnSpc>
              <a:buFontTx/>
              <a:buNone/>
            </a:pPr>
            <a:endParaRPr lang="en-US" sz="280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z="3200" smtClean="0"/>
              <a:t>PEAS</a:t>
            </a:r>
          </a:p>
        </p:txBody>
      </p:sp>
      <p:sp>
        <p:nvSpPr>
          <p:cNvPr id="11267" name="Rectangle 3"/>
          <p:cNvSpPr>
            <a:spLocks noGrp="1" noChangeArrowheads="1"/>
          </p:cNvSpPr>
          <p:nvPr>
            <p:ph type="body" idx="1"/>
          </p:nvPr>
        </p:nvSpPr>
        <p:spPr/>
        <p:txBody>
          <a:bodyPr/>
          <a:lstStyle/>
          <a:p>
            <a:pPr>
              <a:lnSpc>
                <a:spcPct val="80000"/>
              </a:lnSpc>
            </a:pPr>
            <a:r>
              <a:rPr lang="en-US" sz="2400" smtClean="0"/>
              <a:t>Example: Agent =  taxi driver</a:t>
            </a:r>
          </a:p>
          <a:p>
            <a:pPr>
              <a:lnSpc>
                <a:spcPct val="80000"/>
              </a:lnSpc>
            </a:pPr>
            <a:endParaRPr lang="en-US" sz="2400" smtClean="0"/>
          </a:p>
          <a:p>
            <a:pPr lvl="1">
              <a:lnSpc>
                <a:spcPct val="80000"/>
              </a:lnSpc>
            </a:pPr>
            <a:r>
              <a:rPr lang="en-US" sz="2400" smtClean="0">
                <a:solidFill>
                  <a:srgbClr val="0000CC"/>
                </a:solidFill>
              </a:rPr>
              <a:t>Performance measure:</a:t>
            </a:r>
            <a:r>
              <a:rPr lang="en-US" sz="2400" smtClean="0"/>
              <a:t> Safe, fast, legal, comfortable trip, maximize profits</a:t>
            </a:r>
          </a:p>
          <a:p>
            <a:pPr lvl="1">
              <a:lnSpc>
                <a:spcPct val="80000"/>
              </a:lnSpc>
            </a:pPr>
            <a:endParaRPr lang="en-US" sz="2400" smtClean="0"/>
          </a:p>
          <a:p>
            <a:pPr lvl="1">
              <a:lnSpc>
                <a:spcPct val="80000"/>
              </a:lnSpc>
            </a:pPr>
            <a:r>
              <a:rPr lang="en-US" sz="2400" smtClean="0">
                <a:solidFill>
                  <a:srgbClr val="006600"/>
                </a:solidFill>
              </a:rPr>
              <a:t>Environment:</a:t>
            </a:r>
            <a:r>
              <a:rPr lang="en-US" sz="2400" smtClean="0"/>
              <a:t> Roads, other traffic, pedestrians, customers</a:t>
            </a:r>
          </a:p>
          <a:p>
            <a:pPr lvl="1">
              <a:lnSpc>
                <a:spcPct val="80000"/>
              </a:lnSpc>
            </a:pPr>
            <a:endParaRPr lang="en-US" sz="2400" smtClean="0"/>
          </a:p>
          <a:p>
            <a:pPr lvl="1">
              <a:lnSpc>
                <a:spcPct val="80000"/>
              </a:lnSpc>
            </a:pPr>
            <a:r>
              <a:rPr lang="en-US" sz="2400" smtClean="0">
                <a:solidFill>
                  <a:srgbClr val="FF0000"/>
                </a:solidFill>
              </a:rPr>
              <a:t>Actuators:</a:t>
            </a:r>
            <a:r>
              <a:rPr lang="en-US" sz="2400" smtClean="0"/>
              <a:t> Steering wheel, accelerator, brake, signal, horn</a:t>
            </a:r>
          </a:p>
          <a:p>
            <a:pPr lvl="1">
              <a:lnSpc>
                <a:spcPct val="80000"/>
              </a:lnSpc>
              <a:buFontTx/>
              <a:buNone/>
            </a:pPr>
            <a:endParaRPr lang="en-US" sz="2400" smtClean="0"/>
          </a:p>
          <a:p>
            <a:pPr lvl="1">
              <a:lnSpc>
                <a:spcPct val="80000"/>
              </a:lnSpc>
            </a:pPr>
            <a:r>
              <a:rPr lang="en-US" sz="2400" smtClean="0">
                <a:solidFill>
                  <a:srgbClr val="800080"/>
                </a:solidFill>
              </a:rPr>
              <a:t>Sensors:</a:t>
            </a:r>
            <a:r>
              <a:rPr lang="en-US" sz="2400" smtClean="0"/>
              <a:t> Cameras, sonar, speedometer, GPS, odometer, engine sensors, keyboard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smtClean="0"/>
              <a:t>PEAS</a:t>
            </a:r>
          </a:p>
        </p:txBody>
      </p:sp>
      <p:sp>
        <p:nvSpPr>
          <p:cNvPr id="12291" name="Rectangle 3"/>
          <p:cNvSpPr>
            <a:spLocks noGrp="1" noChangeArrowheads="1"/>
          </p:cNvSpPr>
          <p:nvPr>
            <p:ph type="body" idx="1"/>
          </p:nvPr>
        </p:nvSpPr>
        <p:spPr/>
        <p:txBody>
          <a:bodyPr/>
          <a:lstStyle/>
          <a:p>
            <a:r>
              <a:rPr lang="en-US" sz="2400" smtClean="0"/>
              <a:t>Example: Agent = Medical diagnosis system</a:t>
            </a:r>
          </a:p>
          <a:p>
            <a:endParaRPr lang="en-US" sz="2400" smtClean="0"/>
          </a:p>
          <a:p>
            <a:pPr>
              <a:buFontTx/>
              <a:buNone/>
            </a:pPr>
            <a:r>
              <a:rPr lang="en-US" sz="2400" smtClean="0">
                <a:solidFill>
                  <a:srgbClr val="0000CC"/>
                </a:solidFill>
              </a:rPr>
              <a:t>    Performance measure:</a:t>
            </a:r>
            <a:r>
              <a:rPr lang="en-US" sz="2400" smtClean="0"/>
              <a:t> Healthy patient, minimize costs, lawsuits</a:t>
            </a:r>
          </a:p>
          <a:p>
            <a:endParaRPr lang="en-US" sz="2400" smtClean="0"/>
          </a:p>
          <a:p>
            <a:pPr>
              <a:buFontTx/>
              <a:buNone/>
            </a:pPr>
            <a:r>
              <a:rPr lang="en-US" sz="2400" smtClean="0">
                <a:solidFill>
                  <a:srgbClr val="006600"/>
                </a:solidFill>
              </a:rPr>
              <a:t>    Environment:</a:t>
            </a:r>
            <a:r>
              <a:rPr lang="en-US" sz="2400" smtClean="0"/>
              <a:t> Patient, hospital, staff</a:t>
            </a:r>
          </a:p>
          <a:p>
            <a:endParaRPr lang="en-US" sz="2400" smtClean="0"/>
          </a:p>
          <a:p>
            <a:pPr>
              <a:buFontTx/>
              <a:buNone/>
            </a:pPr>
            <a:r>
              <a:rPr lang="en-US" sz="2400" smtClean="0">
                <a:solidFill>
                  <a:srgbClr val="FF0000"/>
                </a:solidFill>
              </a:rPr>
              <a:t>   Actuators:</a:t>
            </a:r>
            <a:r>
              <a:rPr lang="en-US" sz="2400" smtClean="0"/>
              <a:t> Screen display (questions, tests, diagnoses, treatments, referrals)</a:t>
            </a:r>
          </a:p>
          <a:p>
            <a:endParaRPr lang="en-US" sz="2400" smtClean="0"/>
          </a:p>
          <a:p>
            <a:pPr>
              <a:buFontTx/>
              <a:buNone/>
            </a:pPr>
            <a:r>
              <a:rPr lang="en-US" sz="2400" smtClean="0">
                <a:solidFill>
                  <a:srgbClr val="800080"/>
                </a:solidFill>
              </a:rPr>
              <a:t>   Sensors:</a:t>
            </a:r>
            <a:r>
              <a:rPr lang="en-US" sz="2400" smtClean="0"/>
              <a:t> Keyboard (entry of symptoms, findings, patient's answers)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smtClean="0"/>
              <a:t>PEAS</a:t>
            </a:r>
          </a:p>
        </p:txBody>
      </p:sp>
      <p:sp>
        <p:nvSpPr>
          <p:cNvPr id="13315" name="Rectangle 3"/>
          <p:cNvSpPr>
            <a:spLocks noGrp="1" noChangeArrowheads="1"/>
          </p:cNvSpPr>
          <p:nvPr>
            <p:ph type="body" idx="1"/>
          </p:nvPr>
        </p:nvSpPr>
        <p:spPr>
          <a:xfrm>
            <a:off x="609600" y="990600"/>
            <a:ext cx="7848600" cy="5181600"/>
          </a:xfrm>
        </p:spPr>
        <p:txBody>
          <a:bodyPr/>
          <a:lstStyle/>
          <a:p>
            <a:r>
              <a:rPr lang="en-US" sz="2400" smtClean="0"/>
              <a:t>Example: Agent = Part-picking robot</a:t>
            </a:r>
          </a:p>
          <a:p>
            <a:pPr>
              <a:buFontTx/>
              <a:buNone/>
            </a:pPr>
            <a:endParaRPr lang="en-US" sz="2400" smtClean="0"/>
          </a:p>
          <a:p>
            <a:r>
              <a:rPr lang="en-US" sz="2400" smtClean="0">
                <a:solidFill>
                  <a:srgbClr val="0000CC"/>
                </a:solidFill>
              </a:rPr>
              <a:t>Performance measure:</a:t>
            </a:r>
            <a:r>
              <a:rPr lang="en-US" sz="2400" smtClean="0"/>
              <a:t> Percentage of parts in correct bins</a:t>
            </a:r>
          </a:p>
          <a:p>
            <a:endParaRPr lang="en-US" sz="2400" smtClean="0"/>
          </a:p>
          <a:p>
            <a:r>
              <a:rPr lang="en-US" sz="2400" smtClean="0">
                <a:solidFill>
                  <a:srgbClr val="006600"/>
                </a:solidFill>
              </a:rPr>
              <a:t>Environment:</a:t>
            </a:r>
            <a:r>
              <a:rPr lang="en-US" sz="2400" smtClean="0"/>
              <a:t> Conveyor belt with parts, bins</a:t>
            </a:r>
          </a:p>
          <a:p>
            <a:endParaRPr lang="en-US" sz="2400" smtClean="0"/>
          </a:p>
          <a:p>
            <a:r>
              <a:rPr lang="en-US" sz="2400" smtClean="0">
                <a:solidFill>
                  <a:srgbClr val="FF0000"/>
                </a:solidFill>
              </a:rPr>
              <a:t>Actuators:</a:t>
            </a:r>
            <a:r>
              <a:rPr lang="en-US" sz="2400" smtClean="0"/>
              <a:t> Jointed arm and hand</a:t>
            </a:r>
          </a:p>
          <a:p>
            <a:pPr>
              <a:buFontTx/>
              <a:buNone/>
            </a:pPr>
            <a:endParaRPr lang="en-US" sz="2400" smtClean="0"/>
          </a:p>
          <a:p>
            <a:r>
              <a:rPr lang="en-US" sz="2400" smtClean="0">
                <a:solidFill>
                  <a:srgbClr val="800080"/>
                </a:solidFill>
              </a:rPr>
              <a:t>Sensors:</a:t>
            </a:r>
            <a:r>
              <a:rPr lang="en-US" sz="2400" smtClean="0"/>
              <a:t> Camera, joint angle sensors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a:t>
            </a:r>
            <a:r>
              <a:rPr lang="en-US" dirty="0" err="1" smtClean="0"/>
              <a:t>Observability</a:t>
            </a:r>
            <a:endParaRPr lang="en-US" dirty="0"/>
          </a:p>
        </p:txBody>
      </p:sp>
      <p:sp>
        <p:nvSpPr>
          <p:cNvPr id="3" name="Content Placeholder 2"/>
          <p:cNvSpPr>
            <a:spLocks noGrp="1"/>
          </p:cNvSpPr>
          <p:nvPr>
            <p:ph idx="1"/>
          </p:nvPr>
        </p:nvSpPr>
        <p:spPr/>
        <p:txBody>
          <a:bodyPr>
            <a:normAutofit/>
          </a:bodyPr>
          <a:lstStyle/>
          <a:p>
            <a:pPr algn="just"/>
            <a:r>
              <a:rPr lang="en-US" dirty="0" smtClean="0"/>
              <a:t>In terms of </a:t>
            </a:r>
            <a:r>
              <a:rPr lang="en-US" dirty="0" err="1" smtClean="0"/>
              <a:t>observability</a:t>
            </a:r>
            <a:r>
              <a:rPr lang="en-US" dirty="0" smtClean="0"/>
              <a:t>, an environment can be characterized as fully observable or partially observable.</a:t>
            </a:r>
          </a:p>
          <a:p>
            <a:pPr algn="just"/>
            <a:r>
              <a:rPr lang="en-US" dirty="0" smtClean="0"/>
              <a:t>In a </a:t>
            </a:r>
            <a:r>
              <a:rPr lang="en-US" dirty="0" smtClean="0">
                <a:solidFill>
                  <a:srgbClr val="FF0000"/>
                </a:solidFill>
              </a:rPr>
              <a:t>fully observable environment </a:t>
            </a:r>
            <a:r>
              <a:rPr lang="en-US" dirty="0" smtClean="0"/>
              <a:t>all of the environment relevant to the action being considered is observable. </a:t>
            </a:r>
          </a:p>
          <a:p>
            <a:pPr algn="just"/>
            <a:r>
              <a:rPr lang="en-US" dirty="0" smtClean="0"/>
              <a:t>In such environments, the agent does not need to keep track of the changes in the environment.</a:t>
            </a:r>
          </a:p>
          <a:p>
            <a:pPr algn="just"/>
            <a:r>
              <a:rPr lang="en-US" dirty="0" smtClean="0"/>
              <a:t>A chess playing system is an example of a system that operates in a fully observable environment.</a:t>
            </a:r>
          </a:p>
          <a:p>
            <a:pPr>
              <a:buNone/>
            </a:pPr>
            <a:r>
              <a:rPr lang="en-US" dirty="0" smtClean="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a:t>
            </a:r>
            <a:r>
              <a:rPr lang="en-US" dirty="0" err="1" smtClean="0"/>
              <a:t>Observability</a:t>
            </a:r>
            <a:endParaRPr lang="en-US" dirty="0"/>
          </a:p>
        </p:txBody>
      </p:sp>
      <p:sp>
        <p:nvSpPr>
          <p:cNvPr id="3" name="Content Placeholder 2"/>
          <p:cNvSpPr>
            <a:spLocks noGrp="1"/>
          </p:cNvSpPr>
          <p:nvPr>
            <p:ph idx="1"/>
          </p:nvPr>
        </p:nvSpPr>
        <p:spPr/>
        <p:txBody>
          <a:bodyPr>
            <a:normAutofit/>
          </a:bodyPr>
          <a:lstStyle/>
          <a:p>
            <a:pPr algn="just"/>
            <a:r>
              <a:rPr lang="en-US" dirty="0" smtClean="0"/>
              <a:t>In a </a:t>
            </a:r>
            <a:r>
              <a:rPr lang="en-US" dirty="0" smtClean="0">
                <a:solidFill>
                  <a:srgbClr val="FF0000"/>
                </a:solidFill>
              </a:rPr>
              <a:t>partially observable environment</a:t>
            </a:r>
            <a:r>
              <a:rPr lang="en-US" dirty="0" smtClean="0"/>
              <a:t>, the relevant features of the environment are only partially observable.</a:t>
            </a:r>
          </a:p>
          <a:p>
            <a:pPr algn="just"/>
            <a:r>
              <a:rPr lang="en-US" dirty="0" smtClean="0"/>
              <a:t>A POKER game is an example of a system operating in a partially observable environment.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Determinism</a:t>
            </a:r>
            <a:endParaRPr lang="en-US" dirty="0"/>
          </a:p>
        </p:txBody>
      </p:sp>
      <p:sp>
        <p:nvSpPr>
          <p:cNvPr id="3" name="Content Placeholder 2"/>
          <p:cNvSpPr>
            <a:spLocks noGrp="1"/>
          </p:cNvSpPr>
          <p:nvPr>
            <p:ph idx="1"/>
          </p:nvPr>
        </p:nvSpPr>
        <p:spPr/>
        <p:txBody>
          <a:bodyPr>
            <a:normAutofit/>
          </a:bodyPr>
          <a:lstStyle/>
          <a:p>
            <a:pPr algn="just"/>
            <a:r>
              <a:rPr lang="en-US" dirty="0" smtClean="0"/>
              <a:t>In </a:t>
            </a:r>
            <a:r>
              <a:rPr lang="en-US" dirty="0" smtClean="0">
                <a:solidFill>
                  <a:srgbClr val="FF0000"/>
                </a:solidFill>
              </a:rPr>
              <a:t>deterministic environments</a:t>
            </a:r>
            <a:r>
              <a:rPr lang="en-US" dirty="0" smtClean="0"/>
              <a:t>, the next state of the environment is completely described by the current state and the agent’s action.</a:t>
            </a:r>
          </a:p>
          <a:p>
            <a:pPr algn="just"/>
            <a:r>
              <a:rPr lang="en-US" dirty="0" smtClean="0"/>
              <a:t>Image analysis systems are examples of this kind of situation.</a:t>
            </a:r>
          </a:p>
          <a:p>
            <a:pPr algn="just"/>
            <a:r>
              <a:rPr lang="en-US" dirty="0" smtClean="0"/>
              <a:t>The processed image is determined completely by the current image and the processing operations.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Determinism</a:t>
            </a:r>
            <a:endParaRPr lang="en-US" dirty="0"/>
          </a:p>
        </p:txBody>
      </p:sp>
      <p:sp>
        <p:nvSpPr>
          <p:cNvPr id="3" name="Content Placeholder 2"/>
          <p:cNvSpPr>
            <a:spLocks noGrp="1"/>
          </p:cNvSpPr>
          <p:nvPr>
            <p:ph idx="1"/>
          </p:nvPr>
        </p:nvSpPr>
        <p:spPr/>
        <p:txBody>
          <a:bodyPr>
            <a:normAutofit/>
          </a:bodyPr>
          <a:lstStyle/>
          <a:p>
            <a:pPr algn="just"/>
            <a:r>
              <a:rPr lang="en-US" dirty="0" smtClean="0">
                <a:solidFill>
                  <a:srgbClr val="FF0000"/>
                </a:solidFill>
              </a:rPr>
              <a:t>Stochastic: </a:t>
            </a:r>
            <a:r>
              <a:rPr lang="en-US" dirty="0" smtClean="0"/>
              <a:t>If an element of interference or uncertainty occurs then the environment is stochastic.</a:t>
            </a:r>
          </a:p>
          <a:p>
            <a:pPr algn="just"/>
            <a:r>
              <a:rPr lang="en-US" dirty="0" smtClean="0"/>
              <a:t>Note that a deterministic yet partially observable environment will appear to be stochastic to the agent. E.g. </a:t>
            </a:r>
            <a:r>
              <a:rPr lang="en-US" dirty="0" err="1" smtClean="0"/>
              <a:t>Ludo</a:t>
            </a:r>
            <a:r>
              <a:rPr lang="en-US" dirty="0" smtClean="0"/>
              <a:t> Game</a:t>
            </a:r>
          </a:p>
          <a:p>
            <a:pPr algn="just"/>
            <a:r>
              <a:rPr lang="en-US" dirty="0" smtClean="0">
                <a:solidFill>
                  <a:srgbClr val="FF0000"/>
                </a:solidFill>
              </a:rPr>
              <a:t>Strategic:</a:t>
            </a:r>
            <a:r>
              <a:rPr lang="en-US" dirty="0" smtClean="0"/>
              <a:t> If the environment state is wholly determined by the preceding state and the actions of multiple agents, then the environment is said to be strategic. Example: Chess.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a:t>
            </a:r>
            <a:r>
              <a:rPr lang="en-US" dirty="0" err="1" smtClean="0"/>
              <a:t>Episodicity</a:t>
            </a:r>
            <a:r>
              <a:rPr lang="en-US" dirty="0" smtClean="0"/>
              <a:t> </a:t>
            </a:r>
            <a:endParaRPr lang="en-US" dirty="0"/>
          </a:p>
        </p:txBody>
      </p:sp>
      <p:sp>
        <p:nvSpPr>
          <p:cNvPr id="3" name="Content Placeholder 2"/>
          <p:cNvSpPr>
            <a:spLocks noGrp="1"/>
          </p:cNvSpPr>
          <p:nvPr>
            <p:ph idx="1"/>
          </p:nvPr>
        </p:nvSpPr>
        <p:spPr/>
        <p:txBody>
          <a:bodyPr>
            <a:normAutofit/>
          </a:bodyPr>
          <a:lstStyle/>
          <a:p>
            <a:pPr algn="just"/>
            <a:r>
              <a:rPr lang="en-US" dirty="0" smtClean="0">
                <a:solidFill>
                  <a:srgbClr val="FF0000"/>
                </a:solidFill>
              </a:rPr>
              <a:t>Episodic/Sequential</a:t>
            </a:r>
          </a:p>
          <a:p>
            <a:pPr algn="just"/>
            <a:r>
              <a:rPr lang="en-US" dirty="0" smtClean="0"/>
              <a:t>An </a:t>
            </a:r>
            <a:r>
              <a:rPr lang="en-US" dirty="0" smtClean="0">
                <a:solidFill>
                  <a:srgbClr val="FF0000"/>
                </a:solidFill>
              </a:rPr>
              <a:t>episodic environment </a:t>
            </a:r>
            <a:r>
              <a:rPr lang="en-US" dirty="0" smtClean="0"/>
              <a:t>means that subsequent episodes do not depend on what actions occurred in previous episodes.</a:t>
            </a:r>
          </a:p>
          <a:p>
            <a:pPr algn="just"/>
            <a:r>
              <a:rPr lang="en-US" dirty="0" smtClean="0"/>
              <a:t>In a </a:t>
            </a:r>
            <a:r>
              <a:rPr lang="en-US" dirty="0" smtClean="0">
                <a:solidFill>
                  <a:srgbClr val="FF0000"/>
                </a:solidFill>
              </a:rPr>
              <a:t>sequential environment, </a:t>
            </a:r>
            <a:r>
              <a:rPr lang="en-US" dirty="0" smtClean="0"/>
              <a:t>the agent engages in a series of connected episodes.</a:t>
            </a:r>
          </a:p>
          <a:p>
            <a:pPr algn="just"/>
            <a:endParaRPr lang="en-US" dirty="0" smtClean="0"/>
          </a:p>
          <a:p>
            <a:r>
              <a:rPr lang="en-US" b="0" dirty="0"/>
              <a:t>For example, an agent that has to </a:t>
            </a:r>
            <a:r>
              <a:rPr lang="en-US" b="0" dirty="0" smtClean="0"/>
              <a:t>spot defective </a:t>
            </a:r>
            <a:r>
              <a:rPr lang="en-US" b="0" dirty="0"/>
              <a:t>parts on an assembly line bases each decision on the current part, regardless </a:t>
            </a:r>
            <a:r>
              <a:rPr lang="en-US" b="0" dirty="0" smtClean="0"/>
              <a:t>of</a:t>
            </a:r>
            <a:r>
              <a:rPr lang="en-US" b="0" dirty="0"/>
              <a:t> </a:t>
            </a:r>
            <a:r>
              <a:rPr lang="en-US" b="0" dirty="0" smtClean="0"/>
              <a:t>previous decisions</a:t>
            </a:r>
            <a:r>
              <a:rPr lang="en-US" dirty="0" smtClean="0"/>
              <a:t>. </a:t>
            </a:r>
          </a:p>
          <a:p>
            <a:r>
              <a:rPr lang="en-US" b="0" dirty="0"/>
              <a:t>Chess and taxi driving arc sequential: in both cases, short-term actions</a:t>
            </a:r>
            <a:br>
              <a:rPr lang="en-US" b="0" dirty="0"/>
            </a:br>
            <a:r>
              <a:rPr lang="en-US" b="0" dirty="0"/>
              <a:t>can have long-term consequences. </a:t>
            </a:r>
            <a:r>
              <a:rPr lang="en-US" dirty="0"/>
              <a:t/>
            </a:r>
            <a:br>
              <a:rPr lang="en-US" dirty="0"/>
            </a:br>
            <a:r>
              <a:rPr lang="en-US" dirty="0"/>
              <a:t/>
            </a:r>
            <a:br>
              <a:rPr lang="en-US" dirty="0"/>
            </a:br>
            <a:endParaRPr lang="en-US" dirty="0" smtClean="0"/>
          </a:p>
          <a:p>
            <a:pPr algn="just"/>
            <a:endParaRPr lang="en-US"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Dynamism</a:t>
            </a:r>
            <a:endParaRPr lang="en-US" dirty="0"/>
          </a:p>
        </p:txBody>
      </p:sp>
      <p:sp>
        <p:nvSpPr>
          <p:cNvPr id="3" name="Content Placeholder 2"/>
          <p:cNvSpPr>
            <a:spLocks noGrp="1"/>
          </p:cNvSpPr>
          <p:nvPr>
            <p:ph idx="1"/>
          </p:nvPr>
        </p:nvSpPr>
        <p:spPr/>
        <p:txBody>
          <a:bodyPr>
            <a:normAutofit/>
          </a:bodyPr>
          <a:lstStyle/>
          <a:p>
            <a:pPr algn="just"/>
            <a:r>
              <a:rPr lang="en-US" dirty="0" smtClean="0">
                <a:solidFill>
                  <a:srgbClr val="FF0000"/>
                </a:solidFill>
              </a:rPr>
              <a:t>Static Environment: </a:t>
            </a:r>
            <a:r>
              <a:rPr lang="en-US" dirty="0" smtClean="0"/>
              <a:t>does not change from one state to the next while the agent is considering its course of action. The only changes to the environment are those caused by the agent itself.</a:t>
            </a:r>
          </a:p>
          <a:p>
            <a:pPr algn="just"/>
            <a:r>
              <a:rPr lang="en-US" dirty="0" smtClean="0"/>
              <a:t>A </a:t>
            </a:r>
            <a:r>
              <a:rPr lang="en-US" dirty="0" smtClean="0">
                <a:solidFill>
                  <a:srgbClr val="FF0000"/>
                </a:solidFill>
              </a:rPr>
              <a:t>Dynamic Environment </a:t>
            </a:r>
            <a:r>
              <a:rPr lang="en-US" dirty="0" smtClean="0"/>
              <a:t>changes over time independent of the actions of the agent</a:t>
            </a:r>
          </a:p>
          <a:p>
            <a:pPr algn="just"/>
            <a:r>
              <a:rPr lang="en-US" b="0" dirty="0"/>
              <a:t>Taxi driving is clearly dynamic: the other cars and the taxi itself keep </a:t>
            </a:r>
            <a:r>
              <a:rPr lang="en-US" b="0" dirty="0" smtClean="0"/>
              <a:t>moving while </a:t>
            </a:r>
            <a:r>
              <a:rPr lang="en-US" b="0" dirty="0"/>
              <a:t>the driving algorithm dithers about what to do next</a:t>
            </a:r>
            <a:r>
              <a:rPr lang="en-US" b="0" dirty="0" smtClean="0"/>
              <a:t>.</a:t>
            </a:r>
          </a:p>
          <a:p>
            <a:r>
              <a:rPr lang="en-US" b="0" dirty="0"/>
              <a:t>Crossword puzzles are static</a:t>
            </a:r>
            <a:r>
              <a:rPr lang="en-US" dirty="0"/>
              <a:t> </a:t>
            </a:r>
            <a:br>
              <a:rPr lang="en-US" dirty="0"/>
            </a:br>
            <a:r>
              <a:rPr lang="en-US" dirty="0"/>
              <a:t> </a:t>
            </a:r>
            <a:br>
              <a:rPr lang="en-US" dirty="0"/>
            </a:br>
            <a:endParaRPr lang="en-US" dirty="0" smtClean="0"/>
          </a:p>
          <a:p>
            <a:pPr algn="just"/>
            <a:endParaRPr lang="en-US"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Continuity</a:t>
            </a:r>
            <a:endParaRPr lang="en-US" dirty="0"/>
          </a:p>
        </p:txBody>
      </p:sp>
      <p:sp>
        <p:nvSpPr>
          <p:cNvPr id="3" name="Content Placeholder 2"/>
          <p:cNvSpPr>
            <a:spLocks noGrp="1"/>
          </p:cNvSpPr>
          <p:nvPr>
            <p:ph idx="1"/>
          </p:nvPr>
        </p:nvSpPr>
        <p:spPr/>
        <p:txBody>
          <a:bodyPr>
            <a:normAutofit/>
          </a:bodyPr>
          <a:lstStyle/>
          <a:p>
            <a:pPr algn="just"/>
            <a:r>
              <a:rPr lang="en-US" dirty="0" smtClean="0"/>
              <a:t>If the number of distinct percepts and actions is limited, the environment is </a:t>
            </a:r>
            <a:r>
              <a:rPr lang="en-US" dirty="0" smtClean="0">
                <a:solidFill>
                  <a:srgbClr val="FF0000"/>
                </a:solidFill>
              </a:rPr>
              <a:t>discrete</a:t>
            </a:r>
            <a:r>
              <a:rPr lang="en-US" dirty="0" smtClean="0"/>
              <a:t>, otherwise it is </a:t>
            </a:r>
            <a:r>
              <a:rPr lang="en-US" dirty="0" smtClean="0">
                <a:solidFill>
                  <a:srgbClr val="FF0000"/>
                </a:solidFill>
              </a:rPr>
              <a:t>continuous</a:t>
            </a:r>
            <a:r>
              <a:rPr lang="en-US" dirty="0" smtClean="0"/>
              <a:t>.</a:t>
            </a:r>
          </a:p>
          <a:p>
            <a:pPr marL="0" indent="0" algn="just">
              <a:buNone/>
            </a:pPr>
            <a:r>
              <a:rPr lang="en-US" b="0" dirty="0"/>
              <a:t/>
            </a:r>
            <a:br>
              <a:rPr lang="en-US" b="0" dirty="0"/>
            </a:br>
            <a:r>
              <a:rPr lang="en-US" b="0" dirty="0" smtClean="0"/>
              <a:t>For example</a:t>
            </a:r>
            <a:r>
              <a:rPr lang="en-US" b="0" dirty="0"/>
              <a:t>, the chess environment has a finite number of distinct states (excluding the clock</a:t>
            </a:r>
            <a:r>
              <a:rPr lang="en-US" b="0" dirty="0" smtClean="0"/>
              <a:t>).</a:t>
            </a:r>
          </a:p>
          <a:p>
            <a:pPr marL="0" indent="0">
              <a:buNone/>
            </a:pPr>
            <a:r>
              <a:rPr lang="en-US" b="0" dirty="0"/>
              <a:t/>
            </a:r>
            <a:br>
              <a:rPr lang="en-US" b="0" dirty="0"/>
            </a:br>
            <a:r>
              <a:rPr lang="en-US" b="0" dirty="0"/>
              <a:t>Chess also has a discrete set of percepts and actions</a:t>
            </a:r>
            <a:r>
              <a:rPr lang="en-US" b="0" dirty="0" smtClean="0"/>
              <a:t>.</a:t>
            </a:r>
          </a:p>
          <a:p>
            <a:pPr marL="0" indent="0">
              <a:buNone/>
            </a:pPr>
            <a:endParaRPr lang="en-US" b="0" dirty="0" smtClean="0"/>
          </a:p>
          <a:p>
            <a:pPr marL="0" indent="0">
              <a:buNone/>
            </a:pPr>
            <a:r>
              <a:rPr lang="en-US" b="0" dirty="0" smtClean="0"/>
              <a:t>Taxi </a:t>
            </a:r>
            <a:r>
              <a:rPr lang="en-US" b="0" dirty="0"/>
              <a:t>driving is a continuous-state </a:t>
            </a:r>
            <a:r>
              <a:rPr lang="en-US" b="0" dirty="0" smtClean="0"/>
              <a:t>and continuous-time </a:t>
            </a:r>
            <a:r>
              <a:rPr lang="en-US" b="0" dirty="0"/>
              <a:t>problem: the speed and location of the taxi and of the other vehicles </a:t>
            </a:r>
            <a:r>
              <a:rPr lang="en-US" b="0" dirty="0" smtClean="0"/>
              <a:t>sweep through </a:t>
            </a:r>
            <a:r>
              <a:rPr lang="en-US" b="0" dirty="0"/>
              <a:t>a range of </a:t>
            </a:r>
            <a:r>
              <a:rPr lang="en-US" b="0" dirty="0" smtClean="0"/>
              <a:t>continuous values </a:t>
            </a:r>
            <a:r>
              <a:rPr lang="en-US" b="0" dirty="0"/>
              <a:t>and do so smoothly over time. Taxi-driving actions </a:t>
            </a:r>
            <a:r>
              <a:rPr lang="en-US" b="0" dirty="0" smtClean="0"/>
              <a:t>are</a:t>
            </a:r>
            <a:r>
              <a:rPr lang="en-US" b="0" dirty="0"/>
              <a:t> </a:t>
            </a:r>
            <a:r>
              <a:rPr lang="en-US" b="0" dirty="0" smtClean="0"/>
              <a:t>also </a:t>
            </a:r>
            <a:r>
              <a:rPr lang="en-US" b="0" dirty="0"/>
              <a:t>continuous (steering angles, etc.). </a:t>
            </a:r>
            <a:r>
              <a:rPr lang="en-US" dirty="0"/>
              <a:t/>
            </a:r>
            <a:br>
              <a:rPr lang="en-US" dirty="0"/>
            </a:br>
            <a:endParaRPr lang="en-US" dirty="0" smtClean="0"/>
          </a:p>
          <a:p>
            <a:pPr algn="just"/>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Environment: Presence of Other agents</a:t>
            </a:r>
            <a:endParaRPr lang="en-US" dirty="0"/>
          </a:p>
        </p:txBody>
      </p:sp>
      <p:sp>
        <p:nvSpPr>
          <p:cNvPr id="3" name="Content Placeholder 2"/>
          <p:cNvSpPr>
            <a:spLocks noGrp="1"/>
          </p:cNvSpPr>
          <p:nvPr>
            <p:ph idx="1"/>
          </p:nvPr>
        </p:nvSpPr>
        <p:spPr/>
        <p:txBody>
          <a:bodyPr>
            <a:normAutofit/>
          </a:bodyPr>
          <a:lstStyle/>
          <a:p>
            <a:pPr algn="just"/>
            <a:r>
              <a:rPr lang="en-US" dirty="0" smtClean="0"/>
              <a:t>A multi-agent environment has other agents. If the environment contains other intelligent agents, the agent needs to be concerned about strategic, game-theoretic aspects of the environment (for either cooperative or competitive agents).</a:t>
            </a:r>
          </a:p>
          <a:p>
            <a:pPr algn="just"/>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mtClean="0"/>
              <a:t>Environment types</a:t>
            </a:r>
          </a:p>
        </p:txBody>
      </p:sp>
      <p:sp>
        <p:nvSpPr>
          <p:cNvPr id="14339" name="Rectangle 3"/>
          <p:cNvSpPr>
            <a:spLocks noGrp="1" noChangeArrowheads="1"/>
          </p:cNvSpPr>
          <p:nvPr>
            <p:ph type="body" idx="1"/>
          </p:nvPr>
        </p:nvSpPr>
        <p:spPr>
          <a:xfrm>
            <a:off x="609600" y="838200"/>
            <a:ext cx="7848600" cy="6019800"/>
          </a:xfrm>
        </p:spPr>
        <p:txBody>
          <a:bodyPr/>
          <a:lstStyle/>
          <a:p>
            <a:pPr>
              <a:lnSpc>
                <a:spcPct val="90000"/>
              </a:lnSpc>
            </a:pPr>
            <a:r>
              <a:rPr lang="en-US" sz="2400" smtClean="0">
                <a:solidFill>
                  <a:srgbClr val="FF0000"/>
                </a:solidFill>
              </a:rPr>
              <a:t>Fully observable</a:t>
            </a:r>
            <a:r>
              <a:rPr lang="en-US" sz="2400" smtClean="0"/>
              <a:t> (vs. </a:t>
            </a:r>
            <a:r>
              <a:rPr lang="en-US" sz="2400" smtClean="0">
                <a:solidFill>
                  <a:srgbClr val="0000CC"/>
                </a:solidFill>
              </a:rPr>
              <a:t>partially observable</a:t>
            </a:r>
            <a:r>
              <a:rPr lang="en-US" sz="2400" smtClean="0"/>
              <a:t>): An agent's sensors give it access to the complete state of the environment at each point in time.</a:t>
            </a:r>
          </a:p>
          <a:p>
            <a:pPr>
              <a:lnSpc>
                <a:spcPct val="90000"/>
              </a:lnSpc>
            </a:pPr>
            <a:endParaRPr lang="en-US" sz="2400" smtClean="0"/>
          </a:p>
          <a:p>
            <a:pPr>
              <a:lnSpc>
                <a:spcPct val="90000"/>
              </a:lnSpc>
            </a:pPr>
            <a:r>
              <a:rPr lang="en-US" sz="2400" smtClean="0">
                <a:solidFill>
                  <a:srgbClr val="FF0000"/>
                </a:solidFill>
              </a:rPr>
              <a:t>Deterministic</a:t>
            </a:r>
            <a:r>
              <a:rPr lang="en-US" sz="2400" smtClean="0"/>
              <a:t> (vs. </a:t>
            </a:r>
            <a:r>
              <a:rPr lang="en-US" sz="2400" smtClean="0">
                <a:solidFill>
                  <a:srgbClr val="0000CC"/>
                </a:solidFill>
              </a:rPr>
              <a:t>stochastic</a:t>
            </a:r>
            <a:r>
              <a:rPr lang="en-US" sz="2400" smtClean="0"/>
              <a:t>): The next state of the environment is completely determined by the current state and the action executed by the agent. (If the environment is deterministic except for the actions of other agents, then the environment is </a:t>
            </a:r>
            <a:r>
              <a:rPr lang="en-US" sz="2400" smtClean="0">
                <a:solidFill>
                  <a:srgbClr val="FF0000"/>
                </a:solidFill>
              </a:rPr>
              <a:t>strategic</a:t>
            </a:r>
            <a:r>
              <a:rPr lang="en-US" sz="2400" smtClean="0"/>
              <a:t>)</a:t>
            </a:r>
          </a:p>
          <a:p>
            <a:pPr>
              <a:lnSpc>
                <a:spcPct val="90000"/>
              </a:lnSpc>
            </a:pPr>
            <a:endParaRPr lang="en-US" sz="2400" smtClean="0"/>
          </a:p>
          <a:p>
            <a:pPr>
              <a:lnSpc>
                <a:spcPct val="90000"/>
              </a:lnSpc>
            </a:pPr>
            <a:r>
              <a:rPr lang="en-US" sz="2400" smtClean="0">
                <a:solidFill>
                  <a:srgbClr val="FF0000"/>
                </a:solidFill>
              </a:rPr>
              <a:t>Episodic </a:t>
            </a:r>
            <a:r>
              <a:rPr lang="en-US" sz="2400" smtClean="0"/>
              <a:t>(vs. </a:t>
            </a:r>
            <a:r>
              <a:rPr lang="en-US" sz="2400" smtClean="0">
                <a:solidFill>
                  <a:srgbClr val="0000CC"/>
                </a:solidFill>
              </a:rPr>
              <a:t>sequential</a:t>
            </a:r>
            <a:r>
              <a:rPr lang="en-US" sz="2400" smtClean="0"/>
              <a:t>): An agent’s action is divided into atomic episodes. Decisions do not depend on previous decisions/actions.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mtClean="0"/>
              <a:t>Environment types</a:t>
            </a:r>
          </a:p>
        </p:txBody>
      </p:sp>
      <p:sp>
        <p:nvSpPr>
          <p:cNvPr id="15363" name="Rectangle 3"/>
          <p:cNvSpPr>
            <a:spLocks noGrp="1" noChangeArrowheads="1"/>
          </p:cNvSpPr>
          <p:nvPr>
            <p:ph type="body" idx="1"/>
          </p:nvPr>
        </p:nvSpPr>
        <p:spPr/>
        <p:txBody>
          <a:bodyPr/>
          <a:lstStyle/>
          <a:p>
            <a:r>
              <a:rPr lang="en-US" sz="2400" smtClean="0">
                <a:solidFill>
                  <a:srgbClr val="FF0000"/>
                </a:solidFill>
              </a:rPr>
              <a:t>Static </a:t>
            </a:r>
            <a:r>
              <a:rPr lang="en-US" sz="2400" smtClean="0"/>
              <a:t>(vs. </a:t>
            </a:r>
            <a:r>
              <a:rPr lang="en-US" sz="2400" smtClean="0">
                <a:solidFill>
                  <a:srgbClr val="0000CC"/>
                </a:solidFill>
              </a:rPr>
              <a:t>dynamic</a:t>
            </a:r>
            <a:r>
              <a:rPr lang="en-US" sz="2400" smtClean="0"/>
              <a:t>): The environment is unchanged while an agent is deliberating. (The environment is </a:t>
            </a:r>
            <a:r>
              <a:rPr lang="en-US" sz="2400" smtClean="0">
                <a:solidFill>
                  <a:srgbClr val="FF0000"/>
                </a:solidFill>
              </a:rPr>
              <a:t>semidynamic</a:t>
            </a:r>
            <a:r>
              <a:rPr lang="en-US" sz="2400" smtClean="0"/>
              <a:t> if the environment itself does not change with the passage of time but the agent's performance score does)</a:t>
            </a:r>
          </a:p>
          <a:p>
            <a:endParaRPr lang="en-US" sz="2400" smtClean="0"/>
          </a:p>
          <a:p>
            <a:r>
              <a:rPr lang="en-US" sz="2400" smtClean="0">
                <a:solidFill>
                  <a:srgbClr val="FF0000"/>
                </a:solidFill>
              </a:rPr>
              <a:t>Discrete</a:t>
            </a:r>
            <a:r>
              <a:rPr lang="en-US" sz="2400" smtClean="0"/>
              <a:t> (vs. </a:t>
            </a:r>
            <a:r>
              <a:rPr lang="en-US" sz="2400" smtClean="0">
                <a:solidFill>
                  <a:srgbClr val="0000CC"/>
                </a:solidFill>
              </a:rPr>
              <a:t>continuous</a:t>
            </a:r>
            <a:r>
              <a:rPr lang="en-US" sz="2400" smtClean="0"/>
              <a:t>): A limited number of distinct, clearly defined percepts and actions.</a:t>
            </a:r>
          </a:p>
          <a:p>
            <a:pPr>
              <a:buFontTx/>
              <a:buNone/>
            </a:pPr>
            <a:r>
              <a:rPr lang="en-US" sz="2400" smtClean="0"/>
              <a:t>    How do we </a:t>
            </a:r>
            <a:r>
              <a:rPr lang="en-US" sz="2400" smtClean="0">
                <a:solidFill>
                  <a:srgbClr val="0000CC"/>
                </a:solidFill>
              </a:rPr>
              <a:t>represent</a:t>
            </a:r>
            <a:r>
              <a:rPr lang="en-US" sz="2400" smtClean="0">
                <a:solidFill>
                  <a:srgbClr val="006600"/>
                </a:solidFill>
              </a:rPr>
              <a:t> </a:t>
            </a:r>
            <a:r>
              <a:rPr lang="en-US" sz="2400" smtClean="0"/>
              <a:t>or</a:t>
            </a:r>
            <a:r>
              <a:rPr lang="en-US" sz="2400" smtClean="0">
                <a:solidFill>
                  <a:srgbClr val="006600"/>
                </a:solidFill>
              </a:rPr>
              <a:t> </a:t>
            </a:r>
            <a:r>
              <a:rPr lang="en-US" sz="2400" smtClean="0">
                <a:solidFill>
                  <a:srgbClr val="0000CC"/>
                </a:solidFill>
              </a:rPr>
              <a:t>abstract </a:t>
            </a:r>
            <a:r>
              <a:rPr lang="en-US" sz="2400" smtClean="0"/>
              <a:t>or</a:t>
            </a:r>
            <a:r>
              <a:rPr lang="en-US" sz="2400" smtClean="0">
                <a:solidFill>
                  <a:srgbClr val="006600"/>
                </a:solidFill>
              </a:rPr>
              <a:t> </a:t>
            </a:r>
            <a:r>
              <a:rPr lang="en-US" sz="2400" smtClean="0">
                <a:solidFill>
                  <a:srgbClr val="0000CC"/>
                </a:solidFill>
              </a:rPr>
              <a:t>model</a:t>
            </a:r>
            <a:r>
              <a:rPr lang="en-US" sz="2400" smtClean="0"/>
              <a:t> the world?</a:t>
            </a:r>
          </a:p>
          <a:p>
            <a:endParaRPr lang="en-US" sz="2400" smtClean="0"/>
          </a:p>
          <a:p>
            <a:r>
              <a:rPr lang="en-US" sz="2400" smtClean="0">
                <a:solidFill>
                  <a:srgbClr val="FF0000"/>
                </a:solidFill>
              </a:rPr>
              <a:t>Single agent</a:t>
            </a:r>
            <a:r>
              <a:rPr lang="en-US" sz="2400" smtClean="0"/>
              <a:t> (vs. </a:t>
            </a:r>
            <a:r>
              <a:rPr lang="en-US" sz="2400" smtClean="0">
                <a:solidFill>
                  <a:srgbClr val="0000CC"/>
                </a:solidFill>
              </a:rPr>
              <a:t>multi-agent</a:t>
            </a:r>
            <a:r>
              <a:rPr lang="en-US" sz="2400" smtClean="0"/>
              <a:t>): An agent operating by itself in an environment. Does the other agent interfere with my performance measure?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243" name="Group 219"/>
          <p:cNvGraphicFramePr>
            <a:graphicFrameLocks noGrp="1"/>
          </p:cNvGraphicFramePr>
          <p:nvPr/>
        </p:nvGraphicFramePr>
        <p:xfrm>
          <a:off x="0" y="34925"/>
          <a:ext cx="9144000" cy="6861493"/>
        </p:xfrm>
        <a:graphic>
          <a:graphicData uri="http://schemas.openxmlformats.org/drawingml/2006/table">
            <a:tbl>
              <a:tblPr/>
              <a:tblGrid>
                <a:gridCol w="1308100">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gridCol w="1306513">
                  <a:extLst>
                    <a:ext uri="{9D8B030D-6E8A-4147-A177-3AD203B41FA5}">
                      <a16:colId xmlns:a16="http://schemas.microsoft.com/office/drawing/2014/main" val="20002"/>
                    </a:ext>
                  </a:extLst>
                </a:gridCol>
                <a:gridCol w="1304925">
                  <a:extLst>
                    <a:ext uri="{9D8B030D-6E8A-4147-A177-3AD203B41FA5}">
                      <a16:colId xmlns:a16="http://schemas.microsoft.com/office/drawing/2014/main" val="20003"/>
                    </a:ext>
                  </a:extLst>
                </a:gridCol>
                <a:gridCol w="1308100">
                  <a:extLst>
                    <a:ext uri="{9D8B030D-6E8A-4147-A177-3AD203B41FA5}">
                      <a16:colId xmlns:a16="http://schemas.microsoft.com/office/drawing/2014/main" val="20004"/>
                    </a:ext>
                  </a:extLst>
                </a:gridCol>
                <a:gridCol w="1304925">
                  <a:extLst>
                    <a:ext uri="{9D8B030D-6E8A-4147-A177-3AD203B41FA5}">
                      <a16:colId xmlns:a16="http://schemas.microsoft.com/office/drawing/2014/main" val="20005"/>
                    </a:ext>
                  </a:extLst>
                </a:gridCol>
                <a:gridCol w="1306512">
                  <a:extLst>
                    <a:ext uri="{9D8B030D-6E8A-4147-A177-3AD203B41FA5}">
                      <a16:colId xmlns:a16="http://schemas.microsoft.com/office/drawing/2014/main" val="20006"/>
                    </a:ext>
                  </a:extLst>
                </a:gridCol>
              </a:tblGrid>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task environm.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observable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determ./</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episodic/</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static/</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discrete/</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agents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crossword</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puzzle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determ.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static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chess with</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clock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strategic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semi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poker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back</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gammon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102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taxi</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driving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medical</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diagnosis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image </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analysis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determ.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episodic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semi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partpicking</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robot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episodic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79438">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refinery </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controller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interact.</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Eng. tutor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6194" name="Group 2"/>
          <p:cNvGraphicFramePr>
            <a:graphicFrameLocks noGrp="1"/>
          </p:cNvGraphicFramePr>
          <p:nvPr/>
        </p:nvGraphicFramePr>
        <p:xfrm>
          <a:off x="0" y="34925"/>
          <a:ext cx="9144000" cy="6861493"/>
        </p:xfrm>
        <a:graphic>
          <a:graphicData uri="http://schemas.openxmlformats.org/drawingml/2006/table">
            <a:tbl>
              <a:tblPr/>
              <a:tblGrid>
                <a:gridCol w="1308100">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gridCol w="1306513">
                  <a:extLst>
                    <a:ext uri="{9D8B030D-6E8A-4147-A177-3AD203B41FA5}">
                      <a16:colId xmlns:a16="http://schemas.microsoft.com/office/drawing/2014/main" val="20002"/>
                    </a:ext>
                  </a:extLst>
                </a:gridCol>
                <a:gridCol w="1304925">
                  <a:extLst>
                    <a:ext uri="{9D8B030D-6E8A-4147-A177-3AD203B41FA5}">
                      <a16:colId xmlns:a16="http://schemas.microsoft.com/office/drawing/2014/main" val="20003"/>
                    </a:ext>
                  </a:extLst>
                </a:gridCol>
                <a:gridCol w="1308100">
                  <a:extLst>
                    <a:ext uri="{9D8B030D-6E8A-4147-A177-3AD203B41FA5}">
                      <a16:colId xmlns:a16="http://schemas.microsoft.com/office/drawing/2014/main" val="20004"/>
                    </a:ext>
                  </a:extLst>
                </a:gridCol>
                <a:gridCol w="1304925">
                  <a:extLst>
                    <a:ext uri="{9D8B030D-6E8A-4147-A177-3AD203B41FA5}">
                      <a16:colId xmlns:a16="http://schemas.microsoft.com/office/drawing/2014/main" val="20005"/>
                    </a:ext>
                  </a:extLst>
                </a:gridCol>
                <a:gridCol w="1306512">
                  <a:extLst>
                    <a:ext uri="{9D8B030D-6E8A-4147-A177-3AD203B41FA5}">
                      <a16:colId xmlns:a16="http://schemas.microsoft.com/office/drawing/2014/main" val="20006"/>
                    </a:ext>
                  </a:extLst>
                </a:gridCol>
              </a:tblGrid>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task environm.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observable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determ./</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episodic/</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static/</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discrete/</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agents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crossword</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puzzle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determ.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static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chess with</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clock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strategic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semi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poker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static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back</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gammon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static</a:t>
                      </a:r>
                    </a:p>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1600" b="1" i="0" u="none" strike="noStrike" cap="none" normalizeH="0" baseline="0" smtClean="0">
                        <a:ln>
                          <a:noFill/>
                        </a:ln>
                        <a:solidFill>
                          <a:srgbClr val="0000CC"/>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0000CC"/>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102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taxi</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driving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medical</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diagnosis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rgbClr val="FF0000"/>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image </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analysis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fully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determ.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episodic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semi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partpicking</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robot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episodic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79438">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refinery </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controller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continuous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single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826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interact.</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Eng. tutor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partial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stochastic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sequential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dynamic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discrete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1" i="0" u="none" strike="noStrike" cap="none" normalizeH="0" baseline="0" smtClean="0">
                          <a:ln>
                            <a:noFill/>
                          </a:ln>
                          <a:solidFill>
                            <a:schemeClr val="tx1"/>
                          </a:solidFill>
                          <a:effectLst/>
                          <a:latin typeface="Arial" charset="0"/>
                        </a:rPr>
                        <a:t>multi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sz="2800" smtClean="0"/>
              <a:t>Agent types</a:t>
            </a:r>
          </a:p>
        </p:txBody>
      </p:sp>
      <p:sp>
        <p:nvSpPr>
          <p:cNvPr id="18435" name="Rectangle 3"/>
          <p:cNvSpPr>
            <a:spLocks noGrp="1" noChangeArrowheads="1"/>
          </p:cNvSpPr>
          <p:nvPr>
            <p:ph type="body" idx="1"/>
          </p:nvPr>
        </p:nvSpPr>
        <p:spPr/>
        <p:txBody>
          <a:bodyPr/>
          <a:lstStyle/>
          <a:p>
            <a:r>
              <a:rPr lang="en-US" sz="2400" smtClean="0"/>
              <a:t>Five basic types in order of increasing generality:</a:t>
            </a:r>
          </a:p>
          <a:p>
            <a:endParaRPr lang="en-US" sz="2400" smtClean="0"/>
          </a:p>
          <a:p>
            <a:r>
              <a:rPr lang="en-US" sz="2400" smtClean="0">
                <a:solidFill>
                  <a:srgbClr val="663300"/>
                </a:solidFill>
              </a:rPr>
              <a:t>Table Driven </a:t>
            </a:r>
            <a:r>
              <a:rPr lang="en-US" sz="2400" smtClean="0"/>
              <a:t>agents</a:t>
            </a:r>
          </a:p>
          <a:p>
            <a:pPr>
              <a:buFontTx/>
              <a:buNone/>
            </a:pPr>
            <a:endParaRPr lang="en-US" sz="2400" smtClean="0"/>
          </a:p>
          <a:p>
            <a:r>
              <a:rPr lang="en-US" sz="2400" smtClean="0">
                <a:solidFill>
                  <a:srgbClr val="0000CC"/>
                </a:solidFill>
              </a:rPr>
              <a:t>Simple reflex</a:t>
            </a:r>
            <a:r>
              <a:rPr lang="en-US" sz="2400" smtClean="0"/>
              <a:t> agents</a:t>
            </a:r>
          </a:p>
          <a:p>
            <a:endParaRPr lang="en-US" sz="2400" smtClean="0"/>
          </a:p>
          <a:p>
            <a:r>
              <a:rPr lang="en-US" sz="2400" smtClean="0">
                <a:solidFill>
                  <a:srgbClr val="006600"/>
                </a:solidFill>
              </a:rPr>
              <a:t>Model-based</a:t>
            </a:r>
            <a:r>
              <a:rPr lang="en-US" sz="2400" smtClean="0"/>
              <a:t> reflex agents</a:t>
            </a:r>
          </a:p>
          <a:p>
            <a:endParaRPr lang="en-US" sz="2400" smtClean="0"/>
          </a:p>
          <a:p>
            <a:r>
              <a:rPr lang="en-US" sz="2400" smtClean="0">
                <a:solidFill>
                  <a:srgbClr val="FF0000"/>
                </a:solidFill>
              </a:rPr>
              <a:t>Goal-based</a:t>
            </a:r>
            <a:r>
              <a:rPr lang="en-US" sz="2400" smtClean="0"/>
              <a:t> agents</a:t>
            </a:r>
          </a:p>
          <a:p>
            <a:endParaRPr lang="en-US" sz="2400" smtClean="0"/>
          </a:p>
          <a:p>
            <a:r>
              <a:rPr lang="en-US" sz="2400" smtClean="0">
                <a:solidFill>
                  <a:srgbClr val="800080"/>
                </a:solidFill>
              </a:rPr>
              <a:t>Utility-based</a:t>
            </a:r>
            <a:r>
              <a:rPr lang="en-US" sz="2400" smtClean="0"/>
              <a:t> agents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r>
              <a:rPr lang="en-US" smtClean="0"/>
              <a:t>Table Driven Agent.</a:t>
            </a:r>
          </a:p>
        </p:txBody>
      </p:sp>
      <p:pic>
        <p:nvPicPr>
          <p:cNvPr id="19459" name="Picture 6" descr="simple-reflex-agent"/>
          <p:cNvPicPr>
            <a:picLocks noChangeAspect="1" noChangeArrowheads="1"/>
          </p:cNvPicPr>
          <p:nvPr/>
        </p:nvPicPr>
        <p:blipFill>
          <a:blip r:embed="rId3"/>
          <a:srcRect/>
          <a:stretch>
            <a:fillRect/>
          </a:stretch>
        </p:blipFill>
        <p:spPr bwMode="auto">
          <a:xfrm>
            <a:off x="457200" y="1295400"/>
            <a:ext cx="8153400" cy="5191125"/>
          </a:xfrm>
          <a:prstGeom prst="rect">
            <a:avLst/>
          </a:prstGeom>
          <a:noFill/>
          <a:ln w="12700">
            <a:noFill/>
            <a:miter lim="800000"/>
            <a:headEnd/>
            <a:tailEnd/>
          </a:ln>
        </p:spPr>
      </p:pic>
      <p:sp>
        <p:nvSpPr>
          <p:cNvPr id="19460" name="WordArt 9"/>
          <p:cNvSpPr>
            <a:spLocks noChangeArrowheads="1" noChangeShapeType="1" noTextEdit="1"/>
          </p:cNvSpPr>
          <p:nvPr/>
        </p:nvSpPr>
        <p:spPr bwMode="auto">
          <a:xfrm>
            <a:off x="990600" y="2667000"/>
            <a:ext cx="2743200" cy="1209675"/>
          </a:xfrm>
          <a:prstGeom prst="rect">
            <a:avLst/>
          </a:prstGeom>
        </p:spPr>
        <p:txBody>
          <a:bodyPr wrap="none" fromWordArt="1">
            <a:prstTxWarp prst="textCascadeUp">
              <a:avLst>
                <a:gd name="adj" fmla="val 44444"/>
              </a:avLst>
            </a:prstTxWarp>
            <a:scene3d>
              <a:camera prst="legacyPerspectiveFront">
                <a:rot lat="20519997" lon="1080000" rev="0"/>
              </a:camera>
              <a:lightRig rig="legacyHarsh2" dir="b"/>
            </a:scene3d>
            <a:sp3d extrusionH="430200" prstMaterial="legacyMatte">
              <a:extrusionClr>
                <a:srgbClr val="FF6600"/>
              </a:extrusionClr>
            </a:sp3d>
          </a:bodyPr>
          <a:lstStyle/>
          <a:p>
            <a:pPr algn="ctr"/>
            <a:r>
              <a:rPr lang="en-US" sz="3600" kern="10">
                <a:ln w="9525">
                  <a:round/>
                  <a:headEnd/>
                  <a:tailEnd/>
                </a:ln>
                <a:gradFill rotWithShape="1">
                  <a:gsLst>
                    <a:gs pos="0">
                      <a:srgbClr val="FFE701"/>
                    </a:gs>
                    <a:gs pos="100000">
                      <a:srgbClr val="FE3E02"/>
                    </a:gs>
                  </a:gsLst>
                  <a:lin ang="5400000" scaled="1"/>
                </a:gradFill>
                <a:latin typeface="Sylfaen"/>
              </a:rPr>
              <a:t>Impractical</a:t>
            </a:r>
          </a:p>
        </p:txBody>
      </p:sp>
      <p:sp>
        <p:nvSpPr>
          <p:cNvPr id="19461" name="Line 10"/>
          <p:cNvSpPr>
            <a:spLocks noChangeShapeType="1"/>
          </p:cNvSpPr>
          <p:nvPr/>
        </p:nvSpPr>
        <p:spPr bwMode="auto">
          <a:xfrm flipH="1">
            <a:off x="6096000" y="1143000"/>
            <a:ext cx="304800" cy="1219200"/>
          </a:xfrm>
          <a:prstGeom prst="line">
            <a:avLst/>
          </a:prstGeom>
          <a:noFill/>
          <a:ln w="12700">
            <a:solidFill>
              <a:schemeClr val="tx1"/>
            </a:solidFill>
            <a:round/>
            <a:headEnd/>
            <a:tailEnd type="triangle" w="med" len="med"/>
          </a:ln>
        </p:spPr>
        <p:txBody>
          <a:bodyPr/>
          <a:lstStyle/>
          <a:p>
            <a:endParaRPr lang="en-US"/>
          </a:p>
        </p:txBody>
      </p:sp>
      <p:sp>
        <p:nvSpPr>
          <p:cNvPr id="19462" name="Text Box 11"/>
          <p:cNvSpPr txBox="1">
            <a:spLocks noChangeArrowheads="1"/>
          </p:cNvSpPr>
          <p:nvPr/>
        </p:nvSpPr>
        <p:spPr bwMode="auto">
          <a:xfrm>
            <a:off x="5486400" y="762000"/>
            <a:ext cx="3117850" cy="366713"/>
          </a:xfrm>
          <a:prstGeom prst="rect">
            <a:avLst/>
          </a:prstGeom>
          <a:noFill/>
          <a:ln w="12700">
            <a:noFill/>
            <a:miter lim="800000"/>
            <a:headEnd/>
            <a:tailEnd/>
          </a:ln>
        </p:spPr>
        <p:txBody>
          <a:bodyPr wrap="none">
            <a:spAutoFit/>
          </a:bodyPr>
          <a:lstStyle/>
          <a:p>
            <a:r>
              <a:rPr lang="en-US">
                <a:solidFill>
                  <a:srgbClr val="FF0000"/>
                </a:solidFill>
              </a:rPr>
              <a:t>current state of decision process</a:t>
            </a:r>
          </a:p>
        </p:txBody>
      </p:sp>
      <p:sp>
        <p:nvSpPr>
          <p:cNvPr id="19463" name="Line 12"/>
          <p:cNvSpPr>
            <a:spLocks noChangeShapeType="1"/>
          </p:cNvSpPr>
          <p:nvPr/>
        </p:nvSpPr>
        <p:spPr bwMode="auto">
          <a:xfrm flipH="1">
            <a:off x="6400800" y="1219200"/>
            <a:ext cx="228600" cy="3505200"/>
          </a:xfrm>
          <a:prstGeom prst="line">
            <a:avLst/>
          </a:prstGeom>
          <a:noFill/>
          <a:ln w="12700">
            <a:solidFill>
              <a:schemeClr val="tx1"/>
            </a:solidFill>
            <a:round/>
            <a:headEnd/>
            <a:tailEnd type="triangle" w="med" len="med"/>
          </a:ln>
        </p:spPr>
        <p:txBody>
          <a:bodyPr/>
          <a:lstStyle/>
          <a:p>
            <a:endParaRPr lang="en-US"/>
          </a:p>
        </p:txBody>
      </p:sp>
      <p:sp>
        <p:nvSpPr>
          <p:cNvPr id="19464" name="Oval 16"/>
          <p:cNvSpPr>
            <a:spLocks noChangeArrowheads="1"/>
          </p:cNvSpPr>
          <p:nvPr/>
        </p:nvSpPr>
        <p:spPr bwMode="auto">
          <a:xfrm>
            <a:off x="990600" y="4724400"/>
            <a:ext cx="2971800" cy="685800"/>
          </a:xfrm>
          <a:prstGeom prst="ellipse">
            <a:avLst/>
          </a:prstGeom>
          <a:solidFill>
            <a:schemeClr val="bg1"/>
          </a:solidFill>
          <a:ln w="12700">
            <a:solidFill>
              <a:schemeClr val="tx1"/>
            </a:solidFill>
            <a:round/>
            <a:headEnd/>
            <a:tailEnd/>
          </a:ln>
        </p:spPr>
        <p:txBody>
          <a:bodyPr wrap="none" anchor="ctr"/>
          <a:lstStyle/>
          <a:p>
            <a:pPr algn="ctr"/>
            <a:r>
              <a:rPr lang="en-US" sz="2000"/>
              <a:t>table lookup</a:t>
            </a:r>
          </a:p>
          <a:p>
            <a:pPr algn="ctr"/>
            <a:r>
              <a:rPr lang="en-US" sz="2000"/>
              <a:t>for entire history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smtClean="0"/>
              <a:t>Simple reflex agents</a:t>
            </a:r>
          </a:p>
        </p:txBody>
      </p:sp>
      <p:pic>
        <p:nvPicPr>
          <p:cNvPr id="20483" name="Picture 3" descr="simple-reflex-agent"/>
          <p:cNvPicPr>
            <a:picLocks noGrp="1" noChangeAspect="1" noChangeArrowheads="1"/>
          </p:cNvPicPr>
          <p:nvPr>
            <p:ph idx="1"/>
          </p:nvPr>
        </p:nvPicPr>
        <p:blipFill>
          <a:blip r:embed="rId3"/>
          <a:srcRect/>
          <a:stretch>
            <a:fillRect/>
          </a:stretch>
        </p:blipFill>
        <p:spPr>
          <a:xfrm>
            <a:off x="457200" y="1371600"/>
            <a:ext cx="8153400" cy="5191125"/>
          </a:xfrm>
          <a:noFill/>
        </p:spPr>
      </p:pic>
      <p:sp>
        <p:nvSpPr>
          <p:cNvPr id="20484" name="WordArt 4"/>
          <p:cNvSpPr>
            <a:spLocks noChangeArrowheads="1" noChangeShapeType="1" noTextEdit="1"/>
          </p:cNvSpPr>
          <p:nvPr/>
        </p:nvSpPr>
        <p:spPr bwMode="auto">
          <a:xfrm>
            <a:off x="609600" y="2514600"/>
            <a:ext cx="3533775" cy="874713"/>
          </a:xfrm>
          <a:prstGeom prst="rect">
            <a:avLst/>
          </a:prstGeom>
        </p:spPr>
        <p:txBody>
          <a:bodyPr wrap="none" fromWordArt="1">
            <a:prstTxWarp prst="textCascadeUp">
              <a:avLst>
                <a:gd name="adj" fmla="val 44444"/>
              </a:avLst>
            </a:prstTxWarp>
            <a:scene3d>
              <a:camera prst="legacyPerspectiveFront">
                <a:rot lat="20519997" lon="1080000" rev="0"/>
              </a:camera>
              <a:lightRig rig="legacyHarsh2" dir="b"/>
            </a:scene3d>
            <a:sp3d extrusionH="430200" prstMaterial="legacyMatte">
              <a:extrusionClr>
                <a:srgbClr val="FF6600"/>
              </a:extrusionClr>
            </a:sp3d>
          </a:bodyPr>
          <a:lstStyle/>
          <a:p>
            <a:pPr algn="ctr"/>
            <a:r>
              <a:rPr lang="en-US" sz="3600" kern="10">
                <a:ln w="9525">
                  <a:round/>
                  <a:headEnd/>
                  <a:tailEnd/>
                </a:ln>
                <a:gradFill rotWithShape="1">
                  <a:gsLst>
                    <a:gs pos="0">
                      <a:srgbClr val="FFE701"/>
                    </a:gs>
                    <a:gs pos="100000">
                      <a:srgbClr val="FE3E02"/>
                    </a:gs>
                  </a:gsLst>
                  <a:lin ang="5400000" scaled="1"/>
                </a:gradFill>
                <a:latin typeface="Impact"/>
              </a:rPr>
              <a:t>Fast but too simple</a:t>
            </a:r>
          </a:p>
        </p:txBody>
      </p:sp>
      <p:sp>
        <p:nvSpPr>
          <p:cNvPr id="20485" name="Text Box 5"/>
          <p:cNvSpPr txBox="1">
            <a:spLocks noChangeArrowheads="1"/>
          </p:cNvSpPr>
          <p:nvPr/>
        </p:nvSpPr>
        <p:spPr bwMode="auto">
          <a:xfrm>
            <a:off x="762000" y="5867400"/>
            <a:ext cx="3886200" cy="396875"/>
          </a:xfrm>
          <a:prstGeom prst="rect">
            <a:avLst/>
          </a:prstGeom>
          <a:noFill/>
          <a:ln w="12700">
            <a:noFill/>
            <a:miter lim="800000"/>
            <a:headEnd/>
            <a:tailEnd/>
          </a:ln>
        </p:spPr>
        <p:txBody>
          <a:bodyPr>
            <a:spAutoFit/>
          </a:bodyPr>
          <a:lstStyle/>
          <a:p>
            <a:r>
              <a:rPr lang="en-US" sz="2000">
                <a:solidFill>
                  <a:srgbClr val="FF0000"/>
                </a:solidFill>
              </a:rPr>
              <a:t>example: vacuum cleaner world</a:t>
            </a:r>
          </a:p>
        </p:txBody>
      </p:sp>
      <p:sp>
        <p:nvSpPr>
          <p:cNvPr id="20486" name="Text Box 7"/>
          <p:cNvSpPr txBox="1">
            <a:spLocks noChangeArrowheads="1"/>
          </p:cNvSpPr>
          <p:nvPr/>
        </p:nvSpPr>
        <p:spPr bwMode="auto">
          <a:xfrm>
            <a:off x="1828800" y="3429000"/>
            <a:ext cx="2578100" cy="1006475"/>
          </a:xfrm>
          <a:prstGeom prst="rect">
            <a:avLst/>
          </a:prstGeom>
          <a:noFill/>
          <a:ln w="12700">
            <a:noFill/>
            <a:miter lim="800000"/>
            <a:headEnd/>
            <a:tailEnd/>
          </a:ln>
        </p:spPr>
        <p:txBody>
          <a:bodyPr wrap="none">
            <a:spAutoFit/>
          </a:bodyPr>
          <a:lstStyle/>
          <a:p>
            <a:r>
              <a:rPr lang="en-US" sz="2000" b="1">
                <a:solidFill>
                  <a:srgbClr val="0000CC"/>
                </a:solidFill>
              </a:rPr>
              <a:t>NO MEMORY</a:t>
            </a:r>
          </a:p>
          <a:p>
            <a:r>
              <a:rPr lang="en-US" sz="2000" b="1">
                <a:solidFill>
                  <a:srgbClr val="0000CC"/>
                </a:solidFill>
              </a:rPr>
              <a:t>Fails if environment</a:t>
            </a:r>
          </a:p>
          <a:p>
            <a:r>
              <a:rPr lang="en-US" sz="2000" b="1">
                <a:solidFill>
                  <a:srgbClr val="0000CC"/>
                </a:solidFill>
              </a:rPr>
              <a:t>is partially observable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09600"/>
          </a:xfrm>
        </p:spPr>
        <p:txBody>
          <a:bodyPr/>
          <a:lstStyle/>
          <a:p>
            <a:r>
              <a:rPr lang="en-US" smtClean="0"/>
              <a:t>Model-based reflex agents</a:t>
            </a:r>
          </a:p>
        </p:txBody>
      </p:sp>
      <p:pic>
        <p:nvPicPr>
          <p:cNvPr id="21507" name="Picture 3" descr="reflex+state-agent"/>
          <p:cNvPicPr>
            <a:picLocks noGrp="1" noChangeAspect="1" noChangeArrowheads="1"/>
          </p:cNvPicPr>
          <p:nvPr>
            <p:ph idx="1"/>
          </p:nvPr>
        </p:nvPicPr>
        <p:blipFill>
          <a:blip r:embed="rId3"/>
          <a:srcRect/>
          <a:stretch>
            <a:fillRect/>
          </a:stretch>
        </p:blipFill>
        <p:spPr>
          <a:xfrm>
            <a:off x="609600" y="1524000"/>
            <a:ext cx="8001000" cy="5092700"/>
          </a:xfrm>
          <a:noFill/>
        </p:spPr>
      </p:pic>
      <p:sp>
        <p:nvSpPr>
          <p:cNvPr id="21508" name="Text Box 4"/>
          <p:cNvSpPr txBox="1">
            <a:spLocks noChangeArrowheads="1"/>
          </p:cNvSpPr>
          <p:nvPr/>
        </p:nvSpPr>
        <p:spPr bwMode="auto">
          <a:xfrm>
            <a:off x="2667000" y="533400"/>
            <a:ext cx="3663950" cy="1006475"/>
          </a:xfrm>
          <a:prstGeom prst="rect">
            <a:avLst/>
          </a:prstGeom>
          <a:noFill/>
          <a:ln w="12700">
            <a:noFill/>
            <a:miter lim="800000"/>
            <a:headEnd/>
            <a:tailEnd/>
          </a:ln>
        </p:spPr>
        <p:txBody>
          <a:bodyPr wrap="none">
            <a:spAutoFit/>
          </a:bodyPr>
          <a:lstStyle/>
          <a:p>
            <a:r>
              <a:rPr lang="en-US" sz="2000">
                <a:solidFill>
                  <a:srgbClr val="FF0000"/>
                </a:solidFill>
              </a:rPr>
              <a:t>Model the state of the world by:</a:t>
            </a:r>
          </a:p>
          <a:p>
            <a:r>
              <a:rPr lang="en-US" sz="2000">
                <a:solidFill>
                  <a:srgbClr val="FF0000"/>
                </a:solidFill>
              </a:rPr>
              <a:t>modeling how the world chances</a:t>
            </a:r>
          </a:p>
          <a:p>
            <a:r>
              <a:rPr lang="en-US" sz="2000">
                <a:solidFill>
                  <a:srgbClr val="FF0000"/>
                </a:solidFill>
              </a:rPr>
              <a:t>how it’s actions change the world </a:t>
            </a:r>
          </a:p>
        </p:txBody>
      </p:sp>
      <p:sp>
        <p:nvSpPr>
          <p:cNvPr id="21509" name="Line 6"/>
          <p:cNvSpPr>
            <a:spLocks noChangeShapeType="1"/>
          </p:cNvSpPr>
          <p:nvPr/>
        </p:nvSpPr>
        <p:spPr bwMode="auto">
          <a:xfrm>
            <a:off x="1524000" y="1295400"/>
            <a:ext cx="685800" cy="838200"/>
          </a:xfrm>
          <a:prstGeom prst="line">
            <a:avLst/>
          </a:prstGeom>
          <a:noFill/>
          <a:ln w="12700">
            <a:solidFill>
              <a:schemeClr val="tx1"/>
            </a:solidFill>
            <a:round/>
            <a:headEnd/>
            <a:tailEnd type="triangle" w="med" len="med"/>
          </a:ln>
        </p:spPr>
        <p:txBody>
          <a:bodyPr/>
          <a:lstStyle/>
          <a:p>
            <a:endParaRPr lang="en-US"/>
          </a:p>
        </p:txBody>
      </p:sp>
      <p:sp>
        <p:nvSpPr>
          <p:cNvPr id="21510" name="Text Box 7"/>
          <p:cNvSpPr txBox="1">
            <a:spLocks noChangeArrowheads="1"/>
          </p:cNvSpPr>
          <p:nvPr/>
        </p:nvSpPr>
        <p:spPr bwMode="auto">
          <a:xfrm>
            <a:off x="288925" y="471488"/>
            <a:ext cx="2084388" cy="701675"/>
          </a:xfrm>
          <a:prstGeom prst="rect">
            <a:avLst/>
          </a:prstGeom>
          <a:noFill/>
          <a:ln w="12700">
            <a:noFill/>
            <a:miter lim="800000"/>
            <a:headEnd/>
            <a:tailEnd/>
          </a:ln>
        </p:spPr>
        <p:txBody>
          <a:bodyPr wrap="none">
            <a:spAutoFit/>
          </a:bodyPr>
          <a:lstStyle/>
          <a:p>
            <a:r>
              <a:rPr lang="en-US" sz="2000">
                <a:solidFill>
                  <a:srgbClr val="0000CC"/>
                </a:solidFill>
              </a:rPr>
              <a:t>description of</a:t>
            </a:r>
          </a:p>
          <a:p>
            <a:r>
              <a:rPr lang="en-US" sz="2000">
                <a:solidFill>
                  <a:srgbClr val="0000CC"/>
                </a:solidFill>
              </a:rPr>
              <a:t>current world state</a:t>
            </a:r>
          </a:p>
        </p:txBody>
      </p:sp>
      <p:sp>
        <p:nvSpPr>
          <p:cNvPr id="21511" name="Text Box 8"/>
          <p:cNvSpPr txBox="1">
            <a:spLocks noChangeArrowheads="1"/>
          </p:cNvSpPr>
          <p:nvPr/>
        </p:nvSpPr>
        <p:spPr bwMode="auto">
          <a:xfrm>
            <a:off x="1066800" y="3962400"/>
            <a:ext cx="4302125" cy="915988"/>
          </a:xfrm>
          <a:prstGeom prst="rect">
            <a:avLst/>
          </a:prstGeom>
          <a:noFill/>
          <a:ln w="12700">
            <a:noFill/>
            <a:miter lim="800000"/>
            <a:headEnd/>
            <a:tailEnd/>
          </a:ln>
        </p:spPr>
        <p:txBody>
          <a:bodyPr wrap="none">
            <a:spAutoFit/>
          </a:bodyPr>
          <a:lstStyle/>
          <a:p>
            <a:pPr>
              <a:buFontTx/>
              <a:buChar char="•"/>
            </a:pPr>
            <a:r>
              <a:rPr lang="en-US">
                <a:solidFill>
                  <a:srgbClr val="FF0000"/>
                </a:solidFill>
              </a:rPr>
              <a:t>This can work even with partial information</a:t>
            </a:r>
          </a:p>
          <a:p>
            <a:pPr>
              <a:buFontTx/>
              <a:buChar char="•"/>
            </a:pPr>
            <a:r>
              <a:rPr lang="en-US">
                <a:solidFill>
                  <a:srgbClr val="FF0000"/>
                </a:solidFill>
              </a:rPr>
              <a:t>It’s is unclear what to do</a:t>
            </a:r>
          </a:p>
          <a:p>
            <a:r>
              <a:rPr lang="en-US">
                <a:solidFill>
                  <a:srgbClr val="FF0000"/>
                </a:solidFill>
              </a:rPr>
              <a:t>  without a clear goal</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smtClean="0"/>
              <a:t>Goal-based agents</a:t>
            </a:r>
          </a:p>
        </p:txBody>
      </p:sp>
      <p:pic>
        <p:nvPicPr>
          <p:cNvPr id="22531" name="Picture 4" descr="goal-based-agent"/>
          <p:cNvPicPr>
            <a:picLocks noGrp="1" noChangeAspect="1" noChangeArrowheads="1"/>
          </p:cNvPicPr>
          <p:nvPr>
            <p:ph idx="1"/>
          </p:nvPr>
        </p:nvPicPr>
        <p:blipFill>
          <a:blip r:embed="rId3"/>
          <a:srcRect/>
          <a:stretch>
            <a:fillRect/>
          </a:stretch>
        </p:blipFill>
        <p:spPr>
          <a:xfrm>
            <a:off x="533400" y="1619250"/>
            <a:ext cx="8229600" cy="5238750"/>
          </a:xfrm>
          <a:noFill/>
        </p:spPr>
      </p:pic>
      <p:sp>
        <p:nvSpPr>
          <p:cNvPr id="22532" name="Text Box 5"/>
          <p:cNvSpPr txBox="1">
            <a:spLocks noChangeArrowheads="1"/>
          </p:cNvSpPr>
          <p:nvPr/>
        </p:nvSpPr>
        <p:spPr bwMode="auto">
          <a:xfrm>
            <a:off x="1905000" y="838200"/>
            <a:ext cx="5916613" cy="701675"/>
          </a:xfrm>
          <a:prstGeom prst="rect">
            <a:avLst/>
          </a:prstGeom>
          <a:noFill/>
          <a:ln w="12700">
            <a:noFill/>
            <a:miter lim="800000"/>
            <a:headEnd/>
            <a:tailEnd/>
          </a:ln>
        </p:spPr>
        <p:txBody>
          <a:bodyPr wrap="none">
            <a:spAutoFit/>
          </a:bodyPr>
          <a:lstStyle/>
          <a:p>
            <a:r>
              <a:rPr lang="en-US" sz="2000">
                <a:solidFill>
                  <a:srgbClr val="FF0000"/>
                </a:solidFill>
              </a:rPr>
              <a:t>Goals provide reason to prefer one action over the other.</a:t>
            </a:r>
          </a:p>
          <a:p>
            <a:r>
              <a:rPr lang="en-US" sz="2000">
                <a:solidFill>
                  <a:srgbClr val="FF0000"/>
                </a:solidFill>
              </a:rPr>
              <a:t>We need to predict the future: we need to plan &amp; search</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0"/>
            <a:ext cx="7772400" cy="609600"/>
          </a:xfrm>
        </p:spPr>
        <p:txBody>
          <a:bodyPr/>
          <a:lstStyle/>
          <a:p>
            <a:r>
              <a:rPr lang="en-US" smtClean="0"/>
              <a:t>Utility-based agents</a:t>
            </a:r>
          </a:p>
        </p:txBody>
      </p:sp>
      <p:pic>
        <p:nvPicPr>
          <p:cNvPr id="23555" name="Picture 3" descr="utility-based-agent"/>
          <p:cNvPicPr>
            <a:picLocks noGrp="1" noChangeAspect="1" noChangeArrowheads="1"/>
          </p:cNvPicPr>
          <p:nvPr>
            <p:ph idx="1"/>
          </p:nvPr>
        </p:nvPicPr>
        <p:blipFill>
          <a:blip r:embed="rId3"/>
          <a:srcRect/>
          <a:stretch>
            <a:fillRect/>
          </a:stretch>
        </p:blipFill>
        <p:spPr>
          <a:xfrm>
            <a:off x="304800" y="1522413"/>
            <a:ext cx="8382000" cy="5335587"/>
          </a:xfrm>
          <a:noFill/>
        </p:spPr>
      </p:pic>
      <p:sp>
        <p:nvSpPr>
          <p:cNvPr id="23556" name="Text Box 4"/>
          <p:cNvSpPr txBox="1">
            <a:spLocks noChangeArrowheads="1"/>
          </p:cNvSpPr>
          <p:nvPr/>
        </p:nvSpPr>
        <p:spPr bwMode="auto">
          <a:xfrm>
            <a:off x="1905000" y="533400"/>
            <a:ext cx="5384800" cy="1006475"/>
          </a:xfrm>
          <a:prstGeom prst="rect">
            <a:avLst/>
          </a:prstGeom>
          <a:noFill/>
          <a:ln w="12700">
            <a:noFill/>
            <a:miter lim="800000"/>
            <a:headEnd/>
            <a:tailEnd/>
          </a:ln>
        </p:spPr>
        <p:txBody>
          <a:bodyPr wrap="none">
            <a:spAutoFit/>
          </a:bodyPr>
          <a:lstStyle/>
          <a:p>
            <a:r>
              <a:rPr lang="en-US" sz="2000">
                <a:solidFill>
                  <a:srgbClr val="FF0000"/>
                </a:solidFill>
              </a:rPr>
              <a:t>Some solutions to goal states are better than others.</a:t>
            </a:r>
          </a:p>
          <a:p>
            <a:r>
              <a:rPr lang="en-US" sz="2000">
                <a:solidFill>
                  <a:srgbClr val="FF0000"/>
                </a:solidFill>
              </a:rPr>
              <a:t>Which one is best is given by a utility function.</a:t>
            </a:r>
          </a:p>
          <a:p>
            <a:r>
              <a:rPr lang="en-US" sz="2000">
                <a:solidFill>
                  <a:srgbClr val="FF0000"/>
                </a:solidFill>
              </a:rPr>
              <a:t>Which combination of goals is preferred?</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0"/>
            <a:ext cx="7772400" cy="609600"/>
          </a:xfrm>
        </p:spPr>
        <p:txBody>
          <a:bodyPr/>
          <a:lstStyle/>
          <a:p>
            <a:r>
              <a:rPr lang="en-US" smtClean="0"/>
              <a:t>Learning agents</a:t>
            </a:r>
          </a:p>
        </p:txBody>
      </p:sp>
      <p:pic>
        <p:nvPicPr>
          <p:cNvPr id="24579" name="Picture 3" descr="learning-agent"/>
          <p:cNvPicPr>
            <a:picLocks noGrp="1" noChangeAspect="1" noChangeArrowheads="1"/>
          </p:cNvPicPr>
          <p:nvPr>
            <p:ph idx="1"/>
          </p:nvPr>
        </p:nvPicPr>
        <p:blipFill>
          <a:blip r:embed="rId3"/>
          <a:srcRect/>
          <a:stretch>
            <a:fillRect/>
          </a:stretch>
        </p:blipFill>
        <p:spPr>
          <a:xfrm>
            <a:off x="762000" y="1219200"/>
            <a:ext cx="7620000" cy="5353050"/>
          </a:xfrm>
          <a:noFill/>
        </p:spPr>
      </p:pic>
      <p:sp>
        <p:nvSpPr>
          <p:cNvPr id="24580" name="Text Box 4"/>
          <p:cNvSpPr txBox="1">
            <a:spLocks noChangeArrowheads="1"/>
          </p:cNvSpPr>
          <p:nvPr/>
        </p:nvSpPr>
        <p:spPr bwMode="auto">
          <a:xfrm>
            <a:off x="1828800" y="533400"/>
            <a:ext cx="5897563" cy="1006475"/>
          </a:xfrm>
          <a:prstGeom prst="rect">
            <a:avLst/>
          </a:prstGeom>
          <a:noFill/>
          <a:ln w="12700">
            <a:noFill/>
            <a:miter lim="800000"/>
            <a:headEnd/>
            <a:tailEnd/>
          </a:ln>
        </p:spPr>
        <p:txBody>
          <a:bodyPr wrap="none">
            <a:spAutoFit/>
          </a:bodyPr>
          <a:lstStyle/>
          <a:p>
            <a:r>
              <a:rPr lang="en-US" sz="2000">
                <a:solidFill>
                  <a:srgbClr val="FF0000"/>
                </a:solidFill>
              </a:rPr>
              <a:t>How does an agent improve over time?</a:t>
            </a:r>
          </a:p>
          <a:p>
            <a:r>
              <a:rPr lang="en-US" sz="2000">
                <a:solidFill>
                  <a:srgbClr val="FF0000"/>
                </a:solidFill>
              </a:rPr>
              <a:t>By monitoring it’s performance and suggesting </a:t>
            </a:r>
          </a:p>
          <a:p>
            <a:r>
              <a:rPr lang="en-US" sz="2000">
                <a:solidFill>
                  <a:srgbClr val="FF0000"/>
                </a:solidFill>
              </a:rPr>
              <a:t>                             better modeling, new action rules, etc.</a:t>
            </a:r>
          </a:p>
        </p:txBody>
      </p:sp>
      <p:sp>
        <p:nvSpPr>
          <p:cNvPr id="24581" name="Text Box 5"/>
          <p:cNvSpPr txBox="1">
            <a:spLocks noChangeArrowheads="1"/>
          </p:cNvSpPr>
          <p:nvPr/>
        </p:nvSpPr>
        <p:spPr bwMode="auto">
          <a:xfrm>
            <a:off x="762000" y="1981200"/>
            <a:ext cx="1136650" cy="1190625"/>
          </a:xfrm>
          <a:prstGeom prst="rect">
            <a:avLst/>
          </a:prstGeom>
          <a:noFill/>
          <a:ln w="12700">
            <a:noFill/>
            <a:miter lim="800000"/>
            <a:headEnd/>
            <a:tailEnd/>
          </a:ln>
        </p:spPr>
        <p:txBody>
          <a:bodyPr wrap="none">
            <a:spAutoFit/>
          </a:bodyPr>
          <a:lstStyle/>
          <a:p>
            <a:r>
              <a:rPr lang="en-US" b="1">
                <a:solidFill>
                  <a:srgbClr val="FF0000"/>
                </a:solidFill>
              </a:rPr>
              <a:t>Evaluates</a:t>
            </a:r>
          </a:p>
          <a:p>
            <a:r>
              <a:rPr lang="en-US" b="1">
                <a:solidFill>
                  <a:srgbClr val="FF0000"/>
                </a:solidFill>
              </a:rPr>
              <a:t>current </a:t>
            </a:r>
          </a:p>
          <a:p>
            <a:r>
              <a:rPr lang="en-US" b="1">
                <a:solidFill>
                  <a:srgbClr val="FF0000"/>
                </a:solidFill>
              </a:rPr>
              <a:t>world </a:t>
            </a:r>
          </a:p>
          <a:p>
            <a:r>
              <a:rPr lang="en-US" b="1">
                <a:solidFill>
                  <a:srgbClr val="FF0000"/>
                </a:solidFill>
              </a:rPr>
              <a:t>state</a:t>
            </a:r>
          </a:p>
        </p:txBody>
      </p:sp>
      <p:sp>
        <p:nvSpPr>
          <p:cNvPr id="24582" name="Text Box 6"/>
          <p:cNvSpPr txBox="1">
            <a:spLocks noChangeArrowheads="1"/>
          </p:cNvSpPr>
          <p:nvPr/>
        </p:nvSpPr>
        <p:spPr bwMode="auto">
          <a:xfrm>
            <a:off x="838200" y="3810000"/>
            <a:ext cx="958850" cy="1190625"/>
          </a:xfrm>
          <a:prstGeom prst="rect">
            <a:avLst/>
          </a:prstGeom>
          <a:noFill/>
          <a:ln w="12700">
            <a:noFill/>
            <a:miter lim="800000"/>
            <a:headEnd/>
            <a:tailEnd/>
          </a:ln>
        </p:spPr>
        <p:txBody>
          <a:bodyPr wrap="none">
            <a:spAutoFit/>
          </a:bodyPr>
          <a:lstStyle/>
          <a:p>
            <a:r>
              <a:rPr lang="en-US" b="1">
                <a:solidFill>
                  <a:srgbClr val="FF0000"/>
                </a:solidFill>
              </a:rPr>
              <a:t>changes</a:t>
            </a:r>
          </a:p>
          <a:p>
            <a:r>
              <a:rPr lang="en-US" b="1">
                <a:solidFill>
                  <a:srgbClr val="FF0000"/>
                </a:solidFill>
              </a:rPr>
              <a:t>action </a:t>
            </a:r>
          </a:p>
          <a:p>
            <a:r>
              <a:rPr lang="en-US" b="1">
                <a:solidFill>
                  <a:srgbClr val="FF0000"/>
                </a:solidFill>
              </a:rPr>
              <a:t>rules</a:t>
            </a:r>
          </a:p>
          <a:p>
            <a:endParaRPr lang="en-US" b="1">
              <a:solidFill>
                <a:srgbClr val="0000CC"/>
              </a:solidFill>
            </a:endParaRPr>
          </a:p>
        </p:txBody>
      </p:sp>
      <p:sp>
        <p:nvSpPr>
          <p:cNvPr id="24583" name="Text Box 7"/>
          <p:cNvSpPr txBox="1">
            <a:spLocks noChangeArrowheads="1"/>
          </p:cNvSpPr>
          <p:nvPr/>
        </p:nvSpPr>
        <p:spPr bwMode="auto">
          <a:xfrm>
            <a:off x="685800" y="5257800"/>
            <a:ext cx="1390650" cy="641350"/>
          </a:xfrm>
          <a:prstGeom prst="rect">
            <a:avLst/>
          </a:prstGeom>
          <a:noFill/>
          <a:ln w="12700">
            <a:noFill/>
            <a:miter lim="800000"/>
            <a:headEnd/>
            <a:tailEnd/>
          </a:ln>
        </p:spPr>
        <p:txBody>
          <a:bodyPr wrap="none">
            <a:spAutoFit/>
          </a:bodyPr>
          <a:lstStyle/>
          <a:p>
            <a:r>
              <a:rPr lang="en-US" b="1">
                <a:solidFill>
                  <a:srgbClr val="FF0000"/>
                </a:solidFill>
              </a:rPr>
              <a:t>suggests</a:t>
            </a:r>
          </a:p>
          <a:p>
            <a:r>
              <a:rPr lang="en-US" b="1">
                <a:solidFill>
                  <a:srgbClr val="FF0000"/>
                </a:solidFill>
              </a:rPr>
              <a:t>explorations</a:t>
            </a:r>
          </a:p>
        </p:txBody>
      </p:sp>
      <p:sp>
        <p:nvSpPr>
          <p:cNvPr id="24584" name="Text Box 8"/>
          <p:cNvSpPr txBox="1">
            <a:spLocks noChangeArrowheads="1"/>
          </p:cNvSpPr>
          <p:nvPr/>
        </p:nvSpPr>
        <p:spPr bwMode="auto">
          <a:xfrm>
            <a:off x="5486400" y="4343400"/>
            <a:ext cx="1431925" cy="1314450"/>
          </a:xfrm>
          <a:prstGeom prst="rect">
            <a:avLst/>
          </a:prstGeom>
          <a:noFill/>
          <a:ln w="12700">
            <a:noFill/>
            <a:miter lim="800000"/>
            <a:headEnd/>
            <a:tailEnd/>
          </a:ln>
        </p:spPr>
        <p:txBody>
          <a:bodyPr wrap="none">
            <a:spAutoFit/>
          </a:bodyPr>
          <a:lstStyle/>
          <a:p>
            <a:r>
              <a:rPr lang="en-US" sz="1600" b="1">
                <a:solidFill>
                  <a:srgbClr val="FF0000"/>
                </a:solidFill>
              </a:rPr>
              <a:t>“old agent”=</a:t>
            </a:r>
          </a:p>
          <a:p>
            <a:r>
              <a:rPr lang="en-US" sz="1600" b="1">
                <a:solidFill>
                  <a:srgbClr val="FF0000"/>
                </a:solidFill>
              </a:rPr>
              <a:t>model world</a:t>
            </a:r>
          </a:p>
          <a:p>
            <a:r>
              <a:rPr lang="en-US" sz="1600" b="1">
                <a:solidFill>
                  <a:srgbClr val="FF0000"/>
                </a:solidFill>
              </a:rPr>
              <a:t>and decide on </a:t>
            </a:r>
          </a:p>
          <a:p>
            <a:r>
              <a:rPr lang="en-US" sz="1600" b="1">
                <a:solidFill>
                  <a:srgbClr val="FF0000"/>
                </a:solidFill>
              </a:rPr>
              <a:t>actions </a:t>
            </a:r>
          </a:p>
          <a:p>
            <a:r>
              <a:rPr lang="en-US" sz="1600" b="1">
                <a:solidFill>
                  <a:srgbClr val="FF0000"/>
                </a:solidFill>
              </a:rPr>
              <a:t>to be taken</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0287" y="152400"/>
            <a:ext cx="8807225" cy="6019800"/>
          </a:xfrm>
          <a:prstGeom prst="rect">
            <a:avLst/>
          </a:prstGeom>
        </p:spPr>
      </p:pic>
    </p:spTree>
    <p:extLst>
      <p:ext uri="{BB962C8B-B14F-4D97-AF65-F5344CB8AC3E}">
        <p14:creationId xmlns:p14="http://schemas.microsoft.com/office/powerpoint/2010/main" val="764573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 driving car </a:t>
            </a:r>
            <a:r>
              <a:rPr lang="en-US" dirty="0" err="1" smtClean="0"/>
              <a:t>Examp</a:t>
            </a:r>
            <a:endParaRPr lang="en-US" dirty="0"/>
          </a:p>
        </p:txBody>
      </p:sp>
      <p:sp>
        <p:nvSpPr>
          <p:cNvPr id="3" name="Content Placeholder 2"/>
          <p:cNvSpPr>
            <a:spLocks noGrp="1"/>
          </p:cNvSpPr>
          <p:nvPr>
            <p:ph idx="1"/>
          </p:nvPr>
        </p:nvSpPr>
        <p:spPr>
          <a:xfrm>
            <a:off x="609600" y="914400"/>
            <a:ext cx="7848600" cy="5029200"/>
          </a:xfrm>
        </p:spPr>
        <p:txBody>
          <a:bodyPr/>
          <a:lstStyle/>
          <a:p>
            <a:r>
              <a:rPr lang="en-US" dirty="0" smtClean="0"/>
              <a:t>Consider the self-driving car for all the five type of an agents </a:t>
            </a:r>
          </a:p>
          <a:p>
            <a:r>
              <a:rPr lang="en-US" dirty="0" smtClean="0"/>
              <a:t>If there is a roadblock ahead then for </a:t>
            </a:r>
            <a:r>
              <a:rPr lang="en-US" dirty="0" smtClean="0">
                <a:solidFill>
                  <a:srgbClr val="FF0000"/>
                </a:solidFill>
              </a:rPr>
              <a:t>simple reflex agent</a:t>
            </a:r>
            <a:r>
              <a:rPr lang="en-US" dirty="0" smtClean="0"/>
              <a:t> it will simply change the route, it will not think that some cars are nearby.</a:t>
            </a:r>
          </a:p>
          <a:p>
            <a:pPr marL="0" indent="0">
              <a:buNone/>
            </a:pPr>
            <a:r>
              <a:rPr lang="en-US" dirty="0" smtClean="0"/>
              <a:t> </a:t>
            </a:r>
          </a:p>
          <a:p>
            <a:r>
              <a:rPr lang="en-US" dirty="0" smtClean="0">
                <a:solidFill>
                  <a:srgbClr val="FF0000"/>
                </a:solidFill>
              </a:rPr>
              <a:t>Model based reflex agent:</a:t>
            </a:r>
            <a:r>
              <a:rPr lang="en-US" dirty="0" smtClean="0"/>
              <a:t> has memory of other cars which is coming behind so it will change the route accordingly. If the car is very near in the parallel lane, it will slow down, allow the other cars to pass and then change the lane. </a:t>
            </a:r>
          </a:p>
          <a:p>
            <a:r>
              <a:rPr lang="en-US" dirty="0" smtClean="0"/>
              <a:t> </a:t>
            </a:r>
          </a:p>
          <a:p>
            <a:r>
              <a:rPr lang="en-US" dirty="0" smtClean="0">
                <a:solidFill>
                  <a:srgbClr val="FF0000"/>
                </a:solidFill>
              </a:rPr>
              <a:t>Goal base agent:</a:t>
            </a:r>
            <a:r>
              <a:rPr lang="en-US" dirty="0" smtClean="0"/>
              <a:t> It will slow down allow other cars to pass and then change the route in such a way that the next route direction is closer to its goal. </a:t>
            </a:r>
          </a:p>
          <a:p>
            <a:endParaRPr lang="en-US" dirty="0" smtClean="0"/>
          </a:p>
          <a:p>
            <a:r>
              <a:rPr lang="en-US" dirty="0" smtClean="0">
                <a:solidFill>
                  <a:srgbClr val="FF0000"/>
                </a:solidFill>
              </a:rPr>
              <a:t>Utility based agent:</a:t>
            </a:r>
            <a:r>
              <a:rPr lang="en-US" dirty="0" smtClean="0"/>
              <a:t> If there are three different paths to reach the </a:t>
            </a:r>
            <a:r>
              <a:rPr lang="en-US" dirty="0" err="1" smtClean="0"/>
              <a:t>distination</a:t>
            </a:r>
            <a:r>
              <a:rPr lang="en-US" dirty="0" smtClean="0"/>
              <a:t>, it will choose the shortest path. </a:t>
            </a:r>
          </a:p>
          <a:p>
            <a:endParaRPr lang="en-US" dirty="0" smtClean="0"/>
          </a:p>
          <a:p>
            <a:r>
              <a:rPr lang="en-US" dirty="0" smtClean="0">
                <a:solidFill>
                  <a:srgbClr val="FF0000"/>
                </a:solidFill>
              </a:rPr>
              <a:t>Learning Agent:</a:t>
            </a:r>
            <a:r>
              <a:rPr lang="en-US" dirty="0" smtClean="0"/>
              <a:t> It will first learn which out of the three routes is the best route in every trip it passes on the route. </a:t>
            </a:r>
            <a:r>
              <a:rPr lang="en-US" dirty="0"/>
              <a:t>For example, one route may be shortest, but it usually faces traffic jams. </a:t>
            </a:r>
            <a:endParaRPr lang="en-US" dirty="0" smtClean="0"/>
          </a:p>
          <a:p>
            <a:endParaRPr lang="en-US" dirty="0" smtClean="0"/>
          </a:p>
          <a:p>
            <a:endParaRPr lang="en-US" dirty="0"/>
          </a:p>
        </p:txBody>
      </p:sp>
    </p:spTree>
    <p:extLst>
      <p:ext uri="{BB962C8B-B14F-4D97-AF65-F5344CB8AC3E}">
        <p14:creationId xmlns:p14="http://schemas.microsoft.com/office/powerpoint/2010/main" val="929784332"/>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Santorini:Microsoft Office:Microsoft PowerPoint 4:</Template>
  <TotalTime>1472215874</TotalTime>
  <Pages>36</Pages>
  <Words>2010</Words>
  <Application>Microsoft Office PowerPoint</Application>
  <PresentationFormat>On-screen Show (4:3)</PresentationFormat>
  <Paragraphs>378</Paragraphs>
  <Slides>31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Impact</vt:lpstr>
      <vt:lpstr>Monotype Corsiva</vt:lpstr>
      <vt:lpstr>Sylfaen</vt:lpstr>
      <vt:lpstr>Times New Roman</vt:lpstr>
      <vt:lpstr>Wingdings</vt:lpstr>
      <vt:lpstr>Default Design</vt:lpstr>
      <vt:lpstr>Intelligent Agents</vt:lpstr>
      <vt:lpstr>Agents</vt:lpstr>
      <vt:lpstr>Agents and environments</vt:lpstr>
      <vt:lpstr>Vacuum-cleaner world</vt:lpstr>
      <vt:lpstr>Rational agents</vt:lpstr>
      <vt:lpstr>Rational agents</vt:lpstr>
      <vt:lpstr>Task Environment</vt:lpstr>
      <vt:lpstr>PEAS</vt:lpstr>
      <vt:lpstr>PEAS</vt:lpstr>
      <vt:lpstr>PEAS</vt:lpstr>
      <vt:lpstr>Environment: Observability</vt:lpstr>
      <vt:lpstr>Environment: Observability</vt:lpstr>
      <vt:lpstr>Environment: Determinism</vt:lpstr>
      <vt:lpstr>Environment: Determinism</vt:lpstr>
      <vt:lpstr>Environment: Episodicity </vt:lpstr>
      <vt:lpstr>Environment: Dynamism</vt:lpstr>
      <vt:lpstr>Environment: Continuity</vt:lpstr>
      <vt:lpstr>Environment: Presence of Other agents</vt:lpstr>
      <vt:lpstr>Environment types</vt:lpstr>
      <vt:lpstr>Environment types</vt:lpstr>
      <vt:lpstr>PowerPoint Presentation</vt:lpstr>
      <vt:lpstr>PowerPoint Presentation</vt:lpstr>
      <vt:lpstr>Agent types</vt:lpstr>
      <vt:lpstr>Table Driven Agent.</vt:lpstr>
      <vt:lpstr>Simple reflex agents</vt:lpstr>
      <vt:lpstr>Model-based reflex agents</vt:lpstr>
      <vt:lpstr>Goal-based agents</vt:lpstr>
      <vt:lpstr>Utility-based agents</vt:lpstr>
      <vt:lpstr>Learning agents</vt:lpstr>
      <vt:lpstr>PowerPoint Presentation</vt:lpstr>
      <vt:lpstr>Self driving car Examp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Problems and Blind Search Techniques</dc:title>
  <dc:creator>Padhraic Smyth</dc:creator>
  <cp:lastModifiedBy>Dr. Sajid</cp:lastModifiedBy>
  <cp:revision>61</cp:revision>
  <cp:lastPrinted>1998-09-24T13:46:44Z</cp:lastPrinted>
  <dcterms:created xsi:type="dcterms:W3CDTF">1998-09-23T15:09:24Z</dcterms:created>
  <dcterms:modified xsi:type="dcterms:W3CDTF">2025-10-03T10:00:10Z</dcterms:modified>
</cp:coreProperties>
</file>