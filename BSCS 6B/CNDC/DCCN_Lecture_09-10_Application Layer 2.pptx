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6858000" type="screen4x3"/>
  <p:notesSz cx="7315200" cy="9601200"/>
  <p:embeddedFontLst>
    <p:embeddedFont>
      <p:font typeface="Gill Sans" panose="020B0604020202020204" charset="0"/>
      <p:regular r:id="rId19"/>
      <p:bold r:id="rId20"/>
    </p:embeddedFont>
    <p:embeddedFont>
      <p:font typeface="Comic Sans MS" panose="030F0702030302020204" pitchFamily="66" charset="0"/>
      <p:regular r:id="rId21"/>
      <p:bold r:id="rId22"/>
      <p:italic r:id="rId23"/>
      <p:boldItalic r:id="rId24"/>
    </p:embeddedFont>
    <p:embeddedFont>
      <p:font typeface="Tahoma" panose="020B0604030504040204" pitchFamily="3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5ds/mPedylpb7T+Te4ovGgfiy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6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6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7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8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8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0" name="Google Shape;780;p9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9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8" name="Google Shape;788;p10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0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" name="Google Shape;920;p1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1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p12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12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4" name="Google Shape;1064;p13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13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3" name="Google Shape;1073;p14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14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p15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15:notes"/>
          <p:cNvSpPr txBox="1"/>
          <p:nvPr/>
        </p:nvSpPr>
        <p:spPr>
          <a:xfrm>
            <a:off x="4144962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1:notes"/>
          <p:cNvSpPr txBox="1">
            <a:spLocks noGrp="1"/>
          </p:cNvSpPr>
          <p:nvPr>
            <p:ph type="body" idx="1"/>
          </p:nvPr>
        </p:nvSpPr>
        <p:spPr>
          <a:xfrm>
            <a:off x="974725" y="4560887"/>
            <a:ext cx="5365750" cy="4319587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None/>
              <a:defRPr/>
            </a:lvl1pPr>
            <a:lvl2pPr lvl="1" algn="ctr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Char char="❖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body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Char char="❖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 type="objOverTx">
  <p:cSld name="OBJECT_OVER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7772400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2"/>
          </p:nvPr>
        </p:nvSpPr>
        <p:spPr>
          <a:xfrm>
            <a:off x="533400" y="4000500"/>
            <a:ext cx="7772400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>
            <a:spLocks noGrp="1"/>
          </p:cNvSpPr>
          <p:nvPr>
            <p:ph type="chart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  <a:def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>
            <a:spLocks noGrp="1"/>
          </p:cNvSpPr>
          <p:nvPr>
            <p:ph type="title"/>
          </p:nvPr>
        </p:nvSpPr>
        <p:spPr>
          <a:xfrm rot="5400000">
            <a:off x="4324350" y="2266950"/>
            <a:ext cx="60198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body" idx="1"/>
          </p:nvPr>
        </p:nvSpPr>
        <p:spPr>
          <a:xfrm rot="5400000">
            <a:off x="361950" y="400050"/>
            <a:ext cx="60198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 rot="5400000">
            <a:off x="2095500" y="49212"/>
            <a:ext cx="4648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SzPts val="2080"/>
              <a:buChar char="❖"/>
              <a:defRPr sz="3200"/>
            </a:lvl1pPr>
            <a:lvl2pPr marL="914400" lvl="1" indent="-4064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9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Char char="❖"/>
              <a:defRPr sz="2400"/>
            </a:lvl1pPr>
            <a:lvl2pPr marL="914400" lvl="1" indent="-355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Char char="❖"/>
              <a:defRPr sz="2400"/>
            </a:lvl1pPr>
            <a:lvl2pPr marL="914400" lvl="1" indent="-355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marL="914400" lvl="1" indent="-2286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533400" y="1611312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1"/>
          </p:nvPr>
        </p:nvSpPr>
        <p:spPr>
          <a:xfrm>
            <a:off x="533400" y="1611312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9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Char char="❖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body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Char char="❖"/>
              <a:defRPr sz="2800"/>
            </a:lvl1pPr>
            <a:lvl2pPr marL="914400" lvl="1" indent="-3810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0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0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1820"/>
              <a:buNone/>
              <a:defRPr/>
            </a:lvl1pPr>
            <a:lvl2pPr lvl="1" algn="ctr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1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1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 type="objOverTx">
  <p:cSld name="OBJECT_OVER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7772400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body" idx="2"/>
          </p:nvPr>
        </p:nvSpPr>
        <p:spPr>
          <a:xfrm>
            <a:off x="533400" y="4000500"/>
            <a:ext cx="7772400" cy="22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45" name="Google Shape;145;p4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3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3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4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44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>
            <a:spLocks noGrp="1"/>
          </p:cNvSpPr>
          <p:nvPr>
            <p:ph type="chart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  <a:def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5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5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58" name="Google Shape;158;p45"/>
          <p:cNvSpPr txBox="1">
            <a:spLocks noGrp="1"/>
          </p:cNvSpPr>
          <p:nvPr>
            <p:ph type="body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59" name="Google Shape;159;p4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5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6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46"/>
          <p:cNvSpPr txBox="1">
            <a:spLocks noGrp="1"/>
          </p:cNvSpPr>
          <p:nvPr>
            <p:ph type="body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65" name="Google Shape;165;p46"/>
          <p:cNvSpPr txBox="1">
            <a:spLocks noGrp="1"/>
          </p:cNvSpPr>
          <p:nvPr>
            <p:ph type="body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66" name="Google Shape;166;p4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6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7"/>
          <p:cNvSpPr txBox="1">
            <a:spLocks noGrp="1"/>
          </p:cNvSpPr>
          <p:nvPr>
            <p:ph type="title"/>
          </p:nvPr>
        </p:nvSpPr>
        <p:spPr>
          <a:xfrm rot="5400000">
            <a:off x="4324350" y="2266950"/>
            <a:ext cx="60198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7"/>
          <p:cNvSpPr txBox="1">
            <a:spLocks noGrp="1"/>
          </p:cNvSpPr>
          <p:nvPr>
            <p:ph type="body" idx="1"/>
          </p:nvPr>
        </p:nvSpPr>
        <p:spPr>
          <a:xfrm rot="5400000">
            <a:off x="361950" y="400050"/>
            <a:ext cx="60198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72" name="Google Shape;172;p4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7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7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8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8"/>
          <p:cNvSpPr txBox="1">
            <a:spLocks noGrp="1"/>
          </p:cNvSpPr>
          <p:nvPr>
            <p:ph type="body" idx="1"/>
          </p:nvPr>
        </p:nvSpPr>
        <p:spPr>
          <a:xfrm rot="5400000">
            <a:off x="2095500" y="49212"/>
            <a:ext cx="4648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170"/>
              <a:buChar char="❖"/>
              <a:defRPr/>
            </a:lvl1pPr>
            <a:lvl2pPr marL="914400" lvl="1" indent="-3429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78" name="Google Shape;178;p4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8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8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4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185" name="Google Shape;185;p4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9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9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5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SzPts val="2080"/>
              <a:buChar char="❖"/>
              <a:defRPr sz="3200"/>
            </a:lvl1pPr>
            <a:lvl2pPr marL="914400" lvl="1" indent="-40640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191" name="Google Shape;191;p5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lnSpc>
                <a:spcPct val="85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mic Sans MS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192" name="Google Shape;192;p50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50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1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5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1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51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5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Char char="❖"/>
              <a:defRPr sz="2400"/>
            </a:lvl1pPr>
            <a:lvl2pPr marL="914400" lvl="1" indent="-355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204" name="Google Shape;204;p5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205" name="Google Shape;205;p5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Char char="❖"/>
              <a:defRPr sz="2400"/>
            </a:lvl1pPr>
            <a:lvl2pPr marL="914400" lvl="1" indent="-355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mic Sans MS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5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marL="914400" lvl="1" indent="-22860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mic Sans MS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212" name="Google Shape;212;p53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53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53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533400" y="1611312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417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810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sng" strike="noStrike" cap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1"/>
          </p:nvPr>
        </p:nvSpPr>
        <p:spPr>
          <a:xfrm>
            <a:off x="533400" y="1611312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417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810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mic Sans MS"/>
              <a:buChar char="•"/>
              <a:defRPr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ftr" idx="11"/>
          </p:nvPr>
        </p:nvSpPr>
        <p:spPr>
          <a:xfrm>
            <a:off x="5576887" y="6467475"/>
            <a:ext cx="2895600" cy="28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ldNum" idx="12"/>
          </p:nvPr>
        </p:nvSpPr>
        <p:spPr>
          <a:xfrm>
            <a:off x="8324850" y="6462712"/>
            <a:ext cx="6762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  <a:defRPr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lang="en-US" sz="44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Data Communication &amp; Computer Networks</a:t>
            </a:r>
            <a:endParaRPr/>
          </a:p>
        </p:txBody>
      </p:sp>
      <p:sp>
        <p:nvSpPr>
          <p:cNvPr id="220" name="Google Shape;220;p1"/>
          <p:cNvSpPr txBox="1">
            <a:spLocks noGrp="1"/>
          </p:cNvSpPr>
          <p:nvPr>
            <p:ph type="subTitle" idx="1"/>
          </p:nvPr>
        </p:nvSpPr>
        <p:spPr>
          <a:xfrm>
            <a:off x="1343025" y="384333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Course Instructor:</a:t>
            </a:r>
            <a:b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		Mr. Fakhar Ul Islam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"/>
          <p:cNvSpPr txBox="1">
            <a:spLocks noGrp="1"/>
          </p:cNvSpPr>
          <p:nvPr>
            <p:ph type="title" idx="4294967295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lang="en-US"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Application Layer: outline</a:t>
            </a:r>
            <a:endParaRPr/>
          </a:p>
        </p:txBody>
      </p:sp>
      <p:sp>
        <p:nvSpPr>
          <p:cNvPr id="227" name="Google Shape;227;p2"/>
          <p:cNvSpPr txBox="1">
            <a:spLocks noGrp="1"/>
          </p:cNvSpPr>
          <p:nvPr>
            <p:ph type="body" idx="4294967295"/>
          </p:nvPr>
        </p:nvSpPr>
        <p:spPr>
          <a:xfrm>
            <a:off x="533400" y="1611312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 principles of network applications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 architectures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 requirements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 Web and HTTP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3 FTP</a:t>
            </a: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 electronic mail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SMTP, POP3, IMAP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 DNS</a:t>
            </a:r>
            <a:endParaRPr/>
          </a:p>
          <a:p>
            <a:pPr marL="342900" marR="0" lvl="0" indent="-22733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8" name="Google Shape;228;p2"/>
          <p:cNvSpPr txBox="1">
            <a:spLocks noGrp="1"/>
          </p:cNvSpPr>
          <p:nvPr>
            <p:ph type="body" idx="4294967295"/>
          </p:nvPr>
        </p:nvSpPr>
        <p:spPr>
          <a:xfrm>
            <a:off x="4673600" y="1600200"/>
            <a:ext cx="3876675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 socket programming with UDP and TCP</a:t>
            </a:r>
            <a:endParaRPr/>
          </a:p>
        </p:txBody>
      </p:sp>
      <p:pic>
        <p:nvPicPr>
          <p:cNvPr id="229" name="Google Shape;229;p2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662" y="1025525"/>
            <a:ext cx="4113212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37" y="835025"/>
            <a:ext cx="63992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/>
          <p:nvPr/>
        </p:nvSpPr>
        <p:spPr>
          <a:xfrm>
            <a:off x="6161087" y="2220912"/>
            <a:ext cx="1100137" cy="282575"/>
          </a:xfrm>
          <a:custGeom>
            <a:avLst/>
            <a:gdLst/>
            <a:ahLst/>
            <a:cxnLst/>
            <a:rect l="l" t="t" r="r" b="b"/>
            <a:pathLst>
              <a:path w="693" h="178" extrusionOk="0">
                <a:moveTo>
                  <a:pt x="0" y="116"/>
                </a:moveTo>
                <a:lnTo>
                  <a:pt x="247" y="0"/>
                </a:lnTo>
                <a:lnTo>
                  <a:pt x="693" y="0"/>
                </a:lnTo>
                <a:lnTo>
                  <a:pt x="137" y="178"/>
                </a:lnTo>
                <a:lnTo>
                  <a:pt x="0" y="116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2601912" y="2220912"/>
            <a:ext cx="1784350" cy="282575"/>
          </a:xfrm>
          <a:custGeom>
            <a:avLst/>
            <a:gdLst/>
            <a:ahLst/>
            <a:cxnLst/>
            <a:rect l="l" t="t" r="r" b="b"/>
            <a:pathLst>
              <a:path w="1124" h="178" extrusionOk="0">
                <a:moveTo>
                  <a:pt x="0" y="178"/>
                </a:moveTo>
                <a:lnTo>
                  <a:pt x="41" y="7"/>
                </a:lnTo>
                <a:lnTo>
                  <a:pt x="1124" y="0"/>
                </a:lnTo>
                <a:lnTo>
                  <a:pt x="247" y="171"/>
                </a:lnTo>
                <a:lnTo>
                  <a:pt x="0" y="178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 txBox="1">
            <a:spLocks noGrp="1"/>
          </p:cNvSpPr>
          <p:nvPr>
            <p:ph type="title"/>
          </p:nvPr>
        </p:nvSpPr>
        <p:spPr>
          <a:xfrm>
            <a:off x="381000" y="206375"/>
            <a:ext cx="7772400" cy="86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FTP: the file transfer protocol</a:t>
            </a:r>
            <a:endParaRPr/>
          </a:p>
        </p:txBody>
      </p:sp>
      <p:sp>
        <p:nvSpPr>
          <p:cNvPr id="239" name="Google Shape;239;p3"/>
          <p:cNvSpPr txBox="1"/>
          <p:nvPr/>
        </p:nvSpPr>
        <p:spPr>
          <a:xfrm>
            <a:off x="4645025" y="1255712"/>
            <a:ext cx="17129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file transfer</a:t>
            </a:r>
            <a:endParaRPr/>
          </a:p>
        </p:txBody>
      </p:sp>
      <p:grpSp>
        <p:nvGrpSpPr>
          <p:cNvPr id="240" name="Google Shape;240;p3"/>
          <p:cNvGrpSpPr/>
          <p:nvPr/>
        </p:nvGrpSpPr>
        <p:grpSpPr>
          <a:xfrm>
            <a:off x="6537325" y="1411287"/>
            <a:ext cx="749300" cy="828675"/>
            <a:chOff x="3914" y="1386"/>
            <a:chExt cx="472" cy="522"/>
          </a:xfrm>
        </p:grpSpPr>
        <p:sp>
          <p:nvSpPr>
            <p:cNvPr id="241" name="Google Shape;241;p3"/>
            <p:cNvSpPr txBox="1"/>
            <p:nvPr/>
          </p:nvSpPr>
          <p:spPr>
            <a:xfrm>
              <a:off x="3930" y="1386"/>
              <a:ext cx="444" cy="522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3"/>
            <p:cNvSpPr txBox="1"/>
            <p:nvPr/>
          </p:nvSpPr>
          <p:spPr>
            <a:xfrm>
              <a:off x="3914" y="1463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FTP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</p:grpSp>
      <p:grpSp>
        <p:nvGrpSpPr>
          <p:cNvPr id="243" name="Google Shape;243;p3"/>
          <p:cNvGrpSpPr/>
          <p:nvPr/>
        </p:nvGrpSpPr>
        <p:grpSpPr>
          <a:xfrm>
            <a:off x="2582862" y="1401762"/>
            <a:ext cx="1789112" cy="852487"/>
            <a:chOff x="1645" y="1326"/>
            <a:chExt cx="1127" cy="537"/>
          </a:xfrm>
        </p:grpSpPr>
        <p:sp>
          <p:nvSpPr>
            <p:cNvPr id="244" name="Google Shape;244;p3"/>
            <p:cNvSpPr txBox="1"/>
            <p:nvPr/>
          </p:nvSpPr>
          <p:spPr>
            <a:xfrm>
              <a:off x="2328" y="1326"/>
              <a:ext cx="444" cy="522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3"/>
            <p:cNvSpPr txBox="1"/>
            <p:nvPr/>
          </p:nvSpPr>
          <p:spPr>
            <a:xfrm>
              <a:off x="1704" y="1332"/>
              <a:ext cx="606" cy="522"/>
            </a:xfrm>
            <a:prstGeom prst="rect">
              <a:avLst/>
            </a:prstGeom>
            <a:solidFill>
              <a:srgbClr val="33CCCC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"/>
            <p:cNvSpPr txBox="1"/>
            <p:nvPr/>
          </p:nvSpPr>
          <p:spPr>
            <a:xfrm>
              <a:off x="1645" y="1343"/>
              <a:ext cx="738" cy="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FTP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endParaRPr/>
            </a:p>
          </p:txBody>
        </p:sp>
        <p:sp>
          <p:nvSpPr>
            <p:cNvPr id="247" name="Google Shape;247;p3"/>
            <p:cNvSpPr txBox="1"/>
            <p:nvPr/>
          </p:nvSpPr>
          <p:spPr>
            <a:xfrm>
              <a:off x="2341" y="1403"/>
              <a:ext cx="414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FTP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client</a:t>
              </a:r>
              <a:endParaRPr/>
            </a:p>
          </p:txBody>
        </p:sp>
      </p:grpSp>
      <p:sp>
        <p:nvSpPr>
          <p:cNvPr id="248" name="Google Shape;248;p3"/>
          <p:cNvSpPr txBox="1"/>
          <p:nvPr/>
        </p:nvSpPr>
        <p:spPr>
          <a:xfrm>
            <a:off x="3881437" y="2522537"/>
            <a:ext cx="10763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 file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/>
          </a:p>
        </p:txBody>
      </p:sp>
      <p:cxnSp>
        <p:nvCxnSpPr>
          <p:cNvPr id="249" name="Google Shape;249;p3"/>
          <p:cNvCxnSpPr/>
          <p:nvPr/>
        </p:nvCxnSpPr>
        <p:spPr>
          <a:xfrm>
            <a:off x="3219450" y="2239962"/>
            <a:ext cx="323850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50" name="Google Shape;250;p3"/>
          <p:cNvCxnSpPr/>
          <p:nvPr/>
        </p:nvCxnSpPr>
        <p:spPr>
          <a:xfrm flipH="1">
            <a:off x="3714750" y="2230437"/>
            <a:ext cx="333375" cy="4381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51" name="Google Shape;251;p3"/>
          <p:cNvSpPr txBox="1"/>
          <p:nvPr/>
        </p:nvSpPr>
        <p:spPr>
          <a:xfrm>
            <a:off x="7161212" y="2333625"/>
            <a:ext cx="1457325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file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/>
          </a:p>
        </p:txBody>
      </p:sp>
      <p:cxnSp>
        <p:nvCxnSpPr>
          <p:cNvPr id="252" name="Google Shape;252;p3"/>
          <p:cNvCxnSpPr/>
          <p:nvPr/>
        </p:nvCxnSpPr>
        <p:spPr>
          <a:xfrm>
            <a:off x="6915150" y="2239962"/>
            <a:ext cx="0" cy="42862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53" name="Google Shape;253;p3" descr="Ali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0662" y="1454150"/>
            <a:ext cx="561975" cy="69373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"/>
          <p:cNvSpPr txBox="1"/>
          <p:nvPr/>
        </p:nvSpPr>
        <p:spPr>
          <a:xfrm>
            <a:off x="1379537" y="2162175"/>
            <a:ext cx="9715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host</a:t>
            </a:r>
            <a:endParaRPr/>
          </a:p>
        </p:txBody>
      </p:sp>
      <p:cxnSp>
        <p:nvCxnSpPr>
          <p:cNvPr id="255" name="Google Shape;255;p3"/>
          <p:cNvCxnSpPr/>
          <p:nvPr/>
        </p:nvCxnSpPr>
        <p:spPr>
          <a:xfrm>
            <a:off x="2028825" y="1849437"/>
            <a:ext cx="5810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56" name="Google Shape;256;p3"/>
          <p:cNvSpPr/>
          <p:nvPr/>
        </p:nvSpPr>
        <p:spPr>
          <a:xfrm>
            <a:off x="3333750" y="2673350"/>
            <a:ext cx="569912" cy="428625"/>
          </a:xfrm>
          <a:prstGeom prst="can">
            <a:avLst>
              <a:gd name="adj" fmla="val 4367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"/>
          <p:cNvSpPr/>
          <p:nvPr/>
        </p:nvSpPr>
        <p:spPr>
          <a:xfrm>
            <a:off x="6665912" y="2628900"/>
            <a:ext cx="569912" cy="428625"/>
          </a:xfrm>
          <a:prstGeom prst="can">
            <a:avLst>
              <a:gd name="adj" fmla="val 4367"/>
            </a:avLst>
          </a:prstGeom>
          <a:gradFill>
            <a:gsLst>
              <a:gs pos="0">
                <a:srgbClr val="000099"/>
              </a:gs>
              <a:gs pos="100000">
                <a:srgbClr val="FFFFFF"/>
              </a:gs>
            </a:gsLst>
            <a:lin ang="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"/>
          <p:cNvSpPr txBox="1"/>
          <p:nvPr/>
        </p:nvSpPr>
        <p:spPr>
          <a:xfrm>
            <a:off x="744537" y="3751262"/>
            <a:ext cx="8013700" cy="254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transfer file to/from remote host</a:t>
            </a:r>
            <a:endParaRPr/>
          </a:p>
          <a:p>
            <a:pPr marL="342900" marR="0" lvl="0" indent="-342900" algn="l" rtl="0">
              <a:lnSpc>
                <a:spcPct val="7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client/server model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client:</a:t>
            </a: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side that initiates transfer (either to/from remote)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1" u="none" strike="noStrike" cap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server:</a:t>
            </a: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remote host</a:t>
            </a:r>
            <a:endParaRPr/>
          </a:p>
          <a:p>
            <a:pPr marL="342900" marR="0" lvl="0" indent="-342900" algn="l" rtl="0">
              <a:lnSpc>
                <a:spcPct val="7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ftp: RFC 959</a:t>
            </a:r>
            <a:endParaRPr/>
          </a:p>
          <a:p>
            <a:pPr marL="342900" marR="0" lvl="0" indent="-342900" algn="l" rtl="0">
              <a:lnSpc>
                <a:spcPct val="7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ftp server: port 21and 20</a:t>
            </a:r>
            <a:endParaRPr/>
          </a:p>
        </p:txBody>
      </p:sp>
      <p:cxnSp>
        <p:nvCxnSpPr>
          <p:cNvPr id="259" name="Google Shape;259;p3"/>
          <p:cNvCxnSpPr/>
          <p:nvPr/>
        </p:nvCxnSpPr>
        <p:spPr>
          <a:xfrm>
            <a:off x="4365625" y="1714500"/>
            <a:ext cx="218757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pSp>
        <p:nvGrpSpPr>
          <p:cNvPr id="260" name="Google Shape;260;p3"/>
          <p:cNvGrpSpPr/>
          <p:nvPr/>
        </p:nvGrpSpPr>
        <p:grpSpPr>
          <a:xfrm>
            <a:off x="6008687" y="2327275"/>
            <a:ext cx="476584" cy="749300"/>
            <a:chOff x="4140" y="429"/>
            <a:chExt cx="1426" cy="2396"/>
          </a:xfrm>
        </p:grpSpPr>
        <p:sp>
          <p:nvSpPr>
            <p:cNvPr id="261" name="Google Shape;261;p3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3"/>
            <p:cNvSpPr txBox="1"/>
            <p:nvPr/>
          </p:nvSpPr>
          <p:spPr>
            <a:xfrm>
              <a:off x="4207" y="429"/>
              <a:ext cx="1045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"/>
            <p:cNvSpPr txBox="1"/>
            <p:nvPr/>
          </p:nvSpPr>
          <p:spPr>
            <a:xfrm>
              <a:off x="4211" y="693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" name="Google Shape;266;p3"/>
            <p:cNvGrpSpPr/>
            <p:nvPr/>
          </p:nvGrpSpPr>
          <p:grpSpPr>
            <a:xfrm>
              <a:off x="4748" y="668"/>
              <a:ext cx="594" cy="147"/>
              <a:chOff x="613" y="2568"/>
              <a:chExt cx="741" cy="141"/>
            </a:xfrm>
          </p:grpSpPr>
          <p:sp>
            <p:nvSpPr>
              <p:cNvPr id="267" name="Google Shape;267;p3"/>
              <p:cNvSpPr/>
              <p:nvPr/>
            </p:nvSpPr>
            <p:spPr>
              <a:xfrm>
                <a:off x="613" y="2568"/>
                <a:ext cx="741" cy="14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631" y="2582"/>
                <a:ext cx="693" cy="107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3"/>
            <p:cNvSpPr txBox="1"/>
            <p:nvPr/>
          </p:nvSpPr>
          <p:spPr>
            <a:xfrm>
              <a:off x="4226" y="1018"/>
              <a:ext cx="594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3"/>
            <p:cNvGrpSpPr/>
            <p:nvPr/>
          </p:nvGrpSpPr>
          <p:grpSpPr>
            <a:xfrm>
              <a:off x="4748" y="992"/>
              <a:ext cx="579" cy="137"/>
              <a:chOff x="615" y="2566"/>
              <a:chExt cx="723" cy="142"/>
            </a:xfrm>
          </p:grpSpPr>
          <p:sp>
            <p:nvSpPr>
              <p:cNvPr id="271" name="Google Shape;271;p3"/>
              <p:cNvSpPr/>
              <p:nvPr/>
            </p:nvSpPr>
            <p:spPr>
              <a:xfrm>
                <a:off x="615" y="2566"/>
                <a:ext cx="723" cy="142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33" y="2582"/>
                <a:ext cx="688" cy="111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3"/>
            <p:cNvSpPr txBox="1"/>
            <p:nvPr/>
          </p:nvSpPr>
          <p:spPr>
            <a:xfrm>
              <a:off x="4216" y="1358"/>
              <a:ext cx="599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"/>
            <p:cNvSpPr txBox="1"/>
            <p:nvPr/>
          </p:nvSpPr>
          <p:spPr>
            <a:xfrm>
              <a:off x="4230" y="1657"/>
              <a:ext cx="594" cy="46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" name="Google Shape;275;p3"/>
            <p:cNvGrpSpPr/>
            <p:nvPr/>
          </p:nvGrpSpPr>
          <p:grpSpPr>
            <a:xfrm>
              <a:off x="4733" y="1627"/>
              <a:ext cx="584" cy="152"/>
              <a:chOff x="612" y="2568"/>
              <a:chExt cx="728" cy="140"/>
            </a:xfrm>
          </p:grpSpPr>
          <p:sp>
            <p:nvSpPr>
              <p:cNvPr id="276" name="Google Shape;276;p3"/>
              <p:cNvSpPr/>
              <p:nvPr/>
            </p:nvSpPr>
            <p:spPr>
              <a:xfrm>
                <a:off x="612" y="2568"/>
                <a:ext cx="728" cy="140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630" y="2582"/>
                <a:ext cx="692" cy="107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3"/>
            <p:cNvGrpSpPr/>
            <p:nvPr/>
          </p:nvGrpSpPr>
          <p:grpSpPr>
            <a:xfrm>
              <a:off x="4738" y="1328"/>
              <a:ext cx="584" cy="137"/>
              <a:chOff x="613" y="2569"/>
              <a:chExt cx="728" cy="137"/>
            </a:xfrm>
          </p:grpSpPr>
          <p:sp>
            <p:nvSpPr>
              <p:cNvPr id="280" name="Google Shape;280;p3"/>
              <p:cNvSpPr/>
              <p:nvPr/>
            </p:nvSpPr>
            <p:spPr>
              <a:xfrm>
                <a:off x="613" y="2569"/>
                <a:ext cx="728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631" y="2584"/>
                <a:ext cx="692" cy="107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" name="Google Shape;282;p3"/>
            <p:cNvSpPr txBox="1"/>
            <p:nvPr/>
          </p:nvSpPr>
          <p:spPr>
            <a:xfrm>
              <a:off x="5252" y="429"/>
              <a:ext cx="67" cy="2289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5518" y="2612"/>
              <a:ext cx="48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4140" y="2678"/>
              <a:ext cx="1197" cy="147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4207" y="2713"/>
              <a:ext cx="1069" cy="81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306" y="2383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4487" y="2383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4663" y="2383"/>
              <a:ext cx="157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"/>
            <p:cNvSpPr txBox="1"/>
            <p:nvPr/>
          </p:nvSpPr>
          <p:spPr>
            <a:xfrm>
              <a:off x="5062" y="1835"/>
              <a:ext cx="86" cy="761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3"/>
          <p:cNvGrpSpPr/>
          <p:nvPr/>
        </p:nvGrpSpPr>
        <p:grpSpPr>
          <a:xfrm>
            <a:off x="2220912" y="2352675"/>
            <a:ext cx="830262" cy="849312"/>
            <a:chOff x="-44" y="1473"/>
            <a:chExt cx="981" cy="1105"/>
          </a:xfrm>
        </p:grpSpPr>
        <p:pic>
          <p:nvPicPr>
            <p:cNvPr id="294" name="Google Shape;294;p3" descr="desktop_computer_stylized_medium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"/>
          <p:cNvSpPr txBox="1">
            <a:spLocks noGrp="1"/>
          </p:cNvSpPr>
          <p:nvPr>
            <p:ph type="title"/>
          </p:nvPr>
        </p:nvSpPr>
        <p:spPr>
          <a:xfrm>
            <a:off x="336550" y="163512"/>
            <a:ext cx="7772400" cy="92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lang="en-US" sz="36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FTP: separate control, data connections</a:t>
            </a:r>
            <a:endParaRPr/>
          </a:p>
        </p:txBody>
      </p:sp>
      <p:sp>
        <p:nvSpPr>
          <p:cNvPr id="302" name="Google Shape;302;p4"/>
          <p:cNvSpPr txBox="1">
            <a:spLocks noGrp="1"/>
          </p:cNvSpPr>
          <p:nvPr>
            <p:ph type="body" idx="1"/>
          </p:nvPr>
        </p:nvSpPr>
        <p:spPr>
          <a:xfrm>
            <a:off x="400050" y="1504950"/>
            <a:ext cx="4318000" cy="496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FTP client contacts FTP server at port 21, using TCP 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 authorizes over control connection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 browses remote directory, sends commands over control connection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when server receives file transfer command, </a:t>
            </a:r>
            <a:r>
              <a:rPr lang="en-US" sz="24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server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opens </a:t>
            </a:r>
            <a:r>
              <a:rPr lang="en-US" sz="2400" b="0" i="1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lang="en-US" sz="2400" b="0" i="1" u="none" baseline="300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nd</a:t>
            </a:r>
            <a:r>
              <a:rPr lang="en-US" sz="2400" b="0" i="1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TCP data connection (for file) </a:t>
            </a:r>
            <a:r>
              <a:rPr lang="en-US" sz="2400" b="0" i="1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 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after transferring one file, server closes data connection</a:t>
            </a:r>
            <a:endParaRPr/>
          </a:p>
        </p:txBody>
      </p:sp>
      <p:sp>
        <p:nvSpPr>
          <p:cNvPr id="303" name="Google Shape;303;p4"/>
          <p:cNvSpPr txBox="1"/>
          <p:nvPr/>
        </p:nvSpPr>
        <p:spPr>
          <a:xfrm>
            <a:off x="4838700" y="2533650"/>
            <a:ext cx="717550" cy="58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FTP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/>
          </a:p>
        </p:txBody>
      </p:sp>
      <p:sp>
        <p:nvSpPr>
          <p:cNvPr id="304" name="Google Shape;304;p4"/>
          <p:cNvSpPr txBox="1"/>
          <p:nvPr/>
        </p:nvSpPr>
        <p:spPr>
          <a:xfrm>
            <a:off x="7856537" y="2543175"/>
            <a:ext cx="819150" cy="58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FTP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/>
          </a:p>
        </p:txBody>
      </p:sp>
      <p:cxnSp>
        <p:nvCxnSpPr>
          <p:cNvPr id="305" name="Google Shape;305;p4"/>
          <p:cNvCxnSpPr/>
          <p:nvPr/>
        </p:nvCxnSpPr>
        <p:spPr>
          <a:xfrm>
            <a:off x="5508625" y="2011362"/>
            <a:ext cx="2562225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06" name="Google Shape;306;p4"/>
          <p:cNvCxnSpPr/>
          <p:nvPr/>
        </p:nvCxnSpPr>
        <p:spPr>
          <a:xfrm rot="10800000" flipH="1">
            <a:off x="5527675" y="2325687"/>
            <a:ext cx="2562225" cy="952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07" name="Google Shape;307;p4"/>
          <p:cNvSpPr txBox="1"/>
          <p:nvPr/>
        </p:nvSpPr>
        <p:spPr>
          <a:xfrm>
            <a:off x="5580062" y="1473200"/>
            <a:ext cx="2409825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TCP control connection,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server port 21</a:t>
            </a:r>
            <a:endParaRPr/>
          </a:p>
        </p:txBody>
      </p:sp>
      <p:sp>
        <p:nvSpPr>
          <p:cNvPr id="308" name="Google Shape;308;p4"/>
          <p:cNvSpPr txBox="1"/>
          <p:nvPr/>
        </p:nvSpPr>
        <p:spPr>
          <a:xfrm>
            <a:off x="5554662" y="2400300"/>
            <a:ext cx="2409825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TCP data connection,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server port 20</a:t>
            </a:r>
            <a:endParaRPr/>
          </a:p>
        </p:txBody>
      </p:sp>
      <p:sp>
        <p:nvSpPr>
          <p:cNvPr id="309" name="Google Shape;309;p4"/>
          <p:cNvSpPr txBox="1"/>
          <p:nvPr/>
        </p:nvSpPr>
        <p:spPr>
          <a:xfrm>
            <a:off x="4703762" y="3425825"/>
            <a:ext cx="4067175" cy="2938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server opens another TCP data connection to transfer another file</a:t>
            </a:r>
            <a:endParaRPr/>
          </a:p>
          <a:p>
            <a:pPr marL="342900" marR="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❖"/>
            </a:pPr>
            <a:endParaRPr sz="2400" b="0" i="0" u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0" name="Google Shape;310;p4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712" y="868362"/>
            <a:ext cx="7769225" cy="173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4"/>
          <p:cNvCxnSpPr/>
          <p:nvPr/>
        </p:nvCxnSpPr>
        <p:spPr>
          <a:xfrm>
            <a:off x="5726112" y="2697162"/>
            <a:ext cx="390525" cy="15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312" name="Google Shape;312;p4"/>
          <p:cNvGrpSpPr/>
          <p:nvPr/>
        </p:nvGrpSpPr>
        <p:grpSpPr>
          <a:xfrm>
            <a:off x="8129587" y="1674812"/>
            <a:ext cx="444500" cy="728662"/>
            <a:chOff x="4140" y="429"/>
            <a:chExt cx="1425" cy="2396"/>
          </a:xfrm>
        </p:grpSpPr>
        <p:sp>
          <p:nvSpPr>
            <p:cNvPr id="313" name="Google Shape;313;p4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4"/>
            <p:cNvSpPr txBox="1"/>
            <p:nvPr/>
          </p:nvSpPr>
          <p:spPr>
            <a:xfrm>
              <a:off x="4206" y="429"/>
              <a:ext cx="1048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 txBox="1"/>
            <p:nvPr/>
          </p:nvSpPr>
          <p:spPr>
            <a:xfrm>
              <a:off x="4211" y="695"/>
              <a:ext cx="595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" name="Google Shape;318;p4"/>
            <p:cNvGrpSpPr/>
            <p:nvPr/>
          </p:nvGrpSpPr>
          <p:grpSpPr>
            <a:xfrm>
              <a:off x="4751" y="669"/>
              <a:ext cx="580" cy="146"/>
              <a:chOff x="616" y="2569"/>
              <a:chExt cx="724" cy="140"/>
            </a:xfrm>
          </p:grpSpPr>
          <p:sp>
            <p:nvSpPr>
              <p:cNvPr id="319" name="Google Shape;319;p4"/>
              <p:cNvSpPr/>
              <p:nvPr/>
            </p:nvSpPr>
            <p:spPr>
              <a:xfrm>
                <a:off x="616" y="2569"/>
                <a:ext cx="724" cy="140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4"/>
              <p:cNvSpPr/>
              <p:nvPr/>
            </p:nvSpPr>
            <p:spPr>
              <a:xfrm>
                <a:off x="635" y="2584"/>
                <a:ext cx="686" cy="11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1" name="Google Shape;321;p4"/>
            <p:cNvSpPr txBox="1"/>
            <p:nvPr/>
          </p:nvSpPr>
          <p:spPr>
            <a:xfrm>
              <a:off x="4227" y="1019"/>
              <a:ext cx="595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" name="Google Shape;322;p4"/>
            <p:cNvGrpSpPr/>
            <p:nvPr/>
          </p:nvGrpSpPr>
          <p:grpSpPr>
            <a:xfrm>
              <a:off x="4745" y="993"/>
              <a:ext cx="580" cy="136"/>
              <a:chOff x="612" y="2567"/>
              <a:chExt cx="724" cy="141"/>
            </a:xfrm>
          </p:grpSpPr>
          <p:sp>
            <p:nvSpPr>
              <p:cNvPr id="323" name="Google Shape;323;p4"/>
              <p:cNvSpPr/>
              <p:nvPr/>
            </p:nvSpPr>
            <p:spPr>
              <a:xfrm>
                <a:off x="612" y="2567"/>
                <a:ext cx="724" cy="14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4"/>
              <p:cNvSpPr/>
              <p:nvPr/>
            </p:nvSpPr>
            <p:spPr>
              <a:xfrm>
                <a:off x="631" y="2583"/>
                <a:ext cx="686" cy="108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" name="Google Shape;325;p4"/>
            <p:cNvSpPr txBox="1"/>
            <p:nvPr/>
          </p:nvSpPr>
          <p:spPr>
            <a:xfrm>
              <a:off x="4216" y="1358"/>
              <a:ext cx="595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"/>
            <p:cNvSpPr txBox="1"/>
            <p:nvPr/>
          </p:nvSpPr>
          <p:spPr>
            <a:xfrm>
              <a:off x="4227" y="1656"/>
              <a:ext cx="595" cy="47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" name="Google Shape;327;p4"/>
            <p:cNvGrpSpPr/>
            <p:nvPr/>
          </p:nvGrpSpPr>
          <p:grpSpPr>
            <a:xfrm>
              <a:off x="4736" y="1629"/>
              <a:ext cx="580" cy="147"/>
              <a:chOff x="615" y="2570"/>
              <a:chExt cx="723" cy="135"/>
            </a:xfrm>
          </p:grpSpPr>
          <p:sp>
            <p:nvSpPr>
              <p:cNvPr id="328" name="Google Shape;328;p4"/>
              <p:cNvSpPr/>
              <p:nvPr/>
            </p:nvSpPr>
            <p:spPr>
              <a:xfrm>
                <a:off x="615" y="2570"/>
                <a:ext cx="723" cy="135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4"/>
              <p:cNvSpPr/>
              <p:nvPr/>
            </p:nvSpPr>
            <p:spPr>
              <a:xfrm>
                <a:off x="634" y="2585"/>
                <a:ext cx="685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0" name="Google Shape;330;p4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" name="Google Shape;331;p4"/>
            <p:cNvGrpSpPr/>
            <p:nvPr/>
          </p:nvGrpSpPr>
          <p:grpSpPr>
            <a:xfrm>
              <a:off x="4741" y="1327"/>
              <a:ext cx="580" cy="141"/>
              <a:chOff x="616" y="2568"/>
              <a:chExt cx="723" cy="141"/>
            </a:xfrm>
          </p:grpSpPr>
          <p:sp>
            <p:nvSpPr>
              <p:cNvPr id="332" name="Google Shape;332;p4"/>
              <p:cNvSpPr/>
              <p:nvPr/>
            </p:nvSpPr>
            <p:spPr>
              <a:xfrm>
                <a:off x="616" y="2568"/>
                <a:ext cx="723" cy="14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4"/>
              <p:cNvSpPr/>
              <p:nvPr/>
            </p:nvSpPr>
            <p:spPr>
              <a:xfrm>
                <a:off x="635" y="2584"/>
                <a:ext cx="685" cy="11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4" name="Google Shape;334;p4"/>
            <p:cNvSpPr txBox="1"/>
            <p:nvPr/>
          </p:nvSpPr>
          <p:spPr>
            <a:xfrm>
              <a:off x="5249" y="429"/>
              <a:ext cx="66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519" y="2611"/>
              <a:ext cx="46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4140" y="2679"/>
              <a:ext cx="1201" cy="146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4206" y="2710"/>
              <a:ext cx="1069" cy="84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4308" y="2381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4486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4664" y="2381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"/>
            <p:cNvSpPr txBox="1"/>
            <p:nvPr/>
          </p:nvSpPr>
          <p:spPr>
            <a:xfrm>
              <a:off x="5061" y="1833"/>
              <a:ext cx="87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4"/>
          <p:cNvGrpSpPr/>
          <p:nvPr/>
        </p:nvGrpSpPr>
        <p:grpSpPr>
          <a:xfrm>
            <a:off x="4656137" y="1665287"/>
            <a:ext cx="873125" cy="893762"/>
            <a:chOff x="-44" y="1473"/>
            <a:chExt cx="981" cy="1105"/>
          </a:xfrm>
        </p:grpSpPr>
        <p:pic>
          <p:nvPicPr>
            <p:cNvPr id="346" name="Google Shape;346;p4" descr="desktop_computer_stylized_medium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"/>
          <p:cNvSpPr txBox="1">
            <a:spLocks noGrp="1"/>
          </p:cNvSpPr>
          <p:nvPr>
            <p:ph type="title" idx="4294967295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lang="en-US"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Application Layer: outline</a:t>
            </a:r>
            <a:endParaRPr/>
          </a:p>
        </p:txBody>
      </p:sp>
      <p:sp>
        <p:nvSpPr>
          <p:cNvPr id="354" name="Google Shape;354;p6"/>
          <p:cNvSpPr txBox="1">
            <a:spLocks noGrp="1"/>
          </p:cNvSpPr>
          <p:nvPr>
            <p:ph type="body" idx="4294967295"/>
          </p:nvPr>
        </p:nvSpPr>
        <p:spPr>
          <a:xfrm>
            <a:off x="533400" y="1611312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 principles of network applications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 architectures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 requirements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 Web and HTTP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 FTP 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4 electronic mail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SMTP, POP3, IMAP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 DNS</a:t>
            </a:r>
            <a:endParaRPr/>
          </a:p>
          <a:p>
            <a:pPr marL="342900" marR="0" lvl="0" indent="-22733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endParaRPr sz="28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5" name="Google Shape;355;p6"/>
          <p:cNvSpPr txBox="1">
            <a:spLocks noGrp="1"/>
          </p:cNvSpPr>
          <p:nvPr>
            <p:ph type="body" idx="4294967295"/>
          </p:nvPr>
        </p:nvSpPr>
        <p:spPr>
          <a:xfrm>
            <a:off x="4673600" y="1600200"/>
            <a:ext cx="3876675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 socket programming with UDP and TCP</a:t>
            </a:r>
            <a:endParaRPr/>
          </a:p>
        </p:txBody>
      </p:sp>
      <p:pic>
        <p:nvPicPr>
          <p:cNvPr id="356" name="Google Shape;356;p6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662" y="1025525"/>
            <a:ext cx="4113212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"/>
          <p:cNvSpPr txBox="1">
            <a:spLocks noGrp="1"/>
          </p:cNvSpPr>
          <p:nvPr>
            <p:ph type="title"/>
          </p:nvPr>
        </p:nvSpPr>
        <p:spPr>
          <a:xfrm>
            <a:off x="466725" y="301625"/>
            <a:ext cx="7772400" cy="86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Electronic mail</a:t>
            </a:r>
            <a:endParaRPr/>
          </a:p>
        </p:txBody>
      </p:sp>
      <p:sp>
        <p:nvSpPr>
          <p:cNvPr id="363" name="Google Shape;363;p7"/>
          <p:cNvSpPr txBox="1">
            <a:spLocks noGrp="1"/>
          </p:cNvSpPr>
          <p:nvPr>
            <p:ph type="body" idx="1"/>
          </p:nvPr>
        </p:nvSpPr>
        <p:spPr>
          <a:xfrm>
            <a:off x="558800" y="1263650"/>
            <a:ext cx="3933825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</a:pPr>
            <a:r>
              <a:rPr lang="en-US" sz="18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Three major components:</a:t>
            </a:r>
            <a:r>
              <a:rPr lang="en-US" sz="1800" b="0" i="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user agents 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mail servers 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simple mail transfer protocol: SMTP(Simple Mail Transfer Protocol)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1710"/>
              </a:spcBef>
              <a:spcAft>
                <a:spcPts val="0"/>
              </a:spcAft>
              <a:buSzPts val="1170"/>
              <a:buNone/>
            </a:pPr>
            <a:r>
              <a:rPr lang="en-US" sz="18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User Agent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a.k.a. “mail reader”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composing, editing, reading mail messages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e.g., Outlook, Thunderbird, iPhone mail client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Char char="❖"/>
            </a:pPr>
            <a:r>
              <a:rPr lang="en-US" sz="1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outgoing, incoming messages stored on server</a:t>
            </a:r>
            <a:endParaRPr/>
          </a:p>
        </p:txBody>
      </p:sp>
      <p:sp>
        <p:nvSpPr>
          <p:cNvPr id="364" name="Google Shape;364;p7"/>
          <p:cNvSpPr txBox="1"/>
          <p:nvPr/>
        </p:nvSpPr>
        <p:spPr>
          <a:xfrm>
            <a:off x="6962775" y="628650"/>
            <a:ext cx="1828800" cy="9810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7"/>
          <p:cNvGrpSpPr/>
          <p:nvPr/>
        </p:nvGrpSpPr>
        <p:grpSpPr>
          <a:xfrm>
            <a:off x="7059612" y="576262"/>
            <a:ext cx="1736725" cy="955675"/>
            <a:chOff x="4458" y="3335"/>
            <a:chExt cx="1094" cy="602"/>
          </a:xfrm>
        </p:grpSpPr>
        <p:sp>
          <p:nvSpPr>
            <p:cNvPr id="366" name="Google Shape;366;p7"/>
            <p:cNvSpPr txBox="1"/>
            <p:nvPr/>
          </p:nvSpPr>
          <p:spPr>
            <a:xfrm>
              <a:off x="4680" y="3725"/>
              <a:ext cx="841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 mailbox</a:t>
              </a:r>
              <a:endParaRPr/>
            </a:p>
          </p:txBody>
        </p:sp>
        <p:grpSp>
          <p:nvGrpSpPr>
            <p:cNvPr id="367" name="Google Shape;367;p7"/>
            <p:cNvGrpSpPr/>
            <p:nvPr/>
          </p:nvGrpSpPr>
          <p:grpSpPr>
            <a:xfrm>
              <a:off x="4458" y="3408"/>
              <a:ext cx="450" cy="120"/>
              <a:chOff x="4314" y="3444"/>
              <a:chExt cx="450" cy="120"/>
            </a:xfrm>
          </p:grpSpPr>
          <p:sp>
            <p:nvSpPr>
              <p:cNvPr id="368" name="Google Shape;368;p7"/>
              <p:cNvSpPr txBox="1"/>
              <p:nvPr/>
            </p:nvSpPr>
            <p:spPr>
              <a:xfrm>
                <a:off x="4314" y="3444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9" name="Google Shape;369;p7"/>
              <p:cNvCxnSpPr/>
              <p:nvPr/>
            </p:nvCxnSpPr>
            <p:spPr>
              <a:xfrm>
                <a:off x="4363" y="3472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370" name="Google Shape;370;p7"/>
              <p:cNvCxnSpPr/>
              <p:nvPr/>
            </p:nvCxnSpPr>
            <p:spPr>
              <a:xfrm flipH="1">
                <a:off x="4472" y="3471"/>
                <a:ext cx="6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371" name="Google Shape;371;p7"/>
              <p:cNvCxnSpPr/>
              <p:nvPr/>
            </p:nvCxnSpPr>
            <p:spPr>
              <a:xfrm>
                <a:off x="4527" y="347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372" name="Google Shape;372;p7"/>
              <p:cNvCxnSpPr/>
              <p:nvPr/>
            </p:nvCxnSpPr>
            <p:spPr>
              <a:xfrm>
                <a:off x="4584" y="3471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373" name="Google Shape;373;p7"/>
              <p:cNvCxnSpPr/>
              <p:nvPr/>
            </p:nvCxnSpPr>
            <p:spPr>
              <a:xfrm>
                <a:off x="4645" y="3471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374" name="Google Shape;374;p7"/>
              <p:cNvCxnSpPr/>
              <p:nvPr/>
            </p:nvCxnSpPr>
            <p:spPr>
              <a:xfrm>
                <a:off x="4701" y="3471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375" name="Google Shape;375;p7"/>
              <p:cNvCxnSpPr/>
              <p:nvPr/>
            </p:nvCxnSpPr>
            <p:spPr>
              <a:xfrm>
                <a:off x="4416" y="3472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sp>
          <p:nvSpPr>
            <p:cNvPr id="376" name="Google Shape;376;p7"/>
            <p:cNvSpPr txBox="1"/>
            <p:nvPr/>
          </p:nvSpPr>
          <p:spPr>
            <a:xfrm>
              <a:off x="4472" y="3779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7"/>
            <p:cNvSpPr txBox="1"/>
            <p:nvPr/>
          </p:nvSpPr>
          <p:spPr>
            <a:xfrm>
              <a:off x="4526" y="3335"/>
              <a:ext cx="102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outgoing </a:t>
              </a:r>
              <a:endParaRPr/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message queue</a:t>
              </a:r>
              <a:endParaRPr/>
            </a:p>
          </p:txBody>
        </p:sp>
      </p:grpSp>
      <p:pic>
        <p:nvPicPr>
          <p:cNvPr id="378" name="Google Shape;378;p7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4512" y="947737"/>
            <a:ext cx="3194050" cy="19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9" name="Google Shape;379;p7"/>
          <p:cNvGrpSpPr/>
          <p:nvPr/>
        </p:nvGrpSpPr>
        <p:grpSpPr>
          <a:xfrm>
            <a:off x="4662487" y="1406525"/>
            <a:ext cx="4318000" cy="5118100"/>
            <a:chOff x="2937" y="886"/>
            <a:chExt cx="2720" cy="3224"/>
          </a:xfrm>
        </p:grpSpPr>
        <p:grpSp>
          <p:nvGrpSpPr>
            <p:cNvPr id="380" name="Google Shape;380;p7"/>
            <p:cNvGrpSpPr/>
            <p:nvPr/>
          </p:nvGrpSpPr>
          <p:grpSpPr>
            <a:xfrm>
              <a:off x="4346" y="1756"/>
              <a:ext cx="301" cy="451"/>
              <a:chOff x="4140" y="429"/>
              <a:chExt cx="1425" cy="2396"/>
            </a:xfrm>
          </p:grpSpPr>
          <p:sp>
            <p:nvSpPr>
              <p:cNvPr id="381" name="Google Shape;381;p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7"/>
              <p:cNvSpPr txBox="1"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7"/>
              <p:cNvSpPr txBox="1"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6" name="Google Shape;386;p7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387" name="Google Shape;387;p7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7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" name="Google Shape;389;p7"/>
              <p:cNvSpPr txBox="1"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0" name="Google Shape;390;p7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391" name="Google Shape;391;p7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7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3" name="Google Shape;393;p7"/>
              <p:cNvSpPr txBox="1"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7"/>
              <p:cNvSpPr txBox="1"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5" name="Google Shape;395;p7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396" name="Google Shape;396;p7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7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8" name="Google Shape;398;p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9" name="Google Shape;399;p7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00" name="Google Shape;400;p7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7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" name="Google Shape;402;p7"/>
              <p:cNvSpPr txBox="1"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7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7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7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name="adj" fmla="val 108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7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7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7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7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7"/>
              <p:cNvSpPr txBox="1"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7"/>
            <p:cNvGrpSpPr/>
            <p:nvPr/>
          </p:nvGrpSpPr>
          <p:grpSpPr>
            <a:xfrm>
              <a:off x="3091" y="2634"/>
              <a:ext cx="301" cy="451"/>
              <a:chOff x="4140" y="429"/>
              <a:chExt cx="1425" cy="2396"/>
            </a:xfrm>
          </p:grpSpPr>
          <p:sp>
            <p:nvSpPr>
              <p:cNvPr id="414" name="Google Shape;414;p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7"/>
              <p:cNvSpPr txBox="1"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7"/>
              <p:cNvSpPr txBox="1"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19" name="Google Shape;419;p7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20" name="Google Shape;420;p7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" name="Google Shape;421;p7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2" name="Google Shape;422;p7"/>
              <p:cNvSpPr txBox="1"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3" name="Google Shape;423;p7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24" name="Google Shape;424;p7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5" name="Google Shape;425;p7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6" name="Google Shape;426;p7"/>
              <p:cNvSpPr txBox="1"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7"/>
              <p:cNvSpPr txBox="1"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8" name="Google Shape;428;p7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29" name="Google Shape;429;p7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7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1" name="Google Shape;431;p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32" name="Google Shape;432;p7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33" name="Google Shape;433;p7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4" name="Google Shape;434;p7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5" name="Google Shape;435;p7"/>
              <p:cNvSpPr txBox="1"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7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7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7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name="adj" fmla="val 108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7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7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7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7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7"/>
              <p:cNvSpPr txBox="1"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p7"/>
            <p:cNvGrpSpPr/>
            <p:nvPr/>
          </p:nvGrpSpPr>
          <p:grpSpPr>
            <a:xfrm>
              <a:off x="3105" y="1159"/>
              <a:ext cx="301" cy="451"/>
              <a:chOff x="4140" y="429"/>
              <a:chExt cx="1425" cy="2396"/>
            </a:xfrm>
          </p:grpSpPr>
          <p:sp>
            <p:nvSpPr>
              <p:cNvPr id="447" name="Google Shape;447;p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7"/>
              <p:cNvSpPr txBox="1"/>
              <p:nvPr/>
            </p:nvSpPr>
            <p:spPr>
              <a:xfrm>
                <a:off x="4206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7"/>
              <p:cNvSpPr txBox="1"/>
              <p:nvPr/>
            </p:nvSpPr>
            <p:spPr>
              <a:xfrm>
                <a:off x="4211" y="695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2" name="Google Shape;452;p7"/>
              <p:cNvGrpSpPr/>
              <p:nvPr/>
            </p:nvGrpSpPr>
            <p:grpSpPr>
              <a:xfrm>
                <a:off x="4751" y="668"/>
                <a:ext cx="578" cy="144"/>
                <a:chOff x="616" y="2568"/>
                <a:chExt cx="721" cy="138"/>
              </a:xfrm>
            </p:grpSpPr>
            <p:sp>
              <p:nvSpPr>
                <p:cNvPr id="453" name="Google Shape;453;p7"/>
                <p:cNvSpPr/>
                <p:nvPr/>
              </p:nvSpPr>
              <p:spPr>
                <a:xfrm>
                  <a:off x="616" y="2568"/>
                  <a:ext cx="721" cy="138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4" name="Google Shape;454;p7"/>
                <p:cNvSpPr/>
                <p:nvPr/>
              </p:nvSpPr>
              <p:spPr>
                <a:xfrm>
                  <a:off x="634" y="2583"/>
                  <a:ext cx="685" cy="107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5" name="Google Shape;455;p7"/>
              <p:cNvSpPr txBox="1"/>
              <p:nvPr/>
            </p:nvSpPr>
            <p:spPr>
              <a:xfrm>
                <a:off x="4225" y="1019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6" name="Google Shape;456;p7"/>
              <p:cNvGrpSpPr/>
              <p:nvPr/>
            </p:nvGrpSpPr>
            <p:grpSpPr>
              <a:xfrm>
                <a:off x="4746" y="992"/>
                <a:ext cx="583" cy="138"/>
                <a:chOff x="613" y="2566"/>
                <a:chExt cx="727" cy="143"/>
              </a:xfrm>
            </p:grpSpPr>
            <p:sp>
              <p:nvSpPr>
                <p:cNvPr id="457" name="Google Shape;457;p7"/>
                <p:cNvSpPr/>
                <p:nvPr/>
              </p:nvSpPr>
              <p:spPr>
                <a:xfrm>
                  <a:off x="613" y="2566"/>
                  <a:ext cx="727" cy="143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Google Shape;458;p7"/>
                <p:cNvSpPr/>
                <p:nvPr/>
              </p:nvSpPr>
              <p:spPr>
                <a:xfrm>
                  <a:off x="630" y="2583"/>
                  <a:ext cx="691" cy="110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9" name="Google Shape;459;p7"/>
              <p:cNvSpPr txBox="1"/>
              <p:nvPr/>
            </p:nvSpPr>
            <p:spPr>
              <a:xfrm>
                <a:off x="4216" y="1359"/>
                <a:ext cx="597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7"/>
              <p:cNvSpPr txBox="1"/>
              <p:nvPr/>
            </p:nvSpPr>
            <p:spPr>
              <a:xfrm>
                <a:off x="4230" y="1656"/>
                <a:ext cx="592" cy="48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1" name="Google Shape;461;p7"/>
              <p:cNvGrpSpPr/>
              <p:nvPr/>
            </p:nvGrpSpPr>
            <p:grpSpPr>
              <a:xfrm>
                <a:off x="4737" y="1629"/>
                <a:ext cx="582" cy="149"/>
                <a:chOff x="616" y="2570"/>
                <a:chExt cx="725" cy="137"/>
              </a:xfrm>
            </p:grpSpPr>
            <p:sp>
              <p:nvSpPr>
                <p:cNvPr id="462" name="Google Shape;462;p7"/>
                <p:cNvSpPr/>
                <p:nvPr/>
              </p:nvSpPr>
              <p:spPr>
                <a:xfrm>
                  <a:off x="616" y="2570"/>
                  <a:ext cx="725" cy="137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" name="Google Shape;463;p7"/>
                <p:cNvSpPr/>
                <p:nvPr/>
              </p:nvSpPr>
              <p:spPr>
                <a:xfrm>
                  <a:off x="634" y="2585"/>
                  <a:ext cx="690" cy="108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4" name="Google Shape;464;p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5" name="Google Shape;465;p7"/>
              <p:cNvGrpSpPr/>
              <p:nvPr/>
            </p:nvGrpSpPr>
            <p:grpSpPr>
              <a:xfrm>
                <a:off x="4751" y="1327"/>
                <a:ext cx="564" cy="138"/>
                <a:chOff x="629" y="2568"/>
                <a:chExt cx="702" cy="138"/>
              </a:xfrm>
            </p:grpSpPr>
            <p:sp>
              <p:nvSpPr>
                <p:cNvPr id="466" name="Google Shape;466;p7"/>
                <p:cNvSpPr/>
                <p:nvPr/>
              </p:nvSpPr>
              <p:spPr>
                <a:xfrm>
                  <a:off x="629" y="2568"/>
                  <a:ext cx="702" cy="138"/>
                </a:xfrm>
                <a:prstGeom prst="roundRect">
                  <a:avLst>
                    <a:gd name="adj" fmla="val 108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" name="Google Shape;467;p7"/>
                <p:cNvSpPr/>
                <p:nvPr/>
              </p:nvSpPr>
              <p:spPr>
                <a:xfrm>
                  <a:off x="634" y="2584"/>
                  <a:ext cx="672" cy="106"/>
                </a:xfrm>
                <a:prstGeom prst="roundRect">
                  <a:avLst>
                    <a:gd name="adj" fmla="val 108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68" name="Google Shape;468;p7"/>
              <p:cNvSpPr txBox="1"/>
              <p:nvPr/>
            </p:nvSpPr>
            <p:spPr>
              <a:xfrm>
                <a:off x="5248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7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7"/>
              <p:cNvSpPr/>
              <p:nvPr/>
            </p:nvSpPr>
            <p:spPr>
              <a:xfrm>
                <a:off x="5518" y="2612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7"/>
              <p:cNvSpPr/>
              <p:nvPr/>
            </p:nvSpPr>
            <p:spPr>
              <a:xfrm>
                <a:off x="4140" y="2676"/>
                <a:ext cx="1198" cy="149"/>
              </a:xfrm>
              <a:prstGeom prst="roundRect">
                <a:avLst>
                  <a:gd name="adj" fmla="val 108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7"/>
              <p:cNvSpPr/>
              <p:nvPr/>
            </p:nvSpPr>
            <p:spPr>
              <a:xfrm>
                <a:off x="4206" y="2713"/>
                <a:ext cx="1070" cy="8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7"/>
              <p:cNvSpPr/>
              <p:nvPr/>
            </p:nvSpPr>
            <p:spPr>
              <a:xfrm>
                <a:off x="4306" y="2384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7"/>
              <p:cNvSpPr/>
              <p:nvPr/>
            </p:nvSpPr>
            <p:spPr>
              <a:xfrm>
                <a:off x="4486" y="2384"/>
                <a:ext cx="161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7"/>
              <p:cNvSpPr/>
              <p:nvPr/>
            </p:nvSpPr>
            <p:spPr>
              <a:xfrm>
                <a:off x="4661" y="2379"/>
                <a:ext cx="161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7"/>
              <p:cNvSpPr txBox="1"/>
              <p:nvPr/>
            </p:nvSpPr>
            <p:spPr>
              <a:xfrm>
                <a:off x="5063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79" name="Google Shape;479;p7"/>
            <p:cNvCxnSpPr/>
            <p:nvPr/>
          </p:nvCxnSpPr>
          <p:spPr>
            <a:xfrm>
              <a:off x="3734" y="1642"/>
              <a:ext cx="708" cy="498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grpSp>
          <p:nvGrpSpPr>
            <p:cNvPr id="480" name="Google Shape;480;p7"/>
            <p:cNvGrpSpPr/>
            <p:nvPr/>
          </p:nvGrpSpPr>
          <p:grpSpPr>
            <a:xfrm>
              <a:off x="4466" y="1881"/>
              <a:ext cx="510" cy="661"/>
              <a:chOff x="4296" y="2627"/>
              <a:chExt cx="510" cy="661"/>
            </a:xfrm>
          </p:grpSpPr>
          <p:sp>
            <p:nvSpPr>
              <p:cNvPr id="481" name="Google Shape;481;p7"/>
              <p:cNvSpPr txBox="1"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7"/>
              <p:cNvSpPr txBox="1"/>
              <p:nvPr/>
            </p:nvSpPr>
            <p:spPr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mail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server</a:t>
                </a:r>
                <a:endParaRPr/>
              </a:p>
            </p:txBody>
          </p:sp>
          <p:sp>
            <p:nvSpPr>
              <p:cNvPr id="483" name="Google Shape;483;p7"/>
              <p:cNvSpPr txBox="1"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4" name="Google Shape;484;p7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7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7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7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7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7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7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491" name="Google Shape;491;p7"/>
              <p:cNvSpPr txBox="1"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7"/>
              <p:cNvSpPr txBox="1"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7"/>
              <p:cNvSpPr txBox="1"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7"/>
              <p:cNvSpPr txBox="1"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7"/>
              <p:cNvSpPr txBox="1"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7"/>
            <p:cNvGrpSpPr/>
            <p:nvPr/>
          </p:nvGrpSpPr>
          <p:grpSpPr>
            <a:xfrm>
              <a:off x="3206" y="2763"/>
              <a:ext cx="510" cy="661"/>
              <a:chOff x="4296" y="2627"/>
              <a:chExt cx="510" cy="661"/>
            </a:xfrm>
          </p:grpSpPr>
          <p:sp>
            <p:nvSpPr>
              <p:cNvPr id="497" name="Google Shape;497;p7"/>
              <p:cNvSpPr txBox="1"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7"/>
              <p:cNvSpPr txBox="1"/>
              <p:nvPr/>
            </p:nvSpPr>
            <p:spPr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mail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server</a:t>
                </a:r>
                <a:endParaRPr/>
              </a:p>
            </p:txBody>
          </p:sp>
          <p:sp>
            <p:nvSpPr>
              <p:cNvPr id="499" name="Google Shape;499;p7"/>
              <p:cNvSpPr txBox="1"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00" name="Google Shape;500;p7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7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7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7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04" name="Google Shape;504;p7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05" name="Google Shape;505;p7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7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507" name="Google Shape;507;p7"/>
              <p:cNvSpPr txBox="1"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7"/>
              <p:cNvSpPr txBox="1"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7"/>
              <p:cNvSpPr txBox="1"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7"/>
              <p:cNvSpPr txBox="1"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7"/>
              <p:cNvSpPr txBox="1"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2" name="Google Shape;512;p7"/>
            <p:cNvGrpSpPr/>
            <p:nvPr/>
          </p:nvGrpSpPr>
          <p:grpSpPr>
            <a:xfrm>
              <a:off x="3206" y="1347"/>
              <a:ext cx="510" cy="661"/>
              <a:chOff x="4296" y="2627"/>
              <a:chExt cx="510" cy="661"/>
            </a:xfrm>
          </p:grpSpPr>
          <p:sp>
            <p:nvSpPr>
              <p:cNvPr id="513" name="Google Shape;513;p7"/>
              <p:cNvSpPr txBox="1"/>
              <p:nvPr/>
            </p:nvSpPr>
            <p:spPr>
              <a:xfrm>
                <a:off x="4296" y="2652"/>
                <a:ext cx="510" cy="636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7"/>
              <p:cNvSpPr txBox="1"/>
              <p:nvPr/>
            </p:nvSpPr>
            <p:spPr>
              <a:xfrm>
                <a:off x="4304" y="2627"/>
                <a:ext cx="472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mail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server</a:t>
                </a:r>
                <a:endParaRPr/>
              </a:p>
            </p:txBody>
          </p:sp>
          <p:sp>
            <p:nvSpPr>
              <p:cNvPr id="515" name="Google Shape;515;p7"/>
              <p:cNvSpPr txBox="1"/>
              <p:nvPr/>
            </p:nvSpPr>
            <p:spPr>
              <a:xfrm>
                <a:off x="4320" y="300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6" name="Google Shape;516;p7"/>
              <p:cNvCxnSpPr/>
              <p:nvPr/>
            </p:nvCxnSpPr>
            <p:spPr>
              <a:xfrm>
                <a:off x="4369" y="303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517;p7"/>
              <p:cNvCxnSpPr/>
              <p:nvPr/>
            </p:nvCxnSpPr>
            <p:spPr>
              <a:xfrm>
                <a:off x="4478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7"/>
              <p:cNvCxnSpPr/>
              <p:nvPr/>
            </p:nvCxnSpPr>
            <p:spPr>
              <a:xfrm>
                <a:off x="4533" y="3035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7"/>
              <p:cNvCxnSpPr/>
              <p:nvPr/>
            </p:nvCxnSpPr>
            <p:spPr>
              <a:xfrm>
                <a:off x="4590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7"/>
              <p:cNvCxnSpPr/>
              <p:nvPr/>
            </p:nvCxnSpPr>
            <p:spPr>
              <a:xfrm>
                <a:off x="4651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7"/>
              <p:cNvCxnSpPr/>
              <p:nvPr/>
            </p:nvCxnSpPr>
            <p:spPr>
              <a:xfrm>
                <a:off x="4707" y="303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522" name="Google Shape;522;p7"/>
              <p:cNvCxnSpPr/>
              <p:nvPr/>
            </p:nvCxnSpPr>
            <p:spPr>
              <a:xfrm>
                <a:off x="4422" y="303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523" name="Google Shape;523;p7"/>
              <p:cNvSpPr txBox="1"/>
              <p:nvPr/>
            </p:nvSpPr>
            <p:spPr>
              <a:xfrm>
                <a:off x="4328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7"/>
              <p:cNvSpPr txBox="1"/>
              <p:nvPr/>
            </p:nvSpPr>
            <p:spPr>
              <a:xfrm>
                <a:off x="4414" y="317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7"/>
              <p:cNvSpPr txBox="1"/>
              <p:nvPr/>
            </p:nvSpPr>
            <p:spPr>
              <a:xfrm>
                <a:off x="4500" y="317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7"/>
              <p:cNvSpPr txBox="1"/>
              <p:nvPr/>
            </p:nvSpPr>
            <p:spPr>
              <a:xfrm>
                <a:off x="4597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7"/>
              <p:cNvSpPr txBox="1"/>
              <p:nvPr/>
            </p:nvSpPr>
            <p:spPr>
              <a:xfrm>
                <a:off x="4693" y="317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28" name="Google Shape;528;p7"/>
            <p:cNvCxnSpPr/>
            <p:nvPr/>
          </p:nvCxnSpPr>
          <p:spPr>
            <a:xfrm rot="10800000" flipH="1">
              <a:off x="3734" y="2350"/>
              <a:ext cx="708" cy="684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cxnSp>
          <p:nvCxnSpPr>
            <p:cNvPr id="529" name="Google Shape;529;p7"/>
            <p:cNvCxnSpPr/>
            <p:nvPr/>
          </p:nvCxnSpPr>
          <p:spPr>
            <a:xfrm rot="10800000">
              <a:off x="3266" y="2020"/>
              <a:ext cx="0" cy="786"/>
            </a:xfrm>
            <a:prstGeom prst="straightConnector1">
              <a:avLst/>
            </a:prstGeom>
            <a:noFill/>
            <a:ln w="28575" cap="flat" cmpd="sng">
              <a:solidFill>
                <a:srgbClr val="CC0000"/>
              </a:solidFill>
              <a:prstDash val="solid"/>
              <a:miter lim="800000"/>
              <a:headEnd type="triangle" w="med" len="med"/>
              <a:tailEnd type="triangle" w="med" len="med"/>
            </a:ln>
          </p:spPr>
        </p:cxnSp>
        <p:grpSp>
          <p:nvGrpSpPr>
            <p:cNvPr id="530" name="Google Shape;530;p7"/>
            <p:cNvGrpSpPr/>
            <p:nvPr/>
          </p:nvGrpSpPr>
          <p:grpSpPr>
            <a:xfrm>
              <a:off x="3795" y="2535"/>
              <a:ext cx="650" cy="288"/>
              <a:chOff x="3745" y="2537"/>
              <a:chExt cx="650" cy="288"/>
            </a:xfrm>
          </p:grpSpPr>
          <p:sp>
            <p:nvSpPr>
              <p:cNvPr id="531" name="Google Shape;531;p7"/>
              <p:cNvSpPr txBox="1"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7"/>
              <p:cNvSpPr txBox="1"/>
              <p:nvPr/>
            </p:nvSpPr>
            <p:spPr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400"/>
                  <a:buFont typeface="Arial"/>
                  <a:buNone/>
                </a:pPr>
                <a:r>
                  <a:rPr lang="en-US" sz="2400" b="0" i="0" u="non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SMTP</a:t>
                </a:r>
                <a:endParaRPr/>
              </a:p>
            </p:txBody>
          </p:sp>
        </p:grpSp>
        <p:grpSp>
          <p:nvGrpSpPr>
            <p:cNvPr id="533" name="Google Shape;533;p7"/>
            <p:cNvGrpSpPr/>
            <p:nvPr/>
          </p:nvGrpSpPr>
          <p:grpSpPr>
            <a:xfrm>
              <a:off x="3771" y="1743"/>
              <a:ext cx="650" cy="288"/>
              <a:chOff x="3745" y="2537"/>
              <a:chExt cx="650" cy="288"/>
            </a:xfrm>
          </p:grpSpPr>
          <p:sp>
            <p:nvSpPr>
              <p:cNvPr id="534" name="Google Shape;534;p7"/>
              <p:cNvSpPr txBox="1"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7"/>
              <p:cNvSpPr txBox="1"/>
              <p:nvPr/>
            </p:nvSpPr>
            <p:spPr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400"/>
                  <a:buFont typeface="Arial"/>
                  <a:buNone/>
                </a:pPr>
                <a:r>
                  <a:rPr lang="en-US" sz="2400" b="0" i="0" u="non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SMTP</a:t>
                </a:r>
                <a:endParaRPr/>
              </a:p>
            </p:txBody>
          </p:sp>
        </p:grpSp>
        <p:grpSp>
          <p:nvGrpSpPr>
            <p:cNvPr id="536" name="Google Shape;536;p7"/>
            <p:cNvGrpSpPr/>
            <p:nvPr/>
          </p:nvGrpSpPr>
          <p:grpSpPr>
            <a:xfrm>
              <a:off x="2937" y="2193"/>
              <a:ext cx="650" cy="288"/>
              <a:chOff x="3745" y="2537"/>
              <a:chExt cx="650" cy="288"/>
            </a:xfrm>
          </p:grpSpPr>
          <p:sp>
            <p:nvSpPr>
              <p:cNvPr id="537" name="Google Shape;537;p7"/>
              <p:cNvSpPr txBox="1"/>
              <p:nvPr/>
            </p:nvSpPr>
            <p:spPr>
              <a:xfrm>
                <a:off x="3798" y="2580"/>
                <a:ext cx="540" cy="19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7"/>
              <p:cNvSpPr txBox="1"/>
              <p:nvPr/>
            </p:nvSpPr>
            <p:spPr>
              <a:xfrm>
                <a:off x="3745" y="2537"/>
                <a:ext cx="650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400"/>
                  <a:buFont typeface="Arial"/>
                  <a:buNone/>
                </a:pPr>
                <a:r>
                  <a:rPr lang="en-US" sz="2400" b="0" i="0" u="none">
                    <a:solidFill>
                      <a:srgbClr val="CC0000"/>
                    </a:solidFill>
                    <a:latin typeface="Arial"/>
                    <a:ea typeface="Arial"/>
                    <a:cs typeface="Arial"/>
                    <a:sym typeface="Arial"/>
                  </a:rPr>
                  <a:t>SMTP</a:t>
                </a:r>
                <a:endParaRPr/>
              </a:p>
            </p:txBody>
          </p:sp>
        </p:grpSp>
        <p:grpSp>
          <p:nvGrpSpPr>
            <p:cNvPr id="539" name="Google Shape;539;p7"/>
            <p:cNvGrpSpPr/>
            <p:nvPr/>
          </p:nvGrpSpPr>
          <p:grpSpPr>
            <a:xfrm>
              <a:off x="3587" y="886"/>
              <a:ext cx="575" cy="664"/>
              <a:chOff x="3574" y="550"/>
              <a:chExt cx="575" cy="664"/>
            </a:xfrm>
          </p:grpSpPr>
          <p:grpSp>
            <p:nvGrpSpPr>
              <p:cNvPr id="540" name="Google Shape;540;p7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41" name="Google Shape;541;p7" descr="desktop_computer_stylized_medium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42" name="Google Shape;542;p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3" name="Google Shape;543;p7"/>
              <p:cNvSpPr txBox="1"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7"/>
              <p:cNvSpPr txBox="1"/>
              <p:nvPr/>
            </p:nvSpPr>
            <p:spPr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</p:grpSp>
        <p:grpSp>
          <p:nvGrpSpPr>
            <p:cNvPr id="545" name="Google Shape;545;p7"/>
            <p:cNvGrpSpPr/>
            <p:nvPr/>
          </p:nvGrpSpPr>
          <p:grpSpPr>
            <a:xfrm>
              <a:off x="4870" y="1400"/>
              <a:ext cx="575" cy="664"/>
              <a:chOff x="3574" y="550"/>
              <a:chExt cx="575" cy="664"/>
            </a:xfrm>
          </p:grpSpPr>
          <p:grpSp>
            <p:nvGrpSpPr>
              <p:cNvPr id="546" name="Google Shape;546;p7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47" name="Google Shape;547;p7" descr="desktop_computer_stylized_medium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48" name="Google Shape;548;p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9" name="Google Shape;549;p7"/>
              <p:cNvSpPr txBox="1"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7"/>
              <p:cNvSpPr txBox="1"/>
              <p:nvPr/>
            </p:nvSpPr>
            <p:spPr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</p:grpSp>
        <p:grpSp>
          <p:nvGrpSpPr>
            <p:cNvPr id="551" name="Google Shape;551;p7"/>
            <p:cNvGrpSpPr/>
            <p:nvPr/>
          </p:nvGrpSpPr>
          <p:grpSpPr>
            <a:xfrm>
              <a:off x="5082" y="1880"/>
              <a:ext cx="575" cy="664"/>
              <a:chOff x="3574" y="550"/>
              <a:chExt cx="575" cy="664"/>
            </a:xfrm>
          </p:grpSpPr>
          <p:grpSp>
            <p:nvGrpSpPr>
              <p:cNvPr id="552" name="Google Shape;552;p7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53" name="Google Shape;553;p7" descr="desktop_computer_stylized_medium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4" name="Google Shape;554;p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55" name="Google Shape;555;p7"/>
              <p:cNvSpPr txBox="1"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7"/>
              <p:cNvSpPr txBox="1"/>
              <p:nvPr/>
            </p:nvSpPr>
            <p:spPr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</p:grpSp>
        <p:grpSp>
          <p:nvGrpSpPr>
            <p:cNvPr id="557" name="Google Shape;557;p7"/>
            <p:cNvGrpSpPr/>
            <p:nvPr/>
          </p:nvGrpSpPr>
          <p:grpSpPr>
            <a:xfrm>
              <a:off x="4999" y="2540"/>
              <a:ext cx="575" cy="664"/>
              <a:chOff x="3574" y="550"/>
              <a:chExt cx="575" cy="664"/>
            </a:xfrm>
          </p:grpSpPr>
          <p:grpSp>
            <p:nvGrpSpPr>
              <p:cNvPr id="558" name="Google Shape;558;p7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59" name="Google Shape;559;p7" descr="desktop_computer_stylized_medium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0" name="Google Shape;560;p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61" name="Google Shape;561;p7"/>
              <p:cNvSpPr txBox="1"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7"/>
              <p:cNvSpPr txBox="1"/>
              <p:nvPr/>
            </p:nvSpPr>
            <p:spPr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</p:grpSp>
        <p:grpSp>
          <p:nvGrpSpPr>
            <p:cNvPr id="563" name="Google Shape;563;p7"/>
            <p:cNvGrpSpPr/>
            <p:nvPr/>
          </p:nvGrpSpPr>
          <p:grpSpPr>
            <a:xfrm>
              <a:off x="3354" y="3446"/>
              <a:ext cx="575" cy="664"/>
              <a:chOff x="3574" y="550"/>
              <a:chExt cx="575" cy="664"/>
            </a:xfrm>
          </p:grpSpPr>
          <p:grpSp>
            <p:nvGrpSpPr>
              <p:cNvPr id="564" name="Google Shape;564;p7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65" name="Google Shape;565;p7" descr="desktop_computer_stylized_medium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66" name="Google Shape;566;p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67" name="Google Shape;567;p7"/>
              <p:cNvSpPr txBox="1"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7"/>
              <p:cNvSpPr txBox="1"/>
              <p:nvPr/>
            </p:nvSpPr>
            <p:spPr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</p:grpSp>
        <p:grpSp>
          <p:nvGrpSpPr>
            <p:cNvPr id="569" name="Google Shape;569;p7"/>
            <p:cNvGrpSpPr/>
            <p:nvPr/>
          </p:nvGrpSpPr>
          <p:grpSpPr>
            <a:xfrm>
              <a:off x="3813" y="3056"/>
              <a:ext cx="575" cy="664"/>
              <a:chOff x="3574" y="550"/>
              <a:chExt cx="575" cy="664"/>
            </a:xfrm>
          </p:grpSpPr>
          <p:grpSp>
            <p:nvGrpSpPr>
              <p:cNvPr id="570" name="Google Shape;570;p7"/>
              <p:cNvGrpSpPr/>
              <p:nvPr/>
            </p:nvGrpSpPr>
            <p:grpSpPr>
              <a:xfrm>
                <a:off x="3588" y="692"/>
                <a:ext cx="561" cy="522"/>
                <a:chOff x="-44" y="1473"/>
                <a:chExt cx="981" cy="1105"/>
              </a:xfrm>
            </p:grpSpPr>
            <p:pic>
              <p:nvPicPr>
                <p:cNvPr id="571" name="Google Shape;571;p7" descr="desktop_computer_stylized_medium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72" name="Google Shape;572;p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0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73" name="Google Shape;573;p7"/>
              <p:cNvSpPr txBox="1"/>
              <p:nvPr/>
            </p:nvSpPr>
            <p:spPr>
              <a:xfrm>
                <a:off x="3611" y="576"/>
                <a:ext cx="381" cy="330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7"/>
              <p:cNvSpPr txBox="1"/>
              <p:nvPr/>
            </p:nvSpPr>
            <p:spPr>
              <a:xfrm>
                <a:off x="3574" y="550"/>
                <a:ext cx="436" cy="3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user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lang="en-US" sz="1600" b="0" i="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"/>
          <p:cNvSpPr txBox="1">
            <a:spLocks noGrp="1"/>
          </p:cNvSpPr>
          <p:nvPr>
            <p:ph type="title"/>
          </p:nvPr>
        </p:nvSpPr>
        <p:spPr>
          <a:xfrm>
            <a:off x="376237" y="222250"/>
            <a:ext cx="7772400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Electronic mail: mail servers</a:t>
            </a:r>
            <a:endParaRPr/>
          </a:p>
        </p:txBody>
      </p:sp>
      <p:sp>
        <p:nvSpPr>
          <p:cNvPr id="581" name="Google Shape;581;p8"/>
          <p:cNvSpPr txBox="1">
            <a:spLocks noGrp="1"/>
          </p:cNvSpPr>
          <p:nvPr>
            <p:ph type="body" idx="1"/>
          </p:nvPr>
        </p:nvSpPr>
        <p:spPr>
          <a:xfrm>
            <a:off x="457200" y="1398587"/>
            <a:ext cx="3933825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lang="en-US" sz="2800" b="0" i="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mail servers: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mailbox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contains incoming messages for user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message queue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of outgoing (to be sent) mail messages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SMTP protocol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between mail servers to send email messages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client: sending mail server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“server”: receiving mail server</a:t>
            </a:r>
            <a:endParaRPr/>
          </a:p>
        </p:txBody>
      </p:sp>
      <p:pic>
        <p:nvPicPr>
          <p:cNvPr id="582" name="Google Shape;582;p8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187" y="882650"/>
            <a:ext cx="59420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3" name="Google Shape;583;p8"/>
          <p:cNvGrpSpPr/>
          <p:nvPr/>
        </p:nvGrpSpPr>
        <p:grpSpPr>
          <a:xfrm>
            <a:off x="6899275" y="2787650"/>
            <a:ext cx="477837" cy="715962"/>
            <a:chOff x="4140" y="429"/>
            <a:chExt cx="1425" cy="2396"/>
          </a:xfrm>
        </p:grpSpPr>
        <p:sp>
          <p:nvSpPr>
            <p:cNvPr id="584" name="Google Shape;584;p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8"/>
            <p:cNvSpPr txBox="1"/>
            <p:nvPr/>
          </p:nvSpPr>
          <p:spPr>
            <a:xfrm>
              <a:off x="4206" y="429"/>
              <a:ext cx="104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8"/>
            <p:cNvSpPr txBox="1"/>
            <p:nvPr/>
          </p:nvSpPr>
          <p:spPr>
            <a:xfrm>
              <a:off x="4211" y="695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9" name="Google Shape;589;p8"/>
            <p:cNvGrpSpPr/>
            <p:nvPr/>
          </p:nvGrpSpPr>
          <p:grpSpPr>
            <a:xfrm>
              <a:off x="4751" y="668"/>
              <a:ext cx="578" cy="144"/>
              <a:chOff x="616" y="2568"/>
              <a:chExt cx="721" cy="138"/>
            </a:xfrm>
          </p:grpSpPr>
          <p:sp>
            <p:nvSpPr>
              <p:cNvPr id="590" name="Google Shape;590;p8"/>
              <p:cNvSpPr/>
              <p:nvPr/>
            </p:nvSpPr>
            <p:spPr>
              <a:xfrm>
                <a:off x="616" y="2568"/>
                <a:ext cx="721" cy="138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>
                <a:off x="634" y="2583"/>
                <a:ext cx="685" cy="107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2" name="Google Shape;592;p8"/>
            <p:cNvSpPr txBox="1"/>
            <p:nvPr/>
          </p:nvSpPr>
          <p:spPr>
            <a:xfrm>
              <a:off x="4225" y="1019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3" name="Google Shape;593;p8"/>
            <p:cNvGrpSpPr/>
            <p:nvPr/>
          </p:nvGrpSpPr>
          <p:grpSpPr>
            <a:xfrm>
              <a:off x="4746" y="992"/>
              <a:ext cx="583" cy="138"/>
              <a:chOff x="613" y="2566"/>
              <a:chExt cx="727" cy="143"/>
            </a:xfrm>
          </p:grpSpPr>
          <p:sp>
            <p:nvSpPr>
              <p:cNvPr id="594" name="Google Shape;594;p8"/>
              <p:cNvSpPr/>
              <p:nvPr/>
            </p:nvSpPr>
            <p:spPr>
              <a:xfrm>
                <a:off x="613" y="2566"/>
                <a:ext cx="727" cy="143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8"/>
              <p:cNvSpPr/>
              <p:nvPr/>
            </p:nvSpPr>
            <p:spPr>
              <a:xfrm>
                <a:off x="630" y="2583"/>
                <a:ext cx="691" cy="11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6" name="Google Shape;596;p8"/>
            <p:cNvSpPr txBox="1"/>
            <p:nvPr/>
          </p:nvSpPr>
          <p:spPr>
            <a:xfrm>
              <a:off x="4216" y="1359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"/>
            <p:cNvSpPr txBox="1"/>
            <p:nvPr/>
          </p:nvSpPr>
          <p:spPr>
            <a:xfrm>
              <a:off x="4230" y="1656"/>
              <a:ext cx="592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8" name="Google Shape;598;p8"/>
            <p:cNvGrpSpPr/>
            <p:nvPr/>
          </p:nvGrpSpPr>
          <p:grpSpPr>
            <a:xfrm>
              <a:off x="4737" y="1629"/>
              <a:ext cx="582" cy="149"/>
              <a:chOff x="616" y="2570"/>
              <a:chExt cx="725" cy="137"/>
            </a:xfrm>
          </p:grpSpPr>
          <p:sp>
            <p:nvSpPr>
              <p:cNvPr id="599" name="Google Shape;599;p8"/>
              <p:cNvSpPr/>
              <p:nvPr/>
            </p:nvSpPr>
            <p:spPr>
              <a:xfrm>
                <a:off x="616" y="2570"/>
                <a:ext cx="725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8"/>
              <p:cNvSpPr/>
              <p:nvPr/>
            </p:nvSpPr>
            <p:spPr>
              <a:xfrm>
                <a:off x="634" y="2585"/>
                <a:ext cx="690" cy="108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1" name="Google Shape;601;p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2" name="Google Shape;602;p8"/>
            <p:cNvGrpSpPr/>
            <p:nvPr/>
          </p:nvGrpSpPr>
          <p:grpSpPr>
            <a:xfrm>
              <a:off x="4751" y="1327"/>
              <a:ext cx="564" cy="138"/>
              <a:chOff x="629" y="2568"/>
              <a:chExt cx="702" cy="138"/>
            </a:xfrm>
          </p:grpSpPr>
          <p:sp>
            <p:nvSpPr>
              <p:cNvPr id="603" name="Google Shape;603;p8"/>
              <p:cNvSpPr/>
              <p:nvPr/>
            </p:nvSpPr>
            <p:spPr>
              <a:xfrm>
                <a:off x="629" y="2568"/>
                <a:ext cx="702" cy="138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8"/>
              <p:cNvSpPr/>
              <p:nvPr/>
            </p:nvSpPr>
            <p:spPr>
              <a:xfrm>
                <a:off x="634" y="2584"/>
                <a:ext cx="672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5" name="Google Shape;605;p8"/>
            <p:cNvSpPr txBox="1"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4140" y="2676"/>
              <a:ext cx="1198" cy="149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4206" y="2713"/>
              <a:ext cx="1070" cy="80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8"/>
            <p:cNvSpPr txBox="1"/>
            <p:nvPr/>
          </p:nvSpPr>
          <p:spPr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8"/>
          <p:cNvGrpSpPr/>
          <p:nvPr/>
        </p:nvGrpSpPr>
        <p:grpSpPr>
          <a:xfrm>
            <a:off x="4906962" y="4181475"/>
            <a:ext cx="477837" cy="715962"/>
            <a:chOff x="4140" y="429"/>
            <a:chExt cx="1425" cy="2396"/>
          </a:xfrm>
        </p:grpSpPr>
        <p:sp>
          <p:nvSpPr>
            <p:cNvPr id="617" name="Google Shape;617;p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8"/>
            <p:cNvSpPr txBox="1"/>
            <p:nvPr/>
          </p:nvSpPr>
          <p:spPr>
            <a:xfrm>
              <a:off x="4206" y="429"/>
              <a:ext cx="104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8"/>
            <p:cNvSpPr txBox="1"/>
            <p:nvPr/>
          </p:nvSpPr>
          <p:spPr>
            <a:xfrm>
              <a:off x="4211" y="695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2" name="Google Shape;622;p8"/>
            <p:cNvGrpSpPr/>
            <p:nvPr/>
          </p:nvGrpSpPr>
          <p:grpSpPr>
            <a:xfrm>
              <a:off x="4751" y="668"/>
              <a:ext cx="578" cy="144"/>
              <a:chOff x="616" y="2568"/>
              <a:chExt cx="721" cy="138"/>
            </a:xfrm>
          </p:grpSpPr>
          <p:sp>
            <p:nvSpPr>
              <p:cNvPr id="623" name="Google Shape;623;p8"/>
              <p:cNvSpPr/>
              <p:nvPr/>
            </p:nvSpPr>
            <p:spPr>
              <a:xfrm>
                <a:off x="616" y="2568"/>
                <a:ext cx="721" cy="138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8"/>
              <p:cNvSpPr/>
              <p:nvPr/>
            </p:nvSpPr>
            <p:spPr>
              <a:xfrm>
                <a:off x="634" y="2583"/>
                <a:ext cx="685" cy="107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5" name="Google Shape;625;p8"/>
            <p:cNvSpPr txBox="1"/>
            <p:nvPr/>
          </p:nvSpPr>
          <p:spPr>
            <a:xfrm>
              <a:off x="4225" y="1019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6" name="Google Shape;626;p8"/>
            <p:cNvGrpSpPr/>
            <p:nvPr/>
          </p:nvGrpSpPr>
          <p:grpSpPr>
            <a:xfrm>
              <a:off x="4746" y="992"/>
              <a:ext cx="583" cy="138"/>
              <a:chOff x="613" y="2566"/>
              <a:chExt cx="727" cy="143"/>
            </a:xfrm>
          </p:grpSpPr>
          <p:sp>
            <p:nvSpPr>
              <p:cNvPr id="627" name="Google Shape;627;p8"/>
              <p:cNvSpPr/>
              <p:nvPr/>
            </p:nvSpPr>
            <p:spPr>
              <a:xfrm>
                <a:off x="613" y="2566"/>
                <a:ext cx="727" cy="143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8"/>
              <p:cNvSpPr/>
              <p:nvPr/>
            </p:nvSpPr>
            <p:spPr>
              <a:xfrm>
                <a:off x="630" y="2583"/>
                <a:ext cx="691" cy="11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9" name="Google Shape;629;p8"/>
            <p:cNvSpPr txBox="1"/>
            <p:nvPr/>
          </p:nvSpPr>
          <p:spPr>
            <a:xfrm>
              <a:off x="4216" y="1359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8"/>
            <p:cNvSpPr txBox="1"/>
            <p:nvPr/>
          </p:nvSpPr>
          <p:spPr>
            <a:xfrm>
              <a:off x="4230" y="1656"/>
              <a:ext cx="592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1" name="Google Shape;631;p8"/>
            <p:cNvGrpSpPr/>
            <p:nvPr/>
          </p:nvGrpSpPr>
          <p:grpSpPr>
            <a:xfrm>
              <a:off x="4737" y="1629"/>
              <a:ext cx="582" cy="149"/>
              <a:chOff x="616" y="2570"/>
              <a:chExt cx="725" cy="137"/>
            </a:xfrm>
          </p:grpSpPr>
          <p:sp>
            <p:nvSpPr>
              <p:cNvPr id="632" name="Google Shape;632;p8"/>
              <p:cNvSpPr/>
              <p:nvPr/>
            </p:nvSpPr>
            <p:spPr>
              <a:xfrm>
                <a:off x="616" y="2570"/>
                <a:ext cx="725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8"/>
              <p:cNvSpPr/>
              <p:nvPr/>
            </p:nvSpPr>
            <p:spPr>
              <a:xfrm>
                <a:off x="634" y="2585"/>
                <a:ext cx="690" cy="108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4" name="Google Shape;634;p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" name="Google Shape;635;p8"/>
            <p:cNvGrpSpPr/>
            <p:nvPr/>
          </p:nvGrpSpPr>
          <p:grpSpPr>
            <a:xfrm>
              <a:off x="4751" y="1327"/>
              <a:ext cx="564" cy="138"/>
              <a:chOff x="629" y="2568"/>
              <a:chExt cx="702" cy="138"/>
            </a:xfrm>
          </p:grpSpPr>
          <p:sp>
            <p:nvSpPr>
              <p:cNvPr id="636" name="Google Shape;636;p8"/>
              <p:cNvSpPr/>
              <p:nvPr/>
            </p:nvSpPr>
            <p:spPr>
              <a:xfrm>
                <a:off x="629" y="2568"/>
                <a:ext cx="702" cy="138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8"/>
              <p:cNvSpPr/>
              <p:nvPr/>
            </p:nvSpPr>
            <p:spPr>
              <a:xfrm>
                <a:off x="634" y="2584"/>
                <a:ext cx="672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8" name="Google Shape;638;p8"/>
            <p:cNvSpPr txBox="1"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4140" y="2676"/>
              <a:ext cx="1198" cy="149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4206" y="2713"/>
              <a:ext cx="1070" cy="80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8"/>
            <p:cNvSpPr txBox="1"/>
            <p:nvPr/>
          </p:nvSpPr>
          <p:spPr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8"/>
          <p:cNvGrpSpPr/>
          <p:nvPr/>
        </p:nvGrpSpPr>
        <p:grpSpPr>
          <a:xfrm>
            <a:off x="4929187" y="1839912"/>
            <a:ext cx="477837" cy="715962"/>
            <a:chOff x="4140" y="429"/>
            <a:chExt cx="1425" cy="2396"/>
          </a:xfrm>
        </p:grpSpPr>
        <p:sp>
          <p:nvSpPr>
            <p:cNvPr id="650" name="Google Shape;650;p8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8"/>
            <p:cNvSpPr txBox="1"/>
            <p:nvPr/>
          </p:nvSpPr>
          <p:spPr>
            <a:xfrm>
              <a:off x="4206" y="429"/>
              <a:ext cx="104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8"/>
            <p:cNvSpPr txBox="1"/>
            <p:nvPr/>
          </p:nvSpPr>
          <p:spPr>
            <a:xfrm>
              <a:off x="4211" y="695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5" name="Google Shape;655;p8"/>
            <p:cNvGrpSpPr/>
            <p:nvPr/>
          </p:nvGrpSpPr>
          <p:grpSpPr>
            <a:xfrm>
              <a:off x="4751" y="668"/>
              <a:ext cx="578" cy="144"/>
              <a:chOff x="616" y="2568"/>
              <a:chExt cx="721" cy="138"/>
            </a:xfrm>
          </p:grpSpPr>
          <p:sp>
            <p:nvSpPr>
              <p:cNvPr id="656" name="Google Shape;656;p8"/>
              <p:cNvSpPr/>
              <p:nvPr/>
            </p:nvSpPr>
            <p:spPr>
              <a:xfrm>
                <a:off x="616" y="2568"/>
                <a:ext cx="721" cy="138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8"/>
              <p:cNvSpPr/>
              <p:nvPr/>
            </p:nvSpPr>
            <p:spPr>
              <a:xfrm>
                <a:off x="634" y="2583"/>
                <a:ext cx="685" cy="107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8" name="Google Shape;658;p8"/>
            <p:cNvSpPr txBox="1"/>
            <p:nvPr/>
          </p:nvSpPr>
          <p:spPr>
            <a:xfrm>
              <a:off x="4225" y="1019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9" name="Google Shape;659;p8"/>
            <p:cNvGrpSpPr/>
            <p:nvPr/>
          </p:nvGrpSpPr>
          <p:grpSpPr>
            <a:xfrm>
              <a:off x="4746" y="992"/>
              <a:ext cx="583" cy="138"/>
              <a:chOff x="613" y="2566"/>
              <a:chExt cx="727" cy="143"/>
            </a:xfrm>
          </p:grpSpPr>
          <p:sp>
            <p:nvSpPr>
              <p:cNvPr id="660" name="Google Shape;660;p8"/>
              <p:cNvSpPr/>
              <p:nvPr/>
            </p:nvSpPr>
            <p:spPr>
              <a:xfrm>
                <a:off x="613" y="2566"/>
                <a:ext cx="727" cy="143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8"/>
              <p:cNvSpPr/>
              <p:nvPr/>
            </p:nvSpPr>
            <p:spPr>
              <a:xfrm>
                <a:off x="630" y="2583"/>
                <a:ext cx="691" cy="110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2" name="Google Shape;662;p8"/>
            <p:cNvSpPr txBox="1"/>
            <p:nvPr/>
          </p:nvSpPr>
          <p:spPr>
            <a:xfrm>
              <a:off x="4216" y="1359"/>
              <a:ext cx="597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8"/>
            <p:cNvSpPr txBox="1"/>
            <p:nvPr/>
          </p:nvSpPr>
          <p:spPr>
            <a:xfrm>
              <a:off x="4230" y="1656"/>
              <a:ext cx="592" cy="48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4" name="Google Shape;664;p8"/>
            <p:cNvGrpSpPr/>
            <p:nvPr/>
          </p:nvGrpSpPr>
          <p:grpSpPr>
            <a:xfrm>
              <a:off x="4737" y="1629"/>
              <a:ext cx="582" cy="149"/>
              <a:chOff x="616" y="2570"/>
              <a:chExt cx="725" cy="137"/>
            </a:xfrm>
          </p:grpSpPr>
          <p:sp>
            <p:nvSpPr>
              <p:cNvPr id="665" name="Google Shape;665;p8"/>
              <p:cNvSpPr/>
              <p:nvPr/>
            </p:nvSpPr>
            <p:spPr>
              <a:xfrm>
                <a:off x="616" y="2570"/>
                <a:ext cx="725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8"/>
              <p:cNvSpPr/>
              <p:nvPr/>
            </p:nvSpPr>
            <p:spPr>
              <a:xfrm>
                <a:off x="634" y="2585"/>
                <a:ext cx="690" cy="108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7" name="Google Shape;667;p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8" name="Google Shape;668;p8"/>
            <p:cNvGrpSpPr/>
            <p:nvPr/>
          </p:nvGrpSpPr>
          <p:grpSpPr>
            <a:xfrm>
              <a:off x="4751" y="1327"/>
              <a:ext cx="564" cy="138"/>
              <a:chOff x="629" y="2568"/>
              <a:chExt cx="702" cy="138"/>
            </a:xfrm>
          </p:grpSpPr>
          <p:sp>
            <p:nvSpPr>
              <p:cNvPr id="669" name="Google Shape;669;p8"/>
              <p:cNvSpPr/>
              <p:nvPr/>
            </p:nvSpPr>
            <p:spPr>
              <a:xfrm>
                <a:off x="629" y="2568"/>
                <a:ext cx="702" cy="138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8"/>
              <p:cNvSpPr/>
              <p:nvPr/>
            </p:nvSpPr>
            <p:spPr>
              <a:xfrm>
                <a:off x="634" y="2584"/>
                <a:ext cx="672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1" name="Google Shape;671;p8"/>
            <p:cNvSpPr txBox="1"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4140" y="2676"/>
              <a:ext cx="1198" cy="149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4206" y="2713"/>
              <a:ext cx="1070" cy="80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4306" y="2384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4486" y="2384"/>
              <a:ext cx="161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4661" y="2379"/>
              <a:ext cx="161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8"/>
            <p:cNvSpPr txBox="1"/>
            <p:nvPr/>
          </p:nvSpPr>
          <p:spPr>
            <a:xfrm>
              <a:off x="5063" y="1837"/>
              <a:ext cx="85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2" name="Google Shape;682;p8"/>
          <p:cNvCxnSpPr/>
          <p:nvPr/>
        </p:nvCxnSpPr>
        <p:spPr>
          <a:xfrm>
            <a:off x="5927725" y="2606675"/>
            <a:ext cx="1123950" cy="79057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pSp>
        <p:nvGrpSpPr>
          <p:cNvPr id="683" name="Google Shape;683;p8"/>
          <p:cNvGrpSpPr/>
          <p:nvPr/>
        </p:nvGrpSpPr>
        <p:grpSpPr>
          <a:xfrm>
            <a:off x="7089775" y="2986087"/>
            <a:ext cx="809625" cy="1049337"/>
            <a:chOff x="4296" y="2627"/>
            <a:chExt cx="510" cy="661"/>
          </a:xfrm>
        </p:grpSpPr>
        <p:sp>
          <p:nvSpPr>
            <p:cNvPr id="684" name="Google Shape;684;p8"/>
            <p:cNvSpPr txBox="1"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8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sp>
          <p:nvSpPr>
            <p:cNvPr id="686" name="Google Shape;686;p8"/>
            <p:cNvSpPr txBox="1"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7" name="Google Shape;687;p8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88" name="Google Shape;688;p8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89" name="Google Shape;689;p8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90" name="Google Shape;690;p8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91" name="Google Shape;691;p8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92" name="Google Shape;692;p8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693" name="Google Shape;693;p8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694" name="Google Shape;694;p8"/>
            <p:cNvSpPr txBox="1"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8"/>
            <p:cNvSpPr txBox="1"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8"/>
            <p:cNvSpPr txBox="1"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8"/>
            <p:cNvSpPr txBox="1"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8"/>
            <p:cNvSpPr txBox="1"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9" name="Google Shape;699;p8"/>
          <p:cNvGrpSpPr/>
          <p:nvPr/>
        </p:nvGrpSpPr>
        <p:grpSpPr>
          <a:xfrm>
            <a:off x="5089525" y="4386262"/>
            <a:ext cx="809625" cy="1049337"/>
            <a:chOff x="4296" y="2627"/>
            <a:chExt cx="510" cy="661"/>
          </a:xfrm>
        </p:grpSpPr>
        <p:sp>
          <p:nvSpPr>
            <p:cNvPr id="700" name="Google Shape;700;p8"/>
            <p:cNvSpPr txBox="1"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8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sp>
          <p:nvSpPr>
            <p:cNvPr id="702" name="Google Shape;702;p8"/>
            <p:cNvSpPr txBox="1"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3" name="Google Shape;703;p8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04" name="Google Shape;704;p8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05" name="Google Shape;705;p8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06" name="Google Shape;706;p8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07" name="Google Shape;707;p8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08" name="Google Shape;708;p8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09" name="Google Shape;709;p8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10" name="Google Shape;710;p8"/>
            <p:cNvSpPr txBox="1"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8"/>
            <p:cNvSpPr txBox="1"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8"/>
            <p:cNvSpPr txBox="1"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8"/>
            <p:cNvSpPr txBox="1"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8"/>
            <p:cNvSpPr txBox="1"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5" name="Google Shape;715;p8"/>
          <p:cNvGrpSpPr/>
          <p:nvPr/>
        </p:nvGrpSpPr>
        <p:grpSpPr>
          <a:xfrm>
            <a:off x="5089525" y="2138362"/>
            <a:ext cx="809625" cy="1049337"/>
            <a:chOff x="4296" y="2627"/>
            <a:chExt cx="510" cy="661"/>
          </a:xfrm>
        </p:grpSpPr>
        <p:sp>
          <p:nvSpPr>
            <p:cNvPr id="716" name="Google Shape;716;p8"/>
            <p:cNvSpPr txBox="1"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8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sp>
          <p:nvSpPr>
            <p:cNvPr id="718" name="Google Shape;718;p8"/>
            <p:cNvSpPr txBox="1"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9" name="Google Shape;719;p8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20" name="Google Shape;720;p8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21" name="Google Shape;721;p8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22" name="Google Shape;722;p8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23" name="Google Shape;723;p8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24" name="Google Shape;724;p8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725" name="Google Shape;725;p8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726" name="Google Shape;726;p8"/>
            <p:cNvSpPr txBox="1"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8"/>
            <p:cNvSpPr txBox="1"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8"/>
            <p:cNvSpPr txBox="1"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8"/>
            <p:cNvSpPr txBox="1"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8"/>
            <p:cNvSpPr txBox="1"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31" name="Google Shape;731;p8"/>
          <p:cNvCxnSpPr/>
          <p:nvPr/>
        </p:nvCxnSpPr>
        <p:spPr>
          <a:xfrm rot="10800000" flipH="1">
            <a:off x="5927725" y="3730625"/>
            <a:ext cx="1123950" cy="10858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32" name="Google Shape;732;p8"/>
          <p:cNvCxnSpPr/>
          <p:nvPr/>
        </p:nvCxnSpPr>
        <p:spPr>
          <a:xfrm rot="10800000">
            <a:off x="5184775" y="3206750"/>
            <a:ext cx="0" cy="124777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grpSp>
        <p:nvGrpSpPr>
          <p:cNvPr id="733" name="Google Shape;733;p8"/>
          <p:cNvGrpSpPr/>
          <p:nvPr/>
        </p:nvGrpSpPr>
        <p:grpSpPr>
          <a:xfrm>
            <a:off x="6024562" y="4024312"/>
            <a:ext cx="1031875" cy="457200"/>
            <a:chOff x="3745" y="2537"/>
            <a:chExt cx="650" cy="288"/>
          </a:xfrm>
        </p:grpSpPr>
        <p:sp>
          <p:nvSpPr>
            <p:cNvPr id="734" name="Google Shape;734;p8"/>
            <p:cNvSpPr txBox="1"/>
            <p:nvPr/>
          </p:nvSpPr>
          <p:spPr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8"/>
            <p:cNvSpPr txBox="1"/>
            <p:nvPr/>
          </p:nvSpPr>
          <p:spPr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SMTP</a:t>
              </a:r>
              <a:endParaRPr/>
            </a:p>
          </p:txBody>
        </p:sp>
      </p:grpSp>
      <p:grpSp>
        <p:nvGrpSpPr>
          <p:cNvPr id="736" name="Google Shape;736;p8"/>
          <p:cNvGrpSpPr/>
          <p:nvPr/>
        </p:nvGrpSpPr>
        <p:grpSpPr>
          <a:xfrm>
            <a:off x="5986462" y="2767012"/>
            <a:ext cx="1031875" cy="457200"/>
            <a:chOff x="3745" y="2537"/>
            <a:chExt cx="650" cy="288"/>
          </a:xfrm>
        </p:grpSpPr>
        <p:sp>
          <p:nvSpPr>
            <p:cNvPr id="737" name="Google Shape;737;p8"/>
            <p:cNvSpPr txBox="1"/>
            <p:nvPr/>
          </p:nvSpPr>
          <p:spPr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8"/>
            <p:cNvSpPr txBox="1"/>
            <p:nvPr/>
          </p:nvSpPr>
          <p:spPr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SMTP</a:t>
              </a:r>
              <a:endParaRPr/>
            </a:p>
          </p:txBody>
        </p:sp>
      </p:grpSp>
      <p:grpSp>
        <p:nvGrpSpPr>
          <p:cNvPr id="739" name="Google Shape;739;p8"/>
          <p:cNvGrpSpPr/>
          <p:nvPr/>
        </p:nvGrpSpPr>
        <p:grpSpPr>
          <a:xfrm>
            <a:off x="4662487" y="3481387"/>
            <a:ext cx="1031875" cy="457200"/>
            <a:chOff x="3745" y="2537"/>
            <a:chExt cx="650" cy="288"/>
          </a:xfrm>
        </p:grpSpPr>
        <p:sp>
          <p:nvSpPr>
            <p:cNvPr id="740" name="Google Shape;740;p8"/>
            <p:cNvSpPr txBox="1"/>
            <p:nvPr/>
          </p:nvSpPr>
          <p:spPr>
            <a:xfrm>
              <a:off x="3798" y="2580"/>
              <a:ext cx="540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8"/>
            <p:cNvSpPr txBox="1"/>
            <p:nvPr/>
          </p:nvSpPr>
          <p:spPr>
            <a:xfrm>
              <a:off x="3745" y="2537"/>
              <a:ext cx="650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Arial"/>
                <a:buNone/>
              </a:pPr>
              <a:r>
                <a:rPr lang="en-US" sz="2400" b="0" i="0" u="non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SMTP</a:t>
              </a:r>
              <a:endParaRPr/>
            </a:p>
          </p:txBody>
        </p:sp>
      </p:grpSp>
      <p:grpSp>
        <p:nvGrpSpPr>
          <p:cNvPr id="742" name="Google Shape;742;p8"/>
          <p:cNvGrpSpPr/>
          <p:nvPr/>
        </p:nvGrpSpPr>
        <p:grpSpPr>
          <a:xfrm>
            <a:off x="5694362" y="1406525"/>
            <a:ext cx="912812" cy="1054100"/>
            <a:chOff x="3574" y="550"/>
            <a:chExt cx="575" cy="664"/>
          </a:xfrm>
        </p:grpSpPr>
        <p:grpSp>
          <p:nvGrpSpPr>
            <p:cNvPr id="743" name="Google Shape;743;p8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44" name="Google Shape;744;p8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5" name="Google Shape;745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6" name="Google Shape;746;p8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8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748" name="Google Shape;748;p8"/>
          <p:cNvGrpSpPr/>
          <p:nvPr/>
        </p:nvGrpSpPr>
        <p:grpSpPr>
          <a:xfrm>
            <a:off x="7731125" y="2222500"/>
            <a:ext cx="912812" cy="1054100"/>
            <a:chOff x="3574" y="550"/>
            <a:chExt cx="575" cy="664"/>
          </a:xfrm>
        </p:grpSpPr>
        <p:grpSp>
          <p:nvGrpSpPr>
            <p:cNvPr id="749" name="Google Shape;749;p8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50" name="Google Shape;750;p8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1" name="Google Shape;751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2" name="Google Shape;752;p8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8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754" name="Google Shape;754;p8"/>
          <p:cNvGrpSpPr/>
          <p:nvPr/>
        </p:nvGrpSpPr>
        <p:grpSpPr>
          <a:xfrm>
            <a:off x="8067675" y="2984500"/>
            <a:ext cx="912812" cy="1054100"/>
            <a:chOff x="3574" y="550"/>
            <a:chExt cx="575" cy="664"/>
          </a:xfrm>
        </p:grpSpPr>
        <p:grpSp>
          <p:nvGrpSpPr>
            <p:cNvPr id="755" name="Google Shape;755;p8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56" name="Google Shape;756;p8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7" name="Google Shape;757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8" name="Google Shape;758;p8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8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760" name="Google Shape;760;p8"/>
          <p:cNvGrpSpPr/>
          <p:nvPr/>
        </p:nvGrpSpPr>
        <p:grpSpPr>
          <a:xfrm>
            <a:off x="7935912" y="4032250"/>
            <a:ext cx="912812" cy="1054100"/>
            <a:chOff x="3574" y="550"/>
            <a:chExt cx="575" cy="664"/>
          </a:xfrm>
        </p:grpSpPr>
        <p:grpSp>
          <p:nvGrpSpPr>
            <p:cNvPr id="761" name="Google Shape;761;p8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62" name="Google Shape;762;p8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3" name="Google Shape;763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4" name="Google Shape;764;p8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8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766" name="Google Shape;766;p8"/>
          <p:cNvGrpSpPr/>
          <p:nvPr/>
        </p:nvGrpSpPr>
        <p:grpSpPr>
          <a:xfrm>
            <a:off x="5324475" y="5470525"/>
            <a:ext cx="912812" cy="1054100"/>
            <a:chOff x="3574" y="550"/>
            <a:chExt cx="575" cy="664"/>
          </a:xfrm>
        </p:grpSpPr>
        <p:grpSp>
          <p:nvGrpSpPr>
            <p:cNvPr id="767" name="Google Shape;767;p8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68" name="Google Shape;768;p8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9" name="Google Shape;769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0" name="Google Shape;770;p8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8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772" name="Google Shape;772;p8"/>
          <p:cNvGrpSpPr/>
          <p:nvPr/>
        </p:nvGrpSpPr>
        <p:grpSpPr>
          <a:xfrm>
            <a:off x="6053137" y="4851400"/>
            <a:ext cx="912812" cy="1054100"/>
            <a:chOff x="3574" y="550"/>
            <a:chExt cx="575" cy="664"/>
          </a:xfrm>
        </p:grpSpPr>
        <p:grpSp>
          <p:nvGrpSpPr>
            <p:cNvPr id="773" name="Google Shape;773;p8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74" name="Google Shape;774;p8" descr="desktop_computer_stylized_medium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5" name="Google Shape;775;p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6" name="Google Shape;776;p8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8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9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175" y="942975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9"/>
          <p:cNvSpPr txBox="1">
            <a:spLocks noGrp="1"/>
          </p:cNvSpPr>
          <p:nvPr>
            <p:ph type="title"/>
          </p:nvPr>
        </p:nvSpPr>
        <p:spPr>
          <a:xfrm>
            <a:off x="466725" y="234950"/>
            <a:ext cx="7772400" cy="95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Electronic Mail: SMTP </a:t>
            </a:r>
            <a:r>
              <a:rPr lang="en-US" sz="36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[RFC 2821]</a:t>
            </a:r>
            <a:endParaRPr/>
          </a:p>
        </p:txBody>
      </p:sp>
      <p:sp>
        <p:nvSpPr>
          <p:cNvPr id="785" name="Google Shape;785;p9"/>
          <p:cNvSpPr txBox="1">
            <a:spLocks noGrp="1"/>
          </p:cNvSpPr>
          <p:nvPr>
            <p:ph type="body" idx="1"/>
          </p:nvPr>
        </p:nvSpPr>
        <p:spPr>
          <a:xfrm>
            <a:off x="588962" y="1422400"/>
            <a:ext cx="7629525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uses TCP to reliably transfer email message from client to server, port 25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three phases of transfer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handshaking (greeting)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transfer of messages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closure</a:t>
            </a:r>
            <a:endParaRPr/>
          </a:p>
          <a:p>
            <a:pPr marL="342900" lvl="0" indent="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lvl="0" indent="-210820" algn="l" rtl="0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SzPts val="2080"/>
              <a:buNone/>
            </a:pPr>
            <a:endParaRPr sz="3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1" name="Google Shape;791;p10"/>
          <p:cNvGrpSpPr/>
          <p:nvPr/>
        </p:nvGrpSpPr>
        <p:grpSpPr>
          <a:xfrm>
            <a:off x="1143000" y="4881562"/>
            <a:ext cx="912812" cy="1054100"/>
            <a:chOff x="3574" y="550"/>
            <a:chExt cx="575" cy="664"/>
          </a:xfrm>
        </p:grpSpPr>
        <p:grpSp>
          <p:nvGrpSpPr>
            <p:cNvPr id="792" name="Google Shape;792;p10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793" name="Google Shape;793;p10" descr="desktop_computer_stylized_medium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94" name="Google Shape;794;p1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5" name="Google Shape;795;p10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0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797" name="Google Shape;797;p10"/>
          <p:cNvGrpSpPr/>
          <p:nvPr/>
        </p:nvGrpSpPr>
        <p:grpSpPr>
          <a:xfrm>
            <a:off x="4852987" y="4613275"/>
            <a:ext cx="511175" cy="693737"/>
            <a:chOff x="4140" y="429"/>
            <a:chExt cx="1425" cy="2396"/>
          </a:xfrm>
        </p:grpSpPr>
        <p:sp>
          <p:nvSpPr>
            <p:cNvPr id="798" name="Google Shape;798;p10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0"/>
            <p:cNvSpPr txBox="1"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10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0"/>
            <p:cNvSpPr txBox="1"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3" name="Google Shape;803;p10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804" name="Google Shape;804;p10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10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6" name="Google Shape;806;p10"/>
            <p:cNvSpPr txBox="1"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7" name="Google Shape;807;p10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808" name="Google Shape;808;p10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10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0" name="Google Shape;810;p10"/>
            <p:cNvSpPr txBox="1"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0"/>
            <p:cNvSpPr txBox="1"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2" name="Google Shape;812;p10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813" name="Google Shape;813;p10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10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5" name="Google Shape;815;p1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6" name="Google Shape;816;p10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817" name="Google Shape;817;p10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10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9" name="Google Shape;819;p10"/>
            <p:cNvSpPr txBox="1"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0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10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0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0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0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10"/>
            <p:cNvSpPr txBox="1"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0" name="Google Shape;830;p10"/>
          <p:cNvGrpSpPr/>
          <p:nvPr/>
        </p:nvGrpSpPr>
        <p:grpSpPr>
          <a:xfrm>
            <a:off x="2674937" y="4668837"/>
            <a:ext cx="511175" cy="693737"/>
            <a:chOff x="4140" y="429"/>
            <a:chExt cx="1425" cy="2396"/>
          </a:xfrm>
        </p:grpSpPr>
        <p:sp>
          <p:nvSpPr>
            <p:cNvPr id="831" name="Google Shape;831;p10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10"/>
            <p:cNvSpPr txBox="1"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10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0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0"/>
            <p:cNvSpPr txBox="1"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6" name="Google Shape;836;p10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837" name="Google Shape;837;p10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10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9" name="Google Shape;839;p10"/>
            <p:cNvSpPr txBox="1"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0" name="Google Shape;840;p10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841" name="Google Shape;841;p10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10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" name="Google Shape;843;p10"/>
            <p:cNvSpPr txBox="1"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10"/>
            <p:cNvSpPr txBox="1"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5" name="Google Shape;845;p10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846" name="Google Shape;846;p10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10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8" name="Google Shape;848;p10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" name="Google Shape;849;p10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850" name="Google Shape;850;p10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10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2" name="Google Shape;852;p10"/>
            <p:cNvSpPr txBox="1"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0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0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0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0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0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0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0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0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0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0"/>
            <p:cNvSpPr txBox="1"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3" name="Google Shape;863;p10" descr="underline_bas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200" y="801687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10"/>
          <p:cNvSpPr txBox="1">
            <a:spLocks noGrp="1"/>
          </p:cNvSpPr>
          <p:nvPr>
            <p:ph type="title"/>
          </p:nvPr>
        </p:nvSpPr>
        <p:spPr>
          <a:xfrm>
            <a:off x="444500" y="22225"/>
            <a:ext cx="8235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Scenario: Alice sends message to Bob</a:t>
            </a:r>
            <a:endParaRPr/>
          </a:p>
        </p:txBody>
      </p:sp>
      <p:sp>
        <p:nvSpPr>
          <p:cNvPr id="865" name="Google Shape;865;p10"/>
          <p:cNvSpPr txBox="1">
            <a:spLocks noGrp="1"/>
          </p:cNvSpPr>
          <p:nvPr>
            <p:ph type="body" idx="1"/>
          </p:nvPr>
        </p:nvSpPr>
        <p:spPr>
          <a:xfrm>
            <a:off x="533400" y="1371600"/>
            <a:ext cx="3810000" cy="321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30"/>
              <a:buNone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1) Alice uses UA to compose message “to” </a:t>
            </a:r>
            <a:r>
              <a:rPr lang="en-US" sz="2200" b="0" i="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bob@someschool.edu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2) Alice’s UA sends message to her mail server; message placed in message queue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3) client side of SMTP opens TCP connection with Bob’s mail server</a:t>
            </a:r>
            <a:endParaRPr/>
          </a:p>
        </p:txBody>
      </p:sp>
      <p:sp>
        <p:nvSpPr>
          <p:cNvPr id="866" name="Google Shape;866;p10"/>
          <p:cNvSpPr txBox="1">
            <a:spLocks noGrp="1"/>
          </p:cNvSpPr>
          <p:nvPr>
            <p:ph type="body" idx="1"/>
          </p:nvPr>
        </p:nvSpPr>
        <p:spPr>
          <a:xfrm>
            <a:off x="4508500" y="1335087"/>
            <a:ext cx="3810000" cy="326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30"/>
              <a:buNone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4) SMTP client sends Alice’s message over the TCP connection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5) Bob’s mail server places the message in Bob’s mailbox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6) Bob invokes his user agent to read message</a:t>
            </a:r>
            <a:endParaRPr/>
          </a:p>
          <a:p>
            <a:pPr marL="342900" lvl="0" indent="-252095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</a:pPr>
            <a:endParaRPr sz="22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67" name="Google Shape;867;p10"/>
          <p:cNvGrpSpPr/>
          <p:nvPr/>
        </p:nvGrpSpPr>
        <p:grpSpPr>
          <a:xfrm>
            <a:off x="2808287" y="4956175"/>
            <a:ext cx="809625" cy="1049337"/>
            <a:chOff x="4296" y="2627"/>
            <a:chExt cx="510" cy="661"/>
          </a:xfrm>
        </p:grpSpPr>
        <p:sp>
          <p:nvSpPr>
            <p:cNvPr id="868" name="Google Shape;868;p10"/>
            <p:cNvSpPr txBox="1"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10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sp>
          <p:nvSpPr>
            <p:cNvPr id="870" name="Google Shape;870;p10"/>
            <p:cNvSpPr txBox="1"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1" name="Google Shape;871;p10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72" name="Google Shape;872;p10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73" name="Google Shape;873;p10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74" name="Google Shape;874;p10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75" name="Google Shape;875;p10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76" name="Google Shape;876;p10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77" name="Google Shape;877;p10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878" name="Google Shape;878;p10"/>
            <p:cNvSpPr txBox="1"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0"/>
            <p:cNvSpPr txBox="1"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0"/>
            <p:cNvSpPr txBox="1"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"/>
            <p:cNvSpPr txBox="1"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"/>
            <p:cNvSpPr txBox="1"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3" name="Google Shape;883;p10" descr="Ali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3225" y="5121275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10" descr="Bob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93037" y="5026025"/>
            <a:ext cx="676275" cy="690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10"/>
          <p:cNvGrpSpPr/>
          <p:nvPr/>
        </p:nvGrpSpPr>
        <p:grpSpPr>
          <a:xfrm>
            <a:off x="4999037" y="4902200"/>
            <a:ext cx="809625" cy="1049337"/>
            <a:chOff x="4296" y="2627"/>
            <a:chExt cx="510" cy="661"/>
          </a:xfrm>
        </p:grpSpPr>
        <p:sp>
          <p:nvSpPr>
            <p:cNvPr id="886" name="Google Shape;886;p10"/>
            <p:cNvSpPr txBox="1"/>
            <p:nvPr/>
          </p:nvSpPr>
          <p:spPr>
            <a:xfrm>
              <a:off x="4296" y="2652"/>
              <a:ext cx="510" cy="636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0"/>
            <p:cNvSpPr txBox="1"/>
            <p:nvPr/>
          </p:nvSpPr>
          <p:spPr>
            <a:xfrm>
              <a:off x="4304" y="2627"/>
              <a:ext cx="472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mail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sp>
          <p:nvSpPr>
            <p:cNvPr id="888" name="Google Shape;888;p10"/>
            <p:cNvSpPr txBox="1"/>
            <p:nvPr/>
          </p:nvSpPr>
          <p:spPr>
            <a:xfrm>
              <a:off x="4320" y="3006"/>
              <a:ext cx="450" cy="120"/>
            </a:xfrm>
            <a:prstGeom prst="rect">
              <a:avLst/>
            </a:prstGeom>
            <a:solidFill>
              <a:srgbClr val="00FF00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9" name="Google Shape;889;p10"/>
            <p:cNvCxnSpPr/>
            <p:nvPr/>
          </p:nvCxnSpPr>
          <p:spPr>
            <a:xfrm>
              <a:off x="4369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90" name="Google Shape;890;p10"/>
            <p:cNvCxnSpPr/>
            <p:nvPr/>
          </p:nvCxnSpPr>
          <p:spPr>
            <a:xfrm>
              <a:off x="4478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91" name="Google Shape;891;p10"/>
            <p:cNvCxnSpPr/>
            <p:nvPr/>
          </p:nvCxnSpPr>
          <p:spPr>
            <a:xfrm>
              <a:off x="4533" y="3035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92" name="Google Shape;892;p10"/>
            <p:cNvCxnSpPr/>
            <p:nvPr/>
          </p:nvCxnSpPr>
          <p:spPr>
            <a:xfrm>
              <a:off x="4590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93" name="Google Shape;893;p10"/>
            <p:cNvCxnSpPr/>
            <p:nvPr/>
          </p:nvCxnSpPr>
          <p:spPr>
            <a:xfrm>
              <a:off x="4651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94" name="Google Shape;894;p10"/>
            <p:cNvCxnSpPr/>
            <p:nvPr/>
          </p:nvCxnSpPr>
          <p:spPr>
            <a:xfrm>
              <a:off x="4707" y="303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895" name="Google Shape;895;p10"/>
            <p:cNvCxnSpPr/>
            <p:nvPr/>
          </p:nvCxnSpPr>
          <p:spPr>
            <a:xfrm>
              <a:off x="4422" y="303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896" name="Google Shape;896;p10"/>
            <p:cNvSpPr txBox="1"/>
            <p:nvPr/>
          </p:nvSpPr>
          <p:spPr>
            <a:xfrm>
              <a:off x="4328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0"/>
            <p:cNvSpPr txBox="1"/>
            <p:nvPr/>
          </p:nvSpPr>
          <p:spPr>
            <a:xfrm>
              <a:off x="4414" y="317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0"/>
            <p:cNvSpPr txBox="1"/>
            <p:nvPr/>
          </p:nvSpPr>
          <p:spPr>
            <a:xfrm>
              <a:off x="4500" y="3172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0"/>
            <p:cNvSpPr txBox="1"/>
            <p:nvPr/>
          </p:nvSpPr>
          <p:spPr>
            <a:xfrm>
              <a:off x="4597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10"/>
            <p:cNvSpPr txBox="1"/>
            <p:nvPr/>
          </p:nvSpPr>
          <p:spPr>
            <a:xfrm>
              <a:off x="4693" y="317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1" name="Google Shape;901;p10"/>
          <p:cNvCxnSpPr/>
          <p:nvPr/>
        </p:nvCxnSpPr>
        <p:spPr>
          <a:xfrm>
            <a:off x="1928812" y="5494337"/>
            <a:ext cx="892175" cy="14605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02" name="Google Shape;902;p10"/>
          <p:cNvCxnSpPr/>
          <p:nvPr/>
        </p:nvCxnSpPr>
        <p:spPr>
          <a:xfrm>
            <a:off x="3614737" y="5629275"/>
            <a:ext cx="1379537" cy="219075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03" name="Google Shape;903;p10"/>
          <p:cNvCxnSpPr/>
          <p:nvPr/>
        </p:nvCxnSpPr>
        <p:spPr>
          <a:xfrm rot="10800000" flipH="1">
            <a:off x="5845175" y="5408612"/>
            <a:ext cx="1027112" cy="427037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04" name="Google Shape;904;p10"/>
          <p:cNvSpPr/>
          <p:nvPr/>
        </p:nvSpPr>
        <p:spPr>
          <a:xfrm>
            <a:off x="1058862" y="4943475"/>
            <a:ext cx="292100" cy="2444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05" name="Google Shape;905;p10"/>
          <p:cNvSpPr/>
          <p:nvPr/>
        </p:nvSpPr>
        <p:spPr>
          <a:xfrm>
            <a:off x="2168525" y="5438775"/>
            <a:ext cx="292100" cy="2444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06" name="Google Shape;906;p10"/>
          <p:cNvSpPr/>
          <p:nvPr/>
        </p:nvSpPr>
        <p:spPr>
          <a:xfrm>
            <a:off x="3040062" y="5518150"/>
            <a:ext cx="292100" cy="2444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07" name="Google Shape;907;p10"/>
          <p:cNvSpPr/>
          <p:nvPr/>
        </p:nvSpPr>
        <p:spPr>
          <a:xfrm>
            <a:off x="4151312" y="5603875"/>
            <a:ext cx="292100" cy="2444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908" name="Google Shape;908;p10"/>
          <p:cNvSpPr/>
          <p:nvPr/>
        </p:nvSpPr>
        <p:spPr>
          <a:xfrm>
            <a:off x="5256212" y="5935662"/>
            <a:ext cx="292100" cy="2444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909" name="Google Shape;909;p10"/>
          <p:cNvSpPr/>
          <p:nvPr/>
        </p:nvSpPr>
        <p:spPr>
          <a:xfrm>
            <a:off x="6178550" y="5505450"/>
            <a:ext cx="292100" cy="24447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910" name="Google Shape;910;p10"/>
          <p:cNvSpPr txBox="1"/>
          <p:nvPr/>
        </p:nvSpPr>
        <p:spPr>
          <a:xfrm>
            <a:off x="2324100" y="6069012"/>
            <a:ext cx="181927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Alice’s mail server</a:t>
            </a:r>
            <a:endParaRPr/>
          </a:p>
        </p:txBody>
      </p:sp>
      <p:sp>
        <p:nvSpPr>
          <p:cNvPr id="911" name="Google Shape;911;p10"/>
          <p:cNvSpPr txBox="1"/>
          <p:nvPr/>
        </p:nvSpPr>
        <p:spPr>
          <a:xfrm>
            <a:off x="4598987" y="6132512"/>
            <a:ext cx="17414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Bob’s mail server</a:t>
            </a:r>
            <a:endParaRPr/>
          </a:p>
        </p:txBody>
      </p:sp>
      <p:grpSp>
        <p:nvGrpSpPr>
          <p:cNvPr id="912" name="Google Shape;912;p10"/>
          <p:cNvGrpSpPr/>
          <p:nvPr/>
        </p:nvGrpSpPr>
        <p:grpSpPr>
          <a:xfrm>
            <a:off x="6672262" y="4808537"/>
            <a:ext cx="912812" cy="1054100"/>
            <a:chOff x="3574" y="550"/>
            <a:chExt cx="575" cy="664"/>
          </a:xfrm>
        </p:grpSpPr>
        <p:grpSp>
          <p:nvGrpSpPr>
            <p:cNvPr id="913" name="Google Shape;913;p10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914" name="Google Shape;914;p10" descr="desktop_computer_stylized_medium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5" name="Google Shape;915;p1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6" name="Google Shape;916;p10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0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1"/>
          <p:cNvSpPr txBox="1">
            <a:spLocks noGrp="1"/>
          </p:cNvSpPr>
          <p:nvPr>
            <p:ph type="title"/>
          </p:nvPr>
        </p:nvSpPr>
        <p:spPr>
          <a:xfrm>
            <a:off x="533400" y="1174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Mail message format</a:t>
            </a:r>
            <a:endParaRPr/>
          </a:p>
        </p:txBody>
      </p:sp>
      <p:sp>
        <p:nvSpPr>
          <p:cNvPr id="924" name="Google Shape;924;p11"/>
          <p:cNvSpPr txBox="1">
            <a:spLocks noGrp="1"/>
          </p:cNvSpPr>
          <p:nvPr>
            <p:ph type="body" idx="1"/>
          </p:nvPr>
        </p:nvSpPr>
        <p:spPr>
          <a:xfrm>
            <a:off x="533400" y="1611312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SMTP: protocol for exchanging email msgs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RFC 822: standard for text message format: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header lines, e.g.,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To: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From: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Subject:</a:t>
            </a:r>
            <a:endParaRPr/>
          </a:p>
          <a:p>
            <a:pPr marL="742950" lvl="1" indent="-1587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42950" lvl="1" indent="-1587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42950" lvl="1" indent="-15875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Body: the “message” </a:t>
            </a:r>
            <a:endParaRPr/>
          </a:p>
        </p:txBody>
      </p:sp>
      <p:sp>
        <p:nvSpPr>
          <p:cNvPr id="925" name="Google Shape;925;p11"/>
          <p:cNvSpPr txBox="1"/>
          <p:nvPr/>
        </p:nvSpPr>
        <p:spPr>
          <a:xfrm>
            <a:off x="4978400" y="1892300"/>
            <a:ext cx="2832100" cy="431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926" name="Google Shape;926;p11"/>
          <p:cNvSpPr txBox="1"/>
          <p:nvPr/>
        </p:nvSpPr>
        <p:spPr>
          <a:xfrm>
            <a:off x="4978400" y="2705100"/>
            <a:ext cx="2832100" cy="1739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/>
          </a:p>
        </p:txBody>
      </p:sp>
      <p:sp>
        <p:nvSpPr>
          <p:cNvPr id="927" name="Google Shape;927;p11"/>
          <p:cNvSpPr txBox="1"/>
          <p:nvPr/>
        </p:nvSpPr>
        <p:spPr>
          <a:xfrm>
            <a:off x="4775200" y="1778000"/>
            <a:ext cx="3238500" cy="30734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8" name="Google Shape;928;p11"/>
          <p:cNvCxnSpPr/>
          <p:nvPr/>
        </p:nvCxnSpPr>
        <p:spPr>
          <a:xfrm rot="10800000" flipH="1">
            <a:off x="3162300" y="2159000"/>
            <a:ext cx="1765300" cy="1016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9" name="Google Shape;929;p11"/>
          <p:cNvCxnSpPr/>
          <p:nvPr/>
        </p:nvCxnSpPr>
        <p:spPr>
          <a:xfrm rot="10800000" flipH="1">
            <a:off x="3009900" y="3327400"/>
            <a:ext cx="1905000" cy="1879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930" name="Google Shape;930;p11"/>
          <p:cNvSpPr txBox="1"/>
          <p:nvPr/>
        </p:nvSpPr>
        <p:spPr>
          <a:xfrm>
            <a:off x="8139112" y="2112962"/>
            <a:ext cx="792162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</a:t>
            </a:r>
            <a:endParaRPr/>
          </a:p>
        </p:txBody>
      </p:sp>
      <p:cxnSp>
        <p:nvCxnSpPr>
          <p:cNvPr id="931" name="Google Shape;931;p11"/>
          <p:cNvCxnSpPr/>
          <p:nvPr/>
        </p:nvCxnSpPr>
        <p:spPr>
          <a:xfrm rot="10800000">
            <a:off x="7251700" y="2552700"/>
            <a:ext cx="965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932" name="Google Shape;932;p11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950" y="912812"/>
            <a:ext cx="4570412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12"/>
          <p:cNvGrpSpPr/>
          <p:nvPr/>
        </p:nvGrpSpPr>
        <p:grpSpPr>
          <a:xfrm>
            <a:off x="2962275" y="1577975"/>
            <a:ext cx="511175" cy="693737"/>
            <a:chOff x="4140" y="429"/>
            <a:chExt cx="1425" cy="2396"/>
          </a:xfrm>
        </p:grpSpPr>
        <p:sp>
          <p:nvSpPr>
            <p:cNvPr id="939" name="Google Shape;939;p1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2"/>
            <p:cNvSpPr txBox="1"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2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2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2"/>
            <p:cNvSpPr txBox="1"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4" name="Google Shape;944;p12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945" name="Google Shape;945;p12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12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" name="Google Shape;947;p12"/>
            <p:cNvSpPr txBox="1"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8" name="Google Shape;948;p12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949" name="Google Shape;949;p12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12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1" name="Google Shape;951;p12"/>
            <p:cNvSpPr txBox="1"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2"/>
            <p:cNvSpPr txBox="1"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3" name="Google Shape;953;p12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954" name="Google Shape;954;p12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12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6" name="Google Shape;956;p12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7" name="Google Shape;957;p12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958" name="Google Shape;958;p12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12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60" name="Google Shape;960;p12"/>
            <p:cNvSpPr txBox="1"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2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2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12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2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2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2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2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2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2"/>
            <p:cNvSpPr txBox="1"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1" name="Google Shape;971;p12"/>
          <p:cNvGrpSpPr/>
          <p:nvPr/>
        </p:nvGrpSpPr>
        <p:grpSpPr>
          <a:xfrm>
            <a:off x="4648200" y="1587500"/>
            <a:ext cx="511175" cy="693737"/>
            <a:chOff x="4140" y="429"/>
            <a:chExt cx="1425" cy="2396"/>
          </a:xfrm>
        </p:grpSpPr>
        <p:sp>
          <p:nvSpPr>
            <p:cNvPr id="972" name="Google Shape;972;p12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/>
              <a:ahLst/>
              <a:cxnLst/>
              <a:rect l="l" t="t" r="r" b="b"/>
              <a:pathLst>
                <a:path w="354" h="2742" extrusionOk="0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2"/>
            <p:cNvSpPr txBox="1"/>
            <p:nvPr/>
          </p:nvSpPr>
          <p:spPr>
            <a:xfrm>
              <a:off x="4206" y="429"/>
              <a:ext cx="1044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2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/>
              <a:ahLst/>
              <a:cxnLst/>
              <a:rect l="l" t="t" r="r" b="b"/>
              <a:pathLst>
                <a:path w="211" h="2537" extrusionOk="0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2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2"/>
            <p:cNvSpPr txBox="1"/>
            <p:nvPr/>
          </p:nvSpPr>
          <p:spPr>
            <a:xfrm>
              <a:off x="4211" y="692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7" name="Google Shape;977;p12"/>
            <p:cNvGrpSpPr/>
            <p:nvPr/>
          </p:nvGrpSpPr>
          <p:grpSpPr>
            <a:xfrm>
              <a:off x="4751" y="670"/>
              <a:ext cx="579" cy="143"/>
              <a:chOff x="616" y="2570"/>
              <a:chExt cx="723" cy="137"/>
            </a:xfrm>
          </p:grpSpPr>
          <p:sp>
            <p:nvSpPr>
              <p:cNvPr id="978" name="Google Shape;978;p12"/>
              <p:cNvSpPr/>
              <p:nvPr/>
            </p:nvSpPr>
            <p:spPr>
              <a:xfrm>
                <a:off x="616" y="2570"/>
                <a:ext cx="723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12"/>
              <p:cNvSpPr/>
              <p:nvPr/>
            </p:nvSpPr>
            <p:spPr>
              <a:xfrm>
                <a:off x="633" y="2586"/>
                <a:ext cx="690" cy="105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0" name="Google Shape;980;p12"/>
            <p:cNvSpPr txBox="1"/>
            <p:nvPr/>
          </p:nvSpPr>
          <p:spPr>
            <a:xfrm>
              <a:off x="4224" y="1021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1" name="Google Shape;981;p12"/>
            <p:cNvGrpSpPr/>
            <p:nvPr/>
          </p:nvGrpSpPr>
          <p:grpSpPr>
            <a:xfrm>
              <a:off x="4746" y="994"/>
              <a:ext cx="575" cy="126"/>
              <a:chOff x="613" y="2568"/>
              <a:chExt cx="718" cy="131"/>
            </a:xfrm>
          </p:grpSpPr>
          <p:sp>
            <p:nvSpPr>
              <p:cNvPr id="982" name="Google Shape;982;p12"/>
              <p:cNvSpPr/>
              <p:nvPr/>
            </p:nvSpPr>
            <p:spPr>
              <a:xfrm>
                <a:off x="613" y="2568"/>
                <a:ext cx="718" cy="131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12"/>
              <p:cNvSpPr/>
              <p:nvPr/>
            </p:nvSpPr>
            <p:spPr>
              <a:xfrm>
                <a:off x="630" y="2585"/>
                <a:ext cx="690" cy="102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4" name="Google Shape;984;p12"/>
            <p:cNvSpPr txBox="1"/>
            <p:nvPr/>
          </p:nvSpPr>
          <p:spPr>
            <a:xfrm>
              <a:off x="4215" y="1356"/>
              <a:ext cx="597" cy="49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2"/>
            <p:cNvSpPr txBox="1"/>
            <p:nvPr/>
          </p:nvSpPr>
          <p:spPr>
            <a:xfrm>
              <a:off x="4229" y="1657"/>
              <a:ext cx="597" cy="44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6" name="Google Shape;986;p12"/>
            <p:cNvGrpSpPr/>
            <p:nvPr/>
          </p:nvGrpSpPr>
          <p:grpSpPr>
            <a:xfrm>
              <a:off x="4733" y="1641"/>
              <a:ext cx="584" cy="137"/>
              <a:chOff x="612" y="2581"/>
              <a:chExt cx="728" cy="126"/>
            </a:xfrm>
          </p:grpSpPr>
          <p:sp>
            <p:nvSpPr>
              <p:cNvPr id="987" name="Google Shape;987;p12"/>
              <p:cNvSpPr/>
              <p:nvPr/>
            </p:nvSpPr>
            <p:spPr>
              <a:xfrm>
                <a:off x="612" y="2581"/>
                <a:ext cx="728" cy="126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12"/>
              <p:cNvSpPr/>
              <p:nvPr/>
            </p:nvSpPr>
            <p:spPr>
              <a:xfrm>
                <a:off x="628" y="2586"/>
                <a:ext cx="695" cy="106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9" name="Google Shape;989;p12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/>
              <a:ahLst/>
              <a:cxnLst/>
              <a:rect l="l" t="t" r="r" b="b"/>
              <a:pathLst>
                <a:path w="328" h="226" extrusionOk="0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0" name="Google Shape;990;p12"/>
            <p:cNvGrpSpPr/>
            <p:nvPr/>
          </p:nvGrpSpPr>
          <p:grpSpPr>
            <a:xfrm>
              <a:off x="4737" y="1328"/>
              <a:ext cx="584" cy="137"/>
              <a:chOff x="612" y="2569"/>
              <a:chExt cx="728" cy="137"/>
            </a:xfrm>
          </p:grpSpPr>
          <p:sp>
            <p:nvSpPr>
              <p:cNvPr id="991" name="Google Shape;991;p12"/>
              <p:cNvSpPr/>
              <p:nvPr/>
            </p:nvSpPr>
            <p:spPr>
              <a:xfrm>
                <a:off x="612" y="2569"/>
                <a:ext cx="728" cy="137"/>
              </a:xfrm>
              <a:prstGeom prst="roundRect">
                <a:avLst>
                  <a:gd name="adj" fmla="val 108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12"/>
              <p:cNvSpPr/>
              <p:nvPr/>
            </p:nvSpPr>
            <p:spPr>
              <a:xfrm>
                <a:off x="629" y="2586"/>
                <a:ext cx="695" cy="104"/>
              </a:xfrm>
              <a:prstGeom prst="roundRect">
                <a:avLst>
                  <a:gd name="adj" fmla="val 10800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3" name="Google Shape;993;p12"/>
            <p:cNvSpPr txBox="1"/>
            <p:nvPr/>
          </p:nvSpPr>
          <p:spPr>
            <a:xfrm>
              <a:off x="5251" y="429"/>
              <a:ext cx="66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2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/>
              <a:ahLst/>
              <a:cxnLst/>
              <a:rect l="l" t="t" r="r" b="b"/>
              <a:pathLst>
                <a:path w="296" h="256" extrusionOk="0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2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/>
              <a:ahLst/>
              <a:cxnLst/>
              <a:rect l="l" t="t" r="r" b="b"/>
              <a:pathLst>
                <a:path w="304" h="288" extrusionOk="0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2"/>
            <p:cNvSpPr/>
            <p:nvPr/>
          </p:nvSpPr>
          <p:spPr>
            <a:xfrm>
              <a:off x="5516" y="2611"/>
              <a:ext cx="49" cy="9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2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/>
              <a:ahLst/>
              <a:cxnLst/>
              <a:rect l="l" t="t" r="r" b="b"/>
              <a:pathLst>
                <a:path w="306" h="240" extrusionOk="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2"/>
            <p:cNvSpPr/>
            <p:nvPr/>
          </p:nvSpPr>
          <p:spPr>
            <a:xfrm>
              <a:off x="4140" y="2677"/>
              <a:ext cx="1199" cy="148"/>
            </a:xfrm>
            <a:prstGeom prst="roundRect">
              <a:avLst>
                <a:gd name="adj" fmla="val 10800"/>
              </a:avLst>
            </a:prstGeom>
            <a:solidFill>
              <a:srgbClr val="DDDDDD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2"/>
            <p:cNvSpPr/>
            <p:nvPr/>
          </p:nvSpPr>
          <p:spPr>
            <a:xfrm>
              <a:off x="4206" y="2710"/>
              <a:ext cx="1071" cy="82"/>
            </a:xfrm>
            <a:prstGeom prst="roundRect">
              <a:avLst>
                <a:gd name="adj" fmla="val 10800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2"/>
            <p:cNvSpPr/>
            <p:nvPr/>
          </p:nvSpPr>
          <p:spPr>
            <a:xfrm>
              <a:off x="4308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2"/>
            <p:cNvSpPr/>
            <p:nvPr/>
          </p:nvSpPr>
          <p:spPr>
            <a:xfrm>
              <a:off x="4485" y="2386"/>
              <a:ext cx="159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2"/>
            <p:cNvSpPr/>
            <p:nvPr/>
          </p:nvSpPr>
          <p:spPr>
            <a:xfrm>
              <a:off x="4662" y="2381"/>
              <a:ext cx="159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2"/>
            <p:cNvSpPr txBox="1"/>
            <p:nvPr/>
          </p:nvSpPr>
          <p:spPr>
            <a:xfrm>
              <a:off x="5060" y="1833"/>
              <a:ext cx="89" cy="762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4" name="Google Shape;1004;p12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25" y="963612"/>
            <a:ext cx="5027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12"/>
          <p:cNvSpPr txBox="1">
            <a:spLocks noGrp="1"/>
          </p:cNvSpPr>
          <p:nvPr>
            <p:ph type="title"/>
          </p:nvPr>
        </p:nvSpPr>
        <p:spPr>
          <a:xfrm>
            <a:off x="500062" y="255587"/>
            <a:ext cx="7772400" cy="89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lang="en-US" sz="44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Mail access protocols</a:t>
            </a:r>
            <a:endParaRPr/>
          </a:p>
        </p:txBody>
      </p:sp>
      <p:sp>
        <p:nvSpPr>
          <p:cNvPr id="1006" name="Google Shape;1006;p12"/>
          <p:cNvSpPr txBox="1">
            <a:spLocks noGrp="1"/>
          </p:cNvSpPr>
          <p:nvPr>
            <p:ph type="body" idx="1"/>
          </p:nvPr>
        </p:nvSpPr>
        <p:spPr>
          <a:xfrm>
            <a:off x="581025" y="3230562"/>
            <a:ext cx="7381875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 dirty="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SMTP:</a:t>
            </a:r>
            <a:r>
              <a:rPr lang="en-US" sz="24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delivery/storage to receiver’s server</a:t>
            </a:r>
            <a:endParaRPr dirty="0"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mail access protocol: retrieval from server</a:t>
            </a:r>
            <a:endParaRPr dirty="0"/>
          </a:p>
          <a:p>
            <a:pPr marL="742950" lvl="1" indent="-28575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 b="0" i="0" u="none" dirty="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POP:</a:t>
            </a:r>
            <a:r>
              <a:rPr lang="en-US" sz="22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Post Office Protocol [RFC 1939]: authorization, download </a:t>
            </a:r>
            <a:endParaRPr dirty="0"/>
          </a:p>
          <a:p>
            <a:pPr marL="742950" lvl="1" indent="-28575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lang="en-US" sz="2200" b="0" i="0" u="none" dirty="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IMAP:</a:t>
            </a:r>
            <a:r>
              <a:rPr lang="en-US" sz="22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Internet Mail Access Protocol [RFC 1730]: more features, including </a:t>
            </a:r>
            <a:r>
              <a:rPr lang="en-US" sz="2200" b="0" i="0" u="none" dirty="0" smtClean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operation </a:t>
            </a:r>
            <a:r>
              <a:rPr lang="en-US" sz="22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of stored </a:t>
            </a:r>
            <a:r>
              <a:rPr lang="en-US" sz="2200" b="0" i="0" u="none" dirty="0" err="1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msgs</a:t>
            </a:r>
            <a:r>
              <a:rPr lang="en-US" sz="2200" b="0" i="0" u="none" dirty="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on server</a:t>
            </a:r>
            <a:endParaRPr dirty="0"/>
          </a:p>
          <a:p>
            <a:pPr marL="742950" lvl="0" indent="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dirty="0"/>
          </a:p>
          <a:p>
            <a:pPr marL="342900" lvl="0" indent="-252095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SzPts val="1430"/>
              <a:buNone/>
            </a:pPr>
            <a:endParaRPr sz="2200" b="0" i="0" u="none" dirty="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7" name="Google Shape;1007;p12"/>
          <p:cNvGrpSpPr/>
          <p:nvPr/>
        </p:nvGrpSpPr>
        <p:grpSpPr>
          <a:xfrm>
            <a:off x="2797175" y="1987550"/>
            <a:ext cx="1436687" cy="1131887"/>
            <a:chOff x="1796" y="1206"/>
            <a:chExt cx="905" cy="713"/>
          </a:xfrm>
        </p:grpSpPr>
        <p:sp>
          <p:nvSpPr>
            <p:cNvPr id="1008" name="Google Shape;1008;p12"/>
            <p:cNvSpPr txBox="1"/>
            <p:nvPr/>
          </p:nvSpPr>
          <p:spPr>
            <a:xfrm>
              <a:off x="1796" y="1583"/>
              <a:ext cx="905" cy="3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sender’s mail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server</a:t>
              </a:r>
              <a:endParaRPr/>
            </a:p>
          </p:txBody>
        </p:sp>
        <p:grpSp>
          <p:nvGrpSpPr>
            <p:cNvPr id="1009" name="Google Shape;1009;p12"/>
            <p:cNvGrpSpPr/>
            <p:nvPr/>
          </p:nvGrpSpPr>
          <p:grpSpPr>
            <a:xfrm>
              <a:off x="1992" y="1206"/>
              <a:ext cx="510" cy="354"/>
              <a:chOff x="2070" y="2004"/>
              <a:chExt cx="510" cy="354"/>
            </a:xfrm>
          </p:grpSpPr>
          <p:sp>
            <p:nvSpPr>
              <p:cNvPr id="1010" name="Google Shape;1010;p12"/>
              <p:cNvSpPr txBox="1"/>
              <p:nvPr/>
            </p:nvSpPr>
            <p:spPr>
              <a:xfrm>
                <a:off x="2070" y="2004"/>
                <a:ext cx="510" cy="354"/>
              </a:xfrm>
              <a:prstGeom prst="rect">
                <a:avLst/>
              </a:prstGeom>
              <a:solidFill>
                <a:schemeClr val="hlink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12"/>
              <p:cNvSpPr txBox="1"/>
              <p:nvPr/>
            </p:nvSpPr>
            <p:spPr>
              <a:xfrm>
                <a:off x="2094" y="2076"/>
                <a:ext cx="450" cy="120"/>
              </a:xfrm>
              <a:prstGeom prst="rect">
                <a:avLst/>
              </a:prstGeom>
              <a:solidFill>
                <a:srgbClr val="00FF00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12" name="Google Shape;1012;p12"/>
              <p:cNvCxnSpPr/>
              <p:nvPr/>
            </p:nvCxnSpPr>
            <p:spPr>
              <a:xfrm>
                <a:off x="2143" y="210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3" name="Google Shape;1013;p12"/>
              <p:cNvCxnSpPr/>
              <p:nvPr/>
            </p:nvCxnSpPr>
            <p:spPr>
              <a:xfrm>
                <a:off x="2252" y="210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4" name="Google Shape;1014;p12"/>
              <p:cNvCxnSpPr/>
              <p:nvPr/>
            </p:nvCxnSpPr>
            <p:spPr>
              <a:xfrm>
                <a:off x="2307" y="2105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5" name="Google Shape;1015;p12"/>
              <p:cNvCxnSpPr/>
              <p:nvPr/>
            </p:nvCxnSpPr>
            <p:spPr>
              <a:xfrm>
                <a:off x="2364" y="210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12"/>
              <p:cNvCxnSpPr/>
              <p:nvPr/>
            </p:nvCxnSpPr>
            <p:spPr>
              <a:xfrm>
                <a:off x="2425" y="210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12"/>
              <p:cNvCxnSpPr/>
              <p:nvPr/>
            </p:nvCxnSpPr>
            <p:spPr>
              <a:xfrm>
                <a:off x="2481" y="2103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12"/>
              <p:cNvCxnSpPr/>
              <p:nvPr/>
            </p:nvCxnSpPr>
            <p:spPr>
              <a:xfrm>
                <a:off x="2196" y="2104"/>
                <a:ext cx="0" cy="72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019" name="Google Shape;1019;p12"/>
              <p:cNvSpPr txBox="1"/>
              <p:nvPr/>
            </p:nvSpPr>
            <p:spPr>
              <a:xfrm>
                <a:off x="2102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12"/>
              <p:cNvSpPr txBox="1"/>
              <p:nvPr/>
            </p:nvSpPr>
            <p:spPr>
              <a:xfrm>
                <a:off x="2188" y="2243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12"/>
              <p:cNvSpPr txBox="1"/>
              <p:nvPr/>
            </p:nvSpPr>
            <p:spPr>
              <a:xfrm>
                <a:off x="2274" y="2242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12"/>
              <p:cNvSpPr txBox="1"/>
              <p:nvPr/>
            </p:nvSpPr>
            <p:spPr>
              <a:xfrm>
                <a:off x="2371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12"/>
              <p:cNvSpPr txBox="1"/>
              <p:nvPr/>
            </p:nvSpPr>
            <p:spPr>
              <a:xfrm>
                <a:off x="2467" y="2240"/>
                <a:ext cx="64" cy="93"/>
              </a:xfrm>
              <a:prstGeom prst="rect">
                <a:avLst/>
              </a:prstGeom>
              <a:solidFill>
                <a:srgbClr val="FFFF00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24" name="Google Shape;1024;p12"/>
          <p:cNvSpPr txBox="1"/>
          <p:nvPr/>
        </p:nvSpPr>
        <p:spPr>
          <a:xfrm>
            <a:off x="2020887" y="1466850"/>
            <a:ext cx="8905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1025" name="Google Shape;1025;p12"/>
          <p:cNvSpPr txBox="1"/>
          <p:nvPr/>
        </p:nvSpPr>
        <p:spPr>
          <a:xfrm>
            <a:off x="3781425" y="1457325"/>
            <a:ext cx="85725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2"/>
          <p:cNvSpPr txBox="1"/>
          <p:nvPr/>
        </p:nvSpPr>
        <p:spPr>
          <a:xfrm>
            <a:off x="3622675" y="1477962"/>
            <a:ext cx="8905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/>
          </a:p>
        </p:txBody>
      </p:sp>
      <p:sp>
        <p:nvSpPr>
          <p:cNvPr id="1027" name="Google Shape;1027;p12"/>
          <p:cNvSpPr txBox="1"/>
          <p:nvPr/>
        </p:nvSpPr>
        <p:spPr>
          <a:xfrm>
            <a:off x="5484812" y="1308100"/>
            <a:ext cx="1511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mail access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Arial"/>
              <a:buNone/>
            </a:pPr>
            <a:r>
              <a:rPr lang="en-US" sz="20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protocol</a:t>
            </a:r>
            <a:endParaRPr/>
          </a:p>
        </p:txBody>
      </p:sp>
      <p:sp>
        <p:nvSpPr>
          <p:cNvPr id="1028" name="Google Shape;1028;p12"/>
          <p:cNvSpPr txBox="1"/>
          <p:nvPr/>
        </p:nvSpPr>
        <p:spPr>
          <a:xfrm>
            <a:off x="4371975" y="2598737"/>
            <a:ext cx="153828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receiver’s mail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/>
          </a:p>
        </p:txBody>
      </p:sp>
      <p:grpSp>
        <p:nvGrpSpPr>
          <p:cNvPr id="1029" name="Google Shape;1029;p12"/>
          <p:cNvGrpSpPr/>
          <p:nvPr/>
        </p:nvGrpSpPr>
        <p:grpSpPr>
          <a:xfrm>
            <a:off x="4800600" y="2000250"/>
            <a:ext cx="809625" cy="561975"/>
            <a:chOff x="2070" y="2004"/>
            <a:chExt cx="510" cy="354"/>
          </a:xfrm>
        </p:grpSpPr>
        <p:sp>
          <p:nvSpPr>
            <p:cNvPr id="1030" name="Google Shape;1030;p12"/>
            <p:cNvSpPr txBox="1"/>
            <p:nvPr/>
          </p:nvSpPr>
          <p:spPr>
            <a:xfrm>
              <a:off x="2070" y="2004"/>
              <a:ext cx="510" cy="354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2"/>
            <p:cNvSpPr txBox="1"/>
            <p:nvPr/>
          </p:nvSpPr>
          <p:spPr>
            <a:xfrm>
              <a:off x="2094" y="2076"/>
              <a:ext cx="450" cy="120"/>
            </a:xfrm>
            <a:prstGeom prst="rect">
              <a:avLst/>
            </a:prstGeom>
            <a:solidFill>
              <a:srgbClr val="00FF00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32" name="Google Shape;1032;p12"/>
            <p:cNvCxnSpPr/>
            <p:nvPr/>
          </p:nvCxnSpPr>
          <p:spPr>
            <a:xfrm>
              <a:off x="2143" y="210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33" name="Google Shape;1033;p12"/>
            <p:cNvCxnSpPr/>
            <p:nvPr/>
          </p:nvCxnSpPr>
          <p:spPr>
            <a:xfrm>
              <a:off x="2252" y="210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34" name="Google Shape;1034;p12"/>
            <p:cNvCxnSpPr/>
            <p:nvPr/>
          </p:nvCxnSpPr>
          <p:spPr>
            <a:xfrm>
              <a:off x="2307" y="2105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35" name="Google Shape;1035;p12"/>
            <p:cNvCxnSpPr/>
            <p:nvPr/>
          </p:nvCxnSpPr>
          <p:spPr>
            <a:xfrm>
              <a:off x="2364" y="210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36" name="Google Shape;1036;p12"/>
            <p:cNvCxnSpPr/>
            <p:nvPr/>
          </p:nvCxnSpPr>
          <p:spPr>
            <a:xfrm>
              <a:off x="2425" y="210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37" name="Google Shape;1037;p12"/>
            <p:cNvCxnSpPr/>
            <p:nvPr/>
          </p:nvCxnSpPr>
          <p:spPr>
            <a:xfrm>
              <a:off x="2481" y="2103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38" name="Google Shape;1038;p12"/>
            <p:cNvCxnSpPr/>
            <p:nvPr/>
          </p:nvCxnSpPr>
          <p:spPr>
            <a:xfrm>
              <a:off x="2196" y="2104"/>
              <a:ext cx="0" cy="72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39" name="Google Shape;1039;p12"/>
            <p:cNvSpPr txBox="1"/>
            <p:nvPr/>
          </p:nvSpPr>
          <p:spPr>
            <a:xfrm>
              <a:off x="2102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2"/>
            <p:cNvSpPr txBox="1"/>
            <p:nvPr/>
          </p:nvSpPr>
          <p:spPr>
            <a:xfrm>
              <a:off x="2188" y="2243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2"/>
            <p:cNvSpPr txBox="1"/>
            <p:nvPr/>
          </p:nvSpPr>
          <p:spPr>
            <a:xfrm>
              <a:off x="2274" y="2242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2"/>
            <p:cNvSpPr txBox="1"/>
            <p:nvPr/>
          </p:nvSpPr>
          <p:spPr>
            <a:xfrm>
              <a:off x="2371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2"/>
            <p:cNvSpPr txBox="1"/>
            <p:nvPr/>
          </p:nvSpPr>
          <p:spPr>
            <a:xfrm>
              <a:off x="2467" y="2240"/>
              <a:ext cx="64" cy="93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44" name="Google Shape;1044;p12" descr="Ali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500" y="1557337"/>
            <a:ext cx="561975" cy="69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12" descr="Bo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3700" y="1571625"/>
            <a:ext cx="676275" cy="690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6" name="Google Shape;1046;p12"/>
          <p:cNvCxnSpPr/>
          <p:nvPr/>
        </p:nvCxnSpPr>
        <p:spPr>
          <a:xfrm>
            <a:off x="2003425" y="1905000"/>
            <a:ext cx="903287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47" name="Google Shape;1047;p12"/>
          <p:cNvCxnSpPr/>
          <p:nvPr/>
        </p:nvCxnSpPr>
        <p:spPr>
          <a:xfrm>
            <a:off x="3633787" y="1901825"/>
            <a:ext cx="903287" cy="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48" name="Google Shape;1048;p12"/>
          <p:cNvCxnSpPr/>
          <p:nvPr/>
        </p:nvCxnSpPr>
        <p:spPr>
          <a:xfrm>
            <a:off x="5253037" y="1898650"/>
            <a:ext cx="1697037" cy="1587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49" name="Google Shape;1049;p12"/>
          <p:cNvSpPr txBox="1"/>
          <p:nvPr/>
        </p:nvSpPr>
        <p:spPr>
          <a:xfrm>
            <a:off x="5710237" y="1927225"/>
            <a:ext cx="1311275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Arial"/>
              <a:buNone/>
            </a:pPr>
            <a:r>
              <a:rPr lang="en-US" sz="18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(e.g., </a:t>
            </a:r>
            <a:r>
              <a:rPr lang="en-US" sz="16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POP, </a:t>
            </a:r>
            <a:endParaRPr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lang="en-US" sz="16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        IMAP</a:t>
            </a:r>
            <a:r>
              <a:rPr lang="en-US" sz="1800" b="0" i="1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grpSp>
        <p:nvGrpSpPr>
          <p:cNvPr id="1050" name="Google Shape;1050;p12"/>
          <p:cNvGrpSpPr/>
          <p:nvPr/>
        </p:nvGrpSpPr>
        <p:grpSpPr>
          <a:xfrm>
            <a:off x="1066800" y="1419225"/>
            <a:ext cx="912812" cy="1054100"/>
            <a:chOff x="3574" y="550"/>
            <a:chExt cx="575" cy="664"/>
          </a:xfrm>
        </p:grpSpPr>
        <p:grpSp>
          <p:nvGrpSpPr>
            <p:cNvPr id="1051" name="Google Shape;1051;p12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052" name="Google Shape;1052;p12" descr="desktop_computer_stylized_medium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3" name="Google Shape;1053;p1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" name="Google Shape;1054;p12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2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  <p:grpSp>
        <p:nvGrpSpPr>
          <p:cNvPr id="1056" name="Google Shape;1056;p12"/>
          <p:cNvGrpSpPr/>
          <p:nvPr/>
        </p:nvGrpSpPr>
        <p:grpSpPr>
          <a:xfrm>
            <a:off x="6967537" y="1422400"/>
            <a:ext cx="912812" cy="1054100"/>
            <a:chOff x="3574" y="550"/>
            <a:chExt cx="575" cy="664"/>
          </a:xfrm>
        </p:grpSpPr>
        <p:grpSp>
          <p:nvGrpSpPr>
            <p:cNvPr id="1057" name="Google Shape;1057;p12"/>
            <p:cNvGrpSpPr/>
            <p:nvPr/>
          </p:nvGrpSpPr>
          <p:grpSpPr>
            <a:xfrm>
              <a:off x="3588" y="692"/>
              <a:ext cx="561" cy="522"/>
              <a:chOff x="-44" y="1473"/>
              <a:chExt cx="981" cy="1105"/>
            </a:xfrm>
          </p:grpSpPr>
          <p:pic>
            <p:nvPicPr>
              <p:cNvPr id="1058" name="Google Shape;1058;p12" descr="desktop_computer_stylized_medium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9" name="Google Shape;1059;p1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68" extrusionOk="0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0" name="Google Shape;1060;p12"/>
            <p:cNvSpPr txBox="1"/>
            <p:nvPr/>
          </p:nvSpPr>
          <p:spPr>
            <a:xfrm>
              <a:off x="3611" y="576"/>
              <a:ext cx="381" cy="330"/>
            </a:xfrm>
            <a:prstGeom prst="rect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2"/>
            <p:cNvSpPr txBox="1"/>
            <p:nvPr/>
          </p:nvSpPr>
          <p:spPr>
            <a:xfrm>
              <a:off x="3574" y="550"/>
              <a:ext cx="436" cy="3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13"/>
          <p:cNvSpPr txBox="1">
            <a:spLocks noGrp="1"/>
          </p:cNvSpPr>
          <p:nvPr>
            <p:ph type="title" idx="4294967295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Gill Sans"/>
              <a:buNone/>
            </a:pPr>
            <a:r>
              <a:rPr lang="en-US" sz="4400" b="0" i="0" u="none" strike="noStrike" cap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Application Layer: outline</a:t>
            </a:r>
            <a:endParaRPr/>
          </a:p>
        </p:txBody>
      </p:sp>
      <p:sp>
        <p:nvSpPr>
          <p:cNvPr id="1068" name="Google Shape;1068;p13"/>
          <p:cNvSpPr txBox="1">
            <a:spLocks noGrp="1"/>
          </p:cNvSpPr>
          <p:nvPr>
            <p:ph type="body" idx="4294967295"/>
          </p:nvPr>
        </p:nvSpPr>
        <p:spPr>
          <a:xfrm>
            <a:off x="533400" y="1611312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 principles of network applications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 architectures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 requirements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 Web and HTTP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3 FTP 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 electronic mail</a:t>
            </a:r>
            <a:endParaRPr/>
          </a:p>
          <a:p>
            <a:pPr marL="912812" marR="0" lvl="1" indent="-285749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SMTP, POP3, IMAP</a:t>
            </a:r>
            <a:endParaRPr/>
          </a:p>
          <a:p>
            <a:pPr marL="457200" marR="0" lvl="0" indent="-45720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5 DNS</a:t>
            </a:r>
            <a:endParaRPr/>
          </a:p>
          <a:p>
            <a:pPr marL="342900" marR="0" lvl="0" indent="-227330" algn="l" rtl="0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endParaRPr sz="2800" b="0" i="0" u="non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9" name="Google Shape;1069;p13"/>
          <p:cNvSpPr txBox="1">
            <a:spLocks noGrp="1"/>
          </p:cNvSpPr>
          <p:nvPr>
            <p:ph type="body" idx="4294967295"/>
          </p:nvPr>
        </p:nvSpPr>
        <p:spPr>
          <a:xfrm>
            <a:off x="4673600" y="1600200"/>
            <a:ext cx="3876675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6 socket programming with UDP and TCP</a:t>
            </a:r>
            <a:endParaRPr/>
          </a:p>
        </p:txBody>
      </p:sp>
      <p:pic>
        <p:nvPicPr>
          <p:cNvPr id="1070" name="Google Shape;1070;p13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662" y="1025525"/>
            <a:ext cx="4113212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14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990600"/>
            <a:ext cx="59420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14"/>
          <p:cNvSpPr txBox="1">
            <a:spLocks noGrp="1"/>
          </p:cNvSpPr>
          <p:nvPr>
            <p:ph type="title"/>
          </p:nvPr>
        </p:nvSpPr>
        <p:spPr>
          <a:xfrm>
            <a:off x="533400" y="301625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Gill Sans"/>
              <a:buNone/>
            </a:pPr>
            <a:r>
              <a:rPr lang="en-US" sz="40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DNS: domain name system</a:t>
            </a:r>
            <a:endParaRPr/>
          </a:p>
        </p:txBody>
      </p:sp>
      <p:sp>
        <p:nvSpPr>
          <p:cNvPr id="1078" name="Google Shape;1078;p14"/>
          <p:cNvSpPr txBox="1">
            <a:spLocks noGrp="1"/>
          </p:cNvSpPr>
          <p:nvPr>
            <p:ph type="body" idx="1"/>
          </p:nvPr>
        </p:nvSpPr>
        <p:spPr>
          <a:xfrm>
            <a:off x="468312" y="15113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people: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many identifiers: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NIC, name, passport #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Internet hosts, routers: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IP address (32 bit) - used for addressing datagrams</a:t>
            </a:r>
            <a:endParaRPr/>
          </a:p>
          <a:p>
            <a:pPr marL="742950" lvl="1" indent="-28575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“name”, e.g., www.yahoo.com - used by humans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60"/>
              <a:buNone/>
            </a:pPr>
            <a:endParaRPr/>
          </a:p>
        </p:txBody>
      </p:sp>
      <p:sp>
        <p:nvSpPr>
          <p:cNvPr id="1079" name="Google Shape;1079;p14"/>
          <p:cNvSpPr txBox="1">
            <a:spLocks noGrp="1"/>
          </p:cNvSpPr>
          <p:nvPr>
            <p:ph type="body" idx="1"/>
          </p:nvPr>
        </p:nvSpPr>
        <p:spPr>
          <a:xfrm>
            <a:off x="4495800" y="1489075"/>
            <a:ext cx="4283075" cy="500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20"/>
              <a:buNone/>
            </a:pPr>
            <a:r>
              <a:rPr lang="en-US" sz="2800" b="0" i="1" u="non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Domain Name System: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distributed database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implemented in hierarchy of many </a:t>
            </a: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name servers</a:t>
            </a:r>
            <a:endParaRPr sz="2400" b="0" i="0" u="none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342900" lvl="0" indent="-342900" algn="l" rtl="0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Char char="❖"/>
            </a:pP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application-layer protocol: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hosts, name servers communicate to </a:t>
            </a: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resolve</a:t>
            </a:r>
            <a:r>
              <a:rPr lang="en-US" sz="2400" b="0" i="0" u="non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names (address/name translation)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5" name="Google Shape;1085;p15"/>
          <p:cNvGrpSpPr/>
          <p:nvPr/>
        </p:nvGrpSpPr>
        <p:grpSpPr>
          <a:xfrm>
            <a:off x="438150" y="1193800"/>
            <a:ext cx="8205787" cy="2444750"/>
            <a:chOff x="230" y="576"/>
            <a:chExt cx="5504" cy="1757"/>
          </a:xfrm>
        </p:grpSpPr>
        <p:sp>
          <p:nvSpPr>
            <p:cNvPr id="1086" name="Google Shape;1086;p15"/>
            <p:cNvSpPr txBox="1"/>
            <p:nvPr/>
          </p:nvSpPr>
          <p:spPr>
            <a:xfrm>
              <a:off x="2256" y="576"/>
              <a:ext cx="1385" cy="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Root DNS Servers</a:t>
              </a:r>
              <a:endParaRPr/>
            </a:p>
          </p:txBody>
        </p:sp>
        <p:sp>
          <p:nvSpPr>
            <p:cNvPr id="1087" name="Google Shape;1087;p15"/>
            <p:cNvSpPr txBox="1"/>
            <p:nvPr/>
          </p:nvSpPr>
          <p:spPr>
            <a:xfrm>
              <a:off x="528" y="1344"/>
              <a:ext cx="1325" cy="2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 DNS servers</a:t>
              </a:r>
              <a:endParaRPr/>
            </a:p>
          </p:txBody>
        </p:sp>
        <p:sp>
          <p:nvSpPr>
            <p:cNvPr id="1088" name="Google Shape;1088;p15"/>
            <p:cNvSpPr txBox="1"/>
            <p:nvPr/>
          </p:nvSpPr>
          <p:spPr>
            <a:xfrm>
              <a:off x="2304" y="1296"/>
              <a:ext cx="1257" cy="2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 DNS servers</a:t>
              </a:r>
              <a:endParaRPr/>
            </a:p>
          </p:txBody>
        </p:sp>
        <p:sp>
          <p:nvSpPr>
            <p:cNvPr id="1089" name="Google Shape;1089;p15"/>
            <p:cNvSpPr txBox="1"/>
            <p:nvPr/>
          </p:nvSpPr>
          <p:spPr>
            <a:xfrm>
              <a:off x="4032" y="1296"/>
              <a:ext cx="1291" cy="2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edu DNS servers</a:t>
              </a:r>
              <a:endParaRPr/>
            </a:p>
          </p:txBody>
        </p:sp>
        <p:cxnSp>
          <p:nvCxnSpPr>
            <p:cNvPr id="1090" name="Google Shape;1090;p15"/>
            <p:cNvCxnSpPr/>
            <p:nvPr/>
          </p:nvCxnSpPr>
          <p:spPr>
            <a:xfrm flipH="1">
              <a:off x="1344" y="864"/>
              <a:ext cx="1392" cy="432"/>
            </a:xfrm>
            <a:prstGeom prst="straightConnector1">
              <a:avLst/>
            </a:prstGeom>
            <a:noFill/>
            <a:ln w="3175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91" name="Google Shape;1091;p15"/>
            <p:cNvCxnSpPr/>
            <p:nvPr/>
          </p:nvCxnSpPr>
          <p:spPr>
            <a:xfrm>
              <a:off x="2928" y="816"/>
              <a:ext cx="0" cy="48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92" name="Google Shape;1092;p15"/>
            <p:cNvCxnSpPr/>
            <p:nvPr/>
          </p:nvCxnSpPr>
          <p:spPr>
            <a:xfrm>
              <a:off x="3168" y="864"/>
              <a:ext cx="1440" cy="43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93" name="Google Shape;1093;p15"/>
            <p:cNvSpPr txBox="1"/>
            <p:nvPr/>
          </p:nvSpPr>
          <p:spPr>
            <a:xfrm>
              <a:off x="3878" y="1752"/>
              <a:ext cx="992" cy="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poly.edu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094" name="Google Shape;1094;p15"/>
            <p:cNvSpPr txBox="1"/>
            <p:nvPr/>
          </p:nvSpPr>
          <p:spPr>
            <a:xfrm>
              <a:off x="4742" y="1752"/>
              <a:ext cx="992" cy="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umass.edu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095" name="Google Shape;1095;p15"/>
            <p:cNvCxnSpPr/>
            <p:nvPr/>
          </p:nvCxnSpPr>
          <p:spPr>
            <a:xfrm flipH="1">
              <a:off x="4224" y="1536"/>
              <a:ext cx="336" cy="24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096" name="Google Shape;1096;p15"/>
            <p:cNvCxnSpPr/>
            <p:nvPr/>
          </p:nvCxnSpPr>
          <p:spPr>
            <a:xfrm>
              <a:off x="4848" y="1536"/>
              <a:ext cx="288" cy="24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097" name="Google Shape;1097;p15"/>
            <p:cNvSpPr txBox="1"/>
            <p:nvPr/>
          </p:nvSpPr>
          <p:spPr>
            <a:xfrm>
              <a:off x="230" y="1848"/>
              <a:ext cx="992" cy="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yahoo.com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sp>
          <p:nvSpPr>
            <p:cNvPr id="1098" name="Google Shape;1098;p15"/>
            <p:cNvSpPr txBox="1"/>
            <p:nvPr/>
          </p:nvSpPr>
          <p:spPr>
            <a:xfrm>
              <a:off x="1248" y="1872"/>
              <a:ext cx="1001" cy="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amazon.com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099" name="Google Shape;1099;p15"/>
            <p:cNvCxnSpPr/>
            <p:nvPr/>
          </p:nvCxnSpPr>
          <p:spPr>
            <a:xfrm flipH="1">
              <a:off x="768" y="1584"/>
              <a:ext cx="192" cy="2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100" name="Google Shape;1100;p15"/>
            <p:cNvCxnSpPr/>
            <p:nvPr/>
          </p:nvCxnSpPr>
          <p:spPr>
            <a:xfrm>
              <a:off x="1392" y="1584"/>
              <a:ext cx="240" cy="2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101" name="Google Shape;1101;p15"/>
            <p:cNvSpPr txBox="1"/>
            <p:nvPr/>
          </p:nvSpPr>
          <p:spPr>
            <a:xfrm>
              <a:off x="2534" y="1799"/>
              <a:ext cx="993" cy="4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pbs.org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n-US" sz="1800" b="0" i="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DNS servers</a:t>
              </a:r>
              <a:endParaRPr/>
            </a:p>
          </p:txBody>
        </p:sp>
        <p:cxnSp>
          <p:nvCxnSpPr>
            <p:cNvPr id="1102" name="Google Shape;1102;p15"/>
            <p:cNvCxnSpPr/>
            <p:nvPr/>
          </p:nvCxnSpPr>
          <p:spPr>
            <a:xfrm>
              <a:off x="2928" y="1536"/>
              <a:ext cx="0" cy="288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103" name="Google Shape;1103;p15"/>
          <p:cNvSpPr txBox="1">
            <a:spLocks noGrp="1"/>
          </p:cNvSpPr>
          <p:nvPr>
            <p:ph type="title"/>
          </p:nvPr>
        </p:nvSpPr>
        <p:spPr>
          <a:xfrm>
            <a:off x="468312" y="161925"/>
            <a:ext cx="8023225" cy="93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600"/>
              <a:buFont typeface="Gill Sans"/>
              <a:buNone/>
            </a:pPr>
            <a:r>
              <a:rPr lang="en-US" sz="3600" b="0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DNS: a distributed, hierarchical database</a:t>
            </a:r>
            <a:endParaRPr/>
          </a:p>
        </p:txBody>
      </p:sp>
      <p:sp>
        <p:nvSpPr>
          <p:cNvPr id="1104" name="Google Shape;1104;p15"/>
          <p:cNvSpPr txBox="1">
            <a:spLocks noGrp="1"/>
          </p:cNvSpPr>
          <p:nvPr>
            <p:ph type="body" idx="1"/>
          </p:nvPr>
        </p:nvSpPr>
        <p:spPr>
          <a:xfrm>
            <a:off x="520700" y="3971925"/>
            <a:ext cx="817245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60"/>
              <a:buNone/>
            </a:pP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client wants IP for www.amazon.com; 1</a:t>
            </a:r>
            <a:r>
              <a:rPr lang="en-US" sz="2400" b="0" i="1" u="none" baseline="300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st</a:t>
            </a:r>
            <a:r>
              <a:rPr lang="en-US" sz="2400" b="0" i="1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 approx: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1430"/>
              <a:buFont typeface="Noto Sans Symbols"/>
              <a:buChar char="❖"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 queries root server to find com DNS server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1430"/>
              <a:buFont typeface="Noto Sans Symbols"/>
              <a:buChar char="❖"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 queries .com DNS server to get amazon.com DNS server</a:t>
            </a:r>
            <a:endParaRPr/>
          </a:p>
          <a:p>
            <a:pPr marL="342900" lvl="0" indent="-342900" algn="l" rtl="0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1430"/>
              <a:buFont typeface="Noto Sans Symbols"/>
              <a:buChar char="❖"/>
            </a:pPr>
            <a:r>
              <a:rPr lang="en-US" sz="2200" b="0" i="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client queries amazon.com DNS server to get  IP address for www.amazon.com</a:t>
            </a:r>
            <a:endParaRPr/>
          </a:p>
        </p:txBody>
      </p:sp>
      <p:pic>
        <p:nvPicPr>
          <p:cNvPr id="1105" name="Google Shape;1105;p15" descr="underline_ba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4025" y="849312"/>
            <a:ext cx="8043862" cy="160337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15"/>
          <p:cNvSpPr txBox="1"/>
          <p:nvPr/>
        </p:nvSpPr>
        <p:spPr>
          <a:xfrm>
            <a:off x="3957637" y="1687512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107" name="Google Shape;1107;p15"/>
          <p:cNvSpPr txBox="1"/>
          <p:nvPr/>
        </p:nvSpPr>
        <p:spPr>
          <a:xfrm>
            <a:off x="4521200" y="1685925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9900"/>
              <a:buFont typeface="Gill Sans"/>
              <a:buNone/>
            </a:pPr>
            <a:r>
              <a:rPr lang="en-US" sz="19900" b="1" i="0" u="non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Q/A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On-screen Show (4:3)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Noto Sans Symbols</vt:lpstr>
      <vt:lpstr>Gill Sans</vt:lpstr>
      <vt:lpstr>Comic Sans MS</vt:lpstr>
      <vt:lpstr>Arial</vt:lpstr>
      <vt:lpstr>Courier New</vt:lpstr>
      <vt:lpstr>Times New Roman</vt:lpstr>
      <vt:lpstr>Tahoma</vt:lpstr>
      <vt:lpstr>Default Design</vt:lpstr>
      <vt:lpstr>2_Default Design</vt:lpstr>
      <vt:lpstr>Data Communication &amp; Computer Networks</vt:lpstr>
      <vt:lpstr>Application Layer: outline</vt:lpstr>
      <vt:lpstr>FTP: the file transfer protocol</vt:lpstr>
      <vt:lpstr>FTP: separate control, data connections</vt:lpstr>
      <vt:lpstr>Application Layer: outline</vt:lpstr>
      <vt:lpstr>Electronic mail</vt:lpstr>
      <vt:lpstr>Electronic mail: mail servers</vt:lpstr>
      <vt:lpstr>Electronic Mail: SMTP [RFC 2821]</vt:lpstr>
      <vt:lpstr>Scenario: Alice sends message to Bob</vt:lpstr>
      <vt:lpstr>Mail message format</vt:lpstr>
      <vt:lpstr>Mail access protocols</vt:lpstr>
      <vt:lpstr>Application Layer: outline</vt:lpstr>
      <vt:lpstr>DNS: domain name system</vt:lpstr>
      <vt:lpstr>DNS: a distributed, hierarchical database</vt:lpstr>
      <vt:lpstr>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Communication &amp; Computer Networks</dc:title>
  <dc:creator>Jim Kurose and Keith Ross</dc:creator>
  <cp:lastModifiedBy>Fakhar Ul  Islam</cp:lastModifiedBy>
  <cp:revision>1</cp:revision>
  <dcterms:created xsi:type="dcterms:W3CDTF">1999-10-08T19:08:27Z</dcterms:created>
  <dcterms:modified xsi:type="dcterms:W3CDTF">2025-10-20T11:23:27Z</dcterms:modified>
</cp:coreProperties>
</file>